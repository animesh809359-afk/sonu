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8790713-0545-cbac-3031-778a018ff514}">
          <p14:sldIdLst>
            <p14:sldId id="256"/>
            <p14:sldId id="257"/>
          </p14:sldIdLst>
        </p14:section>
        <p14:section name="A. Before the analysis" id="{152627fb-11da-01b6-df93-1ac01619273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. Four-tier analysis" id="{0ebae733-102a-daee-7179-852cf4669b2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. Random Forest comparison" id="{14daf186-13b3-cd69-5e8c-4edd4b26df80}">
          <p14:sldIdLst>
            <p14:sldId id="275"/>
            <p14:sldId id="276"/>
            <p14:sldId id="277"/>
            <p14:sldId id="278"/>
          </p14:sldIdLst>
        </p14:section>
        <p14:section name="D. Cross-checks and validation" id="{0697cc37-1e70-3384-e0a5-9b01a40f189c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Discussion and conclusion" id="{e825c297-d755-dab0-ff4b-ba7076354a8d}">
          <p14:sldIdLst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1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1D"/>
                </a:solidFill>
                <a:latin typeface="+mn-lt"/>
              </a:rPr>
              <a:t>Overall accuracy, 10-fold CV (same folds)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accuracy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F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QDA · CART bands</c:v>
                  </c:pt>
                  <c:pt idx="1">
                    <c:v>RF · CART bands</c:v>
                  </c:pt>
                  <c:pt idx="2">
                    <c:v>RF · significant bands</c:v>
                  </c:pt>
                  <c:pt idx="3">
                    <c:v>RF · all bands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0.7453936348408711</c:v>
                </c:pt>
                <c:pt idx="1">
                  <c:v>0.7437185929648241</c:v>
                </c:pt>
                <c:pt idx="2">
                  <c:v>0.7420435510887772</c:v>
                </c:pt>
                <c:pt idx="3">
                  <c:v>0.7638190954773869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300" u="none">
                  <a:solidFill>
                    <a:srgbClr val="1B1F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4E3DF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1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1D"/>
                </a:solidFill>
                <a:latin typeface="+mn-lt"/>
              </a:rPr>
              <a:t>Overall accuracy by validation scheme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QDA · CART bands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Paper-style 10-fold</c:v>
                  </c:pt>
                  <c:pt idx="1">
                    <c:v>Nested 10-fold</c:v>
                  </c:pt>
                  <c:pt idx="2">
                    <c:v>Spatial blocks (nested)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0.7453936348408711</c:v>
                </c:pt>
                <c:pt idx="1">
                  <c:v>0.7219430485762144</c:v>
                </c:pt>
                <c:pt idx="2">
                  <c:v>0.6532663316582915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RF · CART bands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Paper-style 10-fold</c:v>
                  </c:pt>
                  <c:pt idx="1">
                    <c:v>Nested 10-fold</c:v>
                  </c:pt>
                  <c:pt idx="2">
                    <c:v>Spatial blocks (nested)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0.7437185929648241</c:v>
                </c:pt>
                <c:pt idx="1">
                  <c:v>0.7152428810720268</c:v>
                </c:pt>
                <c:pt idx="2">
                  <c:v>0.6850921273031826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RF · all bands</c:v>
                </c:pt>
              </c:strCache>
            </c:strRef>
          </c:tx>
          <c:spPr>
            <a:solidFill>
              <a:srgbClr val="6250D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Paper-style 10-fold</c:v>
                  </c:pt>
                  <c:pt idx="1">
                    <c:v>Nested 10-fold</c:v>
                  </c:pt>
                  <c:pt idx="2">
                    <c:v>Spatial blocks (nested)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0.7638190954773869</c:v>
                </c:pt>
                <c:pt idx="1">
                  <c:v>0.7638190954773869</c:v>
                </c:pt>
                <c:pt idx="2">
                  <c:v>0.7152428810720268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1B1F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4E3DF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F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vs diseased · four-tier analysis + Random Forest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Discriminating healthy and diseased canopy from SMACC endmembers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Four-tier hierarchical analysis (ANOVA → CART → J–M distance → QDA) after Das et al. (2020), with Random Forest comparison and cross-validation checks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subset_200526 · 24 Feb 2026 · 300 + 300 SMACC endmembers · reflectance only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at a glance</a:t>
            </a:r>
            <a:endParaRPr lang="en-US" sz="3000" dirty="0"/>
          </a:p>
        </p:txBody>
      </p:sp>
      <p:sp>
        <p:nvSpPr>
          <p:cNvPr id="3" name="stage A"/>
          <p:cNvSpPr/>
          <p:nvPr/>
        </p:nvSpPr>
        <p:spPr>
          <a:xfrm>
            <a:off x="548640" y="141732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tage badge A"/>
          <p:cNvSpPr/>
          <p:nvPr/>
        </p:nvSpPr>
        <p:spPr>
          <a:xfrm>
            <a:off x="731520" y="1618488"/>
            <a:ext cx="566928" cy="566928"/>
          </a:xfrm>
          <a:prstGeom prst="ellipse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18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1848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analysis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2316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Hyperspectral image (483 bands)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ROIs: healthy &amp; diseased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Pixel extraction + NDVI filter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SMACC: 300 endmembers / class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Quality screening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136392" y="2971800"/>
            <a:ext cx="258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514E"/>
                </a:solidFill>
              </a:rPr>
              <a:t>›</a:t>
            </a:r>
            <a:endParaRPr lang="en-US" sz="3000" dirty="0"/>
          </a:p>
        </p:txBody>
      </p:sp>
      <p:sp>
        <p:nvSpPr>
          <p:cNvPr id="9" name="stage B"/>
          <p:cNvSpPr/>
          <p:nvPr/>
        </p:nvSpPr>
        <p:spPr>
          <a:xfrm>
            <a:off x="3376879" y="141732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stage badge B"/>
          <p:cNvSpPr/>
          <p:nvPr/>
        </p:nvSpPr>
        <p:spPr>
          <a:xfrm>
            <a:off x="3559759" y="1618488"/>
            <a:ext cx="566928" cy="566928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9759" y="1618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245559" y="161848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Four-tier analysis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559759" y="242316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1: one-way ANOVA per band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2: CART band selection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3: J–M distance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Tier 4: QDA, 10-fold CV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64631" y="2971800"/>
            <a:ext cx="258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514E"/>
                </a:solidFill>
              </a:rPr>
              <a:t>›</a:t>
            </a:r>
            <a:endParaRPr lang="en-US" sz="3000" dirty="0"/>
          </a:p>
        </p:txBody>
      </p:sp>
      <p:sp>
        <p:nvSpPr>
          <p:cNvPr id="15" name="stage C"/>
          <p:cNvSpPr/>
          <p:nvPr/>
        </p:nvSpPr>
        <p:spPr>
          <a:xfrm>
            <a:off x="6205118" y="141732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stage badge C"/>
          <p:cNvSpPr/>
          <p:nvPr/>
        </p:nvSpPr>
        <p:spPr>
          <a:xfrm>
            <a:off x="6387998" y="1618488"/>
            <a:ext cx="566928" cy="56692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7998" y="1618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073798" y="161848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387998" y="242316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Random Forest, 500 trees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Three band sets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Same folds as QDA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Band importance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792870" y="2971800"/>
            <a:ext cx="258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514E"/>
                </a:solidFill>
              </a:rPr>
              <a:t>›</a:t>
            </a:r>
            <a:endParaRPr lang="en-US" sz="3000" dirty="0"/>
          </a:p>
        </p:txBody>
      </p:sp>
      <p:sp>
        <p:nvSpPr>
          <p:cNvPr id="21" name="stage D"/>
          <p:cNvSpPr/>
          <p:nvPr/>
        </p:nvSpPr>
        <p:spPr>
          <a:xfrm>
            <a:off x="9033358" y="1417320"/>
            <a:ext cx="2606040" cy="3657600"/>
          </a:xfrm>
          <a:prstGeom prst="roundRect">
            <a:avLst>
              <a:gd name="adj" fmla="val 280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2" name="stage badge D"/>
          <p:cNvSpPr/>
          <p:nvPr/>
        </p:nvSpPr>
        <p:spPr>
          <a:xfrm>
            <a:off x="9216238" y="1618488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16238" y="1618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902038" y="161848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Cross-checks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216238" y="242316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Nested &amp; spatial-block CV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Permutation 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Location-only control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Sensitivity analyses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Excel ↔ Python checks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Input: 600 SMACC endmembers (300 healthy, 300 diseased) × 483 bands → 597 spectra × 463 bands analysed. Reflectance values only; seed 42 for every random step.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Steps before the analysis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hyperspectral image to 300 healthy and 300 diseased SMACC endmembers, and the quality screening of those spectra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hyperspectral image</a:t>
            </a:r>
            <a:endParaRPr lang="en-US" sz="30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(from the ENVI header)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subset_200526 (+ .hdr), acquired 24-02-2026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ENVI, band-interleaved-by-line, 32-bit float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2,355 columns × 2,142 rows × 483 bands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Spectral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399.4–2,397.6 nm (≈1.76 nm VNIR, ≈6 nm SWIR)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 already absent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≈899–916, 1,330–1,460, 1,780–1,970 nm (water vapour)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Geographic WGS-84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≈2.25 × 2.22 cm on the ground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Pre-processing in header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 applied (masked pixels = 0); smoothed spectra (band names '…_rd_smt')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321040" y="1417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8321040" y="20756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spectral bands in the image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743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2.2 cm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34015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ground pixel size: single leaves, soil gaps and shadow are resolved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069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400–2400 nm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72744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VNIR + SWIR coverage, water bands removed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Regions of interest and endmember positions</a:t>
            </a:r>
            <a:endParaRPr lang="en-US" sz="30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760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17320"/>
                <a:gridCol w="1463040"/>
                <a:gridCol w="1325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file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Polygons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Pixels inside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healthy.xml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(7 vertices)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300 m²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diseased.xml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(5 vertices)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1,940,000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966 m²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88036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ROIs digitised in ENVI over a healthy area and a diseased area, irrespective of plot, and exported as XML in WGS-84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two polygons share one boundary: healthy and diseased samples come from two neighbouring blocks of the field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endmember keeps its pixel row/column and lon/lat, which allows spatial checks later (Part D)</a:t>
            </a:r>
            <a:endParaRPr lang="en-US" sz="1500" dirty="0"/>
          </a:p>
        </p:txBody>
      </p:sp>
      <p:pic>
        <p:nvPicPr>
          <p:cNvPr id="5" name="Map of endmember positions" descr="Map of endmember posi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594485"/>
            <a:ext cx="5029200" cy="44005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300 endmembers per class were extracted</a:t>
            </a:r>
            <a:endParaRPr lang="en-US" sz="3000" dirty="0"/>
          </a:p>
        </p:txBody>
      </p:sp>
      <p:sp>
        <p:nvSpPr>
          <p:cNvPr id="3" name="extraction step 1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72768"/>
            <a:ext cx="502920" cy="502920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5361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→ pixels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385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Polygon vertices converted from lon/lat to image pixels; a pixel belongs to the ROI if its centre lies inside</a:t>
            </a:r>
            <a:endParaRPr lang="en-US" sz="1350" dirty="0"/>
          </a:p>
        </p:txBody>
      </p:sp>
      <p:sp>
        <p:nvSpPr>
          <p:cNvPr id="8" name="extraction step 2"/>
          <p:cNvSpPr/>
          <p:nvPr/>
        </p:nvSpPr>
        <p:spPr>
          <a:xfrm>
            <a:off x="6153912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6792" y="1572768"/>
            <a:ext cx="502920" cy="502920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15361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no-data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022592" y="19385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All-zero (masked) and NaN spectra discarded</a:t>
            </a:r>
            <a:endParaRPr lang="en-US" sz="1350" dirty="0"/>
          </a:p>
        </p:txBody>
      </p:sp>
      <p:sp>
        <p:nvSpPr>
          <p:cNvPr id="13" name="extraction step 3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172968"/>
            <a:ext cx="502920" cy="502920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172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1363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Vegetation filter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5387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NDVI = (R800 − R670)/(R800 + R670) ≥ 0.30 removes soil, water and shadow (minimum NDVI in the file: 0.31)</a:t>
            </a:r>
            <a:endParaRPr lang="en-US" sz="1350" dirty="0"/>
          </a:p>
        </p:txBody>
      </p:sp>
      <p:sp>
        <p:nvSpPr>
          <p:cNvPr id="18" name="extraction step 4"/>
          <p:cNvSpPr/>
          <p:nvPr/>
        </p:nvSpPr>
        <p:spPr>
          <a:xfrm>
            <a:off x="6153912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36792" y="3172968"/>
            <a:ext cx="502920" cy="502920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36792" y="3172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31363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subset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5387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Up to 100,000 pixels per class drawn at random (memory; neighbouring 2 cm pixels are near-identical)</a:t>
            </a:r>
            <a:endParaRPr lang="en-US" sz="1350" dirty="0"/>
          </a:p>
        </p:txBody>
      </p:sp>
      <p:sp>
        <p:nvSpPr>
          <p:cNvPr id="23" name="extraction step 5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773168"/>
            <a:ext cx="502920" cy="502920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773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7365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SMACC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1389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Run separately per class on 463 bands (420–2,350 nm), positivity + convex-cone constraints, 300 iterations</a:t>
            </a:r>
            <a:endParaRPr lang="en-US" sz="1350" dirty="0"/>
          </a:p>
        </p:txBody>
      </p:sp>
      <p:sp>
        <p:nvSpPr>
          <p:cNvPr id="28" name="extraction step 6"/>
          <p:cNvSpPr/>
          <p:nvPr/>
        </p:nvSpPr>
        <p:spPr>
          <a:xfrm>
            <a:off x="6153912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36792" y="4773168"/>
            <a:ext cx="502920" cy="502920"/>
          </a:xfrm>
          <a:prstGeom prst="ellipse">
            <a:avLst/>
          </a:prstGeom>
          <a:solidFill>
            <a:srgbClr val="1F3A2E"/>
          </a:solidFill>
          <a:ln w="12700">
            <a:solidFill>
              <a:srgbClr val="1F3A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36792" y="4773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022592" y="47365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022592" y="51389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All 483 bands of each selected pixel + row/col + lon/lat → CSV and ENVI spectral libraries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Settings as in smacc_endmember_extraction.ipynb (defaults). The NDVI filter is confirmed by the data: no endmember has NDVI &lt; 0.30 at 670/800 nm.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SMACC — sequential maximum angle convex cone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766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Start: residual R = all pixel spectra H (N pixels × 463 bands)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Pick the pixel with the largest residual norm ‖rᵢ‖; store its original spectrum as the next endmember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Project every residual on that pixel's residual w: Oᵢ = (rᵢ·w)/(w·w)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Positivity: coefficients ≤ 0 set to 0. Convex cone: limit αᵢ so no earlier abundance turns negative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Update residuals rᵢ ← rᵢ − αᵢw and abundances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Repeat until 300 endmembers per class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680960" y="1417320"/>
            <a:ext cx="3959352" cy="1828800"/>
          </a:xfrm>
          <a:prstGeom prst="roundRect">
            <a:avLst>
              <a:gd name="adj" fmla="val 4000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155448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Model</a:t>
            </a:r>
            <a:endParaRPr lang="en-US" sz="1600" dirty="0"/>
          </a:p>
          <a:p>
            <a:pPr indent="0" marL="0">
              <a:buNone/>
            </a:pPr>
            <a:r>
              <a:rPr lang="en-US" sz="20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Σ fₖ·sₖ + r,   fₖ ≥ 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80960" y="34747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0" y="361188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Key property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SMACC returns the most extreme (purest, most distinct) spectra of each ROI, not typical ones. This matters when they are used as samples for statistics (see Discussion).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Gruninger, Ratkowski &amp; Hoke (2004), Proc. SPIE 5425.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600 extracted endmember spectra</a:t>
            </a:r>
            <a:endParaRPr lang="en-US" sz="3000" dirty="0"/>
          </a:p>
        </p:txBody>
      </p:sp>
      <p:pic>
        <p:nvPicPr>
          <p:cNvPr id="3" name="All endmember spectra by class" descr="All endmember spectra by c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9304"/>
            <a:ext cx="11094415" cy="40679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Thin lines: individual endmembers (n = 300 per class); black: class mean. Gaps are the water-vapour bands removed before extraction.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screening of the endmembers</a:t>
            </a:r>
            <a:endParaRPr lang="en-US" sz="30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685800"/>
                <a:gridCol w="960120"/>
                <a:gridCol w="7315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R800/R670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NDWI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 removed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R800/R670&lt;2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NDVI&lt;0.30; R800/R670&lt;2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NDWI&gt;0 (water)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20040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Rules: NDVI &lt; 0.30, R800/R670 &lt; 2, NDWI &gt; 0, R800 &lt; 0.10 → not vegetation → removed (3 of 600)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Noisy detector edges (&lt; 420 nm, &gt; 2,350 nm) excluded: 20 of 483 bands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Negative (impossible) reflectance in 142 diseased vs 11 healthy spectra, almost all in SWIR-2 (1,970–2,400 nm): a radiometric-quality warning for that region</a:t>
            </a:r>
            <a:endParaRPr lang="en-US" sz="1500" dirty="0"/>
          </a:p>
        </p:txBody>
      </p:sp>
      <p:pic>
        <p:nvPicPr>
          <p:cNvPr id="5" name="Negative reflectance by band" descr="Negative reflectance by b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513332"/>
            <a:ext cx="4828032" cy="24140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4434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50932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diseased spectra with values &lt; 0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4434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9326880" y="50932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healthy spectra with values &lt; 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data set: reflectance only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597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29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endmember spectra analysed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298 / 299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2029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healthy / diseased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29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reflectance bands (420–2,350 nm)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15400" y="13716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02996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transformations (no indices, derivatives or normalisation)</a:t>
            </a:r>
            <a:endParaRPr lang="en-US" sz="1200" dirty="0"/>
          </a:p>
        </p:txBody>
      </p:sp>
      <p:pic>
        <p:nvPicPr>
          <p:cNvPr id="11" name="Class mean spectra with SD" descr="Class mean spectra with S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4617" y="2697480"/>
            <a:ext cx="7762461" cy="32461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Mean ± SD. Diseased is lower in VIS, SWIR-1 and SWIR-2; slightly higher around 950–1,100 nm.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Four-tier hierarchical analysis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ANOVA → Tier 2 CART → Tier 3 Jeffries–Matusita distance → Tier 4 QDA, as in Das et al. (2020)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tiers, adapted from 14 genotypes to 2 classes</a:t>
            </a:r>
            <a:endParaRPr lang="en-US" sz="30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480560"/>
                <a:gridCol w="51480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et al. (2020)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study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field spectra, 14 rice genotypes (91 pairs)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597 image endmembers, 2 classes (1 pair)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ANOVA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One-way ANOVA per band, p &lt; 0.05; Tukey HSD; count of significant pairs per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One-way ANOVA per band, p &lt; 0.05; Tukey HSD (same as ANOVA with 1 pair); FDR, Bonferroni and Cohen's d added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CART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rpart on reflectance → 17 bands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rpart-equivalent tree on the significant bands (Gini, minsplit 20, minbucket 7, cp 0.01)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J–M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J–M per genotype pair on CART bands; threshold 1.94 (of 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J–M healthy vs diseased on CART bands; threshold 1.94 (0–2 scale)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QDA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QDA, 10-fold CV; confusion matrix, OA, PA, UA → 98%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QDA, 10-fold CV (+ 10× repeated); plus nested and spatial-block 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J–M is reported on the 0–2 scale, JM = 2(1 − e^(−B)); the paper prints the √ form but uses the 0–2 threshold.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1 · 307 of 463 bands differ significantly</a:t>
            </a:r>
            <a:endParaRPr lang="en-US" sz="3000" dirty="0"/>
          </a:p>
        </p:txBody>
      </p:sp>
      <p:pic>
        <p:nvPicPr>
          <p:cNvPr id="3" name="Tier 1 ANOVA results" descr="Tier 1 ANOVA resul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676" y="1234440"/>
            <a:ext cx="6746488" cy="5029200"/>
          </a:xfrm>
          <a:prstGeom prst="rect">
            <a:avLst/>
          </a:prstGeom>
        </p:spPr>
      </p:pic>
      <p:sp>
        <p:nvSpPr>
          <p:cNvPr id="4" name="card What the test shows"/>
          <p:cNvSpPr/>
          <p:nvPr/>
        </p:nvSpPr>
        <p:spPr>
          <a:xfrm>
            <a:off x="7543800" y="1371600"/>
            <a:ext cx="4096512" cy="4754880"/>
          </a:xfrm>
          <a:prstGeom prst="roundRect">
            <a:avLst>
              <a:gd name="adj" fmla="val 178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481328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test shows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1920240"/>
            <a:ext cx="3730752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307 bands significant at p &lt; 0.05 (295 after FDR, 241 after Bonferroni)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VIS, SWIR-1 and SWIR-2 bands significant; most NIR bands not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Strongest band 2349.5 nm (F = 118.1), at the noisy end of SWIR-2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Effects are small to moderate: largest |d| = 0.89; only 6 bands reach |d| ≥ 0.8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1 by spectral region</a:t>
            </a:r>
            <a:endParaRPr lang="en-US" sz="30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051560"/>
                <a:gridCol w="1325880"/>
                <a:gridCol w="1234440"/>
                <a:gridCol w="1600200"/>
                <a:gridCol w="1097280"/>
                <a:gridCol w="16733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&lt; 0.05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FDR q &lt; 0.05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Bonferroni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Max-F band (nm)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 (420-700)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&lt;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Red-edge (700-750)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&lt;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NIR (750-1330)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&lt;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SWIR-1 (1460-1780)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&lt;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SWIR-2 (1970-2350)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&lt;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57200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With two classes Tukey HSD tests one pair, so it gives exactly the same decision as the ANOVA at every band (checked)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Diseased is lower in VIS, red-edge, SWIR-1 and SWIR-2; only a NIR shoulder (1,047–1,101 nm) is slightly higher. A darker visible signal is opposite to the usual chlorosis response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Many tests (463): the FDR column is the safer list of differing bands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2 · CART settings and tree size</a:t>
            </a:r>
            <a:endParaRPr lang="en-US" sz="3000" dirty="0"/>
          </a:p>
        </p:txBody>
      </p:sp>
      <p:sp>
        <p:nvSpPr>
          <p:cNvPr id="3" name="card Settings (R rpart defaults)"/>
          <p:cNvSpPr/>
          <p:nvPr/>
        </p:nvSpPr>
        <p:spPr>
          <a:xfrm>
            <a:off x="548640" y="1371600"/>
            <a:ext cx="4572000" cy="4754880"/>
          </a:xfrm>
          <a:prstGeom prst="roundRect">
            <a:avLst>
              <a:gd name="adj" fmla="val 1600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 (R rpart defaults)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4206240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Input: 307 ANOVA-significant bands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Gini splitting; minsplit 20; minbucket 7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Cost-complexity pruning on misclassification, cp = 0.01 (as rpart)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10-fold cross-validation of every subtree (printcp)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 = 0.01 tree: 12 splits, 11 bands, resubstitution accuracy 84.4%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1-SE tree: 3 splits, 3 bands (675, 1059, 2350 nm)</a:t>
            </a:r>
            <a:endParaRPr lang="en-US" sz="1400" dirty="0"/>
          </a:p>
        </p:txBody>
      </p:sp>
      <p:pic>
        <p:nvPicPr>
          <p:cNvPr id="6" name="CART complexity plot" descr="CART complexity pl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516904"/>
            <a:ext cx="6245352" cy="40985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394960" y="5852160"/>
            <a:ext cx="6245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CV error is flat from 3 to 12 splits; the cp = 0.01 tree (used, as in the paper) is within about 1 SE of the minimum.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2 · The CART tree</a:t>
            </a:r>
            <a:endParaRPr lang="en-US" sz="3000" dirty="0"/>
          </a:p>
        </p:txBody>
      </p:sp>
      <p:pic>
        <p:nvPicPr>
          <p:cNvPr id="3" name="CART tree diagram" descr="CART tre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4909"/>
            <a:ext cx="11094415" cy="490538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05332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First split R2350 ≤ 0.015 sends 149 spectra (138 diseased) left; CV accuracy of the tree itself as a classifier: 71.5%.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2 · 11 bands selected by CART</a:t>
            </a:r>
            <a:endParaRPr lang="en-US" sz="3000" dirty="0"/>
          </a:p>
        </p:txBody>
      </p:sp>
      <p:pic>
        <p:nvPicPr>
          <p:cNvPr id="3" name="Selected bands on the mean spectra" descr="Selected bands on the mean spect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6192"/>
            <a:ext cx="6949440" cy="2779776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325880"/>
          <a:ext cx="386791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476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(nm)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2349.5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1059.4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1629.5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2325.5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00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7 of 11 bands lie in SWIR-2; 2,349.5 nm alone carries 48% of the tree's importance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band each in blue (480), red (675), NIR (1,059) and SWIR-1 (1,629)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3 · J–M distance 0.945: below the 1.94 threshold</a:t>
            </a:r>
            <a:endParaRPr lang="en-US" sz="30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120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(11 CART bands)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Mahalanobis term ⅛ dᵀC⁻¹d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Covariance term ½ ln(|C| / √|CH||CD|)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Bhattacharyya distance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 = 2(1 − e^(−B)), 0–2 scale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 form (0–1.414)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Separable (≥ 1.94)?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5196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With all 307 significant bands the covariance matrix has rank 297 (&lt; 307), so J–M cannot be computed — the reason the paper uses CART bands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Most of the distance comes from different covariance, not different means</a:t>
            </a:r>
            <a:endParaRPr lang="en-US" sz="1400" dirty="0"/>
          </a:p>
        </p:txBody>
      </p:sp>
      <p:pic>
        <p:nvPicPr>
          <p:cNvPr id="5" name="J-M distance plots" descr="J-M distance pl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2319" y="1280160"/>
            <a:ext cx="5213555" cy="4617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97880" y="5943600"/>
            <a:ext cx="5742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Best single band: 2349.5 nm (JM 0.194). Separability rises with each band but stays far below 1.94.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4 · QDA, 10-fold cross-validation: 74.5%</a:t>
            </a:r>
            <a:endParaRPr lang="en-US" sz="30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1097280"/>
                <a:gridCol w="9144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↓ / Predicted →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Producer's acc.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User's acc.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02336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Bands: the 11 CART bands; equal priors; stratified folds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Diseased spectra are often called healthy (106 of 299); healthy are recognised better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Paper-style validation: bands were chosen on all data before CV (see Part D)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14173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74.5%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0756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overall accuracy (10-fold CV)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743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0.49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34015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Cohen's kappa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40690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75.3% ± 0.7%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47274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mean ± SD over 10 repeated 10-fold CVs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Random Forest comparison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10 folds; 500 trees, mtry = √(number of bands), three band sets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on three band sets</a:t>
            </a:r>
            <a:endParaRPr lang="en-US" sz="30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14400"/>
                <a:gridCol w="1143000"/>
                <a:gridCol w="1005840"/>
                <a:gridCol w="1188720"/>
                <a:gridCol w="1600200"/>
                <a:gridCol w="1673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bands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OA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OOB OA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 healthy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 diseased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QDA · CART bands (four-tier)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· CART bands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· all ANOVA-significant bands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· all 463 bands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4" name="card Settings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087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526280"/>
            <a:ext cx="50292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500 trees, Gini, bootstrap samples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mtry = √p (3, 17 or 21 bands per split)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stratified folds as QDA; seed 42</a:t>
            </a:r>
            <a:endParaRPr lang="en-US" sz="1400" dirty="0"/>
          </a:p>
        </p:txBody>
      </p:sp>
      <p:sp>
        <p:nvSpPr>
          <p:cNvPr id="7" name="card Reading the table"/>
          <p:cNvSpPr/>
          <p:nvPr/>
        </p:nvSpPr>
        <p:spPr>
          <a:xfrm>
            <a:off x="6245352" y="397764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28232" y="4087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table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4526280"/>
            <a:ext cx="50292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 the same 11 bands RF ≈ QDA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RF on all bands is best and needs no band selection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OOB agrees with CV within 1.5 points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Random Forest finds the information</a:t>
            </a:r>
            <a:endParaRPr lang="en-US" sz="3000" dirty="0"/>
          </a:p>
        </p:txBody>
      </p:sp>
      <p:pic>
        <p:nvPicPr>
          <p:cNvPr id="3" name="Random Forest importance" descr="Random Forest import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419" y="1280160"/>
            <a:ext cx="10776857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40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RF bands: 2344, 2338, 2350, 1990, 2326 nm — the same SWIR-2 region that dominates CART and ANOVA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Two independent methods agree on where the difference is; whether that difference is physiological or radiometric is discussed in Part 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QDA vs Random Forest (paper-style validation)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omparison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1891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481328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1920240"/>
            <a:ext cx="3502152" cy="405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QDA 74.5% and RF 74.4% on the same 11 bands: no real difference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RF on all 463 bands: 76.4% (kappa 0.53) — the best result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four are moderate: about one spectrum in four is misclassified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Blue = four-tier QDA, yellow = Random Forest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· Cross-checks and validation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accuracy real, and does it come from disease? Nested CV, spatial blocks, permutation test, location control, sensitivity and step-by-step checks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under stricter validation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72237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What changes"/>
          <p:cNvSpPr/>
          <p:nvPr/>
        </p:nvSpPr>
        <p:spPr>
          <a:xfrm>
            <a:off x="8001000" y="1371600"/>
            <a:ext cx="3639312" cy="4709160"/>
          </a:xfrm>
          <a:prstGeom prst="roundRect">
            <a:avLst>
              <a:gd name="adj" fmla="val 2010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8132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183880" y="1920240"/>
            <a:ext cx="3273552" cy="405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Nested: ANOVA + CART redone inside each training fold — no information from test spectra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Spatial: whole spatial blocks held out (next slide)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QDA falls from 74.5% to 72.2% (nested) and 65.3% (spatial)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RF on all bands holds best: 71.5% spatial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Spatial-block cross-validation</a:t>
            </a:r>
            <a:endParaRPr lang="en-US" sz="3000" dirty="0"/>
          </a:p>
        </p:txBody>
      </p:sp>
      <p:pic>
        <p:nvPicPr>
          <p:cNvPr id="3" name="Spatial blocks map" descr="Spatial blocks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69577"/>
            <a:ext cx="4846320" cy="3667485"/>
          </a:xfrm>
          <a:prstGeom prst="rect">
            <a:avLst/>
          </a:prstGeom>
        </p:spPr>
      </p:pic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371600"/>
          <a:ext cx="59710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1234440"/>
                <a:gridCol w="1280160"/>
                <a:gridCol w="1353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spectra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(CART)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(all)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669280" y="4251960"/>
            <a:ext cx="5971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Five k-means blocks per class on pixel position; each fold holds out one healthy and one diseased block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Band selection (ANOVA + CART) repeated inside every fold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Accuracy varies by block: the signal is not uniform across the field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Permutation test and location-only control</a:t>
            </a:r>
            <a:endParaRPr lang="en-US" sz="3000" dirty="0"/>
          </a:p>
        </p:txBody>
      </p:sp>
      <p:pic>
        <p:nvPicPr>
          <p:cNvPr id="3" name="Permutation test histogram" descr="Permutation test histo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046" y="1280160"/>
            <a:ext cx="5390147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61772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200 label shuffles through the full nested pipeline: null mean 50.0%, maximum 55.9%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Observed 72.2%: p = 0.005 (the smallest possible with 200 shuffles) — the signal is real</a:t>
            </a:r>
            <a:endParaRPr lang="en-US" sz="14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60120"/>
                <a:gridCol w="1005840"/>
                <a:gridCol w="9418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Control: two halves of the same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QDA paper-style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QDA nested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healthy: half A vs half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 vs 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diseased: half A vs half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 vs 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</a:tbl>
          </a:graphicData>
        </a:graphic>
      </p:graphicFrame>
      <p:sp>
        <p:nvSpPr>
          <p:cNvPr id="6" name="card Interpretation"/>
          <p:cNvSpPr/>
          <p:nvPr/>
        </p:nvSpPr>
        <p:spPr>
          <a:xfrm>
            <a:off x="6217920" y="3063240"/>
            <a:ext cx="5422392" cy="3017520"/>
          </a:xfrm>
          <a:prstGeom prst="roundRect">
            <a:avLst>
              <a:gd name="adj" fmla="val 242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0" y="3172968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Interpretation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3611880"/>
            <a:ext cx="50566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Two halves of the healthy region separate at ≈ 63–64% although both are healthy: part of the spectral difference is position in the field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The diseased halves are near chance (≈ 52%)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Healthy vs diseased (72–76%) exceeds the healthy-halves control, so disease adds signal, but location effects are not small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Sensitivity analyses</a:t>
            </a:r>
            <a:endParaRPr lang="en-US" sz="30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325880"/>
                <a:gridCol w="1097280"/>
                <a:gridCol w="1051560"/>
                <a:gridCol w="1234440"/>
                <a:gridCol w="1536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 bands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bands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 (0–2)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QDA OA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OA (all bands)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analysis: 597 spectra, 420-2350 nm (463 bands)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600 spectra (3 non-vegetation spectra kept)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SWIR-2 excluded (420-1780 nm, 399 bands)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VNIR only (420-1000 nm)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483 bands incl. noisy edges, 600 spectra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Removing SWIR-2 lowers QDA to 67.7% and RF to 71.4%; VNIR alone gives ≈ 60–62%. The discrimination leans on the noisiest region.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Keeping the 3 non-vegetation spectra inflates JM to 1.24 and QDA to 78.2%: screening matters.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selected CART bands change with every data variant, so individual bands should not be over-interpreted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step was cross-checked</a:t>
            </a:r>
            <a:endParaRPr lang="en-US" sz="30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7068312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× 489, 300/300, no missing values, no duplicate pixels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597 spectra × 463 bands after screening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F = scipy; t² = F; Tukey = ANOVA at all bands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pruning reproduces sklearn tree; rel error = 1 − 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log-det = direct det; 1-D closed form; covariance full rank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hand-coded QDA = sklearn; OA and N consistent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reproducibility; OOB ≈ 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permutation null centred at 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↔ 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F, p, JM, B, OA, kappa recomputed by live Excel formulas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</a:rPr>
              <a:t>24 Python checks + 10 live Excel checks, all PASS. Details: sheet 11_Cross_Checks of Four_Tier_Analysis.xlsx.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3" name="discussion 1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3560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Moderate, not near-perfect, separation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50749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JM 0.95 (threshold 1.94) and 72–76% accuracy vs 98% in Das et al. Their samples were 50-scan field spectra of uniform plots; here they are 2 cm image pixels with mixed leaves, lesions and shadow.</a:t>
            </a:r>
            <a:endParaRPr lang="en-US" sz="1250" dirty="0"/>
          </a:p>
        </p:txBody>
      </p:sp>
      <p:sp>
        <p:nvSpPr>
          <p:cNvPr id="6" name="discussion 2"/>
          <p:cNvSpPr/>
          <p:nvPr/>
        </p:nvSpPr>
        <p:spPr>
          <a:xfrm>
            <a:off x="6153912" y="132588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43560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SWIR-2 drives the result — with a caveat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828800"/>
            <a:ext cx="50749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strongest bands (≈2,330–2,350 nm) sit in the noisiest region; 142 diseased spectra have negative reflectance there. Without SWIR-2 accuracy drops by 5–8 points.</a:t>
            </a:r>
            <a:endParaRPr lang="en-US" sz="1250" dirty="0"/>
          </a:p>
        </p:txBody>
      </p:sp>
      <p:sp>
        <p:nvSpPr>
          <p:cNvPr id="9" name="discussion 3"/>
          <p:cNvSpPr/>
          <p:nvPr/>
        </p:nvSpPr>
        <p:spPr>
          <a:xfrm>
            <a:off x="548640" y="297180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815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Unexpected visible signal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474720"/>
            <a:ext cx="50749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Diseased canopy is darker in the visible, not brighter as chlorosis would cause; canopy structure, illumination or region effects are plausible and should be checked in the field.</a:t>
            </a:r>
            <a:endParaRPr lang="en-US" sz="1250" dirty="0"/>
          </a:p>
        </p:txBody>
      </p:sp>
      <p:sp>
        <p:nvSpPr>
          <p:cNvPr id="12" name="discussion 4"/>
          <p:cNvSpPr/>
          <p:nvPr/>
        </p:nvSpPr>
        <p:spPr>
          <a:xfrm>
            <a:off x="6153912" y="297180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815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and validation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74720"/>
            <a:ext cx="50749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Halves of the healthy region separate at ≈ 64%; spatial-block CV lowers QDA to 65%. Paper-style CV overstates accuracy.</a:t>
            </a:r>
            <a:endParaRPr lang="en-US" sz="1250" dirty="0"/>
          </a:p>
        </p:txBody>
      </p:sp>
      <p:sp>
        <p:nvSpPr>
          <p:cNvPr id="15" name="discussion 5"/>
          <p:cNvSpPr/>
          <p:nvPr/>
        </p:nvSpPr>
        <p:spPr>
          <a:xfrm>
            <a:off x="548640" y="46177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72744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QDA vs Random Forest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120640"/>
            <a:ext cx="50749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 the same bands they are equal; RF on all bands is the most accurate and most robust, needing no band selection.</a:t>
            </a:r>
            <a:endParaRPr lang="en-US" sz="1250" dirty="0"/>
          </a:p>
        </p:txBody>
      </p:sp>
      <p:sp>
        <p:nvSpPr>
          <p:cNvPr id="18" name="discussion 6"/>
          <p:cNvSpPr/>
          <p:nvPr/>
        </p:nvSpPr>
        <p:spPr>
          <a:xfrm>
            <a:off x="6153912" y="46177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72744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SMACC endmembers as samples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120640"/>
            <a:ext cx="50749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SMACC picks extreme spectra; statistics from them describe the extremes, not the typical canopy.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summary 1"/>
          <p:cNvSpPr/>
          <p:nvPr/>
        </p:nvSpPr>
        <p:spPr>
          <a:xfrm>
            <a:off x="54864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597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6888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endmembers analysed (298 H / 299 D) on 463 reflectance bands after screening</a:t>
            </a:r>
            <a:endParaRPr lang="en-US" sz="1400" dirty="0"/>
          </a:p>
        </p:txBody>
      </p:sp>
      <p:sp>
        <p:nvSpPr>
          <p:cNvPr id="6" name="summary 2"/>
          <p:cNvSpPr/>
          <p:nvPr/>
        </p:nvSpPr>
        <p:spPr>
          <a:xfrm>
            <a:off x="429768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002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307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6888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bands differ significantly (Tier 1); all VIS, SWIR-1 and SWIR-2</a:t>
            </a:r>
            <a:endParaRPr lang="en-US" sz="1400" dirty="0"/>
          </a:p>
        </p:txBody>
      </p:sp>
      <p:sp>
        <p:nvSpPr>
          <p:cNvPr id="9" name="summary 3"/>
          <p:cNvSpPr/>
          <p:nvPr/>
        </p:nvSpPr>
        <p:spPr>
          <a:xfrm>
            <a:off x="804672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002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46888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bands kept by CART (Tier 2); 7 in SWIR-2, 2,349.5 nm most important</a:t>
            </a:r>
            <a:endParaRPr lang="en-US" sz="1400" dirty="0"/>
          </a:p>
        </p:txBody>
      </p:sp>
      <p:sp>
        <p:nvSpPr>
          <p:cNvPr id="12" name="summary 4"/>
          <p:cNvSpPr/>
          <p:nvPr/>
        </p:nvSpPr>
        <p:spPr>
          <a:xfrm>
            <a:off x="548640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977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46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J–M distance (Tier 3), below the 1.94 separability threshold</a:t>
            </a:r>
            <a:endParaRPr lang="en-US" sz="1400" dirty="0"/>
          </a:p>
        </p:txBody>
      </p:sp>
      <p:sp>
        <p:nvSpPr>
          <p:cNvPr id="15" name="summary 5"/>
          <p:cNvSpPr/>
          <p:nvPr/>
        </p:nvSpPr>
        <p:spPr>
          <a:xfrm>
            <a:off x="4297680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3977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74.5%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4846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QDA accuracy (Tier 4), kappa 0.49; 72.2% nested, 65.3% spatial</a:t>
            </a:r>
            <a:endParaRPr lang="en-US" sz="1400" dirty="0"/>
          </a:p>
        </p:txBody>
      </p:sp>
      <p:sp>
        <p:nvSpPr>
          <p:cNvPr id="18" name="summary 6"/>
          <p:cNvSpPr/>
          <p:nvPr/>
        </p:nvSpPr>
        <p:spPr>
          <a:xfrm>
            <a:off x="8046720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3977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76.4%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484632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Random Forest on all bands; 71.5% under spatial-block CV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514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The four-tier method of Das et al. (2020) was applied step by step to the SMACC endmembers and every step was cross-checked.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Healthy and diseased spectra differ significantly (permutation p = 0.005), but separation is moderate: JM 0.95 &lt; 1.94 and realistic accuracy 65–76%.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Random Forest on all bands matches or beats the four-tier QDA under every validation scheme.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Before relying on the SWIR-2 bands: verify radiometric calibration, sample random pixels or plot means instead of SMACC extremes, add plot-level ground truth and an independent date.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DD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nopy">
  <a:themeElements>
    <a:clrScheme name="Canopy">
      <a:dk1>
        <a:srgbClr val="1B1F1D"/>
      </a:dk1>
      <a:lt1>
        <a:srgbClr val="FFFFFF"/>
      </a:lt1>
      <a:dk2>
        <a:srgbClr val="1F3A2E"/>
      </a:dk2>
      <a:lt2>
        <a:srgbClr val="EEF3EF"/>
      </a:lt2>
      <a:accent1>
        <a:srgbClr val="1BAF7A"/>
      </a:accent1>
      <a:accent2>
        <a:srgbClr val="EB6834"/>
      </a:accent2>
      <a:accent3>
        <a:srgbClr val="2A78D6"/>
      </a:accent3>
      <a:accent4>
        <a:srgbClr val="EDA100"/>
      </a:accent4>
      <a:accent5>
        <a:srgbClr val="6250D6"/>
      </a:accent5>
      <a:accent6>
        <a:srgbClr val="52514E"/>
      </a:accent6>
      <a:hlink>
        <a:srgbClr val="2A78D6"/>
      </a:hlink>
      <a:folHlink>
        <a:srgbClr val="6250D6"/>
      </a:folHlink>
    </a:clrScheme>
    <a:fontScheme name="Canop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Four-tier analysis of SMACC endmembers</dc:title>
  <dc:subject>PptxGenJS Presentation</dc:subject>
  <dc:creator>PptxGenJS</dc:creator>
  <cp:lastModifiedBy>PptxGenJS</cp:lastModifiedBy>
  <cp:revision>1</cp:revision>
  <dcterms:created xsi:type="dcterms:W3CDTF">2026-10-17T13:31:41Z</dcterms:created>
  <dcterms:modified xsi:type="dcterms:W3CDTF">2026-10-17T13:31:41Z</dcterms:modified>
</cp:coreProperties>
</file>