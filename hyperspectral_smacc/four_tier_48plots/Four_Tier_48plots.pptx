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dec2549-c17f-ffb0-2d40-c8d815b7a98f}">
          <p14:sldIdLst>
            <p14:sldId id="256"/>
            <p14:sldId id="257"/>
          </p14:sldIdLst>
        </p14:section>
        <p14:section name="A. Data" id="{1bacc9ba-6751-eda6-9f24-6508c0c9f9a1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B. Methods and why" id="{91874b5b-c82e-e6a3-d023-bf4bf58c7178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C. Results" id="{3e8acc89-c54b-bd00-3eee-b76cebcace2a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D. Discussion and conclusion" id="{0796b32e-192d-f6df-ba16-6d71a49374c2}">
          <p14:sldIdLst>
            <p14:sldId id="286"/>
            <p14:sldId id="287"/>
            <p14:sldId id="288"/>
            <p14:sldId id="289"/>
            <p14:sldId id="290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Spectrum-level BA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CART-S0</c:v>
                  </c:pt>
                  <c:pt idx="1">
                    <c:v>CART-S1</c:v>
                  </c:pt>
                  <c:pt idx="2">
                    <c:v>CART-S2</c:v>
                  </c:pt>
                  <c:pt idx="3">
                    <c:v>CART-S3</c:v>
                  </c:pt>
                  <c:pt idx="4">
                    <c:v>RF-S0</c:v>
                  </c:pt>
                  <c:pt idx="5">
                    <c:v>RF-S1</c:v>
                  </c:pt>
                  <c:pt idx="6">
                    <c:v>RF-S2</c:v>
                  </c:pt>
                  <c:pt idx="7">
                    <c:v>RF-S3</c:v>
                  </c:pt>
                  <c:pt idx="8">
                    <c:v>RF all bands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0.579</c:v>
                </c:pt>
                <c:pt idx="1">
                  <c:v>0.615</c:v>
                </c:pt>
                <c:pt idx="2">
                  <c:v>0.611</c:v>
                </c:pt>
                <c:pt idx="3">
                  <c:v>0.6</c:v>
                </c:pt>
                <c:pt idx="4">
                  <c:v>0.585</c:v>
                </c:pt>
                <c:pt idx="5">
                  <c:v>0.604</c:v>
                </c:pt>
                <c:pt idx="6">
                  <c:v>0.614</c:v>
                </c:pt>
                <c:pt idx="7">
                  <c:v>0.588</c:v>
                </c:pt>
                <c:pt idx="8">
                  <c:v>0.549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Plot-level BA</c:v>
                </c:pt>
              </c:strCache>
            </c:strRef>
          </c:tx>
          <c:spPr>
            <a:solidFill>
              <a:srgbClr val="EDA10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CART-S0</c:v>
                  </c:pt>
                  <c:pt idx="1">
                    <c:v>CART-S1</c:v>
                  </c:pt>
                  <c:pt idx="2">
                    <c:v>CART-S2</c:v>
                  </c:pt>
                  <c:pt idx="3">
                    <c:v>CART-S3</c:v>
                  </c:pt>
                  <c:pt idx="4">
                    <c:v>RF-S0</c:v>
                  </c:pt>
                  <c:pt idx="5">
                    <c:v>RF-S1</c:v>
                  </c:pt>
                  <c:pt idx="6">
                    <c:v>RF-S2</c:v>
                  </c:pt>
                  <c:pt idx="7">
                    <c:v>RF-S3</c:v>
                  </c:pt>
                  <c:pt idx="8">
                    <c:v>RF all bands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0.543</c:v>
                </c:pt>
                <c:pt idx="1">
                  <c:v>0.737</c:v>
                </c:pt>
                <c:pt idx="2">
                  <c:v>0.751</c:v>
                </c:pt>
                <c:pt idx="3">
                  <c:v>0.707</c:v>
                </c:pt>
                <c:pt idx="4">
                  <c:v>0.556</c:v>
                </c:pt>
                <c:pt idx="5">
                  <c:v>0.732</c:v>
                </c:pt>
                <c:pt idx="6">
                  <c:v>0.76</c:v>
                </c:pt>
                <c:pt idx="7">
                  <c:v>0.683</c:v>
                </c:pt>
                <c:pt idx="8">
                  <c:v>0.5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Arial"/>
                  </a:rPr>
                  <a:t>Balanced accuracy</a:t>
                </a:r>
              </a:p>
            </c:rich>
          </c:tx>
          <c:layout/>
          <c:overlay val="0"/>
        </c:title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F3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645920"/>
            <a:ext cx="106984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AD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3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AD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DD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1F3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DD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plots · healthy vs diseased · four-tier analysis, RF comparison, imbalance handling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DD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64592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Healthy vs diseased plots from SMACC endmembers: four-tier analysis with imbalance handling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Four-tier method of Das et al. (2020): ANOVA → CART → J–M distance → QDA, with Random Forest in place of CART in Tier 2 for comparison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plots (1–12 healthy, 13–48 diseased) · 1417 endmember spectra kept separately · all 483 reflectance bands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Workflow at a glance</a:t>
            </a:r>
            <a:endParaRPr lang="en-US" sz="3000" dirty="0"/>
          </a:p>
        </p:txBody>
      </p:sp>
      <p:sp>
        <p:nvSpPr>
          <p:cNvPr id="3" name="stage A"/>
          <p:cNvSpPr/>
          <p:nvPr/>
        </p:nvSpPr>
        <p:spPr>
          <a:xfrm>
            <a:off x="548640" y="1371600"/>
            <a:ext cx="2606040" cy="3749040"/>
          </a:xfrm>
          <a:prstGeom prst="roundRect">
            <a:avLst>
              <a:gd name="adj" fmla="val 280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stage badge A"/>
          <p:cNvSpPr/>
          <p:nvPr/>
        </p:nvSpPr>
        <p:spPr>
          <a:xfrm>
            <a:off x="731520" y="1572768"/>
            <a:ext cx="566928" cy="566928"/>
          </a:xfrm>
          <a:prstGeom prst="ellipse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72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5727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77440"/>
            <a:ext cx="22860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48 plot ROIs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SMACC: 30 endmembers / plot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1417 spectra kept separately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All 483 bands, reflectance only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Data check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136392" y="2926080"/>
            <a:ext cx="258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2514E"/>
                </a:solidFill>
              </a:rPr>
              <a:t>›</a:t>
            </a:r>
            <a:endParaRPr lang="en-US" sz="3000" dirty="0"/>
          </a:p>
        </p:txBody>
      </p:sp>
      <p:sp>
        <p:nvSpPr>
          <p:cNvPr id="9" name="stage B"/>
          <p:cNvSpPr/>
          <p:nvPr/>
        </p:nvSpPr>
        <p:spPr>
          <a:xfrm>
            <a:off x="3376879" y="1371600"/>
            <a:ext cx="2606040" cy="3749040"/>
          </a:xfrm>
          <a:prstGeom prst="roundRect">
            <a:avLst>
              <a:gd name="adj" fmla="val 280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0" name="stage badge B"/>
          <p:cNvSpPr/>
          <p:nvPr/>
        </p:nvSpPr>
        <p:spPr>
          <a:xfrm>
            <a:off x="3559759" y="1572768"/>
            <a:ext cx="566928" cy="566928"/>
          </a:xfrm>
          <a:prstGeom prst="ellipse">
            <a:avLst/>
          </a:prstGeom>
          <a:solidFill>
            <a:srgbClr val="1F3A2E"/>
          </a:solidFill>
          <a:ln w="12700">
            <a:solidFill>
              <a:srgbClr val="1F3A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59759" y="1572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245559" y="15727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Four-tier analysis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559759" y="2377440"/>
            <a:ext cx="22860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Tier 1: ANOVA + Tukey per band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Tier 2: CART or RF band selection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Tier 3: J–M distance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Tier 4: QDA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964631" y="2926080"/>
            <a:ext cx="258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2514E"/>
                </a:solidFill>
              </a:rPr>
              <a:t>›</a:t>
            </a:r>
            <a:endParaRPr lang="en-US" sz="3000" dirty="0"/>
          </a:p>
        </p:txBody>
      </p:sp>
      <p:sp>
        <p:nvSpPr>
          <p:cNvPr id="15" name="stage C"/>
          <p:cNvSpPr/>
          <p:nvPr/>
        </p:nvSpPr>
        <p:spPr>
          <a:xfrm>
            <a:off x="6205118" y="1371600"/>
            <a:ext cx="2606040" cy="3749040"/>
          </a:xfrm>
          <a:prstGeom prst="roundRect">
            <a:avLst>
              <a:gd name="adj" fmla="val 280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6" name="stage badge C"/>
          <p:cNvSpPr/>
          <p:nvPr/>
        </p:nvSpPr>
        <p:spPr>
          <a:xfrm>
            <a:off x="6387998" y="1572768"/>
            <a:ext cx="566928" cy="56692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7998" y="1572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7073798" y="15727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 imbalance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387998" y="2377440"/>
            <a:ext cx="22860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Healthy : diseased = 1 : 2.96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S0 no correction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S1 class weighting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S2 random under-sampling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S3 SMOTE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792870" y="2926080"/>
            <a:ext cx="258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2514E"/>
                </a:solidFill>
              </a:rPr>
              <a:t>›</a:t>
            </a:r>
            <a:endParaRPr lang="en-US" sz="3000" dirty="0"/>
          </a:p>
        </p:txBody>
      </p:sp>
      <p:sp>
        <p:nvSpPr>
          <p:cNvPr id="21" name="stage D"/>
          <p:cNvSpPr/>
          <p:nvPr/>
        </p:nvSpPr>
        <p:spPr>
          <a:xfrm>
            <a:off x="9033358" y="1371600"/>
            <a:ext cx="2606040" cy="3749040"/>
          </a:xfrm>
          <a:prstGeom prst="roundRect">
            <a:avLst>
              <a:gd name="adj" fmla="val 280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22" name="stage badge D"/>
          <p:cNvSpPr/>
          <p:nvPr/>
        </p:nvSpPr>
        <p:spPr>
          <a:xfrm>
            <a:off x="9216238" y="1572768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16238" y="1572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9902038" y="15727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&amp; checks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216238" y="2377440"/>
            <a:ext cx="22860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Paper-style random 10-fold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Plot-grouped nested CV (main)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Leave-one-plot-out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Permutation test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Python ↔ Excel checks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3492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analysis configurations = 2 Tier-2 methods (CART, RF) × 4 imbalance strategies (S0–S3). Every re-sampling and every band selection is done on training data only. Seed 42 for all random steps.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· Data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plot ROIs, 30 SMACC endmembers per plot, every endmember kept as a separate spectrum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DD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plots and the analysis data set</a:t>
            </a:r>
            <a:endParaRPr lang="en-US" sz="3000" dirty="0"/>
          </a:p>
        </p:txBody>
      </p:sp>
      <p:pic>
        <p:nvPicPr>
          <p:cNvPr id="3" name="Plot map" descr="Plot 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86840"/>
            <a:ext cx="5486400" cy="472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0" y="13258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1417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6400800" y="19842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endmember spectra analysed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9052560" y="1325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358 / 1059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9052560" y="198424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healthy / diseased spectra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0" y="26060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483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326440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reflectance bands (399–2398 nm)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052560" y="26060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: 2.96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9052560" y="32644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class ratio (imbalanced)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3931920"/>
            <a:ext cx="5239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Plot polygons from 48_plot_roi_new.xml (ROI #1–#48, WGS-84), drawn in local metres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30 SMACC endmembers per plot (Gruninger et al. 2004); 23 were removed before this analysis, so plots keep 26–30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Endmembers are not averaged: each is one sample, labelled by its plot's class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Healthy plots 1–12 lie together at the west end of the field: class and position are partly confounded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Endmember spectra per plot</a:t>
            </a:r>
            <a:endParaRPr lang="en-US" sz="3000" dirty="0"/>
          </a:p>
        </p:txBody>
      </p:sp>
      <p:pic>
        <p:nvPicPr>
          <p:cNvPr id="3" name="Endmembers per plot" descr="Endmembers per pl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02929"/>
            <a:ext cx="11094415" cy="342918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93776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Healthy plots: 29–30 spectra each (358 in total); diseased plots: 26–30 each (1059 in total)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Spectra of one plot share soil, illumination and management: they are not independent samples. This is why validation is done by plot (Part D)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endmember spectra</a:t>
            </a:r>
            <a:endParaRPr lang="en-US" sz="3000" dirty="0"/>
          </a:p>
        </p:txBody>
      </p:sp>
      <p:pic>
        <p:nvPicPr>
          <p:cNvPr id="3" name="All endmember spectra" descr="All endmember spect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5024"/>
            <a:ext cx="11094415" cy="406795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715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2514E"/>
                </a:solidFill>
              </a:rPr>
              <a:t>Thin lines: individual endmembers (358 healthy, 1059 diseased); black: class mean. Gaps are the water-absorption bands absent from the image. SMACC picks the most extreme spectra of each plot, hence the wide spread.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 means and variability</a:t>
            </a:r>
            <a:endParaRPr lang="en-US" sz="3000" dirty="0"/>
          </a:p>
        </p:txBody>
      </p:sp>
      <p:pic>
        <p:nvPicPr>
          <p:cNvPr id="3" name="Mean ± SD spectra" descr="Mean ± SD spect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3748" y="1234440"/>
            <a:ext cx="10744200" cy="4297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2514E"/>
                </a:solidFill>
              </a:rPr>
              <a:t>Mean ± 1 SD per class over all 483 bands. The two bands overlap almost everywhere: the class difference is small compared with the spread within each class.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check: everything is analysed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1417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299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spectra analysed: none removed in this step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3716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483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0299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bands analysed: none excluded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6692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As requested, all uploaded endmembers and all wavelengths are used, including the detector edges (&lt; 420 nm, &gt; 2,350 nm)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Negative reflectance (physically impossible) in 21 healthy and 296 diseased spectra, at 76 bands, mainly the noisy ends of the range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These values are kept (no editing of data), but bands chosen there are flagged when the results are interpreted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Checks passed: 1417 × 483 values, no missing values, plots 1–12 = healthy, 13–48 = diseased, each spectrum in exactly one plot</a:t>
            </a:r>
            <a:endParaRPr lang="en-US" sz="1450" dirty="0"/>
          </a:p>
        </p:txBody>
      </p:sp>
      <p:pic>
        <p:nvPicPr>
          <p:cNvPr id="8" name="Negative reflectance by band" descr="Negative reflectance by b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2073402"/>
            <a:ext cx="5239512" cy="26197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· Methods and why they are used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Four-tier method, imbalance strategies, validation design and accuracy measures, each with its reference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DD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Four-tier method: what each tier does and why</a:t>
            </a:r>
            <a:endParaRPr lang="en-US" sz="3000" dirty="0"/>
          </a:p>
        </p:txBody>
      </p:sp>
      <p:graphicFrame>
        <p:nvGraphicFramePr>
          <p:cNvPr id="1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023360"/>
                <a:gridCol w="3291840"/>
                <a:gridCol w="254203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done here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ANOVA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One-way ANOVA per band, p &lt; 0.05; Tukey HSD; FDR and Bonferroni reported; plot-mean ANOVA as a check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Keeps only bands where class means differ; removes uninformative bands before selection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 et al. 2020; Tukey 1949; Benjamini &amp; Hochberg 1995; Hurlbert 1984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2a · CART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rpart-equivalent tree (Gini, minsplit 20, minbucket 7, cp 0.01) on the significant bands; bands used in splits are kept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Picks a small set of complementary bands; same settings as the paper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Breiman et al. 1984; Therneau &amp; Atkinson (rpart)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2b · RF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(500 trees, mtry = √p) importance ranking; top bands with |r| &lt; 0.95; same number of bands as CART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 requested: a more stable, ensemble-based band ranking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Breiman 2001; Strobl et al. 2008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J–M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Jeffries–Matusita distance JM = 2(1 − e^−B) per band and for the selected set; 1.94 threshold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Measures how separable the classes are on the chosen bands (0 = none, 2 = complete)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Richards 2013; Das et al. 2020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QDA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Quadratic discriminant analysis on the selected bands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Classifier used in the paper; allows a different covariance per class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 et al. 2020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2514E"/>
                </a:solidFill>
              </a:rPr>
              <a:t>Das et al. (2020) used 14 rice genotypes; here there are 2 classes, so Tukey HSD tests one pair and gives the same decision as the ANOVA (checked at every band).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class imbalance matters (1 : 2.96)</a:t>
            </a:r>
            <a:endParaRPr lang="en-US" sz="3000" dirty="0"/>
          </a:p>
        </p:txBody>
      </p:sp>
      <p:sp>
        <p:nvSpPr>
          <p:cNvPr id="3" name="card The problem"/>
          <p:cNvSpPr/>
          <p:nvPr/>
        </p:nvSpPr>
        <p:spPr>
          <a:xfrm>
            <a:off x="548640" y="1371600"/>
            <a:ext cx="5394960" cy="4663440"/>
          </a:xfrm>
          <a:prstGeom prst="roundRect">
            <a:avLst>
              <a:gd name="adj" fmla="val 156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813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5029200" cy="400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1059 diseased vs 358 healthy spectra: a model that calls everything “diseased” already reaches 74.7% overall accuracy</a:t>
            </a:r>
            <a:endParaRPr lang="en-US" sz="14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Trees and QDA (with empirical priors) are pulled towards the majority class: healthy plots are under-detected</a:t>
            </a:r>
            <a:endParaRPr lang="en-US" sz="14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Overall accuracy is therefore misleading; balanced accuracy, MCC, kappa and per-class F1 are reported instead</a:t>
            </a:r>
            <a:endParaRPr lang="en-US" sz="14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Imbalance handling must be fitted on training folds only, or the test result is optimistic</a:t>
            </a:r>
            <a:endParaRPr lang="en-US" sz="1450" dirty="0"/>
          </a:p>
        </p:txBody>
      </p:sp>
      <p:sp>
        <p:nvSpPr>
          <p:cNvPr id="6" name="card References"/>
          <p:cNvSpPr/>
          <p:nvPr/>
        </p:nvSpPr>
        <p:spPr>
          <a:xfrm>
            <a:off x="6153912" y="1371600"/>
            <a:ext cx="5486400" cy="4663440"/>
          </a:xfrm>
          <a:prstGeom prst="roundRect">
            <a:avLst>
              <a:gd name="adj" fmla="val 1569"/>
            </a:avLst>
          </a:prstGeom>
          <a:solidFill>
            <a:srgbClr val="FDF3E7"/>
          </a:solidFill>
          <a:ln w="12700">
            <a:solidFill>
              <a:srgbClr val="FDF3E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36792" y="1481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336792" y="1920240"/>
            <a:ext cx="5120640" cy="400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He &amp; Garcia (2009) IEEE TKDE: review of imbalanced learning; why accuracy misleads</a:t>
            </a:r>
            <a:endParaRPr lang="en-US" sz="14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Brodersen et al. (2010) ICPR: balanced accuracy</a:t>
            </a:r>
            <a:endParaRPr lang="en-US" sz="14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Chicco &amp; Jurman (2020) BMC Genomics: MCC for imbalanced binary problems</a:t>
            </a:r>
            <a:endParaRPr lang="en-US" sz="14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Santos et al. (2018) IEEE CIM: re-sample inside the cross-validation, never before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imbalance strategies compared</a:t>
            </a:r>
            <a:endParaRPr lang="en-US" sz="3000" dirty="0"/>
          </a:p>
        </p:txBody>
      </p:sp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3337560"/>
                <a:gridCol w="2011680"/>
                <a:gridCol w="1828800"/>
                <a:gridCol w="20391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is applied (training folds only)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reference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 imbalance 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No correction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as is; QDA with empirical priors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as in Das et al.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 et al. 2020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Class weighting (cost-sensitive)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N/(2n_k) per class in CART (= rpart prior) and RF (class_weight = balanced); QDA equal priors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Keeps every spectrum; no synthetic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Breiman et al. 1984; Chen, Liaw &amp; Breiman 2004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Chen et al. 2004 (weighted RF); He &amp; Garcia 2009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Random under-sampling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Diseased training spectra randomly reduced to the healthy count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Simple; removes majority dominance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 &amp; Garcia 2009; Lemaître et al. 2017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Chen et al. 2004 (balanced RF)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SMOTE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Synthetic healthy spectra by interpolation between 5 nearest healthy neighbours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Adds minority information without discarding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Chawla et al. 2002; Lemaître et al. 2017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Cuenca-Romero et al. 2024 (wheat rust, hyperspectral); Douzas et al. 2019 (land cover)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2514E"/>
                </a:solidFill>
              </a:rPr>
              <a:t>S1 class weights: healthy 1417/(2·358) ≈ 1.98, diseased 1417/(2·1059) ≈ 0.67 (on the full data; recomputed in each training fold). The test spectra are never re-sampled.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440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Cuenca-Romero et al. (2024) used SMOTE on imbalanced hyperspectral data to detect yellow and brown rust in wheat: a direct plant-disease example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Douzas et al. (2019) used SMOTE-type over-sampling for imbalanced land-cover classes in remote sensing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design and why</a:t>
            </a:r>
            <a:endParaRPr lang="en-US" sz="3000" dirty="0"/>
          </a:p>
        </p:txBody>
      </p:sp>
      <p:sp>
        <p:nvSpPr>
          <p:cNvPr id="3" name="box V1 · Paper-style random 10-fold (× 5)"/>
          <p:cNvSpPr/>
          <p:nvPr/>
        </p:nvSpPr>
        <p:spPr>
          <a:xfrm>
            <a:off x="548640" y="1325880"/>
            <a:ext cx="5468112" cy="2240280"/>
          </a:xfrm>
          <a:prstGeom prst="roundRect">
            <a:avLst>
              <a:gd name="adj" fmla="val 326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35608"/>
            <a:ext cx="5102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· Paper-style random 10-fold (× 5)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28800"/>
            <a:ext cx="510235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As in Das et al.: bands chosen once on all data, then QDA cross-validated on randomly split spectra. Reported for comparison only: it is optimistic because spectra of the same plot fall in training and test, and the bands were chosen with the test spectra.</a:t>
            </a:r>
            <a:endParaRPr lang="en-US" sz="1300" dirty="0"/>
          </a:p>
        </p:txBody>
      </p:sp>
      <p:sp>
        <p:nvSpPr>
          <p:cNvPr id="6" name="box V2 · Plot-grouped nested 4-fold (× 10) — main result"/>
          <p:cNvSpPr/>
          <p:nvPr/>
        </p:nvSpPr>
        <p:spPr>
          <a:xfrm>
            <a:off x="6172200" y="1325880"/>
            <a:ext cx="5468112" cy="2240280"/>
          </a:xfrm>
          <a:prstGeom prst="roundRect">
            <a:avLst>
              <a:gd name="adj" fmla="val 326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55080" y="1435608"/>
            <a:ext cx="5102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 · Plot-grouped nested 4-fold (× 10) — main result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828800"/>
            <a:ext cx="510235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Whole plots are held out (3 healthy + 9 diseased per test fold). Tier 1, Tier 2, re-sampling and QDA are all redone inside each training fold. Repeated 10 times with different plot splits.</a:t>
            </a:r>
            <a:endParaRPr lang="en-US" sz="1300" dirty="0"/>
          </a:p>
        </p:txBody>
      </p:sp>
      <p:sp>
        <p:nvSpPr>
          <p:cNvPr id="9" name="box V3 · Leave-one-plot-out (48 folds)"/>
          <p:cNvSpPr/>
          <p:nvPr/>
        </p:nvSpPr>
        <p:spPr>
          <a:xfrm>
            <a:off x="548640" y="3721608"/>
            <a:ext cx="5468112" cy="2240280"/>
          </a:xfrm>
          <a:prstGeom prst="roundRect">
            <a:avLst>
              <a:gd name="adj" fmla="val 326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831336"/>
            <a:ext cx="5102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 · Leave-one-plot-out (48 folds)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224528"/>
            <a:ext cx="510235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Each plot predicted by a model built on the other 47 plots; a plot is called diseased if &gt; 50% of its spectra are. Shows which plots are misclassified.</a:t>
            </a:r>
            <a:endParaRPr lang="en-US" sz="1300" dirty="0"/>
          </a:p>
        </p:txBody>
      </p:sp>
      <p:sp>
        <p:nvSpPr>
          <p:cNvPr id="12" name="box Permutation test (100 ×)"/>
          <p:cNvSpPr/>
          <p:nvPr/>
        </p:nvSpPr>
        <p:spPr>
          <a:xfrm>
            <a:off x="6172200" y="3721608"/>
            <a:ext cx="5468112" cy="2240280"/>
          </a:xfrm>
          <a:prstGeom prst="roundRect">
            <a:avLst>
              <a:gd name="adj" fmla="val 326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55080" y="3831336"/>
            <a:ext cx="5102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Permutation test (100 ×)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4224528"/>
            <a:ext cx="510235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Plot labels shuffled (12 healthy / 36 diseased kept) and V2 repeated: tells whether the observed balanced accuracy is better than chance.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2514E"/>
                </a:solidFill>
              </a:rPr>
              <a:t>References: Hurlbert 1984 (pseudo-replication); Roberts et al. 2017 (grouped/block CV); Ambroise &amp; McLachlan 2002 (selection inside the folds); Santos et al. 2018 (re-sampling inside the folds); Ojala &amp; Garriga 2010 (permutation test).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measures reported</a:t>
            </a:r>
            <a:endParaRPr lang="en-US" sz="3000" dirty="0"/>
          </a:p>
        </p:txBody>
      </p:sp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291840"/>
                <a:gridCol w="3383280"/>
                <a:gridCol w="176479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Balanced accuracy (BA) — main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(sensitivity + specificity) /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inflated by the majority class; 0.5 = chance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Brodersen et al. 2010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Sensitivity / specificity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 diseased / correct healthy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which class fails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 &amp; Garcia 2009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 of observed and predicted classes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Uses all four cells; robust to imbalance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Chicco &amp; Jurman 2020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Kappa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beyond chance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in remote sensing and by Das et al.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Cohen 1960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per class, ROC-AUC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Precision–recall balance; ranking quality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Complementary views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 &amp; Garcia 2009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Plot-level BA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Majority vote of a plot's spectra vs its true class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Plots are the real units of interest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Hurlbert 1984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Overall accuracy (OA)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 / total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only for comparison with the paper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 et al. 2020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· Results, tier by tier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→ Tier 2 (CART and RF) → Tier 3 → Tier 4, then validation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DD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1 · 411 of 483 bands differ at p &lt; 0.05</a:t>
            </a:r>
            <a:endParaRPr lang="en-US" sz="3000" dirty="0"/>
          </a:p>
        </p:txBody>
      </p:sp>
      <p:pic>
        <p:nvPicPr>
          <p:cNvPr id="3" name="Tier 1 ANOVA results" descr="Tier 1 ANOVA resul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8784" y="1188720"/>
            <a:ext cx="6869151" cy="5120640"/>
          </a:xfrm>
          <a:prstGeom prst="rect">
            <a:avLst/>
          </a:prstGeom>
        </p:spPr>
      </p:pic>
      <p:sp>
        <p:nvSpPr>
          <p:cNvPr id="4" name="card What Tier 1 shows"/>
          <p:cNvSpPr/>
          <p:nvPr/>
        </p:nvSpPr>
        <p:spPr>
          <a:xfrm>
            <a:off x="7680960" y="1325880"/>
            <a:ext cx="3959352" cy="4846320"/>
          </a:xfrm>
          <a:prstGeom prst="roundRect">
            <a:avLst>
              <a:gd name="adj" fmla="val 18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435608"/>
            <a:ext cx="3593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Tier 1 shows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1874520"/>
            <a:ext cx="3593592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411 bands significant with all spectra as replicates; 407 after FDR and 132 after Bonferroni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Tukey HSD gives the same 411 bands (one pair)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Effect sizes are small: largest |d| = 0.51 (2392 nm); 3 bands |d| ≥ 0.5, 0 bands |d| ≥ 0.8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With the 48 plot means as replicates only 302 bands are significant: the spectrum-level test is inflated by pseudo-replication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1 · how robust is the band list?</a:t>
            </a:r>
            <a:endParaRPr lang="en-US" sz="3000" dirty="0"/>
          </a:p>
        </p:txBody>
      </p:sp>
      <p:graphicFrame>
        <p:nvGraphicFramePr>
          <p:cNvPr id="1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737360"/>
                <a:gridCol w="2377440"/>
                <a:gridCol w="368503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Bands significant (of 483)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One-way ANOVA, p &lt; 0.05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1417 spectra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Passed to Tier 2 (as in Das et al.)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Tukey HSD, p &lt; 0.05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1417 spectra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Identical decision (one pair)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ANOVA + FDR (Benjamini–Hochberg)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1417 spectra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Controls false discoveries over 483 tests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ANOVA + Bonferroni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1417 spectra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Strictest control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Welch t-test (unequal variances)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1417 spectra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Levene: variances differ at 93 bands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ANOVA on plot means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plots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Pseudo-replication check (Hurlbert 1984)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9204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The band list is stable across tests that use spectra as replicates; with plots as replicates fewer bands remain, so p-values from spectra overstate the evidence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Inside every validation fold Tier 1 is recomputed on the training spectra only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2a · CART tree (class-weighted, S1)</a:t>
            </a:r>
            <a:endParaRPr lang="en-US" sz="3000" dirty="0"/>
          </a:p>
        </p:txBody>
      </p:sp>
      <p:pic>
        <p:nvPicPr>
          <p:cNvPr id="3" name="CART tree" descr="CART tr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575" y="1188720"/>
            <a:ext cx="10806545" cy="47548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2514E"/>
                </a:solidFill>
              </a:rPr>
              <a:t>Tree grown on all 1417 spectra with class weights (S1), pruned at cp = 0.01: 18 splits on 17 bands. Boxes: split rule (R = reflectance at that wavelength); leaves: predicted class and healthy | diseased spectra. The first split (R2380 ≤ 0.0001) isolates 241 spectra with zero or negative reflectance at 2,380 nm, 238 of them diseased: the tree exploits the noisy edge band.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2a · CART bands for each imbalance strategy</a:t>
            </a:r>
            <a:endParaRPr lang="en-US" sz="3000" dirty="0"/>
          </a:p>
        </p:txBody>
      </p:sp>
      <p:graphicFrame>
        <p:nvGraphicFramePr>
          <p:cNvPr id="2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22960"/>
                <a:gridCol w="6949440"/>
                <a:gridCol w="12161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Selected wavelengths (nm)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bands*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none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399, 405, 428, 452, 466, 475, 479, 760, 846, 858, 885, 927, 945, 1996, 2008, 2044, 2050, 2326, 2344, 2356, 2380, 2398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class weights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405, 443, 498, 760, 797, 846, 899, 920, 927, 1600, 1780, 1984, 2056, 2194, 2302, 2344, 2380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under-sampling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494, 498, 505, 711, 855, 885, 890, 920, 1497, 1726, 2008, 2344, 2374, 2380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SMOTE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470, 505, 577, 916, 920, 939, 951, 1143, 1155, 1233, 1293, 1317, 1329, 1461, 1636, 1990, 2272, 2326, 2368, 2380, 2392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1206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selected bands change with the imbalance strategy: individual bands should not be over-interpreted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Recurring regions: blue/green (≈ 400–500 nm), red-edge/NIR (≈ 700–950 nm) and SWIR-2 (≈ 2,000–2,400 nm)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* Edge bands &lt; 420 or &gt; 2,350 nm are kept as requested but are the noisiest part of the sensor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2b · Random Forest instead of CART</a:t>
            </a:r>
            <a:endParaRPr lang="en-US" sz="3000" dirty="0"/>
          </a:p>
        </p:txBody>
      </p:sp>
      <p:pic>
        <p:nvPicPr>
          <p:cNvPr id="3" name="RF importance" descr="RF import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3433" y="1143000"/>
            <a:ext cx="7064829" cy="2697480"/>
          </a:xfrm>
          <a:prstGeom prst="rect">
            <a:avLst/>
          </a:prstGeom>
        </p:spPr>
      </p:pic>
      <p:graphicFrame>
        <p:nvGraphicFramePr>
          <p:cNvPr id="2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22960"/>
                <a:gridCol w="816559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RF-selected wavelengths (nm), in order of importance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none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2386, 2014, 920, 921, 401, 406, 890, 918, 498, 2284, 760, 456, 421, 505, 705, 939, 1485, 1467, 719, 2158, 1299, 1744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class weights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2386, 2014, 920, 921, 2302, 403, 498, 426, 760, 918, 412, 489, 939, 899, 705, 1473, 505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under-sampling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2362, 2014, 920, 921, 918, 399, 897, 498, 408, 712, 512, 486, 2248, 939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SMOTE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2386, 2014, 920, 933, 921, 2278, 918, 758, 403, 897, 412, 426, 496, 707, 1461, 479, 505, 834, 1491, 1726, 721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2514E"/>
                </a:solidFill>
              </a:rPr>
              <a:t>RF ranks all ANOVA-significant bands; neighbours with |r| ≥ 0.95 to an already chosen band are skipped (Strobl et al. 2008) so that the same number of bands as CART is kept.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bands were selected? CART vs RF</a:t>
            </a:r>
            <a:endParaRPr lang="en-US" sz="3000" dirty="0"/>
          </a:p>
        </p:txBody>
      </p:sp>
      <p:pic>
        <p:nvPicPr>
          <p:cNvPr id="3" name="Band selection matrix" descr="Band selection matri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987" y="1188720"/>
            <a:ext cx="10495722" cy="43891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2514E"/>
                </a:solidFill>
              </a:rPr>
              <a:t>Each row is one configuration (Tier-2 method × imbalance strategy); ticks are the selected wavelengths on the full data. Background: −log10 p of Tier 1.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3 · Jeffries–Matusita distance</a:t>
            </a:r>
            <a:endParaRPr lang="en-US" sz="3000" dirty="0"/>
          </a:p>
        </p:txBody>
      </p:sp>
      <p:pic>
        <p:nvPicPr>
          <p:cNvPr id="3" name="J-M distance" descr="J-M dist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27048"/>
            <a:ext cx="7132320" cy="2615184"/>
          </a:xfrm>
          <a:prstGeom prst="rect">
            <a:avLst/>
          </a:prstGeom>
        </p:spPr>
      </p:pic>
      <p:graphicFrame>
        <p:nvGraphicFramePr>
          <p:cNvPr id="2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1280160"/>
          <a:ext cx="37764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11247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JM (0–2)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CART-S0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CART-S1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CART-S2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CART-S3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RF-S1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RF-S2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RF-S3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663440"/>
            <a:ext cx="7132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configuration reaches the 1.94 threshold of Das et al.: the best is CART-S3 with JM = 1.147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best single band reaches only JM = 0.068 (2392 nm)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Healthy and diseased endmembers overlap strongly in spectral space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4 · QDA with paper-style validation (V1)</a:t>
            </a:r>
            <a:endParaRPr lang="en-US" sz="3000" dirty="0"/>
          </a:p>
        </p:txBody>
      </p:sp>
      <p:graphicFrame>
        <p:nvGraphicFramePr>
          <p:cNvPr id="2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04872"/>
                <a:gridCol w="2404872"/>
                <a:gridCol w="2404872"/>
                <a:gridCol w="2414016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none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class weights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under-sampling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SMOTE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0.588 (OA 70.7%)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0.614 (OA 56.8%)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0.627 (OA 60.1%)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 (OA 76.4%)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0.682 (OA 75.5%)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0.624 (OA 60.1%)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0.619 (OA 58.1%)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0.615 (OA 61.8%)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108960"/>
            <a:ext cx="1109441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Balanced accuracy (overall accuracy in brackets); random stratified 10-fold × 5, bands chosen once on all spectra, as in Das et al. (2020)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Best: CART-S3, BA 0.762. This scheme is optimistic: spectra of one plot are in both training and test sets, and the bands were selected with the test spectra (Ambroise &amp; McLachlan 2002)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realistic estimate is the plot-grouped nested validation on the next slides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result · plot-grouped nested validation (V2)</a:t>
            </a:r>
            <a:endParaRPr lang="en-US" sz="3000" dirty="0"/>
          </a:p>
        </p:txBody>
      </p:sp>
      <p:graphicFrame>
        <p:nvGraphicFramePr>
          <p:cNvPr id="3" name="BA chart" descr=""/>
          <p:cNvGraphicFramePr/>
          <p:nvPr/>
        </p:nvGraphicFramePr>
        <p:xfrm>
          <a:off x="548640" y="1234440"/>
          <a:ext cx="74980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Reading the chart"/>
          <p:cNvSpPr/>
          <p:nvPr/>
        </p:nvSpPr>
        <p:spPr>
          <a:xfrm>
            <a:off x="8229600" y="1325880"/>
            <a:ext cx="3410712" cy="4846320"/>
          </a:xfrm>
          <a:prstGeom prst="roundRect">
            <a:avLst>
              <a:gd name="adj" fmla="val 21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12480" y="143560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chart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1874520"/>
            <a:ext cx="3044952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0.5 = chance for balanced accuracy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Spectrum level: 0.58–0.62; best CART-S1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Plot level (majority vote): best RF-S2 at 0.76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Imbalance correction (S1–S3) clearly helps at plot level compared with S0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RF on all 483 bands as benchmark: 0.55 / 0.50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 in detail (mean ± SD over 10 repetitions)</a:t>
            </a:r>
            <a:endParaRPr lang="en-US" sz="3000" dirty="0"/>
          </a:p>
        </p:txBody>
      </p:sp>
      <p:graphicFrame>
        <p:nvGraphicFramePr>
          <p:cNvPr id="2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280160"/>
                <a:gridCol w="1188720"/>
                <a:gridCol w="1188720"/>
                <a:gridCol w="1325880"/>
                <a:gridCol w="1325880"/>
                <a:gridCol w="1188720"/>
                <a:gridCol w="1234440"/>
                <a:gridCol w="103327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Kappa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Sensitivity (D)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Specificity (H)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Plot BA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Bands/fold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CART-S0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0.579 ± 0.032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 ± 0.07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 ± 0.07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 ± 0.02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 ± 0.06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 ± 0.04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 ± 0.05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CART-S1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0.615 ± 0.031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 ± 0.05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 ± 0.05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 ± 0.02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 ± 0.07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 ± 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 ± 0.07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CART-S2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0.611 ± 0.016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 ± 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 ± 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 ± 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 ± 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 ± 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 ± 0.06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CART-S3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0.600 ± 0.021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 ± 0.04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 ± 0.04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 ± 0.04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 ± 0.04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 ± 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 ± 0.07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RF-S0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0.585 ± 0.022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 ± 0.05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 ± 0.05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 ± 0.02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 ± 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 ± 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 ± 0.04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RF-S1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0.604 ± 0.018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 ± 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 ± 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 ± 0.02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 ± 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 ± 0.02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 ± 0.09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RF-S2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0.614 ± 0.020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 ± 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 ± 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 ± 0.02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 ± 0.04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 ± 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 ± 0.05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RF-S3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0.588 ± 0.020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 ± 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 ± 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 ± 0.02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 ± 0.05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 ± 0.02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 ± 0.05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all bands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0.549 ± 0.016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 ± 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 ± 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 ± 0.01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 ± 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 ± 0.02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 ± 0.04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32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2514E"/>
                </a:solidFill>
              </a:rPr>
              <a:t>Tier 1, Tier 2, re-sampling and QDA refitted in every training fold; test plots never seen. D = diseased, H = healthy. The RF benchmark is a class-weighted RF classifier on all bands (no Tier 1–3).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the same bands chosen in every fold?</a:t>
            </a:r>
            <a:endParaRPr lang="en-US" sz="3000" dirty="0"/>
          </a:p>
        </p:txBody>
      </p:sp>
      <p:graphicFrame>
        <p:nvGraphicFramePr>
          <p:cNvPr id="2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46304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(nm)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CART-S1: share of folds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(nm)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RF-S2: share of folds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2379.6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918.0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2397.6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2007.5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2391.6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497.8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</a:tbl>
          </a:graphicData>
        </a:graphic>
      </p:graphicFrame>
      <p:sp>
        <p:nvSpPr>
          <p:cNvPr id="4" name="card Stability of band selection"/>
          <p:cNvSpPr/>
          <p:nvPr/>
        </p:nvSpPr>
        <p:spPr>
          <a:xfrm>
            <a:off x="7406640" y="1371600"/>
            <a:ext cx="4233672" cy="4480560"/>
          </a:xfrm>
          <a:prstGeom prst="roundRect">
            <a:avLst>
              <a:gd name="adj" fmla="val 172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589520" y="1481328"/>
            <a:ext cx="3867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Stability of band selection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589520" y="1920240"/>
            <a:ext cx="3867912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40 training folds (4 folds × 10 repetitions) per configuration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CART-S1 and RF-S2 are the best-performing strategies of each Tier-2 method in V2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Even the most frequent bands are chosen in only part of the folds: the band set depends on which plots are in the training set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Report regions (blue, red-edge/NIR, SWIR-2) rather than single wavelengths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Leave-one-plot-out (V3): which plots are misclassified?</a:t>
            </a:r>
            <a:endParaRPr lang="en-US" sz="3000" dirty="0"/>
          </a:p>
        </p:txBody>
      </p:sp>
      <p:pic>
        <p:nvPicPr>
          <p:cNvPr id="3" name="LOPO CART map" descr="LOPO CART 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97940"/>
            <a:ext cx="4206240" cy="3622040"/>
          </a:xfrm>
          <a:prstGeom prst="rect">
            <a:avLst/>
          </a:prstGeom>
        </p:spPr>
      </p:pic>
      <p:pic>
        <p:nvPicPr>
          <p:cNvPr id="4" name="LOPO RF map" descr="LOPO RF m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297940"/>
            <a:ext cx="4206240" cy="3622040"/>
          </a:xfrm>
          <a:prstGeom prst="rect">
            <a:avLst/>
          </a:prstGeom>
        </p:spPr>
      </p:pic>
      <p:sp>
        <p:nvSpPr>
          <p:cNvPr id="5" name="card Plot level"/>
          <p:cNvSpPr/>
          <p:nvPr/>
        </p:nvSpPr>
        <p:spPr>
          <a:xfrm>
            <a:off x="9235440" y="1280160"/>
            <a:ext cx="2404872" cy="3749040"/>
          </a:xfrm>
          <a:prstGeom prst="roundRect">
            <a:avLst>
              <a:gd name="adj" fmla="val 3042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9418320" y="1389888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Plot level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9418320" y="1828800"/>
            <a:ext cx="2039112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CART-S1: 30/48 plots, plot BA 0.67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RF-S2: 32/48 plots, plot BA 0.75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Best plot BA of 8: CART-S3 0.81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S0 looks good on plots correct (CART 37/48) only because it calls nearly all plots diseased</a:t>
            </a:r>
            <a:endParaRPr lang="en-US" sz="1200" dirty="0"/>
          </a:p>
        </p:txBody>
      </p:sp>
      <p:graphicFrame>
        <p:nvGraphicFramePr>
          <p:cNvPr id="2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2064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280160"/>
                <a:gridCol w="3017520"/>
                <a:gridCol w="359359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Spectrum BA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Plot BA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Healthy plots wrong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Diseased plots wrong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CART-S1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6, 11, 12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plots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RF-S2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plots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Permutation test: better than chance?</a:t>
            </a:r>
            <a:endParaRPr lang="en-US" sz="3000" dirty="0"/>
          </a:p>
        </p:txBody>
      </p:sp>
      <p:pic>
        <p:nvPicPr>
          <p:cNvPr id="3" name="Permutation null distributions" descr="Permutation null distribu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43179"/>
            <a:ext cx="6583680" cy="2274362"/>
          </a:xfrm>
          <a:prstGeom prst="rect">
            <a:avLst/>
          </a:prstGeom>
        </p:spPr>
      </p:pic>
      <p:graphicFrame>
        <p:nvGraphicFramePr>
          <p:cNvPr id="2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371600"/>
          <a:ext cx="432511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31520"/>
                <a:gridCol w="868680"/>
                <a:gridCol w="731520"/>
                <a:gridCol w="731520"/>
                <a:gridCol w="6217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Observed BA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 95%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663440"/>
            <a:ext cx="110944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Plot labels were shuffled 100 times (12 healthy / 36 diseased kept) and the full nested pipeline rerun (one 4-fold repetition each)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Observed = balanced accuracy of V2 repetition 1 with the true labels. CART: p = 0.010; RF: p = 0.010 (smallest possible p with 100 permutations = 0.010)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Because whole plots are permuted, this tests the plot-level class difference (Ojala &amp; Garriga 2010). In 80 of 800 permuted folds Tier 1 found no significant band; these folds predict by prior (BA 0.5), as the pipeline would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Comparison: CART vs RF in Tier 2 and the imbalance strategies</a:t>
            </a:r>
            <a:endParaRPr lang="en-US" sz="3000" dirty="0"/>
          </a:p>
        </p:txBody>
      </p:sp>
      <p:graphicFrame>
        <p:nvGraphicFramePr>
          <p:cNvPr id="3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3152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85800"/>
                <a:gridCol w="822960"/>
                <a:gridCol w="1143000"/>
                <a:gridCol w="1188720"/>
                <a:gridCol w="1097280"/>
                <a:gridCol w="11430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 BA (paper-style)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 BA (plot-grouped)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 plot BA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 plot BA (plots correct)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CART-S0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 (37/48)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CART-S1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 (30/48)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CART-S2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 (33/48)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CART-S3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 (34/48)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 (37/48)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RF-S1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 (25/48)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RF-S2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 (32/48)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RF-S3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 (31/48)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</a:tbl>
          </a:graphicData>
        </a:graphic>
      </p:graphicFrame>
      <p:sp>
        <p:nvSpPr>
          <p:cNvPr id="4" name="card What the comparison shows"/>
          <p:cNvSpPr/>
          <p:nvPr/>
        </p:nvSpPr>
        <p:spPr>
          <a:xfrm>
            <a:off x="8092440" y="1325880"/>
            <a:ext cx="3547872" cy="4846320"/>
          </a:xfrm>
          <a:prstGeom prst="roundRect">
            <a:avLst>
              <a:gd name="adj" fmla="val 2062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75320" y="1435608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comparison shows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275320" y="1874520"/>
            <a:ext cx="3182112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Paper-style CV is optimistic by up to 0.16 BA compared with plot-grouped CV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CART vs RF in Tier 2: best V2 BA 0.615 (CART) vs 0.614 (RF): no clear winner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S0 (no correction) gives the weakest plot-level result: healthy plots are missed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S1/S2/S3 perform similarly; S1 (class weights) needs no synthetic or discarded data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RF classifier on all 483 bands with class weights only: BA 0.55, plot BA 0.50: it still favours the majority class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step was cross-checked</a:t>
            </a:r>
            <a:endParaRPr lang="en-US" sz="3000" dirty="0"/>
          </a:p>
        </p:txBody>
      </p:sp>
      <p:graphicFrame>
        <p:nvGraphicFramePr>
          <p:cNvPr id="3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7251192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was checked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1417 × 483; plots 1–12 healthy; no missing values; unique spectra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8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F = scipy; Tukey = ANOVA decision at all bands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8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Imbalance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under-sampling and SMOTE give equal class counts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8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1-D closed-form J–M = matrix form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8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plot in training and test; SMOTE on training only; permutation nulls ≈ 0.5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8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hand-coded QDA = sklearn; BA = (sens + spec)/2; confusion matrix total = 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8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weights equalise the root; custom tree = sklearn; bands ⊂ significant 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8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↔ Python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ANOVA F and p, weights, J–M, confusion-matrix BA/kappa/MCC recomputed by Excel formulas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8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97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2514E"/>
                </a:solidFill>
              </a:rPr>
              <a:t>20 of 20 Python checks pass; live Excel checks in sheet 14_Cross_Checks of Four_Tier_48plots.xlsx. QDA needed the ridge fallback in 0 fits.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 · Discussion, summary and conclusion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results mean, their limits, and what to do next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DD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3000" dirty="0"/>
          </a:p>
        </p:txBody>
      </p:sp>
      <p:sp>
        <p:nvSpPr>
          <p:cNvPr id="3" name="box Weak to moderate separation"/>
          <p:cNvSpPr/>
          <p:nvPr/>
        </p:nvSpPr>
        <p:spPr>
          <a:xfrm>
            <a:off x="548640" y="1280160"/>
            <a:ext cx="5468112" cy="1536192"/>
          </a:xfrm>
          <a:prstGeom prst="roundRect">
            <a:avLst>
              <a:gd name="adj" fmla="val 4762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5102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 to moderate separation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83080"/>
            <a:ext cx="51023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JM ≤ 1.15 (threshold 1.94) and plot-grouped BA 0.58–0.62, far below the 98% of Das et al. Their samples were averaged field spectra of uniform plots; here single SMACC endmembers mix leaves, lesions, soil and shadow.</a:t>
            </a:r>
            <a:endParaRPr lang="en-US" sz="1200" dirty="0"/>
          </a:p>
        </p:txBody>
      </p:sp>
      <p:sp>
        <p:nvSpPr>
          <p:cNvPr id="6" name="box Pseudo-replication"/>
          <p:cNvSpPr/>
          <p:nvPr/>
        </p:nvSpPr>
        <p:spPr>
          <a:xfrm>
            <a:off x="6172200" y="1280160"/>
            <a:ext cx="5468112" cy="1536192"/>
          </a:xfrm>
          <a:prstGeom prst="roundRect">
            <a:avLst>
              <a:gd name="adj" fmla="val 4762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55080" y="1389888"/>
            <a:ext cx="5102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Pseudo-replication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783080"/>
            <a:ext cx="51023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411 bands are significant with spectra as replicates but only 302 with plot means. Spectra of one plot are not independent, so plot-grouped validation is the honest estimate (Hurlbert 1984; Roberts et al. 2017).</a:t>
            </a:r>
            <a:endParaRPr lang="en-US" sz="1200" dirty="0"/>
          </a:p>
        </p:txBody>
      </p:sp>
      <p:sp>
        <p:nvSpPr>
          <p:cNvPr id="9" name="box Imbalance handling helps at plot level"/>
          <p:cNvSpPr/>
          <p:nvPr/>
        </p:nvSpPr>
        <p:spPr>
          <a:xfrm>
            <a:off x="548640" y="2926080"/>
            <a:ext cx="5468112" cy="1536192"/>
          </a:xfrm>
          <a:prstGeom prst="roundRect">
            <a:avLst>
              <a:gd name="adj" fmla="val 4762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035808"/>
            <a:ext cx="5102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Imbalance handling helps at plot level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429000"/>
            <a:ext cx="51023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Without correction the minority (healthy) class is under-predicted. Class weighting, under-sampling and SMOTE all raise plot-level BA (best 0.76); applied inside folds only (Santos et al. 2018).</a:t>
            </a:r>
            <a:endParaRPr lang="en-US" sz="1200" dirty="0"/>
          </a:p>
        </p:txBody>
      </p:sp>
      <p:sp>
        <p:nvSpPr>
          <p:cNvPr id="12" name="box CART vs RF in Tier 2"/>
          <p:cNvSpPr/>
          <p:nvPr/>
        </p:nvSpPr>
        <p:spPr>
          <a:xfrm>
            <a:off x="6172200" y="2926080"/>
            <a:ext cx="5468112" cy="1536192"/>
          </a:xfrm>
          <a:prstGeom prst="roundRect">
            <a:avLst>
              <a:gd name="adj" fmla="val 4762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55080" y="3035808"/>
            <a:ext cx="5102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 vs RF in Tier 2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3429000"/>
            <a:ext cx="51023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Similar performance (V2 BA 0.615 vs 0.614). RF ranking is more stable in principle; CART picks complementary bands. The bands change from fold to fold for both.</a:t>
            </a:r>
            <a:endParaRPr lang="en-US" sz="1200" dirty="0"/>
          </a:p>
        </p:txBody>
      </p:sp>
      <p:sp>
        <p:nvSpPr>
          <p:cNvPr id="15" name="box Location confound"/>
          <p:cNvSpPr/>
          <p:nvPr/>
        </p:nvSpPr>
        <p:spPr>
          <a:xfrm>
            <a:off x="548640" y="4572000"/>
            <a:ext cx="5468112" cy="1536192"/>
          </a:xfrm>
          <a:prstGeom prst="roundRect">
            <a:avLst>
              <a:gd name="adj" fmla="val 4762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681728"/>
            <a:ext cx="5102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Location confound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074920"/>
            <a:ext cx="51023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All healthy plots are at the west end of the field. Part of any difference may be position (soil, illumination, sowing), not disease. Leave-one-plot-out errors should be inspected in the field.</a:t>
            </a:r>
            <a:endParaRPr lang="en-US" sz="1200" dirty="0"/>
          </a:p>
        </p:txBody>
      </p:sp>
      <p:sp>
        <p:nvSpPr>
          <p:cNvPr id="18" name="box All wavelengths kept"/>
          <p:cNvSpPr/>
          <p:nvPr/>
        </p:nvSpPr>
        <p:spPr>
          <a:xfrm>
            <a:off x="6172200" y="4572000"/>
            <a:ext cx="5468112" cy="1536192"/>
          </a:xfrm>
          <a:prstGeom prst="roundRect">
            <a:avLst>
              <a:gd name="adj" fmla="val 4762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55080" y="4681728"/>
            <a:ext cx="5102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wavelengths kept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5074920"/>
            <a:ext cx="51023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Edge bands (&lt; 420, &gt; 2,350 nm) and negative reflectance are retained as requested; some selected bands lie there (CART-S1: 2 edge bands). CART's first split uses near-zero/negative R2380. The ≈ 918–921 nm bands, chosen in most RF folds, sit just after the 899–916 nm gap where Tier 1 shows a narrow spike: check for a sensor artefact.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000" dirty="0"/>
          </a:p>
        </p:txBody>
      </p:sp>
      <p:sp>
        <p:nvSpPr>
          <p:cNvPr id="3" name="summary 1"/>
          <p:cNvSpPr/>
          <p:nvPr/>
        </p:nvSpPr>
        <p:spPr>
          <a:xfrm>
            <a:off x="54864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1417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42316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endmember spectra (358 healthy, 1059 diseased) × 483 bands, all kept separately</a:t>
            </a:r>
            <a:endParaRPr lang="en-US" sz="1400" dirty="0"/>
          </a:p>
        </p:txBody>
      </p:sp>
      <p:sp>
        <p:nvSpPr>
          <p:cNvPr id="6" name="summary 2"/>
          <p:cNvSpPr/>
          <p:nvPr/>
        </p:nvSpPr>
        <p:spPr>
          <a:xfrm>
            <a:off x="429768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5544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411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42316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bands significant in Tier 1 (only 302 with plot means)</a:t>
            </a:r>
            <a:endParaRPr lang="en-US" sz="1400" dirty="0"/>
          </a:p>
        </p:txBody>
      </p:sp>
      <p:sp>
        <p:nvSpPr>
          <p:cNvPr id="9" name="summary 3"/>
          <p:cNvSpPr/>
          <p:nvPr/>
        </p:nvSpPr>
        <p:spPr>
          <a:xfrm>
            <a:off x="804672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5544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/ 22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42316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CART bands with / without class weights; RF selects the same number</a:t>
            </a:r>
            <a:endParaRPr lang="en-US" sz="1400" dirty="0"/>
          </a:p>
        </p:txBody>
      </p:sp>
      <p:sp>
        <p:nvSpPr>
          <p:cNvPr id="12" name="summary 4"/>
          <p:cNvSpPr/>
          <p:nvPr/>
        </p:nvSpPr>
        <p:spPr>
          <a:xfrm>
            <a:off x="548640" y="379476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977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1.15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84632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highest J–M distance (CART-S3), below the 1.94 threshold</a:t>
            </a:r>
            <a:endParaRPr lang="en-US" sz="1400" dirty="0"/>
          </a:p>
        </p:txBody>
      </p:sp>
      <p:sp>
        <p:nvSpPr>
          <p:cNvPr id="15" name="summary 5"/>
          <p:cNvSpPr/>
          <p:nvPr/>
        </p:nvSpPr>
        <p:spPr>
          <a:xfrm>
            <a:off x="4297680" y="379476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26280" y="3977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0.62</a:t>
            </a:r>
            <a:endParaRPr lang="en-US" sz="38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484632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best plot-grouped balanced accuracy (CART-S1); paper-style up to 0.76</a:t>
            </a:r>
            <a:endParaRPr lang="en-US" sz="1400" dirty="0"/>
          </a:p>
        </p:txBody>
      </p:sp>
      <p:sp>
        <p:nvSpPr>
          <p:cNvPr id="18" name="summary 6"/>
          <p:cNvSpPr/>
          <p:nvPr/>
        </p:nvSpPr>
        <p:spPr>
          <a:xfrm>
            <a:off x="8046720" y="379476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75320" y="3977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0.76</a:t>
            </a:r>
            <a:endParaRPr lang="en-US" sz="38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484632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best plot-level balanced accuracy (RF-S2); permutation p = 0.010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The four-tier method of Das et al. (2020) was applied to all 1417 endmembers of 48 plots and all 483 bands, with Random Forest replacing CART in Tier 2 for comparison and four ways of handling the 1 : 2.96 imbalance.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Healthy and diseased spectra differ statistically, but separability is low (JM ≤ 1.15) and realistic plot-grouped balanced accuracy is 0.62 at best (plot level 0.76).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Imbalance correction is needed: class weighting (S1) is the simplest choice that keeps all data; CART and RF in Tier 2 perform similarly.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Paper-style random cross-validation overstates accuracy; plots must be the validation unit. Next steps: plot-level ground truth, plots of both classes across the whole field, and an independent date.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DD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(1/2)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9441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Das B, Sahoo RN, Biswas A, Pargal S, Krishna G, Verma R, Chinnusamy V, Sehgal VK, Gupta VK (2020) Discrimination of rice genotypes using field spectroradiometry. Geocarto International 35(1):64–77. doi:10.1080/10106049.2018.1506507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Gruninger JH, Ratkowski AJ, Hoke ML (2004) The sequential maximum angle convex cone (SMACC) endmember model. Proc. SPIE 5425, Algorithms and Technologies for Multispectral, Hyperspectral, and Ultraspectral Imagery X. doi:10.1117/12.543794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Tukey JW (1949) Comparing individual means in the analysis of variance. Biometrics 5(2):99–114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Benjamini Y, Hochberg Y (1995) Controlling the false discovery rate: a practical and powerful approach to multiple testing. Journal of the Royal Statistical Society B 57(1):289–300. doi:10.1111/j.2517-6161.1995.tb02031.x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Hurlbert SH (1984) Pseudoreplication and the design of ecological field experiments. Ecological Monographs 54(2):187–211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Breiman L, Friedman JH, Olshen RA, Stone CJ (1984) Classification and Regression Trees. Wadsworth, Belmont, CA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Therneau TM, Atkinson EJ. An introduction to recursive partitioning using the RPART routines. Mayo Foundation; R package rpart (rpart.control defaults: minsplit 20, cp 0.01, maxdepth 30)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Breiman L (2001) Random forests. Machine Learning 45(1):5–32. doi:10.1023/A:1010933404324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Strobl C, Boulesteix A-L, Kneib T, Augustin T, Zeileis A (2008) Conditional variable importance for random forests. BMC Bioinformatics 9:307. doi:10.1186/1471-2105-9-307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Richards JA (2013) Remote Sensing Digital Image Analysis. Springer, Berlin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Chawla NV, Bowyer KW, Hall LO, Kegelmeyer WP (2002) SMOTE: Synthetic Minority Over-sampling Technique. Journal of Artificial Intelligence Research 16:321–357. doi:10.1613/jair.953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He H, Garcia EA (2009) Learning from imbalanced data. IEEE Transactions on Knowledge and Data Engineering 21(9):1263–1284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(2/2)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9441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Chen C, Liaw A, Breiman L (2004) Using random forest to learn imbalanced data. Technical Report 666, Department of Statistics, University of California, Berkeley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Douzas G, Bacao F, Fonseca J, Khudinyan M (2019) Imbalanced learning in land cover classification: improving minority classes' prediction accuracy using the geometric SMOTE algorithm. Remote Sensing 11(24):3040. doi:10.3390/rs11243040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Cuenca-Romero C, Apolo-Apolo OE, Rodríguez Vázquez JN, Egea G, Pérez-Ruiz M (2024) Tackling unbalanced datasets for yellow and brown rust detection in wheat. Frontiers in Plant Science 15:1392409. doi:10.3389/fpls.2024.1392409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Santos MS, Soares JP, Abreu PH, Araújo H, Santos J (2018) Cross-validation for imbalanced datasets: avoiding overoptimistic and overfitting approaches. IEEE Computational Intelligence Magazine 13(4):59–76. doi:10.1109/MCI.2018.2866730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Lemaître G, Nogueira F, Aridas CK (2017) Imbalanced-learn: a Python toolbox to tackle the curse of imbalanced datasets in machine learning. Journal of Machine Learning Research 18(17):1–5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Brodersen KH, Ong CS, Stephan KE, Buhmann JM (2010) The balanced accuracy and its posterior distribution. Proc. 20th International Conference on Pattern Recognition, 3121–3124. doi:10.1109/ICPR.2010.764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Chicco D, Jurman G (2020) The advantages of the Matthews correlation coefficient (MCC) over F1 score and accuracy in binary classification evaluation. BMC Genomics 21:6. doi:10.1186/s12864-019-6413-7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Cohen J (1960) A coefficient of agreement for nominal scales. Educational and Psychological Measurement 20(1):37–46. doi:10.1177/001316446002000104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Roberts DR, Bahn V, Ciuti S, et al. (2017) Cross-validation strategies for data with temporal, spatial, hierarchical, or phylogenetic structure. Ecography 40(8):913–929. doi:10.1111/ecog.02881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Ambroise C, McLachlan GJ (2002) Selection bias in gene extraction on the basis of microarray gene-expression data. PNAS 99(10):6562–6566. doi:10.1073/pnas.102102699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Ojala M, Garriga GC (2010) Permutation tests for studying classifier performance. Journal of Machine Learning Research 11:1833–1863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Pedregosa F, et al. (2011) Scikit-learn: machine learning in Python. Journal of Machine Learning Research 12:2825–2830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nopy">
  <a:themeElements>
    <a:clrScheme name="Canopy">
      <a:dk1>
        <a:srgbClr val="1B1F1D"/>
      </a:dk1>
      <a:lt1>
        <a:srgbClr val="FFFFFF"/>
      </a:lt1>
      <a:dk2>
        <a:srgbClr val="1F3A2E"/>
      </a:dk2>
      <a:lt2>
        <a:srgbClr val="EEF3EF"/>
      </a:lt2>
      <a:accent1>
        <a:srgbClr val="1BAF7A"/>
      </a:accent1>
      <a:accent2>
        <a:srgbClr val="EB6834"/>
      </a:accent2>
      <a:accent3>
        <a:srgbClr val="2A78D6"/>
      </a:accent3>
      <a:accent4>
        <a:srgbClr val="EDA100"/>
      </a:accent4>
      <a:accent5>
        <a:srgbClr val="6250D6"/>
      </a:accent5>
      <a:accent6>
        <a:srgbClr val="52514E"/>
      </a:accent6>
      <a:hlink>
        <a:srgbClr val="2A78D6"/>
      </a:hlink>
      <a:folHlink>
        <a:srgbClr val="6250D6"/>
      </a:folHlink>
    </a:clrScheme>
    <a:fontScheme name="Canop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Four-tier analysis of 48-plot SMACC endmembers</dc:title>
  <dc:subject>PptxGenJS Presentation</dc:subject>
  <dc:creator>PptxGenJS</dc:creator>
  <cp:lastModifiedBy>PptxGenJS</cp:lastModifiedBy>
  <cp:revision>1</cp:revision>
  <dcterms:created xsi:type="dcterms:W3CDTF">2026-10-17T18:58:27Z</dcterms:created>
  <dcterms:modified xsi:type="dcterms:W3CDTF">2026-10-17T18:58:27Z</dcterms:modified>
</cp:coreProperties>
</file>