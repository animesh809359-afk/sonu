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02d4c3-2485-364a-ce5e-5b69bc4728fe}">
          <p14:sldIdLst>
            <p14:sldId id="256"/>
            <p14:sldId id="257"/>
            <p14:sldId id="258"/>
            <p14:sldId id="259"/>
            <p14:sldId id="260"/>
            <p14:sldId id="261"/>
          </p14:sldIdLst>
        </p14:section>
        <p14:section name="Step 1 · Four tiers on raw reflectance" id="{ab4c38e7-c5d1-df97-2537-ed0075af5259}">
          <p14:sldIdLst>
            <p14:sldId id="262"/>
            <p14:sldId id="263"/>
            <p14:sldId id="264"/>
            <p14:sldId id="265"/>
            <p14:sldId id="266"/>
            <p14:sldId id="267"/>
            <p14:sldId id="268"/>
            <p14:sldId id="269"/>
            <p14:sldId id="270"/>
            <p14:sldId id="271"/>
            <p14:sldId id="272"/>
            <p14:sldId id="273"/>
          </p14:sldIdLst>
        </p14:section>
        <p14:section name="Step 2 · Disease-sensitive features from raw reflectance" id="{8ad00955-fc7d-3446-f57d-69c71021b6ef}">
          <p14:sldIdLst>
            <p14:sldId id="274"/>
            <p14:sldId id="275"/>
            <p14:sldId id="276"/>
            <p14:sldId id="277"/>
            <p14:sldId id="278"/>
            <p14:sldId id="279"/>
            <p14:sldId id="280"/>
            <p14:sldId id="281"/>
            <p14:sldId id="282"/>
            <p14:sldId id="283"/>
          </p14:sldIdLst>
        </p14:section>
        <p14:section name="Step 3 · Four tiers on the combined feature pool" id="{091516ae-5778-3394-8697-3a054a465d0b}">
          <p14:sldIdLst>
            <p14:sldId id="284"/>
            <p14:sldId id="285"/>
            <p14:sldId id="286"/>
            <p14:sldId id="287"/>
            <p14:sldId id="288"/>
            <p14:sldId id="289"/>
            <p14:sldId id="290"/>
            <p14:sldId id="291"/>
          </p14:sldIdLst>
        </p14:section>
        <p14:section name="Synthesis" id="{635e9c78-2720-c160-8f8a-f67d76f98552}">
          <p14:sldIdLst>
            <p14:sldId id="292"/>
            <p14:sldId id="293"/>
            <p14:sldId id="294"/>
            <p14:sldId id="295"/>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83112" cy="1737360"/>
          </a:xfrm>
          <a:prstGeom prst="rect">
            <a:avLst/>
          </a:prstGeom>
          <a:noFill/>
          <a:ln/>
        </p:spPr>
        <p:txBody>
          <a:bodyPr wrap="square" rtlCol="0"/>
          <a:lstStyle>
            <a:lvl1pPr indent="0" marL="0">
              <a:buNone/>
              <a:defRPr lang="en-US" sz="3800" b="1" dirty="0">
                <a:solidFill>
                  <a:srgbClr val="FFFFFF"/>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02920" y="3703320"/>
            <a:ext cx="11183112" cy="2011680"/>
          </a:xfrm>
          <a:prstGeom prst="rect">
            <a:avLst/>
          </a:prstGeom>
          <a:noFill/>
          <a:ln/>
        </p:spPr>
        <p:txBody>
          <a:bodyPr wrap="square" rtlCol="0"/>
          <a:lstStyle>
            <a:lvl1pPr indent="0" marL="0">
              <a:buNone/>
              <a:defRPr lang="en-US" sz="1800" dirty="0">
                <a:solidFill>
                  <a:srgbClr val="CFE3D5"/>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377440"/>
            <a:ext cx="11183112" cy="1097280"/>
          </a:xfrm>
          <a:prstGeom prst="rect">
            <a:avLst/>
          </a:prstGeom>
          <a:noFill/>
          <a:ln/>
        </p:spPr>
        <p:txBody>
          <a:bodyPr wrap="square" rtlCol="0"/>
          <a:lstStyle>
            <a:lvl1pPr indent="0" marL="0">
              <a:buNone/>
              <a:defRPr lang="en-US" sz="3600" b="1" dirty="0">
                <a:solidFill>
                  <a:srgbClr val="FFFFFF"/>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502920" y="3611880"/>
            <a:ext cx="11183112" cy="1463040"/>
          </a:xfrm>
          <a:prstGeom prst="rect">
            <a:avLst/>
          </a:prstGeom>
          <a:noFill/>
          <a:ln/>
        </p:spPr>
        <p:txBody>
          <a:bodyPr wrap="square" rtlCol="0"/>
          <a:lstStyle>
            <a:lvl1pPr indent="0" marL="0">
              <a:buNone/>
              <a:defRPr lang="en-US" sz="1800" dirty="0">
                <a:solidFill>
                  <a:srgbClr val="CFE3D5"/>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lstStyle>
            <a:lvl1pPr indent="0" marL="0">
              <a:buNone/>
              <a:defRPr lang="en-US" sz="2800" b="1" dirty="0">
                <a:solidFill>
                  <a:srgbClr val="1F3D2B"/>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502920" y="6473952"/>
            <a:ext cx="7315200" cy="274320"/>
          </a:xfrm>
          <a:prstGeom prst="rect">
            <a:avLst/>
          </a:prstGeom>
          <a:noFill/>
          <a:ln/>
        </p:spPr>
        <p:txBody>
          <a:bodyPr wrap="square" rtlCol="0" anchor="ctr"/>
          <a:lstStyle/>
          <a:p>
            <a:pPr indent="0" marL="0">
              <a:buNone/>
            </a:pPr>
            <a:r>
              <a:rPr lang="en-US" sz="1000" dirty="0">
                <a:solidFill>
                  <a:srgbClr val="52514E"/>
                </a:solidFill>
                <a:latin typeface="Calibri" pitchFamily="34" charset="0"/>
                <a:ea typeface="Calibri" pitchFamily="34" charset="-122"/>
                <a:cs typeface="Calibri" pitchFamily="34" charset="-120"/>
              </a:rPr>
              <a:t>White rust of mustard · plot-average spectra, all dates combined</a:t>
            </a:r>
            <a:endParaRPr lang="en-US" sz="10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1828800"/>
            <a:ext cx="11183112" cy="1737360"/>
          </a:xfrm>
          <a:prstGeom prst="rect">
            <a:avLst/>
          </a:prstGeom>
          <a:noFill/>
          <a:ln/>
        </p:spPr>
        <p:txBody>
          <a:bodyPr wrap="square"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Discrimination of healthy and white-rust-diseased mustard from plot-average leaf spectra</a:t>
            </a:r>
            <a:endParaRPr lang="en-US" sz="3800" dirty="0"/>
          </a:p>
        </p:txBody>
      </p:sp>
      <p:sp>
        <p:nvSpPr>
          <p:cNvPr id="3" name="Text 0"/>
          <p:cNvSpPr/>
          <p:nvPr>
            <p:ph idx="101" type="body" hasCustomPrompt="1"/>
          </p:nvPr>
        </p:nvSpPr>
        <p:spPr>
          <a:xfrm>
            <a:off x="502920" y="3703320"/>
            <a:ext cx="11183112" cy="2011680"/>
          </a:xfrm>
          <a:prstGeom prst="rect">
            <a:avLst/>
          </a:prstGeom>
          <a:noFill/>
          <a:ln/>
        </p:spPr>
        <p:txBody>
          <a:bodyPr wrap="square" rtlCol="0" anchor="t"/>
          <a:lstStyle/>
          <a:p>
            <a:pPr indent="0" marL="0">
              <a:buNone/>
            </a:pPr>
            <a:r>
              <a:rPr lang="en-US" sz="1800" dirty="0">
                <a:solidFill>
                  <a:srgbClr val="CFE3D5"/>
                </a:solidFill>
                <a:latin typeface="Calibri" pitchFamily="34" charset="0"/>
                <a:ea typeface="Calibri" pitchFamily="34" charset="-122"/>
                <a:cs typeface="Calibri" pitchFamily="34" charset="-120"/>
              </a:rPr>
              <a:t>Four-tier hierarchical analysis (Das et al., 2020) with imbalance correction · CART vs Random Forest · disease-sensitive features from raw reflectance</a:t>
            </a:r>
            <a:endParaRPr lang="en-US" sz="1800" dirty="0"/>
          </a:p>
          <a:p>
            <a:pPr indent="0" marL="0">
              <a:buNone/>
            </a:pPr>
            <a:r>
              <a:rPr lang="en-US" sz="1800" dirty="0">
                <a:solidFill>
                  <a:srgbClr val="CFE3D5"/>
                </a:solidFill>
                <a:latin typeface="Calibri" pitchFamily="34" charset="0"/>
                <a:ea typeface="Calibri" pitchFamily="34" charset="-122"/>
                <a:cs typeface="Calibri" pitchFamily="34" charset="-120"/>
              </a:rPr>
              <a:t>192 plot-average spectra (48 healthy, 144 diseased) · 48 plots × 4 dates · ASD FieldSpec contact probe, 400–2500 nm</a:t>
            </a:r>
            <a:endParaRPr lang="en-US" sz="1800" dirty="0"/>
          </a:p>
          <a:p>
            <a:pPr indent="0" marL="0">
              <a:buNone/>
            </a:pPr>
            <a:r>
              <a:rPr lang="en-US" sz="1800" dirty="0">
                <a:solidFill>
                  <a:srgbClr val="CFE3D5"/>
                </a:solidFill>
                <a:latin typeface="Calibri" pitchFamily="34" charset="0"/>
                <a:ea typeface="Calibri" pitchFamily="34" charset="-122"/>
                <a:cs typeface="Calibri" pitchFamily="34" charset="-120"/>
              </a:rPr>
              <a:t>Animesh Panda · Division of Agricultural Physics, ICAR-IARI, New Delhi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The study at a glance</a:t>
            </a:r>
            <a:endParaRPr lang="en-US" sz="2800" dirty="0"/>
          </a:p>
        </p:txBody>
      </p:sp>
      <p:sp>
        <p:nvSpPr>
          <p:cNvPr id="3" name="stat card"/>
          <p:cNvSpPr/>
          <p:nvPr/>
        </p:nvSpPr>
        <p:spPr>
          <a:xfrm>
            <a:off x="502920" y="1325880"/>
            <a:ext cx="2606040" cy="1417320"/>
          </a:xfrm>
          <a:prstGeom prst="roundRect">
            <a:avLst>
              <a:gd name="adj" fmla="val 5161"/>
            </a:avLst>
          </a:prstGeom>
          <a:solidFill>
            <a:srgbClr val="EEF3EF"/>
          </a:solidFill>
          <a:ln w="12700">
            <a:solidFill>
              <a:srgbClr val="EEF3EF"/>
            </a:solidFill>
            <a:prstDash val="solid"/>
          </a:ln>
        </p:spPr>
      </p:sp>
      <p:sp>
        <p:nvSpPr>
          <p:cNvPr id="4" name="Text 2"/>
          <p:cNvSpPr txBox="1"/>
          <p:nvPr/>
        </p:nvSpPr>
        <p:spPr>
          <a:xfrm>
            <a:off x="502920" y="1435608"/>
            <a:ext cx="2606040" cy="777240"/>
          </a:xfrm>
          <a:prstGeom prst="rect">
            <a:avLst/>
          </a:prstGeom>
          <a:noFill/>
          <a:ln/>
        </p:spPr>
        <p:txBody>
          <a:bodyPr wrap="square" rtlCol="0" anchor="ctr"/>
          <a:lstStyle/>
          <a:p>
            <a:pPr algn="ctr" indent="0" marL="0">
              <a:buNone/>
            </a:pPr>
            <a:r>
              <a:rPr lang="en-US" sz="4000" b="1" dirty="0">
                <a:solidFill>
                  <a:srgbClr val="1F3D2B"/>
                </a:solidFill>
                <a:latin typeface="Cambria" pitchFamily="34" charset="0"/>
                <a:ea typeface="Cambria" pitchFamily="34" charset="-122"/>
                <a:cs typeface="Cambria" pitchFamily="34" charset="-120"/>
              </a:rPr>
              <a:t>192</a:t>
            </a:r>
            <a:endParaRPr lang="en-US" sz="4000" dirty="0"/>
          </a:p>
        </p:txBody>
      </p:sp>
      <p:sp>
        <p:nvSpPr>
          <p:cNvPr id="5" name="Text 3"/>
          <p:cNvSpPr txBox="1"/>
          <p:nvPr/>
        </p:nvSpPr>
        <p:spPr>
          <a:xfrm>
            <a:off x="594360" y="2194560"/>
            <a:ext cx="2423160" cy="457200"/>
          </a:xfrm>
          <a:prstGeom prst="rect">
            <a:avLst/>
          </a:prstGeom>
          <a:noFill/>
          <a:ln/>
        </p:spPr>
        <p:txBody>
          <a:bodyPr wrap="square" rtlCol="0" anchor="ctr"/>
          <a:lstStyle/>
          <a:p>
            <a:pPr algn="ctr" indent="0" marL="0">
              <a:buNone/>
            </a:pPr>
            <a:r>
              <a:rPr lang="en-US" sz="1300" dirty="0">
                <a:solidFill>
                  <a:srgbClr val="52514E"/>
                </a:solidFill>
              </a:rPr>
              <a:t>plot-average spectra (48 plots × 4 dates)</a:t>
            </a:r>
            <a:endParaRPr lang="en-US" sz="1300" dirty="0"/>
          </a:p>
        </p:txBody>
      </p:sp>
      <p:sp>
        <p:nvSpPr>
          <p:cNvPr id="6" name="stat card"/>
          <p:cNvSpPr/>
          <p:nvPr/>
        </p:nvSpPr>
        <p:spPr>
          <a:xfrm>
            <a:off x="3291840" y="1325880"/>
            <a:ext cx="2606040" cy="1417320"/>
          </a:xfrm>
          <a:prstGeom prst="roundRect">
            <a:avLst>
              <a:gd name="adj" fmla="val 5161"/>
            </a:avLst>
          </a:prstGeom>
          <a:solidFill>
            <a:srgbClr val="EEF3EF"/>
          </a:solidFill>
          <a:ln w="12700">
            <a:solidFill>
              <a:srgbClr val="EEF3EF"/>
            </a:solidFill>
            <a:prstDash val="solid"/>
          </a:ln>
        </p:spPr>
      </p:sp>
      <p:sp>
        <p:nvSpPr>
          <p:cNvPr id="7" name="Text 5"/>
          <p:cNvSpPr txBox="1"/>
          <p:nvPr/>
        </p:nvSpPr>
        <p:spPr>
          <a:xfrm>
            <a:off x="3291840" y="1435608"/>
            <a:ext cx="2606040" cy="777240"/>
          </a:xfrm>
          <a:prstGeom prst="rect">
            <a:avLst/>
          </a:prstGeom>
          <a:noFill/>
          <a:ln/>
        </p:spPr>
        <p:txBody>
          <a:bodyPr wrap="square"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48 : 144</a:t>
            </a:r>
            <a:endParaRPr lang="en-US" sz="4000" dirty="0"/>
          </a:p>
        </p:txBody>
      </p:sp>
      <p:sp>
        <p:nvSpPr>
          <p:cNvPr id="8" name="Text 6"/>
          <p:cNvSpPr txBox="1"/>
          <p:nvPr/>
        </p:nvSpPr>
        <p:spPr>
          <a:xfrm>
            <a:off x="3383280" y="2194560"/>
            <a:ext cx="2423160" cy="457200"/>
          </a:xfrm>
          <a:prstGeom prst="rect">
            <a:avLst/>
          </a:prstGeom>
          <a:noFill/>
          <a:ln/>
        </p:spPr>
        <p:txBody>
          <a:bodyPr wrap="square" rtlCol="0" anchor="ctr"/>
          <a:lstStyle/>
          <a:p>
            <a:pPr algn="ctr" indent="0" marL="0">
              <a:buNone/>
            </a:pPr>
            <a:r>
              <a:rPr lang="en-US" sz="1300" dirty="0">
                <a:solidFill>
                  <a:srgbClr val="52514E"/>
                </a:solidFill>
              </a:rPr>
              <a:t>healthy : diseased (1 : 3.0)</a:t>
            </a:r>
            <a:endParaRPr lang="en-US" sz="1300" dirty="0"/>
          </a:p>
        </p:txBody>
      </p:sp>
      <p:sp>
        <p:nvSpPr>
          <p:cNvPr id="9" name="stat card"/>
          <p:cNvSpPr/>
          <p:nvPr/>
        </p:nvSpPr>
        <p:spPr>
          <a:xfrm>
            <a:off x="6080760" y="1325880"/>
            <a:ext cx="2606040" cy="1417320"/>
          </a:xfrm>
          <a:prstGeom prst="roundRect">
            <a:avLst>
              <a:gd name="adj" fmla="val 5161"/>
            </a:avLst>
          </a:prstGeom>
          <a:solidFill>
            <a:srgbClr val="EEF3EF"/>
          </a:solidFill>
          <a:ln w="12700">
            <a:solidFill>
              <a:srgbClr val="EEF3EF"/>
            </a:solidFill>
            <a:prstDash val="solid"/>
          </a:ln>
        </p:spPr>
      </p:sp>
      <p:sp>
        <p:nvSpPr>
          <p:cNvPr id="10" name="Text 8"/>
          <p:cNvSpPr txBox="1"/>
          <p:nvPr/>
        </p:nvSpPr>
        <p:spPr>
          <a:xfrm>
            <a:off x="6080760" y="1435608"/>
            <a:ext cx="2606040" cy="777240"/>
          </a:xfrm>
          <a:prstGeom prst="rect">
            <a:avLst/>
          </a:prstGeom>
          <a:noFill/>
          <a:ln/>
        </p:spPr>
        <p:txBody>
          <a:bodyPr wrap="square" rtlCol="0" anchor="ctr"/>
          <a:lstStyle/>
          <a:p>
            <a:pPr algn="ctr" indent="0" marL="0">
              <a:buNone/>
            </a:pPr>
            <a:r>
              <a:rPr lang="en-US" sz="4000" b="1" dirty="0">
                <a:solidFill>
                  <a:srgbClr val="1F3D2B"/>
                </a:solidFill>
                <a:latin typeface="Cambria" pitchFamily="34" charset="0"/>
                <a:ea typeface="Cambria" pitchFamily="34" charset="-122"/>
                <a:cs typeface="Cambria" pitchFamily="34" charset="-120"/>
              </a:rPr>
              <a:t>2264</a:t>
            </a:r>
            <a:endParaRPr lang="en-US" sz="4000" dirty="0"/>
          </a:p>
        </p:txBody>
      </p:sp>
      <p:sp>
        <p:nvSpPr>
          <p:cNvPr id="11" name="Text 9"/>
          <p:cNvSpPr txBox="1"/>
          <p:nvPr/>
        </p:nvSpPr>
        <p:spPr>
          <a:xfrm>
            <a:off x="6172200" y="2194560"/>
            <a:ext cx="2423160" cy="457200"/>
          </a:xfrm>
          <a:prstGeom prst="rect">
            <a:avLst/>
          </a:prstGeom>
          <a:noFill/>
          <a:ln/>
        </p:spPr>
        <p:txBody>
          <a:bodyPr wrap="square" rtlCol="0" anchor="ctr"/>
          <a:lstStyle/>
          <a:p>
            <a:pPr algn="ctr" indent="0" marL="0">
              <a:buNone/>
            </a:pPr>
            <a:r>
              <a:rPr lang="en-US" sz="1300" dirty="0">
                <a:solidFill>
                  <a:srgbClr val="52514E"/>
                </a:solidFill>
              </a:rPr>
              <a:t>leaf spectra averaged</a:t>
            </a:r>
            <a:endParaRPr lang="en-US" sz="1300" dirty="0"/>
          </a:p>
        </p:txBody>
      </p:sp>
      <p:sp>
        <p:nvSpPr>
          <p:cNvPr id="12" name="stat card"/>
          <p:cNvSpPr/>
          <p:nvPr/>
        </p:nvSpPr>
        <p:spPr>
          <a:xfrm>
            <a:off x="8869680" y="1325880"/>
            <a:ext cx="2606040" cy="1417320"/>
          </a:xfrm>
          <a:prstGeom prst="roundRect">
            <a:avLst>
              <a:gd name="adj" fmla="val 5161"/>
            </a:avLst>
          </a:prstGeom>
          <a:solidFill>
            <a:srgbClr val="EEF3EF"/>
          </a:solidFill>
          <a:ln w="12700">
            <a:solidFill>
              <a:srgbClr val="EEF3EF"/>
            </a:solidFill>
            <a:prstDash val="solid"/>
          </a:ln>
        </p:spPr>
      </p:sp>
      <p:sp>
        <p:nvSpPr>
          <p:cNvPr id="13" name="Text 11"/>
          <p:cNvSpPr txBox="1"/>
          <p:nvPr/>
        </p:nvSpPr>
        <p:spPr>
          <a:xfrm>
            <a:off x="8869680" y="1435608"/>
            <a:ext cx="2606040" cy="777240"/>
          </a:xfrm>
          <a:prstGeom prst="rect">
            <a:avLst/>
          </a:prstGeom>
          <a:noFill/>
          <a:ln/>
        </p:spPr>
        <p:txBody>
          <a:bodyPr wrap="square"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8264</a:t>
            </a:r>
            <a:endParaRPr lang="en-US" sz="4000" dirty="0"/>
          </a:p>
        </p:txBody>
      </p:sp>
      <p:sp>
        <p:nvSpPr>
          <p:cNvPr id="14" name="Text 12"/>
          <p:cNvSpPr txBox="1"/>
          <p:nvPr/>
        </p:nvSpPr>
        <p:spPr>
          <a:xfrm>
            <a:off x="8961120" y="2194560"/>
            <a:ext cx="2423160" cy="457200"/>
          </a:xfrm>
          <a:prstGeom prst="rect">
            <a:avLst/>
          </a:prstGeom>
          <a:noFill/>
          <a:ln/>
        </p:spPr>
        <p:txBody>
          <a:bodyPr wrap="square" rtlCol="0" anchor="ctr"/>
          <a:lstStyle/>
          <a:p>
            <a:pPr algn="ctr" indent="0" marL="0">
              <a:buNone/>
            </a:pPr>
            <a:r>
              <a:rPr lang="en-US" sz="1300" dirty="0">
                <a:solidFill>
                  <a:srgbClr val="52514E"/>
                </a:solidFill>
              </a:rPr>
              <a:t>features in the combined pool</a:t>
            </a:r>
            <a:endParaRPr lang="en-US" sz="1300" dirty="0"/>
          </a:p>
        </p:txBody>
      </p:sp>
      <p:sp>
        <p:nvSpPr>
          <p:cNvPr id="15" name="Text 13"/>
          <p:cNvSpPr txBox="1"/>
          <p:nvPr/>
        </p:nvSpPr>
        <p:spPr>
          <a:xfrm>
            <a:off x="502920" y="3017520"/>
            <a:ext cx="11183112" cy="329184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1B1B1A"/>
                </a:solidFill>
              </a:rPr>
              <a:t>Question: which bands and which disease-sensitive features separate healthy from white-rust-diseased mustard when all dates, growth stages and varieties are combined — at the plot level?</a:t>
            </a:r>
            <a:endParaRPr lang="en-US" sz="1500" dirty="0"/>
          </a:p>
          <a:p>
            <a:pPr marL="342900" indent="-342900">
              <a:spcAft>
                <a:spcPts val="600"/>
              </a:spcAft>
              <a:buSzPct val="100000"/>
              <a:buChar char="•"/>
            </a:pPr>
            <a:r>
              <a:rPr lang="en-US" sz="1500" dirty="0">
                <a:solidFill>
                  <a:srgbClr val="1B1B1A"/>
                </a:solidFill>
              </a:rPr>
              <a:t>Step 1 · Four tiers of Das et al. (2020) on raw reflectance: statistical screening → CART (and Random Forest) band selection → Jeffries–Matusita separability → QDA classification.</a:t>
            </a:r>
            <a:endParaRPr lang="en-US" sz="1500" dirty="0"/>
          </a:p>
          <a:p>
            <a:pPr marL="342900" indent="-342900">
              <a:spcAft>
                <a:spcPts val="600"/>
              </a:spcAft>
              <a:buSzPct val="100000"/>
              <a:buChar char="•"/>
            </a:pPr>
            <a:r>
              <a:rPr lang="en-US" sz="1500" dirty="0">
                <a:solidFill>
                  <a:srgbClr val="1B1B1A"/>
                </a:solidFill>
              </a:rPr>
              <a:t>Step 2 · Disease-sensitive features from the raw reflectance (continuum removal, vegetation indices, first/second/third derivatives, red-edge parameters).</a:t>
            </a:r>
            <a:endParaRPr lang="en-US" sz="1500" dirty="0"/>
          </a:p>
          <a:p>
            <a:pPr marL="342900" indent="-342900">
              <a:spcAft>
                <a:spcPts val="600"/>
              </a:spcAft>
              <a:buSzPct val="100000"/>
              <a:buChar char="•"/>
            </a:pPr>
            <a:r>
              <a:rPr lang="en-US" sz="1500" dirty="0">
                <a:solidFill>
                  <a:srgbClr val="1B1B1A"/>
                </a:solidFill>
              </a:rPr>
              <a:t>Step 3 · The same four tiers on the combined pool (reflectance + all features) → disease-specific features.</a:t>
            </a:r>
            <a:endParaRPr lang="en-US" sz="1500" dirty="0"/>
          </a:p>
          <a:p>
            <a:pPr marL="342900" indent="-342900">
              <a:spcAft>
                <a:spcPts val="600"/>
              </a:spcAft>
              <a:buSzPct val="100000"/>
              <a:buChar char="•"/>
            </a:pPr>
            <a:r>
              <a:rPr lang="en-US" sz="1500" dirty="0">
                <a:solidFill>
                  <a:srgbClr val="1B1B1A"/>
                </a:solidFill>
              </a:rPr>
              <a:t>Every step corrected for the 1 : 3 class imbalance and validated on new plots and new dates.</a:t>
            </a:r>
            <a:endParaRPr lang="en-US" sz="15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Data: leaf spectra averaged to one spectrum per plot and date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400800" cy="914400"/>
        </p:xfrm>
        <a:graphic>
          <a:graphicData uri="http://schemas.openxmlformats.org/drawingml/2006/table">
            <a:tbl>
              <a:tblPr/>
              <a:tblGrid>
                <a:gridCol w="1280160"/>
                <a:gridCol w="1005840"/>
                <a:gridCol w="1005840"/>
                <a:gridCol w="1005840"/>
                <a:gridCol w="1051560"/>
                <a:gridCol w="1051560"/>
              </a:tblGrid>
              <a:tr h="256032">
                <a:tc>
                  <a:txBody>
                    <a:bodyPr/>
                    <a:lstStyle/>
                    <a:p>
                      <a:pPr indent="0" marL="0">
                        <a:buNone/>
                      </a:pPr>
                      <a:r>
                        <a:rPr lang="en-US" sz="1100" b="1" dirty="0">
                          <a:solidFill>
                            <a:srgbClr val="FFFFFF"/>
                          </a:solidFill>
                        </a:rPr>
                        <a:t>Date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Class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Plot averages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Leaf spectra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Min leaves per plot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Max leaves per plot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56032">
                <a:tc>
                  <a:txBody>
                    <a:bodyPr/>
                    <a:lstStyle/>
                    <a:p>
                      <a:pPr indent="0" marL="0">
                        <a:buNone/>
                      </a:pPr>
                      <a:r>
                        <a:rPr lang="en-US" sz="1100" dirty="0">
                          <a:solidFill>
                            <a:srgbClr val="1B1B1A"/>
                          </a:solidFill>
                        </a:rPr>
                        <a:t>11-02-2026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Healthy</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B1B1A"/>
                          </a:solidFill>
                        </a:rPr>
                        <a:t>11-02-2026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Diseased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356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56032">
                <a:tc>
                  <a:txBody>
                    <a:bodyPr/>
                    <a:lstStyle/>
                    <a:p>
                      <a:pPr indent="0" marL="0">
                        <a:buNone/>
                      </a:pPr>
                      <a:r>
                        <a:rPr lang="en-US" sz="1100" dirty="0">
                          <a:solidFill>
                            <a:srgbClr val="1B1B1A"/>
                          </a:solidFill>
                        </a:rPr>
                        <a:t>24-02-2026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Healthy</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B1B1A"/>
                          </a:solidFill>
                        </a:rPr>
                        <a:t>24-02-2026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Diseased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56032">
                <a:tc>
                  <a:txBody>
                    <a:bodyPr/>
                    <a:lstStyle/>
                    <a:p>
                      <a:pPr indent="0" marL="0">
                        <a:buNone/>
                      </a:pPr>
                      <a:r>
                        <a:rPr lang="en-US" sz="1100" dirty="0">
                          <a:solidFill>
                            <a:srgbClr val="1B1B1A"/>
                          </a:solidFill>
                        </a:rPr>
                        <a:t>03-03-2026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Healthy</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B1B1A"/>
                          </a:solidFill>
                        </a:rPr>
                        <a:t>03-03-2026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Diseased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540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56032">
                <a:tc>
                  <a:txBody>
                    <a:bodyPr/>
                    <a:lstStyle/>
                    <a:p>
                      <a:pPr indent="0" marL="0">
                        <a:buNone/>
                      </a:pPr>
                      <a:r>
                        <a:rPr lang="en-US" sz="1100" dirty="0">
                          <a:solidFill>
                            <a:srgbClr val="1B1B1A"/>
                          </a:solidFill>
                        </a:rPr>
                        <a:t>13-03-2026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Healthy</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B1B1A"/>
                          </a:solidFill>
                        </a:rPr>
                        <a:t>13-03-2026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Diseased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540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7132320" y="1234440"/>
            <a:ext cx="4553712" cy="49377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1B1B1A"/>
                </a:solidFill>
              </a:rPr>
              <a:t>Four ASD export workbooks (11-02, 24-02, 03-03 and 13-03-2026); exact duplicate spectra removed (75 block-2 copies, 4 unnamed copies) → 2264 unique leaf spectra.</a:t>
            </a:r>
            <a:endParaRPr lang="en-US" sz="1400" dirty="0"/>
          </a:p>
          <a:p>
            <a:pPr marL="342900" indent="-342900">
              <a:spcAft>
                <a:spcPts val="600"/>
              </a:spcAft>
              <a:buSzPct val="100000"/>
              <a:buChar char="•"/>
            </a:pPr>
            <a:r>
              <a:rPr lang="en-US" sz="1400" dirty="0">
                <a:solidFill>
                  <a:srgbClr val="1B1B1A"/>
                </a:solidFill>
              </a:rPr>
              <a:t>Plot average = mean of all leaf spectra of a plot on a date, at every band: 192 spectra (48 healthy, 144 diseased).</a:t>
            </a:r>
            <a:endParaRPr lang="en-US" sz="1400" dirty="0"/>
          </a:p>
          <a:p>
            <a:pPr marL="342900" indent="-342900">
              <a:spcAft>
                <a:spcPts val="600"/>
              </a:spcAft>
              <a:buSzPct val="100000"/>
              <a:buChar char="•"/>
            </a:pPr>
            <a:r>
              <a:rPr lang="en-US" sz="1400" dirty="0">
                <a:solidFill>
                  <a:srgbClr val="1B1B1A"/>
                </a:solidFill>
              </a:rPr>
              <a:t>Cross-check: 197 of 197 plot-average (=AVERAGE) columns of the source workbooks are identical to these averages at all 2151 bands.</a:t>
            </a:r>
            <a:endParaRPr lang="en-US" sz="1400" dirty="0"/>
          </a:p>
          <a:p>
            <a:pPr marL="342900" indent="-342900">
              <a:spcAft>
                <a:spcPts val="600"/>
              </a:spcAft>
              <a:buSzPct val="100000"/>
              <a:buChar char="•"/>
            </a:pPr>
            <a:r>
              <a:rPr lang="en-US" sz="1400" dirty="0">
                <a:solidFill>
                  <a:srgbClr val="1B1B1A"/>
                </a:solidFill>
              </a:rPr>
              <a:t>Water-absorption bands kept (contact probe, no atmospheric path); 350–399 nm detector edge removed (noise).</a:t>
            </a:r>
            <a:endParaRPr lang="en-US" sz="1400" dirty="0"/>
          </a:p>
          <a:p>
            <a:pPr marL="342900" indent="-342900">
              <a:spcAft>
                <a:spcPts val="600"/>
              </a:spcAft>
              <a:buSzPct val="100000"/>
              <a:buChar char="•"/>
            </a:pPr>
            <a:r>
              <a:rPr lang="en-US" sz="1400" dirty="0">
                <a:solidFill>
                  <a:srgbClr val="1B1B1A"/>
                </a:solidFill>
              </a:rPr>
              <a:t>The same plot appears on four dates → plot-grouped validation and a random plot effect.</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Workflow of the analysis</a:t>
            </a:r>
            <a:endParaRPr lang="en-US" sz="2800" dirty="0"/>
          </a:p>
        </p:txBody>
      </p:sp>
      <p:pic>
        <p:nvPicPr>
          <p:cNvPr id="3" name="F01_workflow.png" descr="Workflow">    </p:cNvPr>
          <p:cNvPicPr>
            <a:picLocks noChangeAspect="1"/>
          </p:cNvPicPr>
          <p:nvPr/>
        </p:nvPicPr>
        <p:blipFill>
          <a:blip r:embed="rId1"/>
          <a:stretch>
            <a:fillRect/>
          </a:stretch>
        </p:blipFill>
        <p:spPr>
          <a:xfrm>
            <a:off x="2048057" y="1143000"/>
            <a:ext cx="8092838" cy="525780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Corrections applied to the protocol of Das et al. (2020)</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914400"/>
        </p:xfrm>
        <a:graphic>
          <a:graphicData uri="http://schemas.openxmlformats.org/drawingml/2006/table">
            <a:tbl>
              <a:tblPr/>
              <a:tblGrid>
                <a:gridCol w="2651760"/>
                <a:gridCol w="5577840"/>
                <a:gridCol w="2953512"/>
              </a:tblGrid>
              <a:tr h="566928">
                <a:tc>
                  <a:txBody>
                    <a:bodyPr/>
                    <a:lstStyle/>
                    <a:p>
                      <a:pPr indent="0" marL="0">
                        <a:buNone/>
                      </a:pPr>
                      <a:r>
                        <a:rPr lang="en-US" sz="1300" b="1" dirty="0">
                          <a:solidFill>
                            <a:srgbClr val="FFFFFF"/>
                          </a:solidFill>
                        </a:rPr>
                        <a:t>Issue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Correction</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Why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566928">
                <a:tc>
                  <a:txBody>
                    <a:bodyPr/>
                    <a:lstStyle/>
                    <a:p>
                      <a:pPr indent="0" marL="0">
                        <a:buNone/>
                      </a:pPr>
                      <a:r>
                        <a:rPr lang="en-US" sz="1300" dirty="0">
                          <a:solidFill>
                            <a:srgbClr val="1B1B1A"/>
                          </a:solidFill>
                        </a:rPr>
                        <a:t>Class imbalance (48 : 144 = 1 : 3.0)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rpart prior = (0.5, 0.5); Balanced Random Forest; QDA with equal priors; balanced accuracy; 1000 balanced subsets in Tier 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otherwise every model favours 'diseased'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1B1A"/>
                          </a:solidFill>
                        </a:rPr>
                        <a:t>Two classes only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Welch t-test instead of ANOVA + Tukey (ANOVA reported)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unequal variances; one pair</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566928">
                <a:tc>
                  <a:txBody>
                    <a:bodyPr/>
                    <a:lstStyle/>
                    <a:p>
                      <a:pPr indent="0" marL="0">
                        <a:buNone/>
                      </a:pPr>
                      <a:r>
                        <a:rPr lang="en-US" sz="1300" dirty="0">
                          <a:solidFill>
                            <a:srgbClr val="1B1B1A"/>
                          </a:solidFill>
                        </a:rPr>
                        <a:t>2101 tests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Benjamini–Hochberg false-discovery rate (q &lt; 0.05)</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 105 false positives at α = 0.05</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1B1A"/>
                          </a:solidFill>
                        </a:rPr>
                        <a:t>Same plot on 4 dates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mixed model with random plot effect; plot-grouped folds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the dates of a plot are not independent</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566928">
                <a:tc>
                  <a:txBody>
                    <a:bodyPr/>
                    <a:lstStyle/>
                    <a:p>
                      <a:pPr indent="0" marL="0">
                        <a:buNone/>
                      </a:pPr>
                      <a:r>
                        <a:rPr lang="en-US" sz="1300" dirty="0">
                          <a:solidFill>
                            <a:srgbClr val="1B1B1A"/>
                          </a:solidFill>
                        </a:rPr>
                        <a:t>Selection bias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Tier 1, selection and classifier refitted in every training set</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selecting and testing on the same spectra is optimistic</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1B1A"/>
                          </a:solidFill>
                        </a:rPr>
                        <a:t>Detector joins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guard zones (990–1010, 1795–1835 nm) excluded from the feature sets; no smoothing (features from raw reflectance)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instrument steps must not be read as disease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Validation design — identical folds in every step</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914400"/>
        </p:xfrm>
        <a:graphic>
          <a:graphicData uri="http://schemas.openxmlformats.org/drawingml/2006/table">
            <a:tbl>
              <a:tblPr/>
              <a:tblGrid>
                <a:gridCol w="3291840"/>
                <a:gridCol w="4846320"/>
                <a:gridCol w="3044952"/>
              </a:tblGrid>
              <a:tr h="685800">
                <a:tc>
                  <a:txBody>
                    <a:bodyPr/>
                    <a:lstStyle/>
                    <a:p>
                      <a:pPr indent="0" marL="0">
                        <a:buNone/>
                      </a:pPr>
                      <a:r>
                        <a:rPr lang="en-US" sz="1300" b="1" dirty="0">
                          <a:solidFill>
                            <a:srgbClr val="FFFFFF"/>
                          </a:solidFill>
                        </a:rPr>
                        <a:t>Scheme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How</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What it estimates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685800">
                <a:tc>
                  <a:txBody>
                    <a:bodyPr/>
                    <a:lstStyle/>
                    <a:p>
                      <a:pPr indent="0" marL="0">
                        <a:buNone/>
                      </a:pPr>
                      <a:r>
                        <a:rPr lang="en-US" sz="1300" dirty="0">
                          <a:solidFill>
                            <a:srgbClr val="1B1B1A"/>
                          </a:solidFill>
                        </a:rPr>
                        <a:t>Spectrum-level 10-fold cross-validation (protocol of Das et al.)</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features chosen once on all spectra; random 10 folds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the protocol of the paper (optimistic: same plot on other dates in training)</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1B1A"/>
                          </a:solidFill>
                        </a:rPr>
                        <a:t>Nested plot-grouped cross-validation</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10 plot-grouped folds × 5 repeats; Tier 1, selection and classifier refitted inside each training set</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the honest accuracy for new plots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685800">
                <a:tc>
                  <a:txBody>
                    <a:bodyPr/>
                    <a:lstStyle/>
                    <a:p>
                      <a:pPr indent="0" marL="0">
                        <a:buNone/>
                      </a:pPr>
                      <a:r>
                        <a:rPr lang="en-US" sz="1300" dirty="0">
                          <a:solidFill>
                            <a:srgbClr val="1B1B1A"/>
                          </a:solidFill>
                        </a:rPr>
                        <a:t>30 % plot hold-out validation</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4 healthy + 11 diseased plots held out × 10 splits; everything refitted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independent test plots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1B1B1A"/>
                          </a:solidFill>
                        </a:rPr>
                        <a:t>Leave-one-date-out validation on new plots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train on three dates (training plots), test the fourth date (test plots); 40 units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transfer to an unseen date and unseen plots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502920" y="4937760"/>
            <a:ext cx="11183112" cy="91440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Balanced accuracy (BA) = ½ (recall healthy + recall diseased) is the headline metric; overall accuracy alone would be inflated by the 3 : 1 majority of diseased spectra.</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377440"/>
            <a:ext cx="11183112"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Step 1 · Four tiers on raw reflectance</a:t>
            </a:r>
            <a:endParaRPr lang="en-US" sz="3600" dirty="0"/>
          </a:p>
        </p:txBody>
      </p:sp>
      <p:sp>
        <p:nvSpPr>
          <p:cNvPr id="3" name="Text 0"/>
          <p:cNvSpPr/>
          <p:nvPr>
            <p:ph idx="101" type="body" hasCustomPrompt="1"/>
          </p:nvPr>
        </p:nvSpPr>
        <p:spPr>
          <a:xfrm>
            <a:off x="502920" y="3611880"/>
            <a:ext cx="11183112" cy="1463040"/>
          </a:xfrm>
          <a:prstGeom prst="rect">
            <a:avLst/>
          </a:prstGeom>
          <a:noFill/>
          <a:ln/>
        </p:spPr>
        <p:txBody>
          <a:bodyPr wrap="square" rtlCol="0" anchor="t"/>
          <a:lstStyle/>
          <a:p>
            <a:pPr indent="0" marL="0">
              <a:buNone/>
            </a:pPr>
            <a:r>
              <a:rPr lang="en-US" sz="1800" dirty="0">
                <a:solidFill>
                  <a:srgbClr val="CFE3D5"/>
                </a:solidFill>
                <a:latin typeface="Calibri" pitchFamily="34" charset="0"/>
                <a:ea typeface="Calibri" pitchFamily="34" charset="-122"/>
                <a:cs typeface="Calibri" pitchFamily="34" charset="-120"/>
              </a:rPr>
              <a:t>Welch t-test + FDR → CART (rpart, equal priors) and Balanced Random Forest → Jeffries–Matusita distance → QDA with equal priors</a:t>
            </a:r>
            <a:endParaRPr lang="en-US" sz="1800" dirty="0"/>
          </a:p>
        </p:txBody>
      </p:sp>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Mean plot-average spectra of healthy and diseased plots</a:t>
            </a:r>
            <a:endParaRPr lang="en-US" sz="2800" dirty="0"/>
          </a:p>
        </p:txBody>
      </p:sp>
      <p:pic>
        <p:nvPicPr>
          <p:cNvPr id="3" name="F02_mean_spectra.png" descr="Mean spectra">    </p:cNvPr>
          <p:cNvPicPr>
            <a:picLocks noChangeAspect="1"/>
          </p:cNvPicPr>
          <p:nvPr/>
        </p:nvPicPr>
        <p:blipFill>
          <a:blip r:embed="rId1"/>
          <a:stretch>
            <a:fillRect/>
          </a:stretch>
        </p:blipFill>
        <p:spPr>
          <a:xfrm>
            <a:off x="2048967" y="1097280"/>
            <a:ext cx="8091019" cy="3017520"/>
          </a:xfrm>
          <a:prstGeom prst="rect">
            <a:avLst/>
          </a:prstGeom>
        </p:spPr>
      </p:pic>
      <p:pic>
        <p:nvPicPr>
          <p:cNvPr id="4" name="F02b_mean_spectra_by_date.png" descr="Mean spectra by date">    </p:cNvPr>
          <p:cNvPicPr>
            <a:picLocks noChangeAspect="1"/>
          </p:cNvPicPr>
          <p:nvPr/>
        </p:nvPicPr>
        <p:blipFill>
          <a:blip r:embed="rId2"/>
          <a:stretch>
            <a:fillRect/>
          </a:stretch>
        </p:blipFill>
        <p:spPr>
          <a:xfrm>
            <a:off x="2454927" y="4160520"/>
            <a:ext cx="7279097" cy="224028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1 · statistical screening of 2101 bands</a:t>
            </a:r>
            <a:endParaRPr lang="en-US" sz="2800" dirty="0"/>
          </a:p>
        </p:txBody>
      </p:sp>
      <p:pic>
        <p:nvPicPr>
          <p:cNvPr id="3" name="F05_minus_log10_p.png" descr="-log10 p against wavelength">    </p:cNvPr>
          <p:cNvPicPr>
            <a:picLocks noChangeAspect="1"/>
          </p:cNvPicPr>
          <p:nvPr/>
        </p:nvPicPr>
        <p:blipFill>
          <a:blip r:embed="rId1"/>
          <a:stretch>
            <a:fillRect/>
          </a:stretch>
        </p:blipFill>
        <p:spPr>
          <a:xfrm>
            <a:off x="502920" y="1557879"/>
            <a:ext cx="7223760" cy="4290882"/>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863840" y="1234440"/>
          <a:ext cx="3822192" cy="914400"/>
        </p:xfrm>
        <a:graphic>
          <a:graphicData uri="http://schemas.openxmlformats.org/drawingml/2006/table">
            <a:tbl>
              <a:tblPr/>
              <a:tblGrid>
                <a:gridCol w="2743200"/>
                <a:gridCol w="1078992"/>
              </a:tblGrid>
              <a:tr h="384048">
                <a:tc>
                  <a:txBody>
                    <a:bodyPr/>
                    <a:lstStyle/>
                    <a:p>
                      <a:pPr indent="0" marL="0">
                        <a:buNone/>
                      </a:pPr>
                      <a:r>
                        <a:rPr lang="en-US" sz="1100" b="1" dirty="0">
                          <a:solidFill>
                            <a:srgbClr val="FFFFFF"/>
                          </a:solidFill>
                        </a:rPr>
                        <a:t>Test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Significant bands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100" dirty="0">
                          <a:solidFill>
                            <a:srgbClr val="1B1B1A"/>
                          </a:solidFill>
                        </a:rPr>
                        <a:t>Welch t-test + BH-FDR q &lt; 0.05 (used for Tier 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One-way ANOVA p &lt; 0.05, uncorrected (rule of Das et al.)</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1111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One-way ANOVA + BH-FDR q &lt; 0.05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1023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Welch t-test p &lt; 0.05, uncorrected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1120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Mixed model (random plot effect) + BH-FDR q &lt; 0.05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1014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Balanced subsets (48 vs 48): significant in ≥ 95 % of 1000 subsets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Levene test p &lt; 0.05 (unequal variances → Welch)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704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02920" y="6172200"/>
            <a:ext cx="7223760" cy="320040"/>
          </a:xfrm>
          <a:prstGeom prst="rect">
            <a:avLst/>
          </a:prstGeom>
          <a:noFill/>
          <a:ln/>
        </p:spPr>
        <p:txBody>
          <a:bodyPr wrap="square" lIns="0" tIns="0" rIns="0" bIns="0" rtlCol="0" anchor="t"/>
          <a:lstStyle/>
          <a:p>
            <a:pPr indent="0" marL="0">
              <a:buNone/>
            </a:pPr>
            <a:r>
              <a:rPr lang="en-US" sz="1100" i="1" dirty="0">
                <a:solidFill>
                  <a:srgbClr val="52514E"/>
                </a:solidFill>
              </a:rPr>
              <a:t>−log₁₀(p) of every band against wavelength (Welch, FDR-adjusted and mixed-model q). Dashed line: p = 0.05.</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1 · where the significant bands are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675120" cy="914400"/>
        </p:xfrm>
        <a:graphic>
          <a:graphicData uri="http://schemas.openxmlformats.org/drawingml/2006/table">
            <a:tbl>
              <a:tblPr/>
              <a:tblGrid>
                <a:gridCol w="2103120"/>
                <a:gridCol w="731520"/>
                <a:gridCol w="1097280"/>
                <a:gridCol w="1097280"/>
                <a:gridCol w="822960"/>
                <a:gridCol w="822960"/>
              </a:tblGrid>
              <a:tr h="329184">
                <a:tc>
                  <a:txBody>
                    <a:bodyPr/>
                    <a:lstStyle/>
                    <a:p>
                      <a:pPr indent="0" marL="0">
                        <a:buNone/>
                      </a:pPr>
                      <a:r>
                        <a:rPr lang="en-US" sz="1100" b="1" dirty="0">
                          <a:solidFill>
                            <a:srgbClr val="FFFFFF"/>
                          </a:solidFill>
                        </a:rPr>
                        <a:t>Region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Bands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Welch+FDR significant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Mixed-model significant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Band of max |t|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Max 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B1B1A"/>
                          </a:solidFill>
                        </a:rPr>
                        <a:t>Blue (400–499)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Green (500–599)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Red (600–679)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643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Red edge (680–759)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695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NIR (760–1349)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590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760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Water band I (1350–1430)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1430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SWIR-1 (1431–1799)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369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1432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Water band II (1800–1950)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134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131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1892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SWIR-2 (1951–2349)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2003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SWIR-2 end (2350–2500)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2498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pic>
        <p:nvPicPr>
          <p:cNvPr id="4" name="F03_tier1_significant_regions.png" descr="Significant regions">    </p:cNvPr>
          <p:cNvPicPr>
            <a:picLocks noChangeAspect="1"/>
          </p:cNvPicPr>
          <p:nvPr/>
        </p:nvPicPr>
        <p:blipFill>
          <a:blip r:embed="rId1"/>
          <a:stretch>
            <a:fillRect/>
          </a:stretch>
        </p:blipFill>
        <p:spPr>
          <a:xfrm>
            <a:off x="7315200" y="2501108"/>
            <a:ext cx="4370832" cy="2404424"/>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2 · CART selects 9 bands (rpart, prior 0.5 / 0.5)</a:t>
            </a:r>
            <a:endParaRPr lang="en-US" sz="2800" dirty="0"/>
          </a:p>
        </p:txBody>
      </p:sp>
      <p:pic>
        <p:nvPicPr>
          <p:cNvPr id="3" name="F06_cart_tree.png" descr="CART tree">    </p:cNvPr>
          <p:cNvPicPr>
            <a:picLocks noChangeAspect="1"/>
          </p:cNvPicPr>
          <p:nvPr/>
        </p:nvPicPr>
        <p:blipFill>
          <a:blip r:embed="rId1"/>
          <a:stretch>
            <a:fillRect/>
          </a:stretch>
        </p:blipFill>
        <p:spPr>
          <a:xfrm>
            <a:off x="1063057" y="1143000"/>
            <a:ext cx="6286367" cy="5166360"/>
          </a:xfrm>
          <a:prstGeom prst="rect">
            <a:avLst/>
          </a:prstGeom>
        </p:spPr>
      </p:pic>
      <p:sp>
        <p:nvSpPr>
          <p:cNvPr id="4" name="Text 1"/>
          <p:cNvSpPr txBox="1"/>
          <p:nvPr/>
        </p:nvSpPr>
        <p:spPr>
          <a:xfrm>
            <a:off x="8092440" y="1280160"/>
            <a:ext cx="3593592" cy="493776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CART bands (order of use): 699, 700, 1884, 655, 669, 510, 1384, 1578, 689 nm.</a:t>
            </a:r>
            <a:endParaRPr lang="en-US" sz="1400" dirty="0"/>
          </a:p>
          <a:p>
            <a:pPr indent="0" marL="0">
              <a:spcAft>
                <a:spcPts val="600"/>
              </a:spcAft>
              <a:buNone/>
            </a:pPr>
            <a:r>
              <a:rPr lang="en-US" sz="1400" dirty="0">
                <a:solidFill>
                  <a:srgbClr val="1B1B1A"/>
                </a:solidFill>
              </a:rPr>
              <a:t>Equal priors give the 48 healthy spectra the same weight as the 144 diseased ones.</a:t>
            </a:r>
            <a:endParaRPr lang="en-US" sz="1400" dirty="0"/>
          </a:p>
          <a:p>
            <a:pPr indent="0" marL="0">
              <a:spcAft>
                <a:spcPts val="600"/>
              </a:spcAft>
              <a:buNone/>
            </a:pPr>
            <a:r>
              <a:rPr lang="en-US" sz="1400" dirty="0">
                <a:solidFill>
                  <a:srgbClr val="1B1B1A"/>
                </a:solidFill>
              </a:rPr>
              <a:t>The bands used as split variables form the CART set passed to Tiers 3 and 4.</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2 · how stable are the CART bands?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6766560" cy="914400"/>
        </p:xfrm>
        <a:graphic>
          <a:graphicData uri="http://schemas.openxmlformats.org/drawingml/2006/table">
            <a:tbl>
              <a:tblPr/>
              <a:tblGrid>
                <a:gridCol w="1005840"/>
                <a:gridCol w="1920240"/>
                <a:gridCol w="1097280"/>
                <a:gridCol w="1371600"/>
                <a:gridCol w="1371600"/>
              </a:tblGrid>
              <a:tr h="329184">
                <a:tc>
                  <a:txBody>
                    <a:bodyPr/>
                    <a:lstStyle/>
                    <a:p>
                      <a:pPr indent="0" marL="0">
                        <a:buNone/>
                      </a:pPr>
                      <a:r>
                        <a:rPr lang="en-US" sz="1100" b="1" dirty="0">
                          <a:solidFill>
                            <a:srgbClr val="FFFFFF"/>
                          </a:solidFill>
                        </a:rPr>
                        <a:t>Band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Region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First used at node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Bootstrap re-selection (±10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Nested cross-validation re-selection (±10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B1B1A"/>
                          </a:solidFill>
                        </a:rPr>
                        <a:t>510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Green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37.5 %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655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Red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26.0 %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48.0 %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669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Red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34.0 %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689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Red edge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73.0 %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98.0 %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699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Red edge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100.0 %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700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Red edge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86.0 %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100.0 %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1384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Water band I</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18.5 %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18.0 %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1578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SWIR-1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1884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Water band II</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37.5 %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58.0 %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pic>
        <p:nvPicPr>
          <p:cNvPr id="4" name="F08_cart_reselection.png" descr="CART re-selection">    </p:cNvPr>
          <p:cNvPicPr>
            <a:picLocks noChangeAspect="1"/>
          </p:cNvPicPr>
          <p:nvPr/>
        </p:nvPicPr>
        <p:blipFill>
          <a:blip r:embed="rId1"/>
          <a:stretch>
            <a:fillRect/>
          </a:stretch>
        </p:blipFill>
        <p:spPr>
          <a:xfrm>
            <a:off x="7406640" y="2502790"/>
            <a:ext cx="4279392" cy="240106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2 · Random Forest importance: the RF-17 bands</a:t>
            </a:r>
            <a:endParaRPr lang="en-US" sz="2800" dirty="0"/>
          </a:p>
        </p:txBody>
      </p:sp>
      <p:pic>
        <p:nvPicPr>
          <p:cNvPr id="3" name="F12_A1_rf_importance.png" descr="Random Forest importance">    </p:cNvPr>
          <p:cNvPicPr>
            <a:picLocks noChangeAspect="1"/>
          </p:cNvPicPr>
          <p:nvPr/>
        </p:nvPicPr>
        <p:blipFill>
          <a:blip r:embed="rId1"/>
          <a:stretch>
            <a:fillRect/>
          </a:stretch>
        </p:blipFill>
        <p:spPr>
          <a:xfrm>
            <a:off x="502920" y="1749013"/>
            <a:ext cx="7680960" cy="3954334"/>
          </a:xfrm>
          <a:prstGeom prst="rect">
            <a:avLst/>
          </a:prstGeom>
        </p:spPr>
      </p:pic>
      <p:sp>
        <p:nvSpPr>
          <p:cNvPr id="4" name="Text 1"/>
          <p:cNvSpPr txBox="1"/>
          <p:nvPr/>
        </p:nvSpPr>
        <p:spPr>
          <a:xfrm>
            <a:off x="8321040" y="1280160"/>
            <a:ext cx="3364992" cy="493776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RF-17 (highest importance peaks ≥ 10 nm apart): 699, 632, 653, 643, 1887, 614, 2018, 688, 512, 1898, 671, 1992, 602, 2031, 592, 2005, 1928 nm.</a:t>
            </a:r>
            <a:endParaRPr lang="en-US" sz="1400" dirty="0"/>
          </a:p>
          <a:p>
            <a:pPr indent="0" marL="0">
              <a:spcAft>
                <a:spcPts val="600"/>
              </a:spcAft>
              <a:buNone/>
            </a:pPr>
            <a:r>
              <a:rPr lang="en-US" sz="1400" dirty="0">
                <a:solidFill>
                  <a:srgbClr val="1B1B1A"/>
                </a:solidFill>
              </a:rPr>
              <a:t>Balanced Random Forest: 1000 trees, each grown on a bootstrap sample with equal numbers of healthy and diseased spectra; importance = mean decrease in Gini impurity.</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3 · Jeffries–Matusita separability</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5120640" cy="914400"/>
        </p:xfrm>
        <a:graphic>
          <a:graphicData uri="http://schemas.openxmlformats.org/drawingml/2006/table">
            <a:tbl>
              <a:tblPr/>
              <a:tblGrid>
                <a:gridCol w="2560320"/>
                <a:gridCol w="1097280"/>
                <a:gridCol w="1463040"/>
              </a:tblGrid>
              <a:tr h="384048">
                <a:tc>
                  <a:txBody>
                    <a:bodyPr/>
                    <a:lstStyle/>
                    <a:p>
                      <a:pPr indent="0" marL="0">
                        <a:buNone/>
                      </a:pPr>
                      <a:r>
                        <a:rPr lang="en-US" sz="1300" b="1" dirty="0">
                          <a:solidFill>
                            <a:srgbClr val="FFFFFF"/>
                          </a:solidFill>
                        </a:rPr>
                        <a:t>Set</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Features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JM</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300" dirty="0">
                          <a:solidFill>
                            <a:srgbClr val="1B1B1A"/>
                          </a:solidFill>
                        </a:rPr>
                        <a:t>CART-9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1.521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CART-1 (1-SE)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0.462</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B1A"/>
                          </a:solidFill>
                        </a:rPr>
                        <a:t>RF-17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1.960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RF-10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1.669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B1A"/>
                          </a:solidFill>
                        </a:rPr>
                        <a:t>RF-9 (size-matched)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1.624</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pic>
        <p:nvPicPr>
          <p:cNvPr id="4" name="F09_tier3_tier4_incremental.png" descr="J-M and accuracy by number of bands">    </p:cNvPr>
          <p:cNvPicPr>
            <a:picLocks noChangeAspect="1"/>
          </p:cNvPicPr>
          <p:nvPr/>
        </p:nvPicPr>
        <p:blipFill>
          <a:blip r:embed="rId1"/>
          <a:stretch>
            <a:fillRect/>
          </a:stretch>
        </p:blipFill>
        <p:spPr>
          <a:xfrm>
            <a:off x="5852160" y="2581653"/>
            <a:ext cx="5833872" cy="2243334"/>
          </a:xfrm>
          <a:prstGeom prst="rect">
            <a:avLst/>
          </a:prstGeom>
        </p:spPr>
      </p:pic>
      <p:sp>
        <p:nvSpPr>
          <p:cNvPr id="5" name="Text 1"/>
          <p:cNvSpPr txBox="1"/>
          <p:nvPr/>
        </p:nvSpPr>
        <p:spPr>
          <a:xfrm>
            <a:off x="502920" y="4206240"/>
            <a:ext cx="5120640" cy="182880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J–M (0–2) on the CART bands = 1.521, on the RF-17 bands = 1.960; the classes count as separable at ≥ 1.90 (Das et al. used 1.94).</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4 · QDA with equal priors</a:t>
            </a:r>
            <a:endParaRPr lang="en-US" sz="2800" dirty="0"/>
          </a:p>
        </p:txBody>
      </p:sp>
      <p:sp>
        <p:nvSpPr>
          <p:cNvPr id="3" name="Text 1"/>
          <p:cNvSpPr txBox="1"/>
          <p:nvPr/>
        </p:nvSpPr>
        <p:spPr>
          <a:xfrm>
            <a:off x="502920" y="1188720"/>
            <a:ext cx="5394960" cy="365760"/>
          </a:xfrm>
          <a:prstGeom prst="rect">
            <a:avLst/>
          </a:prstGeom>
          <a:noFill/>
          <a:ln/>
        </p:spPr>
        <p:txBody>
          <a:bodyPr wrap="square" lIns="0" tIns="0" rIns="0" bIns="0" rtlCol="0" anchor="ctr"/>
          <a:lstStyle/>
          <a:p>
            <a:pPr indent="0" marL="0">
              <a:buNone/>
            </a:pPr>
            <a:r>
              <a:rPr lang="en-US" sz="1600" b="1" dirty="0">
                <a:solidFill>
                  <a:srgbClr val="1F3D2B"/>
                </a:solidFill>
              </a:rPr>
              <a:t>CART bands (CART-9)</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5394960" cy="914400"/>
        </p:xfrm>
        <a:graphic>
          <a:graphicData uri="http://schemas.openxmlformats.org/drawingml/2006/table">
            <a:tbl>
              <a:tblPr/>
              <a:tblGrid>
                <a:gridCol w="1828800"/>
                <a:gridCol w="1005840"/>
                <a:gridCol w="1005840"/>
                <a:gridCol w="1554480"/>
              </a:tblGrid>
              <a:tr h="411480">
                <a:tc>
                  <a:txBody>
                    <a:bodyPr/>
                    <a:lstStyle/>
                    <a:p>
                      <a:pPr indent="0" marL="0">
                        <a:buNone/>
                      </a:pPr>
                      <a:r>
                        <a:rPr lang="en-US" sz="1300" b="1" dirty="0">
                          <a:solidFill>
                            <a:srgbClr val="FFFFFF"/>
                          </a:solidFill>
                        </a:rPr>
                        <a:t>Classified \ Reference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User's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300" dirty="0">
                          <a:solidFill>
                            <a:srgbClr val="1B1B1A"/>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41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33</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55.4 %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1B1A"/>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111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94.1 %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300" dirty="0">
                          <a:solidFill>
                            <a:srgbClr val="1B1B1A"/>
                          </a:solidFill>
                        </a:rPr>
                        <a:t>Producer's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85.4 %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77.1 %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BA 81.3 % · κ 0.529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309360" y="1188720"/>
            <a:ext cx="5394960" cy="365760"/>
          </a:xfrm>
          <a:prstGeom prst="rect">
            <a:avLst/>
          </a:prstGeom>
          <a:noFill/>
          <a:ln/>
        </p:spPr>
        <p:txBody>
          <a:bodyPr wrap="square" lIns="0" tIns="0" rIns="0" bIns="0" rtlCol="0" anchor="ctr"/>
          <a:lstStyle/>
          <a:p>
            <a:pPr indent="0" marL="0">
              <a:buNone/>
            </a:pPr>
            <a:r>
              <a:rPr lang="en-US" sz="1600" b="1" dirty="0">
                <a:solidFill>
                  <a:srgbClr val="1F3D2B"/>
                </a:solidFill>
              </a:rPr>
              <a:t>Random Forest bands (RF-17)</a:t>
            </a:r>
            <a:endParaRPr lang="en-US" sz="16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309360" y="1600200"/>
          <a:ext cx="5376672" cy="914400"/>
        </p:xfrm>
        <a:graphic>
          <a:graphicData uri="http://schemas.openxmlformats.org/drawingml/2006/table">
            <a:tbl>
              <a:tblPr/>
              <a:tblGrid>
                <a:gridCol w="1828800"/>
                <a:gridCol w="1005840"/>
                <a:gridCol w="1005840"/>
                <a:gridCol w="1536192"/>
              </a:tblGrid>
              <a:tr h="411480">
                <a:tc>
                  <a:txBody>
                    <a:bodyPr/>
                    <a:lstStyle/>
                    <a:p>
                      <a:pPr indent="0" marL="0">
                        <a:buNone/>
                      </a:pPr>
                      <a:r>
                        <a:rPr lang="en-US" sz="1300" b="1" dirty="0">
                          <a:solidFill>
                            <a:srgbClr val="FFFFFF"/>
                          </a:solidFill>
                        </a:rPr>
                        <a:t>Classified \ Reference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User's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300" dirty="0">
                          <a:solidFill>
                            <a:srgbClr val="1B1B1A"/>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37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12</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75.5 %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1B1A"/>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11</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132</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92.3 %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300" dirty="0">
                          <a:solidFill>
                            <a:srgbClr val="1B1B1A"/>
                          </a:solidFill>
                        </a:rPr>
                        <a:t>Producer's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77.1 %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91.7 %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BA 84.4 % · κ 0.683</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02920" y="4023360"/>
            <a:ext cx="11183112" cy="109728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Spectrum-level 10-fold cross-validation (protocol of Das et al.). Error matrix layout of Das et al. (2020, Table 2): rows = classified, columns = reference. Producer's accuracy = recall of a class; user's accuracy = precision. Balanced accuracy and κ correct for the class imbalance.</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Validation of the raw-reflectance pipelines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6583680" cy="914400"/>
        </p:xfrm>
        <a:graphic>
          <a:graphicData uri="http://schemas.openxmlformats.org/drawingml/2006/table">
            <a:tbl>
              <a:tblPr/>
              <a:tblGrid>
                <a:gridCol w="2194560"/>
                <a:gridCol w="1097280"/>
                <a:gridCol w="1097280"/>
                <a:gridCol w="1097280"/>
                <a:gridCol w="1097280"/>
              </a:tblGrid>
              <a:tr h="384048">
                <a:tc>
                  <a:txBody>
                    <a:bodyPr/>
                    <a:lstStyle/>
                    <a:p>
                      <a:pPr indent="0" marL="0">
                        <a:buNone/>
                      </a:pPr>
                      <a:r>
                        <a:rPr lang="en-US" sz="1200" b="1" dirty="0">
                          <a:solidFill>
                            <a:srgbClr val="FFFFFF"/>
                          </a:solidFill>
                        </a:rPr>
                        <a:t>Pipeline</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Spectrum-level 10-fold</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Nested plot-grouped</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30 % plot hold-out</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Leave-one-date-out</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200" dirty="0">
                          <a:solidFill>
                            <a:srgbClr val="1B1B1A"/>
                          </a:solidFill>
                        </a:rPr>
                        <a:t>CART classifier</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63.9 %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64.6 %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64.0 %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53.6 %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Random Forest classifier</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76.0 %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75.6 %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73.0 %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55.5 %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200" dirty="0">
                          <a:solidFill>
                            <a:srgbClr val="1B1B1A"/>
                          </a:solidFill>
                        </a:rPr>
                        <a:t>QDA on CART bands</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81.3 %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77.6 %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72.0 %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59.5 %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QDA on Random Forest bands</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84.4 %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86.8 %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79.7 %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51.8 %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7269480" y="1188720"/>
            <a:ext cx="4416552" cy="201168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Balanced accuracy. Spectrum-level 10-fold reproduces the paper; nested plot-grouped and 30 % plot hold-out are honest estimates for new plots; leave-one-date-out tests transfer to an unseen date.</a:t>
            </a:r>
            <a:endParaRPr lang="en-US" sz="1400" dirty="0"/>
          </a:p>
        </p:txBody>
      </p:sp>
      <p:pic>
        <p:nvPicPr>
          <p:cNvPr id="5" name="F11_validation_qda_cart.png" descr="Validation of QDA on CART bands">    </p:cNvPr>
          <p:cNvPicPr>
            <a:picLocks noChangeAspect="1"/>
          </p:cNvPicPr>
          <p:nvPr/>
        </p:nvPicPr>
        <p:blipFill>
          <a:blip r:embed="rId1"/>
          <a:stretch>
            <a:fillRect/>
          </a:stretch>
        </p:blipFill>
        <p:spPr>
          <a:xfrm>
            <a:off x="2072108" y="3291840"/>
            <a:ext cx="8044735" cy="310896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CART versus Random Forest on raw reflectance</a:t>
            </a:r>
            <a:endParaRPr lang="en-US" sz="2800" dirty="0"/>
          </a:p>
        </p:txBody>
      </p:sp>
      <p:pic>
        <p:nvPicPr>
          <p:cNvPr id="3" name="F13_A3_pipelines.png" descr="CART vs RF pipelines">    </p:cNvPr>
          <p:cNvPicPr>
            <a:picLocks noChangeAspect="1"/>
          </p:cNvPicPr>
          <p:nvPr/>
        </p:nvPicPr>
        <p:blipFill>
          <a:blip r:embed="rId1"/>
          <a:stretch>
            <a:fillRect/>
          </a:stretch>
        </p:blipFill>
        <p:spPr>
          <a:xfrm>
            <a:off x="1999533" y="1097280"/>
            <a:ext cx="8189886" cy="292608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4114800"/>
          <a:ext cx="11183112" cy="914400"/>
        </p:xfrm>
        <a:graphic>
          <a:graphicData uri="http://schemas.openxmlformats.org/drawingml/2006/table">
            <a:tbl>
              <a:tblPr/>
              <a:tblGrid>
                <a:gridCol w="4206240"/>
                <a:gridCol w="4023360"/>
                <a:gridCol w="1463040"/>
                <a:gridCol w="1490472"/>
              </a:tblGrid>
              <a:tr h="274320">
                <a:tc>
                  <a:txBody>
                    <a:bodyPr/>
                    <a:lstStyle/>
                    <a:p>
                      <a:pPr indent="0" marL="0">
                        <a:buNone/>
                      </a:pPr>
                      <a:r>
                        <a:rPr lang="en-US" sz="1100" b="1" dirty="0">
                          <a:solidFill>
                            <a:srgbClr val="FFFFFF"/>
                          </a:solidFill>
                        </a:rPr>
                        <a:t>Comparison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Validation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difference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Wilcoxon p</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74320">
                <a:tc>
                  <a:txBody>
                    <a:bodyPr/>
                    <a:lstStyle/>
                    <a:p>
                      <a:pPr indent="0" marL="0">
                        <a:buNone/>
                      </a:pPr>
                      <a:r>
                        <a:rPr lang="en-US" sz="1100" dirty="0">
                          <a:solidFill>
                            <a:srgbClr val="1B1B1A"/>
                          </a:solidFill>
                        </a:rPr>
                        <a:t>RF classifier − CART classifier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Nested plot-grouped cross-validation (folds)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+11.6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6.9e-07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B1B1A"/>
                          </a:solidFill>
                        </a:rPr>
                        <a:t>RF classifier − CART classifier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30 % plot hold-out validation (splits)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+9.0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0.004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100" dirty="0">
                          <a:solidFill>
                            <a:srgbClr val="1B1B1A"/>
                          </a:solidFill>
                        </a:rPr>
                        <a:t>QDA on RF features − QDA on CART features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Nested plot-grouped cross-validation (folds)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+9.8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7.5e-06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B1B1A"/>
                          </a:solidFill>
                        </a:rPr>
                        <a:t>QDA on RF features − QDA on CART features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30 % plot hold-out validation (splits)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+7.6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0.186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100" dirty="0">
                          <a:solidFill>
                            <a:srgbClr val="1B1B1A"/>
                          </a:solidFill>
                        </a:rPr>
                        <a:t>QDA on CART features − CART classifier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Nested plot-grouped cross-validation (folds)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+13.7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3.5e-07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B1B1A"/>
                          </a:solidFill>
                        </a:rPr>
                        <a:t>QDA on CART features − CART classifier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30 % plot hold-out validation (splits)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+8.0 pts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0.004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Stability of the selected bands</a:t>
            </a:r>
            <a:endParaRPr lang="en-US" sz="2800" dirty="0"/>
          </a:p>
        </p:txBody>
      </p:sp>
      <p:pic>
        <p:nvPicPr>
          <p:cNvPr id="3" name="F14_A4_stability.png" descr="Stability">    </p:cNvPr>
          <p:cNvPicPr>
            <a:picLocks noChangeAspect="1"/>
          </p:cNvPicPr>
          <p:nvPr/>
        </p:nvPicPr>
        <p:blipFill>
          <a:blip r:embed="rId1"/>
          <a:stretch>
            <a:fillRect/>
          </a:stretch>
        </p:blipFill>
        <p:spPr>
          <a:xfrm>
            <a:off x="502920" y="2296451"/>
            <a:ext cx="6766560" cy="2813738"/>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406640" y="1234440"/>
          <a:ext cx="4279392" cy="914400"/>
        </p:xfrm>
        <a:graphic>
          <a:graphicData uri="http://schemas.openxmlformats.org/drawingml/2006/table">
            <a:tbl>
              <a:tblPr/>
              <a:tblGrid>
                <a:gridCol w="1280160"/>
                <a:gridCol w="1097280"/>
                <a:gridCol w="1188720"/>
                <a:gridCol w="1124712"/>
              </a:tblGrid>
              <a:tr h="502920">
                <a:tc>
                  <a:txBody>
                    <a:bodyPr/>
                    <a:lstStyle/>
                    <a:p>
                      <a:pPr indent="0" marL="0">
                        <a:buNone/>
                      </a:pPr>
                      <a:r>
                        <a:rPr lang="en-US" sz="1100" b="1" dirty="0">
                          <a:solidFill>
                            <a:srgbClr val="FFFFFF"/>
                          </a:solidFill>
                        </a:rPr>
                        <a:t>Method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features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Unique features (union)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pairwise Jaccard (±10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502920">
                <a:tc>
                  <a:txBody>
                    <a:bodyPr/>
                    <a:lstStyle/>
                    <a:p>
                      <a:pPr indent="0" marL="0">
                        <a:buNone/>
                      </a:pPr>
                      <a:r>
                        <a:rPr lang="en-US" sz="1100" dirty="0">
                          <a:solidFill>
                            <a:srgbClr val="1B1B1A"/>
                          </a:solidFill>
                        </a:rPr>
                        <a:t>CART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0.268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B1A"/>
                          </a:solidFill>
                        </a:rPr>
                        <a:t>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17.0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327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0.670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377440"/>
            <a:ext cx="11183112"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Step 2 · Disease-sensitive features from raw reflectance</a:t>
            </a:r>
            <a:endParaRPr lang="en-US" sz="3600" dirty="0"/>
          </a:p>
        </p:txBody>
      </p:sp>
      <p:sp>
        <p:nvSpPr>
          <p:cNvPr id="3" name="Text 0"/>
          <p:cNvSpPr/>
          <p:nvPr>
            <p:ph idx="101" type="body" hasCustomPrompt="1"/>
          </p:nvPr>
        </p:nvSpPr>
        <p:spPr>
          <a:xfrm>
            <a:off x="502920" y="3611880"/>
            <a:ext cx="11183112" cy="1463040"/>
          </a:xfrm>
          <a:prstGeom prst="rect">
            <a:avLst/>
          </a:prstGeom>
          <a:noFill/>
          <a:ln/>
        </p:spPr>
        <p:txBody>
          <a:bodyPr wrap="square" rtlCol="0" anchor="t"/>
          <a:lstStyle/>
          <a:p>
            <a:pPr indent="0" marL="0">
              <a:buNone/>
            </a:pPr>
            <a:r>
              <a:rPr lang="en-US" sz="1800" dirty="0">
                <a:solidFill>
                  <a:srgbClr val="CFE3D5"/>
                </a:solidFill>
                <a:latin typeface="Calibri" pitchFamily="34" charset="0"/>
                <a:ea typeface="Calibri" pitchFamily="34" charset="-122"/>
                <a:cs typeface="Calibri" pitchFamily="34" charset="-120"/>
              </a:rPr>
              <a:t>Band reflectance · continuum-removal parameters · vegetation indices · optimised two-band index · first/second/third derivatives · red-edge parameters · correlation spectra</a:t>
            </a:r>
            <a:endParaRPr lang="en-US" sz="1800" dirty="0"/>
          </a:p>
        </p:txBody>
      </p:sp>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Detector joins and noise (information only)</a:t>
            </a:r>
            <a:endParaRPr lang="en-US" sz="2800" dirty="0"/>
          </a:p>
        </p:txBody>
      </p:sp>
      <p:pic>
        <p:nvPicPr>
          <p:cNvPr id="3" name="F15_K0_detector_joins.png" descr="Detector joins">    </p:cNvPr>
          <p:cNvPicPr>
            <a:picLocks noChangeAspect="1"/>
          </p:cNvPicPr>
          <p:nvPr/>
        </p:nvPicPr>
        <p:blipFill>
          <a:blip r:embed="rId1"/>
          <a:stretch>
            <a:fillRect/>
          </a:stretch>
        </p:blipFill>
        <p:spPr>
          <a:xfrm>
            <a:off x="502920" y="2120833"/>
            <a:ext cx="7498080" cy="3164974"/>
          </a:xfrm>
          <a:prstGeom prst="rect">
            <a:avLst/>
          </a:prstGeom>
        </p:spPr>
      </p:pic>
      <p:sp>
        <p:nvSpPr>
          <p:cNvPr id="4" name="Text 1"/>
          <p:cNvSpPr txBox="1"/>
          <p:nvPr/>
        </p:nvSpPr>
        <p:spPr>
          <a:xfrm>
            <a:off x="8183880" y="1280160"/>
            <a:ext cx="3502152" cy="49377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1B1B1A"/>
                </a:solidFill>
              </a:rPr>
              <a:t>All features are computed from the raw plot-average reflectance, as requested: no splice correction, no smoothing.</a:t>
            </a:r>
            <a:endParaRPr lang="en-US" sz="1400" dirty="0"/>
          </a:p>
          <a:p>
            <a:pPr marL="342900" indent="-342900">
              <a:spcAft>
                <a:spcPts val="600"/>
              </a:spcAft>
              <a:buSzPct val="100000"/>
              <a:buChar char="•"/>
            </a:pPr>
            <a:r>
              <a:rPr lang="en-US" sz="1400" dirty="0">
                <a:solidFill>
                  <a:srgbClr val="1B1B1A"/>
                </a:solidFill>
              </a:rPr>
              <a:t>Derivatives: central finite differences on the 1-nm grid (first, second and third order).</a:t>
            </a:r>
            <a:endParaRPr lang="en-US" sz="1400" dirty="0"/>
          </a:p>
          <a:p>
            <a:pPr marL="342900" indent="-342900">
              <a:spcAft>
                <a:spcPts val="600"/>
              </a:spcAft>
              <a:buSzPct val="100000"/>
              <a:buChar char="•"/>
            </a:pPr>
            <a:r>
              <a:rPr lang="en-US" sz="1400" dirty="0">
                <a:solidFill>
                  <a:srgbClr val="1B1B1A"/>
                </a:solidFill>
              </a:rPr>
              <a:t>Bands beside the detector joins (990–1010 and 1795–1835 nm) carry an instrument step and are excluded from the reflectance and derivative feature sets.</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Band reflectance and derivatives: AUC of every band</a:t>
            </a:r>
            <a:endParaRPr lang="en-US" sz="2800" dirty="0"/>
          </a:p>
        </p:txBody>
      </p:sp>
      <p:pic>
        <p:nvPicPr>
          <p:cNvPr id="3" name="F16_K1_K4_band_auc.png" descr="AUC spectra">    </p:cNvPr>
          <p:cNvPicPr>
            <a:picLocks noChangeAspect="1"/>
          </p:cNvPicPr>
          <p:nvPr/>
        </p:nvPicPr>
        <p:blipFill>
          <a:blip r:embed="rId1"/>
          <a:stretch>
            <a:fillRect/>
          </a:stretch>
        </p:blipFill>
        <p:spPr>
          <a:xfrm>
            <a:off x="502920" y="1985423"/>
            <a:ext cx="7223760" cy="3481515"/>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863840" y="1234440"/>
          <a:ext cx="3822192" cy="914400"/>
        </p:xfrm>
        <a:graphic>
          <a:graphicData uri="http://schemas.openxmlformats.org/drawingml/2006/table">
            <a:tbl>
              <a:tblPr/>
              <a:tblGrid>
                <a:gridCol w="1188720"/>
                <a:gridCol w="914400"/>
                <a:gridCol w="822960"/>
                <a:gridCol w="896112"/>
              </a:tblGrid>
              <a:tr h="384048">
                <a:tc>
                  <a:txBody>
                    <a:bodyPr/>
                    <a:lstStyle/>
                    <a:p>
                      <a:pPr indent="0" marL="0">
                        <a:buNone/>
                      </a:pPr>
                      <a:r>
                        <a:rPr lang="en-US" sz="1100" b="1" dirty="0">
                          <a:solidFill>
                            <a:srgbClr val="FFFFFF"/>
                          </a:solidFill>
                        </a:rPr>
                        <a:t>Region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Wavelength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Direction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100" dirty="0">
                          <a:solidFill>
                            <a:srgbClr val="1B1B1A"/>
                          </a:solidFill>
                        </a:rPr>
                        <a:t>400–499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494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0.611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500–599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0.693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600–679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0.785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680–759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693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0.773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760–1349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761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0.628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1350–1430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1415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1431–1799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1431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0.693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1800–1950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1892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0.757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1951–2349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1998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0.743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2350–2500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2498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0.662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Continuum-removal parameters</a:t>
            </a:r>
            <a:endParaRPr lang="en-US" sz="2800" dirty="0"/>
          </a:p>
        </p:txBody>
      </p:sp>
      <p:pic>
        <p:nvPicPr>
          <p:cNvPr id="3" name="F17_K2_continuum.png" descr="Continuum removal">    </p:cNvPr>
          <p:cNvPicPr>
            <a:picLocks noChangeAspect="1"/>
          </p:cNvPicPr>
          <p:nvPr/>
        </p:nvPicPr>
        <p:blipFill>
          <a:blip r:embed="rId1"/>
          <a:stretch>
            <a:fillRect/>
          </a:stretch>
        </p:blipFill>
        <p:spPr>
          <a:xfrm>
            <a:off x="502920" y="2114845"/>
            <a:ext cx="6400800" cy="3222669"/>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040880" y="1234440"/>
          <a:ext cx="4645152" cy="914400"/>
        </p:xfrm>
        <a:graphic>
          <a:graphicData uri="http://schemas.openxmlformats.org/drawingml/2006/table">
            <a:tbl>
              <a:tblPr/>
              <a:tblGrid>
                <a:gridCol w="2194560"/>
                <a:gridCol w="731520"/>
                <a:gridCol w="822960"/>
                <a:gridCol w="914400"/>
              </a:tblGrid>
              <a:tr h="411480">
                <a:tc>
                  <a:txBody>
                    <a:bodyPr/>
                    <a:lstStyle/>
                    <a:p>
                      <a:pPr indent="0" marL="0">
                        <a:buNone/>
                      </a:pPr>
                      <a:r>
                        <a:rPr lang="en-US" sz="1100" b="1" dirty="0">
                          <a:solidFill>
                            <a:srgbClr val="FFFFFF"/>
                          </a:solidFill>
                        </a:rPr>
                        <a:t>name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Direction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 plot-grouped cross-validation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100" dirty="0">
                          <a:solidFill>
                            <a:srgbClr val="1B1B1A"/>
                          </a:solidFill>
                        </a:rPr>
                        <a:t>CR3 water 970 depth/area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0.792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78.1 %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CR3 water 970 width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0.757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74.0 %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CR6 water 1940 position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0.743</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70.4 %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CR2 red right 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70.0 %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CR6 water 1940 symmetry</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0.718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71.9 %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CR2 red 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0.716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69.0 %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CR2 red depth/area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0.710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68.7 %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CR2 red width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0.696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69.8 %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Vegetation indices — 87 indices</a:t>
            </a:r>
            <a:endParaRPr lang="en-US" sz="2800" dirty="0"/>
          </a:p>
        </p:txBody>
      </p:sp>
      <p:pic>
        <p:nvPicPr>
          <p:cNvPr id="3" name="F18_K3_indices.png" descr="Vegetation indices">    </p:cNvPr>
          <p:cNvPicPr>
            <a:picLocks noChangeAspect="1"/>
          </p:cNvPicPr>
          <p:nvPr/>
        </p:nvPicPr>
        <p:blipFill>
          <a:blip r:embed="rId1"/>
          <a:stretch>
            <a:fillRect/>
          </a:stretch>
        </p:blipFill>
        <p:spPr>
          <a:xfrm>
            <a:off x="591395" y="1143000"/>
            <a:ext cx="5858090" cy="516636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5010912" cy="914400"/>
        </p:xfrm>
        <a:graphic>
          <a:graphicData uri="http://schemas.openxmlformats.org/drawingml/2006/table">
            <a:tbl>
              <a:tblPr/>
              <a:tblGrid>
                <a:gridCol w="1645920"/>
                <a:gridCol w="822960"/>
                <a:gridCol w="822960"/>
                <a:gridCol w="1188720"/>
              </a:tblGrid>
              <a:tr h="384048">
                <a:tc>
                  <a:txBody>
                    <a:bodyPr/>
                    <a:lstStyle/>
                    <a:p>
                      <a:pPr indent="0" marL="0">
                        <a:buNone/>
                      </a:pPr>
                      <a:r>
                        <a:rPr lang="en-US" sz="1100" b="1" dirty="0">
                          <a:solidFill>
                            <a:srgbClr val="FFFFFF"/>
                          </a:solidFill>
                        </a:rPr>
                        <a:t>name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Direction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 plot-grouped cross-validation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100" dirty="0">
                          <a:solidFill>
                            <a:srgbClr val="1B1B1A"/>
                          </a:solidFill>
                        </a:rPr>
                        <a:t>RARSb</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0.747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71.3 %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RVS2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0.737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64.2 %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NDVI761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64.0 %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SR761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64.0 %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PRI515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0.735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61.5 %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NWI2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0.734</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71.1 %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PSSRb</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0.732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70.8 %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PSNDb</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0.732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70.8 %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NDVI850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0.731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68.0 %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Ctr2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0.720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64.3 %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6675120" y="5486400"/>
            <a:ext cx="5010912" cy="640080"/>
          </a:xfrm>
          <a:prstGeom prst="rect">
            <a:avLst/>
          </a:prstGeom>
          <a:noFill/>
          <a:ln/>
        </p:spPr>
        <p:txBody>
          <a:bodyPr wrap="square" lIns="0" tIns="0" rIns="0" bIns="0" rtlCol="0" anchor="t"/>
          <a:lstStyle/>
          <a:p>
            <a:pPr indent="0" marL="0">
              <a:buNone/>
            </a:pPr>
            <a:r>
              <a:rPr lang="en-US" sz="1100" i="1" dirty="0">
                <a:solidFill>
                  <a:srgbClr val="52514E"/>
                </a:solidFill>
              </a:rPr>
              <a:t>31 indices of the flowering-stage workbook (Activity 1.4 table) + further pigment, red-edge, water and disease indices; AUC is direction-free (0.5 = no separation).</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Optimised two-band index</a:t>
            </a:r>
            <a:endParaRPr lang="en-US" sz="2800" dirty="0"/>
          </a:p>
        </p:txBody>
      </p:sp>
      <p:pic>
        <p:nvPicPr>
          <p:cNvPr id="3" name="F19_K3b_ndsi_heatmap.png" descr="Optimised index">    </p:cNvPr>
          <p:cNvPicPr>
            <a:picLocks noChangeAspect="1"/>
          </p:cNvPicPr>
          <p:nvPr/>
        </p:nvPicPr>
        <p:blipFill>
          <a:blip r:embed="rId1"/>
          <a:stretch>
            <a:fillRect/>
          </a:stretch>
        </p:blipFill>
        <p:spPr>
          <a:xfrm>
            <a:off x="1167812" y="1143000"/>
            <a:ext cx="5436776" cy="516636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406640" y="1234440"/>
          <a:ext cx="4279392" cy="914400"/>
        </p:xfrm>
        <a:graphic>
          <a:graphicData uri="http://schemas.openxmlformats.org/drawingml/2006/table">
            <a:tbl>
              <a:tblPr/>
              <a:tblGrid>
                <a:gridCol w="2103120"/>
                <a:gridCol w="822960"/>
                <a:gridCol w="1399032"/>
              </a:tblGrid>
              <a:tr h="411480">
                <a:tc>
                  <a:txBody>
                    <a:bodyPr/>
                    <a:lstStyle/>
                    <a:p>
                      <a:pPr indent="0" marL="0">
                        <a:buNone/>
                      </a:pPr>
                      <a:r>
                        <a:rPr lang="en-US" sz="1200" b="1" dirty="0">
                          <a:solidFill>
                            <a:srgbClr val="FFFFFF"/>
                          </a:solidFill>
                        </a:rPr>
                        <a:t>name</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AUC</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BA plot-grouped cross-validation</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200" dirty="0">
                          <a:solidFill>
                            <a:srgbClr val="1B1B1A"/>
                          </a:solidFill>
                        </a:rPr>
                        <a:t>NDSI(870,872)</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0.916</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86.2 %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B1A"/>
                          </a:solidFill>
                        </a:rPr>
                        <a:t>DI(870,872)</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0.916</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81.8 %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5" name="Text 1"/>
          <p:cNvSpPr txBox="1"/>
          <p:nvPr/>
        </p:nvSpPr>
        <p:spPr>
          <a:xfrm>
            <a:off x="7406640" y="2743200"/>
            <a:ext cx="4279392" cy="320040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Every band pair searched (5-nm grid, refined at 1 nm), pairs straddling a detector join excluded. Honest balanced accuracy with the pair searched inside training plots only: 78.5 % (cross-validation).</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First-, second- and third-derivative spectra</a:t>
            </a:r>
            <a:endParaRPr lang="en-US" sz="2800" dirty="0"/>
          </a:p>
        </p:txBody>
      </p:sp>
      <p:pic>
        <p:nvPicPr>
          <p:cNvPr id="3" name="F20_K4_first_derivative.png" descr="Derivatives">    </p:cNvPr>
          <p:cNvPicPr>
            <a:picLocks noChangeAspect="1"/>
          </p:cNvPicPr>
          <p:nvPr/>
        </p:nvPicPr>
        <p:blipFill>
          <a:blip r:embed="rId1"/>
          <a:stretch>
            <a:fillRect/>
          </a:stretch>
        </p:blipFill>
        <p:spPr>
          <a:xfrm>
            <a:off x="502920" y="2416751"/>
            <a:ext cx="6583680" cy="2618859"/>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223760" y="1234440"/>
          <a:ext cx="4462272" cy="914400"/>
        </p:xfrm>
        <a:graphic>
          <a:graphicData uri="http://schemas.openxmlformats.org/drawingml/2006/table">
            <a:tbl>
              <a:tblPr/>
              <a:tblGrid>
                <a:gridCol w="2194560"/>
                <a:gridCol w="822960"/>
                <a:gridCol w="822960"/>
                <a:gridCol w="621792"/>
              </a:tblGrid>
              <a:tr h="502920">
                <a:tc>
                  <a:txBody>
                    <a:bodyPr/>
                    <a:lstStyle/>
                    <a:p>
                      <a:pPr indent="0" marL="0">
                        <a:buNone/>
                      </a:pPr>
                      <a:r>
                        <a:rPr lang="en-US" sz="1100" b="1" dirty="0">
                          <a:solidFill>
                            <a:srgbClr val="FFFFFF"/>
                          </a:solidFill>
                        </a:rPr>
                        <a:t>Derivative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Significant (FDR)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Best AUC outside guard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at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502920">
                <a:tc>
                  <a:txBody>
                    <a:bodyPr/>
                    <a:lstStyle/>
                    <a:p>
                      <a:pPr indent="0" marL="0">
                        <a:buNone/>
                      </a:pPr>
                      <a:r>
                        <a:rPr lang="en-US" sz="1100" dirty="0">
                          <a:solidFill>
                            <a:srgbClr val="1B1B1A"/>
                          </a:solidFill>
                        </a:rPr>
                        <a:t>First derivative (central difference of raw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677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0.916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871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B1A"/>
                          </a:solidFill>
                        </a:rPr>
                        <a:t>Second derivative (central difference of raw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488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0.829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741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502920">
                <a:tc>
                  <a:txBody>
                    <a:bodyPr/>
                    <a:lstStyle/>
                    <a:p>
                      <a:pPr indent="0" marL="0">
                        <a:buNone/>
                      </a:pPr>
                      <a:r>
                        <a:rPr lang="en-US" sz="1100" dirty="0">
                          <a:solidFill>
                            <a:srgbClr val="1B1B1A"/>
                          </a:solidFill>
                        </a:rPr>
                        <a:t>Third derivative (central difference of raw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375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0.832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738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Red-edge parameters and the red-edge inflection point</a:t>
            </a:r>
            <a:endParaRPr lang="en-US" sz="2800" dirty="0"/>
          </a:p>
        </p:txBody>
      </p:sp>
      <p:pic>
        <p:nvPicPr>
          <p:cNvPr id="3" name="F21_K4_REIP.png" descr="Red-edge inflection point">    </p:cNvPr>
          <p:cNvPicPr>
            <a:picLocks noChangeAspect="1"/>
          </p:cNvPicPr>
          <p:nvPr/>
        </p:nvPicPr>
        <p:blipFill>
          <a:blip r:embed="rId1"/>
          <a:stretch>
            <a:fillRect/>
          </a:stretch>
        </p:blipFill>
        <p:spPr>
          <a:xfrm>
            <a:off x="502920" y="2411777"/>
            <a:ext cx="6583680" cy="2628805"/>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223760" y="1234440"/>
          <a:ext cx="4462272" cy="914400"/>
        </p:xfrm>
        <a:graphic>
          <a:graphicData uri="http://schemas.openxmlformats.org/drawingml/2006/table">
            <a:tbl>
              <a:tblPr/>
              <a:tblGrid>
                <a:gridCol w="2926080"/>
                <a:gridCol w="731520"/>
                <a:gridCol w="804672"/>
              </a:tblGrid>
              <a:tr h="329184">
                <a:tc>
                  <a:txBody>
                    <a:bodyPr/>
                    <a:lstStyle/>
                    <a:p>
                      <a:pPr indent="0" marL="0">
                        <a:buNone/>
                      </a:pPr>
                      <a:r>
                        <a:rPr lang="en-US" sz="1100" b="1" dirty="0">
                          <a:solidFill>
                            <a:srgbClr val="FFFFFF"/>
                          </a:solidFill>
                        </a:rPr>
                        <a:t>name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AUC</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Direction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B1B1A"/>
                          </a:solidFill>
                        </a:rPr>
                        <a:t>Ro (red well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0.752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REIP, Lagrangian interpolation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0.702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REIP, linear extrapolation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0.700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λr = REP (red-edge position,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0.696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REP, linear 4-point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0.690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Red-edge slope (R750 − R700)/50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0.690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λo (red well position,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0.675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SDr (red-edge 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0.670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SDy (yellow-edge area)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0.642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Dr = REV (red-edge amplitude)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0.638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Dy (yellow-edge amplitude)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0.636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D &gt;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Rg/Ro</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0.626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D &lt; 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Correlation spectra with disease status</a:t>
            </a:r>
            <a:endParaRPr lang="en-US" sz="2800" dirty="0"/>
          </a:p>
        </p:txBody>
      </p:sp>
      <p:pic>
        <p:nvPicPr>
          <p:cNvPr id="3" name="F22_K6_correlation.png" descr="Correlation spectra">    </p:cNvPr>
          <p:cNvPicPr>
            <a:picLocks noChangeAspect="1"/>
          </p:cNvPicPr>
          <p:nvPr/>
        </p:nvPicPr>
        <p:blipFill>
          <a:blip r:embed="rId1"/>
          <a:stretch>
            <a:fillRect/>
          </a:stretch>
        </p:blipFill>
        <p:spPr>
          <a:xfrm>
            <a:off x="502920" y="1286257"/>
            <a:ext cx="7315200" cy="4879846"/>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955280" y="1234440"/>
          <a:ext cx="3730752" cy="914400"/>
        </p:xfrm>
        <a:graphic>
          <a:graphicData uri="http://schemas.openxmlformats.org/drawingml/2006/table">
            <a:tbl>
              <a:tblPr/>
              <a:tblGrid>
                <a:gridCol w="1097280"/>
                <a:gridCol w="1097280"/>
                <a:gridCol w="822960"/>
                <a:gridCol w="713232"/>
              </a:tblGrid>
              <a:tr h="384048">
                <a:tc>
                  <a:txBody>
                    <a:bodyPr/>
                    <a:lstStyle/>
                    <a:p>
                      <a:pPr indent="0" marL="0">
                        <a:buNone/>
                      </a:pPr>
                      <a:r>
                        <a:rPr lang="en-US" sz="1100" b="1" dirty="0">
                          <a:solidFill>
                            <a:srgbClr val="FFFFFF"/>
                          </a:solidFill>
                        </a:rPr>
                        <a:t>Spectrum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Region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Band of max |r|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400–499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+0.139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500–599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+0.298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600–679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648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+0.385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680–759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695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+0.376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760–1349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760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-0.136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1350–1430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1421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+0.288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1431–1799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1431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+0.287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1800–1950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1890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+0.330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100" dirty="0">
                          <a:solidFill>
                            <a:srgbClr val="1B1B1A"/>
                          </a:solidFill>
                        </a:rPr>
                        <a:t>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1951–2349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2005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+0.320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CART versus Random Forest on each feature group</a:t>
            </a:r>
            <a:endParaRPr lang="en-US" sz="2800" dirty="0"/>
          </a:p>
        </p:txBody>
      </p:sp>
      <p:pic>
        <p:nvPicPr>
          <p:cNvPr id="3" name="F23_K5_cart_vs_rf.png" descr="Feature groups">    </p:cNvPr>
          <p:cNvPicPr>
            <a:picLocks noChangeAspect="1"/>
          </p:cNvPicPr>
          <p:nvPr/>
        </p:nvPicPr>
        <p:blipFill>
          <a:blip r:embed="rId1"/>
          <a:stretch>
            <a:fillRect/>
          </a:stretch>
        </p:blipFill>
        <p:spPr>
          <a:xfrm>
            <a:off x="502920" y="2045970"/>
            <a:ext cx="6035040" cy="3360420"/>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5010912" cy="914400"/>
        </p:xfrm>
        <a:graphic>
          <a:graphicData uri="http://schemas.openxmlformats.org/drawingml/2006/table">
            <a:tbl>
              <a:tblPr/>
              <a:tblGrid>
                <a:gridCol w="2377440"/>
                <a:gridCol w="822960"/>
                <a:gridCol w="914400"/>
                <a:gridCol w="914400"/>
              </a:tblGrid>
              <a:tr h="411480">
                <a:tc>
                  <a:txBody>
                    <a:bodyPr/>
                    <a:lstStyle/>
                    <a:p>
                      <a:pPr indent="0" marL="0">
                        <a:buNone/>
                      </a:pPr>
                      <a:r>
                        <a:rPr lang="en-US" sz="1100" b="1" dirty="0">
                          <a:solidFill>
                            <a:srgbClr val="FFFFFF"/>
                          </a:solidFill>
                        </a:rPr>
                        <a:t>Feature group</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Features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CART cross-validation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RF cross-validation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100" dirty="0">
                          <a:solidFill>
                            <a:srgbClr val="1B1B1A"/>
                          </a:solidFill>
                        </a:rPr>
                        <a:t>Full spectrum (raw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2101</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66.5 %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77.4 %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Band reflectance</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2039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66.5 %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77.5 %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Continuum-removal parameters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48</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93.2 %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Vegetation indices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87</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71.5 %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78.3 %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Derivatives + edge parameters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6092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81.6 %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94.1 %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All disease-sensitive features combined pool</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8266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81.6 %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92.6 %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100" dirty="0">
                          <a:solidFill>
                            <a:srgbClr val="1B1B1A"/>
                          </a:solidFill>
                        </a:rPr>
                        <a:t>Derivatives incl. guard-zone bands (artefact test)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6326</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95.6 %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B1A"/>
                          </a:solidFill>
                        </a:rPr>
                        <a:t>Selected (top 15 non-redundant, chosen inside each training set)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80.8 %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87.6 %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02920" y="2377440"/>
            <a:ext cx="11183112"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Step 3 · Four tiers on the combined feature pool</a:t>
            </a:r>
            <a:endParaRPr lang="en-US" sz="3600" dirty="0"/>
          </a:p>
        </p:txBody>
      </p:sp>
      <p:sp>
        <p:nvSpPr>
          <p:cNvPr id="3" name="Text 0"/>
          <p:cNvSpPr/>
          <p:nvPr>
            <p:ph idx="101" type="body" hasCustomPrompt="1"/>
          </p:nvPr>
        </p:nvSpPr>
        <p:spPr>
          <a:xfrm>
            <a:off x="502920" y="3611880"/>
            <a:ext cx="11183112" cy="1463040"/>
          </a:xfrm>
          <a:prstGeom prst="rect">
            <a:avLst/>
          </a:prstGeom>
          <a:noFill/>
          <a:ln/>
        </p:spPr>
        <p:txBody>
          <a:bodyPr wrap="square" rtlCol="0" anchor="t"/>
          <a:lstStyle/>
          <a:p>
            <a:pPr indent="0" marL="0">
              <a:buNone/>
            </a:pPr>
            <a:r>
              <a:rPr lang="en-US" sz="1800" dirty="0">
                <a:solidFill>
                  <a:srgbClr val="CFE3D5"/>
                </a:solidFill>
                <a:latin typeface="Calibri" pitchFamily="34" charset="0"/>
                <a:ea typeface="Calibri" pitchFamily="34" charset="-122"/>
                <a:cs typeface="Calibri" pitchFamily="34" charset="-120"/>
              </a:rPr>
              <a:t>Raw reflectance + continuum removal + vegetation indices + derivatives + red-edge parameters (8264 features) → disease-specific features</a:t>
            </a:r>
            <a:endParaRPr lang="en-US" sz="1800" dirty="0"/>
          </a:p>
        </p:txBody>
      </p:sp>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The combined feature pool</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6949440" cy="914400"/>
        </p:xfrm>
        <a:graphic>
          <a:graphicData uri="http://schemas.openxmlformats.org/drawingml/2006/table">
            <a:tbl>
              <a:tblPr/>
              <a:tblGrid>
                <a:gridCol w="2377440"/>
                <a:gridCol w="777240"/>
                <a:gridCol w="868680"/>
                <a:gridCol w="594360"/>
                <a:gridCol w="685800"/>
                <a:gridCol w="548640"/>
                <a:gridCol w="548640"/>
                <a:gridCol w="548640"/>
              </a:tblGrid>
              <a:tr h="274320">
                <a:tc>
                  <a:txBody>
                    <a:bodyPr/>
                    <a:lstStyle/>
                    <a:p>
                      <a:pPr indent="0" marL="0">
                        <a:buNone/>
                      </a:pPr>
                      <a:r>
                        <a:rPr lang="en-US" sz="1000" b="1" dirty="0">
                          <a:solidFill>
                            <a:srgbClr val="FFFFFF"/>
                          </a:solidFill>
                        </a:rPr>
                        <a:t>Feature type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Features</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Tier-1 significant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CART-4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CART-2 (1-SE)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RF-17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RF-10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RF-4 (size-matched)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Band reflectance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2039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1000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Continuum removal</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Vegetation index</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85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Second-derivative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2019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489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Third-derivative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2019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394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Edge parameter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First-derivative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2031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638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7680960" y="1188720"/>
            <a:ext cx="4005072" cy="219456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8266 features from the raw plot-average reflectance; 8264 after removing exact duplicates; Tier 1 (Welch + FDR): 2616 significant.</a:t>
            </a:r>
            <a:endParaRPr lang="en-US" sz="1400" dirty="0"/>
          </a:p>
          <a:p>
            <a:pPr indent="0" marL="0">
              <a:spcAft>
                <a:spcPts val="600"/>
              </a:spcAft>
              <a:buNone/>
            </a:pPr>
            <a:r>
              <a:rPr lang="en-US" sz="1400" dirty="0">
                <a:solidFill>
                  <a:srgbClr val="1B1B1A"/>
                </a:solidFill>
              </a:rPr>
              <a:t>Columns 4–8: number of features of each type in the CART and Random Forest sets.</a:t>
            </a:r>
            <a:endParaRPr lang="en-US" sz="1400" dirty="0"/>
          </a:p>
        </p:txBody>
      </p:sp>
      <p:pic>
        <p:nvPicPr>
          <p:cNvPr id="5" name="F24_C_composition.png" descr="Pool composition">    </p:cNvPr>
          <p:cNvPicPr>
            <a:picLocks noChangeAspect="1"/>
          </p:cNvPicPr>
          <p:nvPr/>
        </p:nvPicPr>
        <p:blipFill>
          <a:blip r:embed="rId1"/>
          <a:stretch>
            <a:fillRect/>
          </a:stretch>
        </p:blipFill>
        <p:spPr>
          <a:xfrm>
            <a:off x="3774669" y="4114800"/>
            <a:ext cx="4639614" cy="228600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2 · CART (CART-4) and Random Forest (RF-17) features</a:t>
            </a:r>
            <a:endParaRPr lang="en-US" sz="2800" dirty="0"/>
          </a:p>
        </p:txBody>
      </p:sp>
      <p:pic>
        <p:nvPicPr>
          <p:cNvPr id="3" name="F26_C_cart_tree.png" descr="CART tree of the pool">    </p:cNvPr>
          <p:cNvPicPr>
            <a:picLocks noChangeAspect="1"/>
          </p:cNvPicPr>
          <p:nvPr/>
        </p:nvPicPr>
        <p:blipFill>
          <a:blip r:embed="rId1"/>
          <a:stretch>
            <a:fillRect/>
          </a:stretch>
        </p:blipFill>
        <p:spPr>
          <a:xfrm>
            <a:off x="502920" y="2069184"/>
            <a:ext cx="6035040" cy="3313992"/>
          </a:xfrm>
          <a:prstGeom prst="rect">
            <a:avLst/>
          </a:prstGeom>
        </p:spPr>
      </p:pic>
      <p:sp>
        <p:nvSpPr>
          <p:cNvPr id="4" name="Text 1"/>
          <p:cNvSpPr txBox="1"/>
          <p:nvPr/>
        </p:nvSpPr>
        <p:spPr>
          <a:xfrm>
            <a:off x="6675120" y="1280160"/>
            <a:ext cx="5010912" cy="493776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CART (CART-4): first derivative 871 nm; second derivative 682 nm; third derivative 1244 nm; second derivative 557 nm.</a:t>
            </a:r>
            <a:endParaRPr lang="en-US" sz="1400" dirty="0"/>
          </a:p>
          <a:p>
            <a:pPr indent="0" marL="0">
              <a:spcAft>
                <a:spcPts val="600"/>
              </a:spcAft>
              <a:buNone/>
            </a:pPr>
            <a:r>
              <a:rPr lang="en-US" sz="1400" dirty="0">
                <a:solidFill>
                  <a:srgbClr val="1B1B1A"/>
                </a:solidFill>
              </a:rPr>
              <a:t>Random Forest (RF-17): first derivative 871 nm; first derivative 852 nm; second derivative 737 nm; first derivative 893 nm; second derivative 682 nm; third derivative 738 nm; first derivative 839 nm; first derivative 784 nm; second derivative 1240 nm; first derivative 820 nm; third derivative 1240 nm; second derivative 934 nm; second derivative 889 nm; third derivative 888 nm; second derivative 1720 nm; third derivative 1077 nm; second derivative 1918 nm.</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 2 · Random Forest importance in the combined pool</a:t>
            </a:r>
            <a:endParaRPr lang="en-US" sz="2800" dirty="0"/>
          </a:p>
        </p:txBody>
      </p:sp>
      <p:pic>
        <p:nvPicPr>
          <p:cNvPr id="3" name="F25_C_top_importance.png" descr="Top importance">    </p:cNvPr>
          <p:cNvPicPr>
            <a:picLocks noChangeAspect="1"/>
          </p:cNvPicPr>
          <p:nvPr/>
        </p:nvPicPr>
        <p:blipFill>
          <a:blip r:embed="rId1"/>
          <a:stretch>
            <a:fillRect/>
          </a:stretch>
        </p:blipFill>
        <p:spPr>
          <a:xfrm>
            <a:off x="2922893" y="1143000"/>
            <a:ext cx="6343167" cy="516636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Tiers 3 and 4 · separability and QDA on the selected features</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5120640" cy="914400"/>
        </p:xfrm>
        <a:graphic>
          <a:graphicData uri="http://schemas.openxmlformats.org/drawingml/2006/table">
            <a:tbl>
              <a:tblPr/>
              <a:tblGrid>
                <a:gridCol w="2560320"/>
                <a:gridCol w="1097280"/>
                <a:gridCol w="1463040"/>
              </a:tblGrid>
              <a:tr h="384048">
                <a:tc>
                  <a:txBody>
                    <a:bodyPr/>
                    <a:lstStyle/>
                    <a:p>
                      <a:pPr indent="0" marL="0">
                        <a:buNone/>
                      </a:pPr>
                      <a:r>
                        <a:rPr lang="en-US" sz="1300" b="1" dirty="0">
                          <a:solidFill>
                            <a:srgbClr val="FFFFFF"/>
                          </a:solidFill>
                        </a:rPr>
                        <a:t>Set</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Features</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JM</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300" dirty="0">
                          <a:solidFill>
                            <a:srgbClr val="1B1B1A"/>
                          </a:solidFill>
                        </a:rPr>
                        <a:t>CART-4</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4</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1.200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CART-2 (1-SE)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2</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0.996</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B1A"/>
                          </a:solidFill>
                        </a:rPr>
                        <a:t>RF-17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1.954</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A"/>
                          </a:solidFill>
                        </a:rPr>
                        <a:t>RF-10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1.796</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300" dirty="0">
                          <a:solidFill>
                            <a:srgbClr val="1B1B1A"/>
                          </a:solidFill>
                        </a:rPr>
                        <a:t>RF-4 (size-matched)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4</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1.017</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035040" y="1188720"/>
            <a:ext cx="5669280" cy="365760"/>
          </a:xfrm>
          <a:prstGeom prst="rect">
            <a:avLst/>
          </a:prstGeom>
          <a:noFill/>
          <a:ln/>
        </p:spPr>
        <p:txBody>
          <a:bodyPr wrap="square" lIns="0" tIns="0" rIns="0" bIns="0" rtlCol="0" anchor="ctr"/>
          <a:lstStyle/>
          <a:p>
            <a:pPr indent="0" marL="0">
              <a:buNone/>
            </a:pPr>
            <a:r>
              <a:rPr lang="en-US" sz="1500" b="1" dirty="0">
                <a:solidFill>
                  <a:srgbClr val="1F3D2B"/>
                </a:solidFill>
              </a:rPr>
              <a:t>QDA on RF-17 features (spectrum-level 10-fold)</a:t>
            </a:r>
            <a:endParaRPr lang="en-US" sz="150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6035040" y="1600200"/>
          <a:ext cx="5650992" cy="914400"/>
        </p:xfrm>
        <a:graphic>
          <a:graphicData uri="http://schemas.openxmlformats.org/drawingml/2006/table">
            <a:tbl>
              <a:tblPr/>
              <a:tblGrid>
                <a:gridCol w="1828800"/>
                <a:gridCol w="1005840"/>
                <a:gridCol w="1005840"/>
                <a:gridCol w="1810512"/>
              </a:tblGrid>
              <a:tr h="411480">
                <a:tc>
                  <a:txBody>
                    <a:bodyPr/>
                    <a:lstStyle/>
                    <a:p>
                      <a:pPr indent="0" marL="0">
                        <a:buNone/>
                      </a:pPr>
                      <a:r>
                        <a:rPr lang="en-US" sz="1300" b="1" dirty="0">
                          <a:solidFill>
                            <a:srgbClr val="FFFFFF"/>
                          </a:solidFill>
                        </a:rPr>
                        <a:t>Classified \ Reference</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300" b="1" dirty="0">
                          <a:solidFill>
                            <a:srgbClr val="FFFFFF"/>
                          </a:solidFill>
                        </a:rPr>
                        <a:t>User's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411480">
                <a:tc>
                  <a:txBody>
                    <a:bodyPr/>
                    <a:lstStyle/>
                    <a:p>
                      <a:pPr indent="0" marL="0">
                        <a:buNone/>
                      </a:pPr>
                      <a:r>
                        <a:rPr lang="en-US" sz="1300" dirty="0">
                          <a:solidFill>
                            <a:srgbClr val="1B1B1A"/>
                          </a:solidFill>
                        </a:rPr>
                        <a:t>Healthy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40</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5</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88.9 %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1B1A"/>
                          </a:solidFill>
                        </a:rPr>
                        <a:t>Diseased</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8</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139</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300" dirty="0">
                          <a:solidFill>
                            <a:srgbClr val="1B1B1A"/>
                          </a:solidFill>
                        </a:rPr>
                        <a:t>94.6 %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411480">
                <a:tc>
                  <a:txBody>
                    <a:bodyPr/>
                    <a:lstStyle/>
                    <a:p>
                      <a:pPr indent="0" marL="0">
                        <a:buNone/>
                      </a:pPr>
                      <a:r>
                        <a:rPr lang="en-US" sz="1300" dirty="0">
                          <a:solidFill>
                            <a:srgbClr val="1B1B1A"/>
                          </a:solidFill>
                        </a:rPr>
                        <a:t>Producer's accuracy</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83.3 %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96.5 %</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300" dirty="0">
                          <a:solidFill>
                            <a:srgbClr val="1B1B1A"/>
                          </a:solidFill>
                        </a:rPr>
                        <a:t>BA 89.9 % · κ 0.816</a:t>
                      </a:r>
                      <a:endParaRPr lang="en-US" sz="13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pic>
        <p:nvPicPr>
          <p:cNvPr id="6" name="F27_C_incremental.png" descr="Incremental">    </p:cNvPr>
          <p:cNvPicPr>
            <a:picLocks noChangeAspect="1"/>
          </p:cNvPicPr>
          <p:nvPr/>
        </p:nvPicPr>
        <p:blipFill>
          <a:blip r:embed="rId1"/>
          <a:stretch>
            <a:fillRect/>
          </a:stretch>
        </p:blipFill>
        <p:spPr>
          <a:xfrm>
            <a:off x="6035040" y="3805535"/>
            <a:ext cx="5650992" cy="2173010"/>
          </a:xfrm>
          <a:prstGeom prst="rect">
            <a:avLst/>
          </a:prstGeom>
        </p:spPr>
      </p:pic>
      <p:sp>
        <p:nvSpPr>
          <p:cNvPr id="7" name="Text 2"/>
          <p:cNvSpPr txBox="1"/>
          <p:nvPr/>
        </p:nvSpPr>
        <p:spPr>
          <a:xfrm>
            <a:off x="502920" y="4206240"/>
            <a:ext cx="5120640" cy="137160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J–M on the CART features = 1.200, on the RF-17 features = 1.954.</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Validation of the combined-pool pipelines</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6583680" cy="914400"/>
        </p:xfrm>
        <a:graphic>
          <a:graphicData uri="http://schemas.openxmlformats.org/drawingml/2006/table">
            <a:tbl>
              <a:tblPr/>
              <a:tblGrid>
                <a:gridCol w="2194560"/>
                <a:gridCol w="1097280"/>
                <a:gridCol w="1097280"/>
                <a:gridCol w="1097280"/>
                <a:gridCol w="1097280"/>
              </a:tblGrid>
              <a:tr h="384048">
                <a:tc>
                  <a:txBody>
                    <a:bodyPr/>
                    <a:lstStyle/>
                    <a:p>
                      <a:pPr indent="0" marL="0">
                        <a:buNone/>
                      </a:pPr>
                      <a:r>
                        <a:rPr lang="en-US" sz="1200" b="1" dirty="0">
                          <a:solidFill>
                            <a:srgbClr val="FFFFFF"/>
                          </a:solidFill>
                        </a:rPr>
                        <a:t>Pipeline</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Spectrum-level 10-fold</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Nested plot-grouped</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30 % plot hold-out</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200" b="1" dirty="0">
                          <a:solidFill>
                            <a:srgbClr val="FFFFFF"/>
                          </a:solidFill>
                        </a:rPr>
                        <a:t>Leave-one-date-out</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84048">
                <a:tc>
                  <a:txBody>
                    <a:bodyPr/>
                    <a:lstStyle/>
                    <a:p>
                      <a:pPr indent="0" marL="0">
                        <a:buNone/>
                      </a:pPr>
                      <a:r>
                        <a:rPr lang="en-US" sz="1200" dirty="0">
                          <a:solidFill>
                            <a:srgbClr val="1B1B1A"/>
                          </a:solidFill>
                        </a:rPr>
                        <a:t>CART classifier</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82.3 %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82.9 %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79.5 %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53.2 %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Random Forest classifier</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92.7 %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93.1 %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92.3 %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58.4 %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84048">
                <a:tc>
                  <a:txBody>
                    <a:bodyPr/>
                    <a:lstStyle/>
                    <a:p>
                      <a:pPr indent="0" marL="0">
                        <a:buNone/>
                      </a:pPr>
                      <a:r>
                        <a:rPr lang="en-US" sz="1200" dirty="0">
                          <a:solidFill>
                            <a:srgbClr val="1B1B1A"/>
                          </a:solidFill>
                        </a:rPr>
                        <a:t>QDA on CART bands</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88.2 %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84.4 %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82.0 %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200" dirty="0">
                          <a:solidFill>
                            <a:srgbClr val="1B1B1A"/>
                          </a:solidFill>
                        </a:rPr>
                        <a:t>52.8 %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B1A"/>
                          </a:solidFill>
                        </a:rPr>
                        <a:t>QDA on Random Forest bands</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89.9 %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87.2 %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76.5 %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200" dirty="0">
                          <a:solidFill>
                            <a:srgbClr val="1B1B1A"/>
                          </a:solidFill>
                        </a:rPr>
                        <a:t>49.8 %</a:t>
                      </a:r>
                      <a:endParaRPr lang="en-US" sz="12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7269480" y="1188720"/>
            <a:ext cx="4416552" cy="201168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Nested plot-grouped cross-validation: raw reflectance, QDA on CART bands 77.6 % → combined pool, QDA on RF-17 features 87.2 %; Random Forest classifier 75.6 % → 93.1 %.</a:t>
            </a:r>
            <a:endParaRPr lang="en-US" sz="1400" dirty="0"/>
          </a:p>
        </p:txBody>
      </p:sp>
      <p:pic>
        <p:nvPicPr>
          <p:cNvPr id="5" name="F28_C_pipelines.png" descr="Pool pipelines">    </p:cNvPr>
          <p:cNvPicPr>
            <a:picLocks noChangeAspect="1"/>
          </p:cNvPicPr>
          <p:nvPr/>
        </p:nvPicPr>
        <p:blipFill>
          <a:blip r:embed="rId1"/>
          <a:stretch>
            <a:fillRect/>
          </a:stretch>
        </p:blipFill>
        <p:spPr>
          <a:xfrm>
            <a:off x="1743599" y="3291840"/>
            <a:ext cx="8701754" cy="310896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Stability of the selected pool features</a:t>
            </a:r>
            <a:endParaRPr lang="en-US" sz="2800" dirty="0"/>
          </a:p>
        </p:txBody>
      </p:sp>
      <p:pic>
        <p:nvPicPr>
          <p:cNvPr id="3" name="F28b_C_stability.png" descr="Pool stability">    </p:cNvPr>
          <p:cNvPicPr>
            <a:picLocks noChangeAspect="1"/>
          </p:cNvPicPr>
          <p:nvPr/>
        </p:nvPicPr>
        <p:blipFill>
          <a:blip r:embed="rId1"/>
          <a:stretch>
            <a:fillRect/>
          </a:stretch>
        </p:blipFill>
        <p:spPr>
          <a:xfrm>
            <a:off x="502920" y="2245371"/>
            <a:ext cx="6766560" cy="2961619"/>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406640" y="1234440"/>
          <a:ext cx="4279392" cy="914400"/>
        </p:xfrm>
        <a:graphic>
          <a:graphicData uri="http://schemas.openxmlformats.org/drawingml/2006/table">
            <a:tbl>
              <a:tblPr/>
              <a:tblGrid>
                <a:gridCol w="1280160"/>
                <a:gridCol w="1097280"/>
                <a:gridCol w="1188720"/>
                <a:gridCol w="1124712"/>
              </a:tblGrid>
              <a:tr h="502920">
                <a:tc>
                  <a:txBody>
                    <a:bodyPr/>
                    <a:lstStyle/>
                    <a:p>
                      <a:pPr indent="0" marL="0">
                        <a:buNone/>
                      </a:pPr>
                      <a:r>
                        <a:rPr lang="en-US" sz="1100" b="1" dirty="0">
                          <a:solidFill>
                            <a:srgbClr val="FFFFFF"/>
                          </a:solidFill>
                        </a:rPr>
                        <a:t>Method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features</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Unique features (union)</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Mean pairwise Jaccard (±10 nm)</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502920">
                <a:tc>
                  <a:txBody>
                    <a:bodyPr/>
                    <a:lstStyle/>
                    <a:p>
                      <a:pPr indent="0" marL="0">
                        <a:buNone/>
                      </a:pPr>
                      <a:r>
                        <a:rPr lang="en-US" sz="1100" dirty="0">
                          <a:solidFill>
                            <a:srgbClr val="1B1B1A"/>
                          </a:solidFill>
                        </a:rPr>
                        <a:t>CART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3.9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29</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0.350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B1A"/>
                          </a:solidFill>
                        </a:rPr>
                        <a:t>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17.0</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125</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0.562</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7406640" y="2926080"/>
          <a:ext cx="4279392" cy="914400"/>
        </p:xfrm>
        <a:graphic>
          <a:graphicData uri="http://schemas.openxmlformats.org/drawingml/2006/table">
            <a:tbl>
              <a:tblPr/>
              <a:tblGrid>
                <a:gridCol w="1188720"/>
                <a:gridCol w="2286000"/>
                <a:gridCol w="1216152"/>
              </a:tblGrid>
              <a:tr h="274320">
                <a:tc>
                  <a:txBody>
                    <a:bodyPr/>
                    <a:lstStyle/>
                    <a:p>
                      <a:pPr indent="0" marL="0">
                        <a:buNone/>
                      </a:pPr>
                      <a:r>
                        <a:rPr lang="en-US" sz="1000" b="1" dirty="0">
                          <a:solidFill>
                            <a:srgbClr val="FFFFFF"/>
                          </a:solidFill>
                        </a:rPr>
                        <a:t>Selector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Feature type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Share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74320">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First-derivative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46.9 %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Second-derivative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38.3 %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Third-derivative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Continuum removal</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First-derivative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45.5 %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Second-derivative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27.5 %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Third-derivative band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22.7 %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Continuum removal</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Band reflectance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B1B1A"/>
                          </a:solidFill>
                        </a:rPr>
                        <a:t>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Vegetation index</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Disease-specific features: diseased vs healthy plots</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097280"/>
          <a:ext cx="11183112" cy="914400"/>
        </p:xfrm>
        <a:graphic>
          <a:graphicData uri="http://schemas.openxmlformats.org/drawingml/2006/table">
            <a:tbl>
              <a:tblPr/>
              <a:tblGrid>
                <a:gridCol w="2377440"/>
                <a:gridCol w="1737360"/>
                <a:gridCol w="1737360"/>
                <a:gridCol w="960120"/>
                <a:gridCol w="960120"/>
                <a:gridCol w="731520"/>
                <a:gridCol w="640080"/>
                <a:gridCol w="777240"/>
                <a:gridCol w="1261872"/>
              </a:tblGrid>
              <a:tr h="224028">
                <a:tc>
                  <a:txBody>
                    <a:bodyPr/>
                    <a:lstStyle/>
                    <a:p>
                      <a:pPr indent="0" marL="0">
                        <a:buNone/>
                      </a:pPr>
                      <a:r>
                        <a:rPr lang="en-US" sz="1000" b="1" dirty="0">
                          <a:solidFill>
                            <a:srgbClr val="FFFFFF"/>
                          </a:solidFill>
                        </a:rPr>
                        <a:t>Feature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Type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Selected by</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healthy</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Mean diseased</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Direction</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AUC</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q (FDR)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Re-selected CART / RF</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24028">
                <a:tc>
                  <a:txBody>
                    <a:bodyPr/>
                    <a:lstStyle/>
                    <a:p>
                      <a:pPr indent="0" marL="0">
                        <a:buNone/>
                      </a:pPr>
                      <a:r>
                        <a:rPr lang="en-US" sz="1000" dirty="0">
                          <a:solidFill>
                            <a:srgbClr val="1B1B1A"/>
                          </a:solidFill>
                        </a:rPr>
                        <a:t>First derivative at 871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CART + 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1.6e-05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0.916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1.4e-20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100 % / 100 %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First derivative at 852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-5.6e-05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1.5e-05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0.891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4.1e-18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10 % / 100 %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737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-2.5e-04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3.4e-08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0 % / 100 %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First derivative at 893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-5.5e-05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4.5e-06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0.886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1.0e-17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0 % / 100 %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682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CART + 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2.1e-04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1.5e-14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42 % / 92 %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Third derivative at 738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Third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2.3e-05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-1.2e-05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0.832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3.8e-13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0 % / 98 %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First derivative at 839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-3.4e-05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3.3e-05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0.860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1.6e-14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10 % / 100 %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First derivative at 784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-7.1e-05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2.1e-05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0.810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4.0e-09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0 % / 36 %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1240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-7.9e-06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0.762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1.5e-09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22 % / 42 %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First derivative at 820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First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-7.9e-05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-3.6e-06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0.860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5.1e-14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0 % / 82 %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Third derivative at 1240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Third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-7.2e-06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-6.4e-07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0.814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2.4e-12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20 % / 80 %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Second derivative at 934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8.4e-06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-4.5e-05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0.763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2.6e-08</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0 % / 62 %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889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3.6e-05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0.745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6.5e-09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0 % / 48 %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Third derivative at 888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Third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2.6e-05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-7.1e-06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0.723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2.3e-06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4 % / 42 %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1720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-3.1e-05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-4.0e-05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0.657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1.4e-03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0 % / 42 %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Third derivative at 1077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Third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8.7e-07</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-8.8e-06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0.723</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1.1e-09</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8 % / 62 %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1918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Random Forest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4.4e-06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0.815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2.2e-10</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2 % / 14 %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24028">
                <a:tc>
                  <a:txBody>
                    <a:bodyPr/>
                    <a:lstStyle/>
                    <a:p>
                      <a:pPr indent="0" marL="0">
                        <a:buNone/>
                      </a:pPr>
                      <a:r>
                        <a:rPr lang="en-US" sz="1000" dirty="0">
                          <a:solidFill>
                            <a:srgbClr val="1B1B1A"/>
                          </a:solidFill>
                        </a:rPr>
                        <a:t>Third derivative at 1244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Third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1.5e-06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-1.2e-06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D &lt;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0.645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2.0e-02</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20 % / 80 %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24028">
                <a:tc>
                  <a:txBody>
                    <a:bodyPr/>
                    <a:lstStyle/>
                    <a:p>
                      <a:pPr indent="0" marL="0">
                        <a:buNone/>
                      </a:pPr>
                      <a:r>
                        <a:rPr lang="en-US" sz="1000" dirty="0">
                          <a:solidFill>
                            <a:srgbClr val="1B1B1A"/>
                          </a:solidFill>
                        </a:rPr>
                        <a:t>Second derivative at 557 nm</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Second derivative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CART</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-2.2e-04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-1.9e-04</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D &gt; H</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0.721</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1.3e-05</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62 % / 4 %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5943600"/>
            <a:ext cx="11183112" cy="502920"/>
          </a:xfrm>
          <a:prstGeom prst="rect">
            <a:avLst/>
          </a:prstGeom>
          <a:noFill/>
          <a:ln/>
        </p:spPr>
        <p:txBody>
          <a:bodyPr wrap="square" lIns="0" tIns="0" rIns="0" bIns="0" rtlCol="0" anchor="t"/>
          <a:lstStyle/>
          <a:p>
            <a:pPr indent="0" marL="0">
              <a:buNone/>
            </a:pPr>
            <a:r>
              <a:rPr lang="en-US" sz="1100" i="1" dirty="0">
                <a:solidFill>
                  <a:srgbClr val="52514E"/>
                </a:solidFill>
              </a:rPr>
              <a:t>Features of the combined pool chosen by CART and by Random Forest (highest importance peaks) on all 192 plot-average spectra; AUC is direction-free; re-selected = share of the 50 nested cross-validation training sets in which a feature within ±10 nm (same type) was selected again.</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02920" y="2377440"/>
            <a:ext cx="11183112" cy="1097280"/>
          </a:xfrm>
          <a:prstGeom prst="rect">
            <a:avLst/>
          </a:prstGeom>
          <a:noFill/>
          <a:ln/>
        </p:spPr>
        <p:txBody>
          <a:bodyPr wrap="square" rtlCol="0" anchor="b"/>
          <a:lstStyle/>
          <a:p>
            <a:pPr indent="0" marL="0">
              <a:buNone/>
            </a:pPr>
            <a:r>
              <a:rPr lang="en-US" sz="3600" b="1" dirty="0">
                <a:solidFill>
                  <a:srgbClr val="FFFFFF"/>
                </a:solidFill>
                <a:latin typeface="Cambria" pitchFamily="34" charset="0"/>
                <a:ea typeface="Cambria" pitchFamily="34" charset="-122"/>
                <a:cs typeface="Cambria" pitchFamily="34" charset="-120"/>
              </a:rPr>
              <a:t>Synthesis</a:t>
            </a:r>
            <a:endParaRPr lang="en-US" sz="3600" dirty="0"/>
          </a:p>
        </p:txBody>
      </p:sp>
      <p:sp>
        <p:nvSpPr>
          <p:cNvPr id="3" name="Text 0"/>
          <p:cNvSpPr/>
          <p:nvPr>
            <p:ph idx="101" type="body" hasCustomPrompt="1"/>
          </p:nvPr>
        </p:nvSpPr>
        <p:spPr>
          <a:xfrm>
            <a:off x="502920" y="3611880"/>
            <a:ext cx="11183112" cy="1463040"/>
          </a:xfrm>
          <a:prstGeom prst="rect">
            <a:avLst/>
          </a:prstGeom>
          <a:noFill/>
          <a:ln/>
        </p:spPr>
        <p:txBody>
          <a:bodyPr wrap="square" rtlCol="0" anchor="t"/>
          <a:lstStyle/>
          <a:p>
            <a:pPr indent="0" marL="0">
              <a:buNone/>
            </a:pPr>
            <a:r>
              <a:rPr lang="en-US" sz="1800" dirty="0">
                <a:solidFill>
                  <a:srgbClr val="CFE3D5"/>
                </a:solidFill>
                <a:latin typeface="Calibri" pitchFamily="34" charset="0"/>
                <a:ea typeface="Calibri" pitchFamily="34" charset="-122"/>
                <a:cs typeface="Calibri" pitchFamily="34" charset="-120"/>
              </a:rPr>
              <a:t>All approaches side by side · transfer to an unseen date · conclusions</a:t>
            </a:r>
            <a:endParaRPr lang="en-US" sz="1800" dirty="0"/>
          </a:p>
        </p:txBody>
      </p:sp>
      <p:sp>
        <p:nvSpPr>
          <p:cNvPr id="25" name="Slide Number Placeholder 0"/>
          <p:cNvSpPr>
            <a:spLocks noGrp="1"/>
          </p:cNvSpPr>
          <p:nvPr>
            <p:ph type="sldNum" sz="quarter" idx="4294967295"/>
          </p:nvPr>
        </p:nvSpPr>
        <p:spPr>
          <a:xfrm>
            <a:off x="11274552"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CFE3D5"/>
                </a:solidFill>
                <a:latin typeface="Calibri"/>
                <a:ea typeface="Calibri"/>
                <a:cs typeface="Calibri"/>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All approaches on new plots</a:t>
            </a:r>
            <a:endParaRPr lang="en-US" sz="2800" dirty="0"/>
          </a:p>
        </p:txBody>
      </p:sp>
      <p:pic>
        <p:nvPicPr>
          <p:cNvPr id="3" name="F29_synthesis.png" descr="Synthesis">    </p:cNvPr>
          <p:cNvPicPr>
            <a:picLocks noChangeAspect="1"/>
          </p:cNvPicPr>
          <p:nvPr/>
        </p:nvPicPr>
        <p:blipFill>
          <a:blip r:embed="rId1"/>
          <a:stretch>
            <a:fillRect/>
          </a:stretch>
        </p:blipFill>
        <p:spPr>
          <a:xfrm>
            <a:off x="672981" y="1097280"/>
            <a:ext cx="10842990" cy="530352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All approaches · balanced accuracy table</a:t>
            </a:r>
            <a:endParaRPr lang="en-US" sz="2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914400"/>
        </p:xfrm>
        <a:graphic>
          <a:graphicData uri="http://schemas.openxmlformats.org/drawingml/2006/table">
            <a:tbl>
              <a:tblPr/>
              <a:tblGrid>
                <a:gridCol w="6766560"/>
                <a:gridCol w="1463040"/>
                <a:gridCol w="1463040"/>
                <a:gridCol w="1490472"/>
              </a:tblGrid>
              <a:tr h="329184">
                <a:tc>
                  <a:txBody>
                    <a:bodyPr/>
                    <a:lstStyle/>
                    <a:p>
                      <a:pPr indent="0" marL="0">
                        <a:buNone/>
                      </a:pPr>
                      <a:r>
                        <a:rPr lang="en-US" sz="1100" b="1" dirty="0">
                          <a:solidFill>
                            <a:srgbClr val="FFFFFF"/>
                          </a:solidFill>
                        </a:rPr>
                        <a:t>Approach</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Nested plot-grouped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30 % plot hold-out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100" b="1" dirty="0">
                          <a:solidFill>
                            <a:srgbClr val="FFFFFF"/>
                          </a:solidFill>
                        </a:rPr>
                        <a:t>Leave-one-date-out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329184">
                <a:tc>
                  <a:txBody>
                    <a:bodyPr/>
                    <a:lstStyle/>
                    <a:p>
                      <a:pPr indent="0" marL="0">
                        <a:buNone/>
                      </a:pPr>
                      <a:r>
                        <a:rPr lang="en-US" sz="1100" dirty="0">
                          <a:solidFill>
                            <a:srgbClr val="1B1B1A"/>
                          </a:solidFill>
                        </a:rPr>
                        <a:t>Feature group · derivatives incl. guard bands (artefact):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95.6 %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95.5 %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Feature group · derivatives + edge: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94.1 %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93.9 %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Feature group · continuum removal: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93.2 %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91.7 %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Combined feature pool · four tiers: RF classifier (Balanced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93.1 %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92.3 %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58.4 %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Feature group · all disease-sensitive features combined: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92.6 %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92.6 %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Feature group · selected 15: QDA</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88.7 %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85.1 %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Feature group · selected 15: RF</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87.6 %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Combined feature pool · four tiers: QDA on RF-17 (RF-selected)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87.2 %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76.5 %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49.8 %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Feature group · continuum removal: CART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82.3 %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Raw reflectance · four tiers: QDA on RF-17 (RF-selected)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86.8 %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79.7 %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51.8 %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Feature group · derivatives incl. guard bands (artefact): CART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86.5 %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Combined feature pool · four tiers: QDA on CART-4 (CART-selected)</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84.4 %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82.0 %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52.8 %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329184">
                <a:tc>
                  <a:txBody>
                    <a:bodyPr/>
                    <a:lstStyle/>
                    <a:p>
                      <a:pPr indent="0" marL="0">
                        <a:buNone/>
                      </a:pPr>
                      <a:r>
                        <a:rPr lang="en-US" sz="1100" dirty="0">
                          <a:solidFill>
                            <a:srgbClr val="1B1B1A"/>
                          </a:solidFill>
                        </a:rPr>
                        <a:t>Combined feature pool · four tiers: CART classifier (rpart)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82.9 %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79.5 %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100" dirty="0">
                          <a:solidFill>
                            <a:srgbClr val="1B1B1A"/>
                          </a:solidFill>
                        </a:rPr>
                        <a:t>53.2 %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B1A"/>
                          </a:solidFill>
                        </a:rPr>
                        <a:t>Feature group · all disease-sensitive features combined: CART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81.6 %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80.5 %</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100" dirty="0">
                          <a:solidFill>
                            <a:srgbClr val="1B1B1A"/>
                          </a:solidFill>
                        </a:rPr>
                        <a:t>–</a:t>
                      </a:r>
                      <a:endParaRPr lang="en-US" sz="11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Transfer to an unseen date</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6766560" cy="914400"/>
        </p:xfrm>
        <a:graphic>
          <a:graphicData uri="http://schemas.openxmlformats.org/drawingml/2006/table">
            <a:tbl>
              <a:tblPr/>
              <a:tblGrid>
                <a:gridCol w="2743200"/>
                <a:gridCol w="1005840"/>
                <a:gridCol w="1005840"/>
                <a:gridCol w="1005840"/>
                <a:gridCol w="1005840"/>
              </a:tblGrid>
              <a:tr h="246888">
                <a:tc>
                  <a:txBody>
                    <a:bodyPr/>
                    <a:lstStyle/>
                    <a:p>
                      <a:pPr indent="0" marL="0">
                        <a:buNone/>
                      </a:pPr>
                      <a:r>
                        <a:rPr lang="en-US" sz="1000" b="1" dirty="0">
                          <a:solidFill>
                            <a:srgbClr val="FFFFFF"/>
                          </a:solidFill>
                        </a:rPr>
                        <a:t>Feature set · pipeline</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11-02-2026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24-02-2026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03-03-2026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c>
                  <a:txBody>
                    <a:bodyPr/>
                    <a:lstStyle/>
                    <a:p>
                      <a:pPr indent="0" marL="0">
                        <a:buNone/>
                      </a:pPr>
                      <a:r>
                        <a:rPr lang="en-US" sz="1000" b="1" dirty="0">
                          <a:solidFill>
                            <a:srgbClr val="FFFFFF"/>
                          </a:solidFill>
                        </a:rPr>
                        <a:t>13-03-2026</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1F3D2B"/>
                    </a:solidFill>
                  </a:tcPr>
                </a:tc>
              </a:tr>
              <a:tr h="246888">
                <a:tc>
                  <a:txBody>
                    <a:bodyPr/>
                    <a:lstStyle/>
                    <a:p>
                      <a:pPr indent="0" marL="0">
                        <a:buNone/>
                      </a:pPr>
                      <a:r>
                        <a:rPr lang="en-US" sz="1000" dirty="0">
                          <a:solidFill>
                            <a:srgbClr val="1B1B1A"/>
                          </a:solidFill>
                        </a:rPr>
                        <a:t>Reflectance · CART classifier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48.8 %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53.2 %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61.3 %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51.1 %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Reflectance · RF classifier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51.0 %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55.9 %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65.0 %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46888">
                <a:tc>
                  <a:txBody>
                    <a:bodyPr/>
                    <a:lstStyle/>
                    <a:p>
                      <a:pPr indent="0" marL="0">
                        <a:buNone/>
                      </a:pPr>
                      <a:r>
                        <a:rPr lang="en-US" sz="1000" dirty="0">
                          <a:solidFill>
                            <a:srgbClr val="1B1B1A"/>
                          </a:solidFill>
                        </a:rPr>
                        <a:t>Reflectance · QDA on CART features</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45.0 %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69.7 %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73.3 %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Reflectance · QDA on RF features</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52.3 %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53.8 %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51.2 %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46888">
                <a:tc>
                  <a:txBody>
                    <a:bodyPr/>
                    <a:lstStyle/>
                    <a:p>
                      <a:pPr indent="0" marL="0">
                        <a:buNone/>
                      </a:pPr>
                      <a:r>
                        <a:rPr lang="en-US" sz="1000" dirty="0">
                          <a:solidFill>
                            <a:srgbClr val="1B1B1A"/>
                          </a:solidFill>
                        </a:rPr>
                        <a:t>Combined pool · CART classifier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55.5 %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58.4 %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49.1 %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Combined pool · RF classifier</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77.3 %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56.2 %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r h="246888">
                <a:tc>
                  <a:txBody>
                    <a:bodyPr/>
                    <a:lstStyle/>
                    <a:p>
                      <a:pPr indent="0" marL="0">
                        <a:buNone/>
                      </a:pPr>
                      <a:r>
                        <a:rPr lang="en-US" sz="1000" dirty="0">
                          <a:solidFill>
                            <a:srgbClr val="1B1B1A"/>
                          </a:solidFill>
                        </a:rPr>
                        <a:t>Combined pool · QDA on CART features</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43.3 %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61.6 %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56.1 %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B1B1A"/>
                          </a:solidFill>
                        </a:rPr>
                        <a:t>Combined pool · QDA on RF features</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47.5 %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50.3 %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51.2 %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c>
                  <a:txBody>
                    <a:bodyPr/>
                    <a:lstStyle/>
                    <a:p>
                      <a:pPr indent="0" marL="0">
                        <a:buNone/>
                      </a:pPr>
                      <a:r>
                        <a:rPr lang="en-US" sz="1000" dirty="0">
                          <a:solidFill>
                            <a:srgbClr val="1B1B1A"/>
                          </a:solidFill>
                        </a:rPr>
                        <a:t>50.0 %</a:t>
                      </a:r>
                      <a:endParaRPr lang="en-US" sz="1000" dirty="0"/>
                    </a:p>
                  </a:txBody>
                  <a:tcPr marL="36576" marR="36576" marT="36576" marB="36576" anchor="ctr">
                    <a:lnL w="6350" cap="flat" cmpd="sng" algn="ctr">
                      <a:solidFill>
                        <a:srgbClr val="C9C8C1"/>
                      </a:solidFill>
                      <a:prstDash val="solid"/>
                      <a:round/>
                      <a:headEnd type="none" w="med" len="med"/>
                      <a:tailEnd type="none" w="med" len="med"/>
                    </a:lnL>
                    <a:lnR w="6350" cap="flat" cmpd="sng" algn="ctr">
                      <a:solidFill>
                        <a:srgbClr val="C9C8C1"/>
                      </a:solidFill>
                      <a:prstDash val="solid"/>
                      <a:round/>
                      <a:headEnd type="none" w="med" len="med"/>
                      <a:tailEnd type="none" w="med" len="med"/>
                    </a:lnR>
                    <a:lnT w="6350" cap="flat" cmpd="sng" algn="ctr">
                      <a:solidFill>
                        <a:srgbClr val="C9C8C1"/>
                      </a:solidFill>
                      <a:prstDash val="solid"/>
                      <a:round/>
                      <a:headEnd type="none" w="med" len="med"/>
                      <a:tailEnd type="none" w="med" len="med"/>
                    </a:lnT>
                    <a:lnB w="6350" cap="flat" cmpd="sng" algn="ctr">
                      <a:solidFill>
                        <a:srgbClr val="C9C8C1"/>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7498080" y="1188720"/>
            <a:ext cx="4187952" cy="2377440"/>
          </a:xfrm>
          <a:prstGeom prst="rect">
            <a:avLst/>
          </a:prstGeom>
          <a:noFill/>
          <a:ln/>
        </p:spPr>
        <p:txBody>
          <a:bodyPr wrap="square" lIns="635" tIns="635" rIns="635" bIns="635" rtlCol="0" anchor="t"/>
          <a:lstStyle/>
          <a:p>
            <a:pPr indent="0" marL="0">
              <a:spcAft>
                <a:spcPts val="600"/>
              </a:spcAft>
              <a:buNone/>
            </a:pPr>
            <a:r>
              <a:rPr lang="en-US" sz="1400" dirty="0">
                <a:solidFill>
                  <a:srgbClr val="1B1B1A"/>
                </a:solidFill>
              </a:rPr>
              <a:t>Balanced accuracy on each held-out date: trained on the other three dates (training plots of a hold-out split), tested on the held-out date (test plots of the split). the last date, 13-03-2026, is predicted at chance level by every pipeline.</a:t>
            </a:r>
            <a:endParaRPr lang="en-US" sz="1400" dirty="0"/>
          </a:p>
        </p:txBody>
      </p:sp>
      <p:pic>
        <p:nvPicPr>
          <p:cNvPr id="5" name="F30_V5_leave_one_date_out.png" descr="Leave-one-date-out">    </p:cNvPr>
          <p:cNvPicPr>
            <a:picLocks noChangeAspect="1"/>
          </p:cNvPicPr>
          <p:nvPr/>
        </p:nvPicPr>
        <p:blipFill>
          <a:blip r:embed="rId1"/>
          <a:stretch>
            <a:fillRect/>
          </a:stretch>
        </p:blipFill>
        <p:spPr>
          <a:xfrm>
            <a:off x="3253081" y="3749040"/>
            <a:ext cx="5682791" cy="2651760"/>
          </a:xfrm>
          <a:prstGeom prst="rect">
            <a:avLst/>
          </a:prstGeom>
        </p:spPr>
      </p:pic>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Conclusions</a:t>
            </a:r>
            <a:endParaRPr lang="en-US" sz="2800" dirty="0"/>
          </a:p>
        </p:txBody>
      </p:sp>
      <p:sp>
        <p:nvSpPr>
          <p:cNvPr id="3" name="Text 1"/>
          <p:cNvSpPr txBox="1"/>
          <p:nvPr/>
        </p:nvSpPr>
        <p:spPr>
          <a:xfrm>
            <a:off x="502920" y="1188720"/>
            <a:ext cx="11183112" cy="5212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1B1B1A"/>
                </a:solidFill>
              </a:rPr>
              <a:t>Tier 1: healthy and white-rust plot-average spectra differ significantly at 1039 of 2101 bands (Welch + BH-FDR); 1014 bands remain significant with a random plot effect and 515 in ≥ 95 % of 1000 balanced subsets. The most sensitive single band (raw reflectance) reaches AUC 0.79 at 650 nm.</a:t>
            </a:r>
            <a:endParaRPr lang="en-US" sz="1400" dirty="0"/>
          </a:p>
          <a:p>
            <a:pPr marL="342900" indent="-342900">
              <a:spcAft>
                <a:spcPts val="600"/>
              </a:spcAft>
              <a:buSzPct val="100000"/>
              <a:buChar char="•"/>
            </a:pPr>
            <a:r>
              <a:rPr lang="en-US" sz="1400" dirty="0">
                <a:solidFill>
                  <a:srgbClr val="1B1B1A"/>
                </a:solidFill>
              </a:rPr>
              <a:t>Tier 2: CART (rpart, prior 0.5/0.5) selected 9 bands (root 699 nm): 699, 700, 1884, 655, 669, 510, 1384, 1578, 689 nm. The Balanced RF importance peaks (RF-17) were 699, 632, 653, 643, 1887, 614, 2018, 688, 512, 1898, 671, 1992, 602, 2031, 592, 2005, 1928 nm.</a:t>
            </a:r>
            <a:endParaRPr lang="en-US" sz="1400" dirty="0"/>
          </a:p>
          <a:p>
            <a:pPr marL="342900" indent="-342900">
              <a:spcAft>
                <a:spcPts val="600"/>
              </a:spcAft>
              <a:buSzPct val="100000"/>
              <a:buChar char="•"/>
            </a:pPr>
            <a:r>
              <a:rPr lang="en-US" sz="1400" dirty="0">
                <a:solidFill>
                  <a:srgbClr val="1B1B1A"/>
                </a:solidFill>
              </a:rPr>
              <a:t>Tier 3: J–M = 1.52 on the CART bands and 1.96 on the RF bands: only the RF bands reach the 1.90 separability threshold (and the 1.94 threshold of Das et al.).</a:t>
            </a:r>
            <a:endParaRPr lang="en-US" sz="1400" dirty="0"/>
          </a:p>
          <a:p>
            <a:pPr marL="342900" indent="-342900">
              <a:spcAft>
                <a:spcPts val="600"/>
              </a:spcAft>
              <a:buSzPct val="100000"/>
              <a:buChar char="•"/>
            </a:pPr>
            <a:r>
              <a:rPr lang="en-US" sz="1400" dirty="0">
                <a:solidFill>
                  <a:srgbClr val="1B1B1A"/>
                </a:solidFill>
              </a:rPr>
              <a:t>Tier 4: QDA with equal priors on the CART bands gives BA 81.2 % in the paper's protocol (spectrum-level 10-fold cross-validation; healthy recall 85.4 %, diseased recall 77.1 %) and 77.6 % ± 2.2 % (nested plot-grouped cross-validation) / 72.0 % (30 % plot hold-out validation) on new plots.</a:t>
            </a:r>
            <a:endParaRPr lang="en-US" sz="1400" dirty="0"/>
          </a:p>
          <a:p>
            <a:pPr marL="342900" indent="-342900">
              <a:spcAft>
                <a:spcPts val="600"/>
              </a:spcAft>
              <a:buSzPct val="100000"/>
              <a:buChar char="•"/>
            </a:pPr>
            <a:r>
              <a:rPr lang="en-US" sz="1400" dirty="0">
                <a:solidFill>
                  <a:srgbClr val="1B1B1A"/>
                </a:solidFill>
              </a:rPr>
              <a:t>CART vs RF: as classifiers RF beats CART by 11.6 points (nested plot-grouped cross-validation, RF better in 40 of 50 folds, p = 6.9e-07); as band selectors for QDA the RF bands give +9.8 points vs the CART bands (p = 7.5e-06). RF selection is more stable than CART selection (Jaccard ±10 nm 0.67 vs 0.27).</a:t>
            </a:r>
            <a:endParaRPr lang="en-US" sz="1400" dirty="0"/>
          </a:p>
          <a:p>
            <a:pPr marL="342900" indent="-342900">
              <a:spcAft>
                <a:spcPts val="600"/>
              </a:spcAft>
              <a:buSzPct val="100000"/>
              <a:buChar char="•"/>
            </a:pPr>
            <a:r>
              <a:rPr lang="en-US" sz="1400" dirty="0">
                <a:solidFill>
                  <a:srgbClr val="1B1B1A"/>
                </a:solidFill>
              </a:rPr>
              <a:t>Disease-sensitive features: the strongest group for RF is derivatives + edge parameters (BA 94.1 %, nested plot-grouped cross-validation) vs 77.5 % for reflectance; best single features: first derivative at 871 nm (AUC 0.92), CR3 water 970 depth/area (AUC 0.79), RARSb (AUC 0.75), Ro (red well reflectance) (AUC 0.75). REIP (Lagrangian interpolation) shifts by -2.9 nm in diseased plot-average spectra (AUC 0.70).</a:t>
            </a:r>
            <a:endParaRPr lang="en-US" sz="1400" dirty="0"/>
          </a:p>
          <a:p>
            <a:pPr marL="342900" indent="-342900">
              <a:spcAft>
                <a:spcPts val="600"/>
              </a:spcAft>
              <a:buSzPct val="100000"/>
              <a:buChar char="•"/>
            </a:pPr>
            <a:r>
              <a:rPr lang="en-US" sz="1400" dirty="0">
                <a:solidFill>
                  <a:srgbClr val="1B1B1A"/>
                </a:solidFill>
              </a:rPr>
              <a:t>Combined feature pool (four tiers on the combined band reflectance + continuum-removal features + vegetation indices + derivative and edge features pool, 8264 features, 2616 significant): CART chose 4 features, RF 17 (J–M 1.20 / 1.95); QDA on the RF features reaches 87.2 % (nested plot-grouped cross-validation) / 76.5 % (30 % plot hold-out validation), +0.4 points vs QDA on RF reflectance bands; best pipeline on the pool: RF classifier (93.1 %, nested plot-grouped cross-validation).</a:t>
            </a:r>
            <a:endParaRPr lang="en-US" sz="1400" dirty="0"/>
          </a:p>
          <a:p>
            <a:pPr marL="342900" indent="-342900">
              <a:spcAft>
                <a:spcPts val="600"/>
              </a:spcAft>
              <a:buSzPct val="100000"/>
              <a:buChar char="•"/>
            </a:pPr>
            <a:r>
              <a:rPr lang="en-US" sz="1400" dirty="0">
                <a:solidFill>
                  <a:srgbClr val="1B1B1A"/>
                </a:solidFill>
              </a:rPr>
              <a:t>Transfer (leave-one-date-out validation on new plots): QDA on CART reflectance bands 59.5 %, QDA on combined-pool RF features 49.8 % — a clear drop from the nested plot-grouped cross-validation estimate (87.2 %); the date/stage effect limits transfer. Best pipeline under transfer: reflectance: QDA on CART features (59.5 %).</a:t>
            </a:r>
            <a:endParaRPr lang="en-US" sz="14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Recommendations and cross-checks</a:t>
            </a:r>
            <a:endParaRPr lang="en-US" sz="2800" dirty="0"/>
          </a:p>
        </p:txBody>
      </p:sp>
      <p:sp>
        <p:nvSpPr>
          <p:cNvPr id="3" name="Text 1"/>
          <p:cNvSpPr txBox="1"/>
          <p:nvPr/>
        </p:nvSpPr>
        <p:spPr>
          <a:xfrm>
            <a:off x="502920" y="1188720"/>
            <a:ext cx="6949440" cy="521208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1B1B1A"/>
                </a:solidFill>
              </a:rPr>
              <a:t>Use first-derivative and continuum-removed features rather than single reflectance bands for the plot-average data; the four-tier selection with RF importance on the combined pool and a QDA or RF classifier is the recommended pipeline.</a:t>
            </a:r>
            <a:endParaRPr lang="en-US" sz="1400" dirty="0"/>
          </a:p>
          <a:p>
            <a:pPr marL="342900" indent="-342900">
              <a:spcAft>
                <a:spcPts val="600"/>
              </a:spcAft>
              <a:buSzPct val="100000"/>
              <a:buChar char="•"/>
            </a:pPr>
            <a:r>
              <a:rPr lang="en-US" sz="1400" dirty="0">
                <a:solidFill>
                  <a:srgbClr val="1B1B1A"/>
                </a:solidFill>
              </a:rPr>
              <a:t>Report balanced accuracy with both class recalls and the priors used; the classes are imbalanced (1 : 3.0) and equal priors / balanced sampling were applied throughout.</a:t>
            </a:r>
            <a:endParaRPr lang="en-US" sz="1400" dirty="0"/>
          </a:p>
          <a:p>
            <a:pPr marL="342900" indent="-342900">
              <a:spcAft>
                <a:spcPts val="600"/>
              </a:spcAft>
              <a:buSzPct val="100000"/>
              <a:buChar char="•"/>
            </a:pPr>
            <a:r>
              <a:rPr lang="en-US" sz="1400" dirty="0">
                <a:solidFill>
                  <a:srgbClr val="1B1B1A"/>
                </a:solidFill>
              </a:rPr>
              <a:t>Base conclusions on the plot-grouped estimates (nested plot-grouped cross-validation 10-fold × 5 = 50 folds, 30 % plot hold-out validation 10 hold-outs), not on the spectrum-level 10-fold cross-validation estimate.</a:t>
            </a:r>
            <a:endParaRPr lang="en-US" sz="1400" dirty="0"/>
          </a:p>
          <a:p>
            <a:pPr marL="342900" indent="-342900">
              <a:spcAft>
                <a:spcPts val="600"/>
              </a:spcAft>
              <a:buSzPct val="100000"/>
              <a:buChar char="•"/>
            </a:pPr>
            <a:r>
              <a:rPr lang="en-US" sz="1400" dirty="0">
                <a:solidFill>
                  <a:srgbClr val="1B1B1A"/>
                </a:solidFill>
              </a:rPr>
              <a:t>Interpret features near the ASD detector joins (≈ 1000 and 1800 nm) with care; guard zones were excluded from the rankings.</a:t>
            </a:r>
            <a:endParaRPr lang="en-US" sz="1400" dirty="0"/>
          </a:p>
          <a:p>
            <a:pPr marL="342900" indent="-342900">
              <a:spcAft>
                <a:spcPts val="600"/>
              </a:spcAft>
              <a:buSzPct val="100000"/>
              <a:buChar char="•"/>
            </a:pPr>
            <a:r>
              <a:rPr lang="en-US" sz="1400" dirty="0">
                <a:solidFill>
                  <a:srgbClr val="1B1B1A"/>
                </a:solidFill>
              </a:rPr>
              <a:t>For application to a new date, the most robust pipeline here was reflectance: QDA on CART features (leave-one-date-out validation on new plots BA 59.5 %); accuracy on an unseen date is much lower than within the date, so calibrate with plot-average spectra of the target date or growth stage.</a:t>
            </a:r>
            <a:endParaRPr lang="en-US" sz="1400" dirty="0"/>
          </a:p>
        </p:txBody>
      </p:sp>
      <p:sp>
        <p:nvSpPr>
          <p:cNvPr id="4" name="stat card"/>
          <p:cNvSpPr/>
          <p:nvPr/>
        </p:nvSpPr>
        <p:spPr>
          <a:xfrm>
            <a:off x="7772400" y="1280160"/>
            <a:ext cx="1828800" cy="1417320"/>
          </a:xfrm>
          <a:prstGeom prst="roundRect">
            <a:avLst>
              <a:gd name="adj" fmla="val 5161"/>
            </a:avLst>
          </a:prstGeom>
          <a:solidFill>
            <a:srgbClr val="EEF3EF"/>
          </a:solidFill>
          <a:ln w="12700">
            <a:solidFill>
              <a:srgbClr val="EEF3EF"/>
            </a:solidFill>
            <a:prstDash val="solid"/>
          </a:ln>
        </p:spPr>
      </p:sp>
      <p:sp>
        <p:nvSpPr>
          <p:cNvPr id="5" name="Text 3"/>
          <p:cNvSpPr txBox="1"/>
          <p:nvPr/>
        </p:nvSpPr>
        <p:spPr>
          <a:xfrm>
            <a:off x="7772400" y="1389888"/>
            <a:ext cx="1828800" cy="777240"/>
          </a:xfrm>
          <a:prstGeom prst="rect">
            <a:avLst/>
          </a:prstGeom>
          <a:noFill/>
          <a:ln/>
        </p:spPr>
        <p:txBody>
          <a:bodyPr wrap="square"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51</a:t>
            </a:r>
            <a:endParaRPr lang="en-US" sz="4000" dirty="0"/>
          </a:p>
        </p:txBody>
      </p:sp>
      <p:sp>
        <p:nvSpPr>
          <p:cNvPr id="6" name="Text 4"/>
          <p:cNvSpPr txBox="1"/>
          <p:nvPr/>
        </p:nvSpPr>
        <p:spPr>
          <a:xfrm>
            <a:off x="7863840" y="2148840"/>
            <a:ext cx="1645920" cy="457200"/>
          </a:xfrm>
          <a:prstGeom prst="rect">
            <a:avLst/>
          </a:prstGeom>
          <a:noFill/>
          <a:ln/>
        </p:spPr>
        <p:txBody>
          <a:bodyPr wrap="square" rtlCol="0" anchor="ctr"/>
          <a:lstStyle/>
          <a:p>
            <a:pPr algn="ctr" indent="0" marL="0">
              <a:buNone/>
            </a:pPr>
            <a:r>
              <a:rPr lang="en-US" sz="1300" dirty="0">
                <a:solidFill>
                  <a:srgbClr val="52514E"/>
                </a:solidFill>
              </a:rPr>
              <a:t>checks passed</a:t>
            </a:r>
            <a:endParaRPr lang="en-US" sz="1300" dirty="0"/>
          </a:p>
        </p:txBody>
      </p:sp>
      <p:sp>
        <p:nvSpPr>
          <p:cNvPr id="7" name="stat card"/>
          <p:cNvSpPr/>
          <p:nvPr/>
        </p:nvSpPr>
        <p:spPr>
          <a:xfrm>
            <a:off x="9829800" y="1280160"/>
            <a:ext cx="1828800" cy="1417320"/>
          </a:xfrm>
          <a:prstGeom prst="roundRect">
            <a:avLst>
              <a:gd name="adj" fmla="val 5161"/>
            </a:avLst>
          </a:prstGeom>
          <a:solidFill>
            <a:srgbClr val="EEF3EF"/>
          </a:solidFill>
          <a:ln w="12700">
            <a:solidFill>
              <a:srgbClr val="EEF3EF"/>
            </a:solidFill>
            <a:prstDash val="solid"/>
          </a:ln>
        </p:spPr>
      </p:sp>
      <p:sp>
        <p:nvSpPr>
          <p:cNvPr id="8" name="Text 6"/>
          <p:cNvSpPr txBox="1"/>
          <p:nvPr/>
        </p:nvSpPr>
        <p:spPr>
          <a:xfrm>
            <a:off x="9829800" y="1389888"/>
            <a:ext cx="1828800" cy="777240"/>
          </a:xfrm>
          <a:prstGeom prst="rect">
            <a:avLst/>
          </a:prstGeom>
          <a:noFill/>
          <a:ln/>
        </p:spPr>
        <p:txBody>
          <a:bodyPr wrap="square"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8</a:t>
            </a:r>
            <a:endParaRPr lang="en-US" sz="4000" dirty="0"/>
          </a:p>
        </p:txBody>
      </p:sp>
      <p:sp>
        <p:nvSpPr>
          <p:cNvPr id="9" name="Text 7"/>
          <p:cNvSpPr txBox="1"/>
          <p:nvPr/>
        </p:nvSpPr>
        <p:spPr>
          <a:xfrm>
            <a:off x="9921240" y="2148840"/>
            <a:ext cx="1645920" cy="457200"/>
          </a:xfrm>
          <a:prstGeom prst="rect">
            <a:avLst/>
          </a:prstGeom>
          <a:noFill/>
          <a:ln/>
        </p:spPr>
        <p:txBody>
          <a:bodyPr wrap="square" rtlCol="0" anchor="ctr"/>
          <a:lstStyle/>
          <a:p>
            <a:pPr algn="ctr" indent="0" marL="0">
              <a:buNone/>
            </a:pPr>
            <a:r>
              <a:rPr lang="en-US" sz="1300" dirty="0">
                <a:solidFill>
                  <a:srgbClr val="52514E"/>
                </a:solidFill>
              </a:rPr>
              <a:t>flagged (limitations, reported)</a:t>
            </a:r>
            <a:endParaRPr lang="en-US" sz="1300" dirty="0"/>
          </a:p>
        </p:txBody>
      </p:sp>
      <p:sp>
        <p:nvSpPr>
          <p:cNvPr id="10" name="stat card"/>
          <p:cNvSpPr/>
          <p:nvPr/>
        </p:nvSpPr>
        <p:spPr>
          <a:xfrm>
            <a:off x="7772400" y="2926080"/>
            <a:ext cx="1828800" cy="1417320"/>
          </a:xfrm>
          <a:prstGeom prst="roundRect">
            <a:avLst>
              <a:gd name="adj" fmla="val 5161"/>
            </a:avLst>
          </a:prstGeom>
          <a:solidFill>
            <a:srgbClr val="EEF3EF"/>
          </a:solidFill>
          <a:ln w="12700">
            <a:solidFill>
              <a:srgbClr val="EEF3EF"/>
            </a:solidFill>
            <a:prstDash val="solid"/>
          </a:ln>
        </p:spPr>
      </p:sp>
      <p:sp>
        <p:nvSpPr>
          <p:cNvPr id="11" name="Text 9"/>
          <p:cNvSpPr txBox="1"/>
          <p:nvPr/>
        </p:nvSpPr>
        <p:spPr>
          <a:xfrm>
            <a:off x="7772400" y="3035808"/>
            <a:ext cx="1828800" cy="777240"/>
          </a:xfrm>
          <a:prstGeom prst="rect">
            <a:avLst/>
          </a:prstGeom>
          <a:noFill/>
          <a:ln/>
        </p:spPr>
        <p:txBody>
          <a:bodyPr wrap="square"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7863840" y="3794760"/>
            <a:ext cx="1645920" cy="457200"/>
          </a:xfrm>
          <a:prstGeom prst="rect">
            <a:avLst/>
          </a:prstGeom>
          <a:noFill/>
          <a:ln/>
        </p:spPr>
        <p:txBody>
          <a:bodyPr wrap="square" rtlCol="0" anchor="ctr"/>
          <a:lstStyle/>
          <a:p>
            <a:pPr algn="ctr" indent="0" marL="0">
              <a:buNone/>
            </a:pPr>
            <a:r>
              <a:rPr lang="en-US" sz="1300" dirty="0">
                <a:solidFill>
                  <a:srgbClr val="52514E"/>
                </a:solidFill>
              </a:rPr>
              <a:t>failed</a:t>
            </a:r>
            <a:endParaRPr lang="en-US" sz="1300" dirty="0"/>
          </a:p>
        </p:txBody>
      </p:sp>
      <p:sp>
        <p:nvSpPr>
          <p:cNvPr id="13" name="Text 11"/>
          <p:cNvSpPr txBox="1"/>
          <p:nvPr/>
        </p:nvSpPr>
        <p:spPr>
          <a:xfrm>
            <a:off x="9829800" y="2926080"/>
            <a:ext cx="1874520" cy="2743200"/>
          </a:xfrm>
          <a:prstGeom prst="rect">
            <a:avLst/>
          </a:prstGeom>
          <a:noFill/>
          <a:ln/>
        </p:spPr>
        <p:txBody>
          <a:bodyPr wrap="square" lIns="635" tIns="635" rIns="635" bIns="635" rtlCol="0" anchor="t"/>
          <a:lstStyle/>
          <a:p>
            <a:pPr indent="0" marL="0">
              <a:spcAft>
                <a:spcPts val="600"/>
              </a:spcAft>
              <a:buNone/>
            </a:pPr>
            <a:r>
              <a:rPr lang="en-US" sz="1100" dirty="0">
                <a:solidFill>
                  <a:srgbClr val="1B1B1A"/>
                </a:solidFill>
              </a:rPr>
              <a:t>Every step was verified by an independent implementation or recomputation (SciPy, statsmodels, R rpart/MASS/nlme/randomForest, Excel formulas); see the 33_Cross_Checks sheet of the workbook.</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Key references</a:t>
            </a:r>
            <a:endParaRPr lang="en-US" sz="2800" dirty="0"/>
          </a:p>
        </p:txBody>
      </p:sp>
      <p:sp>
        <p:nvSpPr>
          <p:cNvPr id="3" name="Text 1"/>
          <p:cNvSpPr txBox="1"/>
          <p:nvPr/>
        </p:nvSpPr>
        <p:spPr>
          <a:xfrm>
            <a:off x="502920" y="1188720"/>
            <a:ext cx="11183112" cy="521208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1B1A"/>
                </a:solidFill>
              </a:rPr>
              <a:t>Ambroise C, McLachlan GJ. 2002. Selection bias in gene extraction on the basis of microarray gene-expression data. Proceedings of the National Academy of Sciences 99:6562–6566.</a:t>
            </a:r>
            <a:endParaRPr lang="en-US" sz="1100" dirty="0"/>
          </a:p>
          <a:p>
            <a:pPr marL="342900" indent="-342900">
              <a:spcAft>
                <a:spcPts val="600"/>
              </a:spcAft>
              <a:buSzPct val="100000"/>
              <a:buChar char="•"/>
            </a:pPr>
            <a:r>
              <a:rPr lang="en-US" sz="1100" dirty="0">
                <a:solidFill>
                  <a:srgbClr val="1B1B1A"/>
                </a:solidFill>
              </a:rPr>
              <a:t>Benjamini Y, Hochberg Y. 1995. Controlling the false discovery rate: a practical and powerful approach to multiple testing. Journal of the Royal Statistical Society B 57:289–300.</a:t>
            </a:r>
            <a:endParaRPr lang="en-US" sz="1100" dirty="0"/>
          </a:p>
          <a:p>
            <a:pPr marL="342900" indent="-342900">
              <a:spcAft>
                <a:spcPts val="600"/>
              </a:spcAft>
              <a:buSzPct val="100000"/>
              <a:buChar char="•"/>
            </a:pPr>
            <a:r>
              <a:rPr lang="en-US" sz="1100" dirty="0">
                <a:solidFill>
                  <a:srgbClr val="1B1B1A"/>
                </a:solidFill>
              </a:rPr>
              <a:t>Bhattacharyya A. 1943. On a measure of divergence between two statistical populations defined by their probability distributions. Bulletin of the Calcutta Mathematical Society 35:99–109.</a:t>
            </a:r>
            <a:endParaRPr lang="en-US" sz="1100" dirty="0"/>
          </a:p>
          <a:p>
            <a:pPr marL="342900" indent="-342900">
              <a:spcAft>
                <a:spcPts val="600"/>
              </a:spcAft>
              <a:buSzPct val="100000"/>
              <a:buChar char="•"/>
            </a:pPr>
            <a:r>
              <a:rPr lang="en-US" sz="1100" dirty="0">
                <a:solidFill>
                  <a:srgbClr val="1B1B1A"/>
                </a:solidFill>
              </a:rPr>
              <a:t>Breiman L, Friedman JH, Olshen RA, Stone CJ. 1984. Classification and regression trees. Belmont (CA): Wadsworth.</a:t>
            </a:r>
            <a:endParaRPr lang="en-US" sz="1100" dirty="0"/>
          </a:p>
          <a:p>
            <a:pPr marL="342900" indent="-342900">
              <a:spcAft>
                <a:spcPts val="600"/>
              </a:spcAft>
              <a:buSzPct val="100000"/>
              <a:buChar char="•"/>
            </a:pPr>
            <a:r>
              <a:rPr lang="en-US" sz="1100" dirty="0">
                <a:solidFill>
                  <a:srgbClr val="1B1B1A"/>
                </a:solidFill>
              </a:rPr>
              <a:t>Breiman L. 2001. Random forests. Machine Learning 45:5–32.</a:t>
            </a:r>
            <a:endParaRPr lang="en-US" sz="1100" dirty="0"/>
          </a:p>
          <a:p>
            <a:pPr marL="342900" indent="-342900">
              <a:spcAft>
                <a:spcPts val="600"/>
              </a:spcAft>
              <a:buSzPct val="100000"/>
              <a:buChar char="•"/>
            </a:pPr>
            <a:r>
              <a:rPr lang="en-US" sz="1100" dirty="0">
                <a:solidFill>
                  <a:srgbClr val="1B1B1A"/>
                </a:solidFill>
              </a:rPr>
              <a:t>Brodersen KH, Ong CS, Stephan KE, Buhmann JM. 2010. The balanced accuracy and its posterior distribution. Proceedings of the 20th International Conference on Pattern Recognition, 3121–3124.</a:t>
            </a:r>
            <a:endParaRPr lang="en-US" sz="1100" dirty="0"/>
          </a:p>
          <a:p>
            <a:pPr marL="342900" indent="-342900">
              <a:spcAft>
                <a:spcPts val="600"/>
              </a:spcAft>
              <a:buSzPct val="100000"/>
              <a:buChar char="•"/>
            </a:pPr>
            <a:r>
              <a:rPr lang="en-US" sz="1100" dirty="0">
                <a:solidFill>
                  <a:srgbClr val="1B1B1A"/>
                </a:solidFill>
              </a:rPr>
              <a:t>Chen C, Liaw A, Breiman L. 2004. Using random forest to learn imbalanced data. Technical Report 666, Department of Statistics, University of California, Berkeley.</a:t>
            </a:r>
            <a:endParaRPr lang="en-US" sz="1100" dirty="0"/>
          </a:p>
          <a:p>
            <a:pPr marL="342900" indent="-342900">
              <a:spcAft>
                <a:spcPts val="600"/>
              </a:spcAft>
              <a:buSzPct val="100000"/>
              <a:buChar char="•"/>
            </a:pPr>
            <a:r>
              <a:rPr lang="en-US" sz="1100" dirty="0">
                <a:solidFill>
                  <a:srgbClr val="1B1B1A"/>
                </a:solidFill>
              </a:rPr>
              <a:t>Cho MA, Skidmore AK. 2006. A new technique for extracting the red edge position from hyperspectral data: the linear extrapolation method. Remote Sensing of Environment 101:181–193.</a:t>
            </a:r>
            <a:endParaRPr lang="en-US" sz="1100" dirty="0"/>
          </a:p>
          <a:p>
            <a:pPr marL="342900" indent="-342900">
              <a:spcAft>
                <a:spcPts val="600"/>
              </a:spcAft>
              <a:buSzPct val="100000"/>
              <a:buChar char="•"/>
            </a:pPr>
            <a:r>
              <a:rPr lang="en-US" sz="1100" dirty="0">
                <a:solidFill>
                  <a:srgbClr val="1B1B1A"/>
                </a:solidFill>
              </a:rPr>
              <a:t>Clark RN, Roush TL. 1984. Reflectance spectroscopy: quantitative analysis techniques for remote sensing applications. Journal of Geophysical Research 89(B7):6329–6340.</a:t>
            </a:r>
            <a:endParaRPr lang="en-US" sz="1100" dirty="0"/>
          </a:p>
          <a:p>
            <a:pPr marL="342900" indent="-342900">
              <a:spcAft>
                <a:spcPts val="600"/>
              </a:spcAft>
              <a:buSzPct val="100000"/>
              <a:buChar char="•"/>
            </a:pPr>
            <a:r>
              <a:rPr lang="en-US" sz="1100" dirty="0">
                <a:solidFill>
                  <a:srgbClr val="1B1B1A"/>
                </a:solidFill>
              </a:rPr>
              <a:t>Das B, Sahoo RN, Biswas A, Pargal S, Krishna G, Verma R, Chinnusamy V, Sehgal VK, Gupta VK. 2020. Discrimination of rice genotypes using field spectroradiometry. Geocarto International 35(1):64–77. doi:10.1080/10106049.2018.1506507</a:t>
            </a:r>
            <a:endParaRPr lang="en-US" sz="1100" dirty="0"/>
          </a:p>
          <a:p>
            <a:pPr marL="342900" indent="-342900">
              <a:spcAft>
                <a:spcPts val="600"/>
              </a:spcAft>
              <a:buSzPct val="100000"/>
              <a:buChar char="•"/>
            </a:pPr>
            <a:r>
              <a:rPr lang="en-US" sz="1100" dirty="0">
                <a:solidFill>
                  <a:srgbClr val="1B1B1A"/>
                </a:solidFill>
              </a:rPr>
              <a:t>Dawson TP, Curran PJ. 1998. A new technique for interpolating the reflectance red edge position. International Journal of Remote Sensing 19:2133–2139.</a:t>
            </a:r>
            <a:endParaRPr lang="en-US" sz="1100" dirty="0"/>
          </a:p>
          <a:p>
            <a:pPr marL="342900" indent="-342900">
              <a:spcAft>
                <a:spcPts val="600"/>
              </a:spcAft>
              <a:buSzPct val="100000"/>
              <a:buChar char="•"/>
            </a:pPr>
            <a:r>
              <a:rPr lang="en-US" sz="1100" dirty="0">
                <a:solidFill>
                  <a:srgbClr val="1B1B1A"/>
                </a:solidFill>
              </a:rPr>
              <a:t>Gitelson, A.A., Merzlyak, M.N., 1996. Signature analysis of leaf reflectance spectra: algorithm development for remote sensing of chlorophyll. Journal of Plant Physiology 148, 494–500.</a:t>
            </a:r>
            <a:endParaRPr lang="en-US" sz="1100" dirty="0"/>
          </a:p>
          <a:p>
            <a:pPr marL="342900" indent="-342900">
              <a:spcAft>
                <a:spcPts val="600"/>
              </a:spcAft>
              <a:buSzPct val="100000"/>
              <a:buChar char="•"/>
            </a:pPr>
            <a:r>
              <a:rPr lang="en-US" sz="1100" dirty="0">
                <a:solidFill>
                  <a:srgbClr val="1B1B1A"/>
                </a:solidFill>
              </a:rPr>
              <a:t>Gong P, Pu R, Heald RC. 2002. Analysis of in situ hyperspectral data for nutrient estimation of giant sequoia. International Journal of Remote Sensing 23:1827–1850.</a:t>
            </a:r>
            <a:endParaRPr lang="en-US" sz="1100" dirty="0"/>
          </a:p>
          <a:p>
            <a:pPr marL="342900" indent="-342900">
              <a:spcAft>
                <a:spcPts val="600"/>
              </a:spcAft>
              <a:buSzPct val="100000"/>
              <a:buChar char="•"/>
            </a:pPr>
            <a:r>
              <a:rPr lang="en-US" sz="1100" dirty="0">
                <a:solidFill>
                  <a:srgbClr val="1B1B1A"/>
                </a:solidFill>
              </a:rPr>
              <a:t>Guyot G, Baret F. 1988. Utilisation de la haute résolution spectrale pour suivre l'état des couverts végétaux. Proceedings of the 4th International Colloquium on Spectral Signatures of Objects in Remote Sensing, ESA SP-287, 279–286.</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Key references (continued)</a:t>
            </a:r>
            <a:endParaRPr lang="en-US" sz="2800" dirty="0"/>
          </a:p>
        </p:txBody>
      </p:sp>
      <p:sp>
        <p:nvSpPr>
          <p:cNvPr id="3" name="Text 1"/>
          <p:cNvSpPr txBox="1"/>
          <p:nvPr/>
        </p:nvSpPr>
        <p:spPr>
          <a:xfrm>
            <a:off x="502920" y="1188720"/>
            <a:ext cx="11183112" cy="521208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1B1A"/>
                </a:solidFill>
              </a:rPr>
              <a:t>Haboudane, D., Miller, J.R., Tremblay, N., Zarco-Tejada, P.J., Dextraze, L., 2002. Integrated narrow-band vegetation indices for prediction of crop chlorophyll content for application to precision agriculture. Remote Sensing of Environment 81, 416–426.</a:t>
            </a:r>
            <a:endParaRPr lang="en-US" sz="1100" dirty="0"/>
          </a:p>
          <a:p>
            <a:pPr marL="342900" indent="-342900">
              <a:spcAft>
                <a:spcPts val="600"/>
              </a:spcAft>
              <a:buSzPct val="100000"/>
              <a:buChar char="•"/>
            </a:pPr>
            <a:r>
              <a:rPr lang="en-US" sz="1100" dirty="0">
                <a:solidFill>
                  <a:srgbClr val="1B1B1A"/>
                </a:solidFill>
              </a:rPr>
              <a:t>Horler DNH, Dockray M, Barber J. 1983. The red edge of plant leaf reflectance. International Journal of Remote Sensing 4:273–288.</a:t>
            </a:r>
            <a:endParaRPr lang="en-US" sz="1100" dirty="0"/>
          </a:p>
          <a:p>
            <a:pPr marL="342900" indent="-342900">
              <a:spcAft>
                <a:spcPts val="600"/>
              </a:spcAft>
              <a:buSzPct val="100000"/>
              <a:buChar char="•"/>
            </a:pPr>
            <a:r>
              <a:rPr lang="en-US" sz="1100" dirty="0">
                <a:solidFill>
                  <a:srgbClr val="1B1B1A"/>
                </a:solidFill>
              </a:rPr>
              <a:t>Hurlbert SH. 1984. Pseudoreplication and the design of ecological field experiments. Ecological Monographs 54:187–211.</a:t>
            </a:r>
            <a:endParaRPr lang="en-US" sz="1100" dirty="0"/>
          </a:p>
          <a:p>
            <a:pPr marL="342900" indent="-342900">
              <a:spcAft>
                <a:spcPts val="600"/>
              </a:spcAft>
              <a:buSzPct val="100000"/>
              <a:buChar char="•"/>
            </a:pPr>
            <a:r>
              <a:rPr lang="en-US" sz="1100" dirty="0">
                <a:solidFill>
                  <a:srgbClr val="1B1B1A"/>
                </a:solidFill>
              </a:rPr>
              <a:t>Kokaly RF, Clark RN. 1999. Spectroscopic determination of leaf biochemistry using band-depth analysis of absorption features and stepwise multiple linear regression. Remote Sensing of Environment 67:267–287.</a:t>
            </a:r>
            <a:endParaRPr lang="en-US" sz="1100" dirty="0"/>
          </a:p>
          <a:p>
            <a:pPr marL="342900" indent="-342900">
              <a:spcAft>
                <a:spcPts val="600"/>
              </a:spcAft>
              <a:buSzPct val="100000"/>
              <a:buChar char="•"/>
            </a:pPr>
            <a:r>
              <a:rPr lang="en-US" sz="1100" dirty="0">
                <a:solidFill>
                  <a:srgbClr val="1B1B1A"/>
                </a:solidFill>
              </a:rPr>
              <a:t>Lemaître G, Nogueira F, Aridas CK. 2017. Imbalanced-learn: a Python toolbox to tackle the curse of imbalanced datasets in machine learning. Journal of Machine Learning Research 18(17):1–5.</a:t>
            </a:r>
            <a:endParaRPr lang="en-US" sz="1100" dirty="0"/>
          </a:p>
          <a:p>
            <a:pPr marL="342900" indent="-342900">
              <a:spcAft>
                <a:spcPts val="600"/>
              </a:spcAft>
              <a:buSzPct val="100000"/>
              <a:buChar char="•"/>
            </a:pPr>
            <a:r>
              <a:rPr lang="en-US" sz="1100" dirty="0">
                <a:solidFill>
                  <a:srgbClr val="1B1B1A"/>
                </a:solidFill>
              </a:rPr>
              <a:t>Mahlein A-K, Rumpf T, Welke P, Dehne H-W, Plümer L, Steiner U, Oerke E-C. 2013. Development of spectral indices for detecting and identifying plant diseases. Remote Sensing of Environment 128:21–30.</a:t>
            </a:r>
            <a:endParaRPr lang="en-US" sz="1100" dirty="0"/>
          </a:p>
          <a:p>
            <a:pPr marL="342900" indent="-342900">
              <a:spcAft>
                <a:spcPts val="600"/>
              </a:spcAft>
              <a:buSzPct val="100000"/>
              <a:buChar char="•"/>
            </a:pPr>
            <a:r>
              <a:rPr lang="en-US" sz="1100" dirty="0">
                <a:solidFill>
                  <a:srgbClr val="1B1B1A"/>
                </a:solidFill>
              </a:rPr>
              <a:t>Mahlein A-K. 2016. Plant disease detection by imaging sensors — parallels and specific demands for precision agriculture and plant phenotyping. Plant Disease 100:241–251.</a:t>
            </a:r>
            <a:endParaRPr lang="en-US" sz="1100" dirty="0"/>
          </a:p>
          <a:p>
            <a:pPr marL="342900" indent="-342900">
              <a:spcAft>
                <a:spcPts val="600"/>
              </a:spcAft>
              <a:buSzPct val="100000"/>
              <a:buChar char="•"/>
            </a:pPr>
            <a:r>
              <a:rPr lang="en-US" sz="1100" dirty="0">
                <a:solidFill>
                  <a:srgbClr val="1B1B1A"/>
                </a:solidFill>
              </a:rPr>
              <a:t>Pinheiro J, Bates D, R Core Team. 2023. nlme: linear and nonlinear mixed effects models. R package.</a:t>
            </a:r>
            <a:endParaRPr lang="en-US" sz="1100" dirty="0"/>
          </a:p>
          <a:p>
            <a:pPr marL="342900" indent="-342900">
              <a:spcAft>
                <a:spcPts val="600"/>
              </a:spcAft>
              <a:buSzPct val="100000"/>
              <a:buChar char="•"/>
            </a:pPr>
            <a:r>
              <a:rPr lang="en-US" sz="1100" dirty="0">
                <a:solidFill>
                  <a:srgbClr val="1B1B1A"/>
                </a:solidFill>
              </a:rPr>
              <a:t>Richards JA. 2013. Remote sensing digital image analysis. 5th ed. Berlin: Springer.</a:t>
            </a:r>
            <a:endParaRPr lang="en-US" sz="1100" dirty="0"/>
          </a:p>
          <a:p>
            <a:pPr marL="342900" indent="-342900">
              <a:spcAft>
                <a:spcPts val="600"/>
              </a:spcAft>
              <a:buSzPct val="100000"/>
              <a:buChar char="•"/>
            </a:pPr>
            <a:r>
              <a:rPr lang="en-US" sz="1100" dirty="0">
                <a:solidFill>
                  <a:srgbClr val="1B1B1A"/>
                </a:solidFill>
              </a:rPr>
              <a:t>Saharan GS, Verma PR, Meena PD, Kumar A. 2014. White rust of crucifers: biology, ecology and management. New Delhi: Springer India.</a:t>
            </a:r>
            <a:endParaRPr lang="en-US" sz="1100" dirty="0"/>
          </a:p>
          <a:p>
            <a:pPr marL="342900" indent="-342900">
              <a:spcAft>
                <a:spcPts val="600"/>
              </a:spcAft>
              <a:buSzPct val="100000"/>
              <a:buChar char="•"/>
            </a:pPr>
            <a:r>
              <a:rPr lang="en-US" sz="1100" dirty="0">
                <a:solidFill>
                  <a:srgbClr val="1B1B1A"/>
                </a:solidFill>
              </a:rPr>
              <a:t>Swain PH, Davis SM. 1978. Remote sensing: the quantitative approach. New York: McGraw-Hill.</a:t>
            </a:r>
            <a:endParaRPr lang="en-US" sz="1100" dirty="0"/>
          </a:p>
          <a:p>
            <a:pPr marL="342900" indent="-342900">
              <a:spcAft>
                <a:spcPts val="600"/>
              </a:spcAft>
              <a:buSzPct val="100000"/>
              <a:buChar char="•"/>
            </a:pPr>
            <a:r>
              <a:rPr lang="en-US" sz="1100" dirty="0">
                <a:solidFill>
                  <a:srgbClr val="1B1B1A"/>
                </a:solidFill>
              </a:rPr>
              <a:t>Thenkabail, P.S., Smith, R.B., De Pauw, E., 2000. Hyperspectral vegetation indices and their relationships with agricultural crop characteristics. Remote Sensing of Environment 71, 158–182.</a:t>
            </a:r>
            <a:endParaRPr lang="en-US" sz="1100" dirty="0"/>
          </a:p>
          <a:p>
            <a:pPr marL="342900" indent="-342900">
              <a:spcAft>
                <a:spcPts val="600"/>
              </a:spcAft>
              <a:buSzPct val="100000"/>
              <a:buChar char="•"/>
            </a:pPr>
            <a:r>
              <a:rPr lang="en-US" sz="1100" dirty="0">
                <a:solidFill>
                  <a:srgbClr val="1B1B1A"/>
                </a:solidFill>
              </a:rPr>
              <a:t>Therneau T, Atkinson B. 2023. rpart: recursive partitioning and regression trees. R package version 4.1.23.</a:t>
            </a:r>
            <a:endParaRPr lang="en-US" sz="1100" dirty="0"/>
          </a:p>
          <a:p>
            <a:pPr marL="342900" indent="-342900">
              <a:spcAft>
                <a:spcPts val="600"/>
              </a:spcAft>
              <a:buSzPct val="100000"/>
              <a:buChar char="•"/>
            </a:pPr>
            <a:r>
              <a:rPr lang="en-US" sz="1100" dirty="0">
                <a:solidFill>
                  <a:srgbClr val="1B1B1A"/>
                </a:solidFill>
              </a:rPr>
              <a:t>Tsai, F., Philpot, W., 1998. Derivative analysis of hyperspectral data. Remote Sensing of Environment 66, 41–51.</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83112" cy="777240"/>
          </a:xfrm>
          <a:prstGeom prst="rect">
            <a:avLst/>
          </a:prstGeom>
          <a:noFill/>
          <a:ln/>
        </p:spPr>
        <p:txBody>
          <a:bodyPr wrap="square" rtlCol="0" anchor="ctr"/>
          <a:lstStyle/>
          <a:p>
            <a:pPr indent="0" marL="0">
              <a:buNone/>
            </a:pPr>
            <a:r>
              <a:rPr lang="en-US" sz="2800" b="1" dirty="0">
                <a:solidFill>
                  <a:srgbClr val="1F3D2B"/>
                </a:solidFill>
                <a:latin typeface="Cambria" pitchFamily="34" charset="0"/>
                <a:ea typeface="Cambria" pitchFamily="34" charset="-122"/>
                <a:cs typeface="Cambria" pitchFamily="34" charset="-120"/>
              </a:rPr>
              <a:t>Key references (continued)</a:t>
            </a:r>
            <a:endParaRPr lang="en-US" sz="2800" dirty="0"/>
          </a:p>
        </p:txBody>
      </p:sp>
      <p:sp>
        <p:nvSpPr>
          <p:cNvPr id="3" name="Text 1"/>
          <p:cNvSpPr txBox="1"/>
          <p:nvPr/>
        </p:nvSpPr>
        <p:spPr>
          <a:xfrm>
            <a:off x="502920" y="1188720"/>
            <a:ext cx="11183112" cy="521208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1B1A"/>
                </a:solidFill>
              </a:rPr>
              <a:t>Varma S, Simon R. 2006. Bias in error estimation when using cross-validation for model selection. BMC Bioinformatics 7:91.</a:t>
            </a:r>
            <a:endParaRPr lang="en-US" sz="1100" dirty="0"/>
          </a:p>
          <a:p>
            <a:pPr marL="342900" indent="-342900">
              <a:spcAft>
                <a:spcPts val="600"/>
              </a:spcAft>
              <a:buSzPct val="100000"/>
              <a:buChar char="•"/>
            </a:pPr>
            <a:r>
              <a:rPr lang="en-US" sz="1100" dirty="0">
                <a:solidFill>
                  <a:srgbClr val="1B1B1A"/>
                </a:solidFill>
              </a:rPr>
              <a:t>Venables WN, Ripley BD. 2002. Modern applied statistics with S. 4th ed. New York: Springer.</a:t>
            </a:r>
            <a:endParaRPr lang="en-US" sz="1100" dirty="0"/>
          </a:p>
          <a:p>
            <a:pPr marL="342900" indent="-342900">
              <a:spcAft>
                <a:spcPts val="600"/>
              </a:spcAft>
              <a:buSzPct val="100000"/>
              <a:buChar char="•"/>
            </a:pPr>
            <a:r>
              <a:rPr lang="en-US" sz="1100" dirty="0">
                <a:solidFill>
                  <a:srgbClr val="1B1B1A"/>
                </a:solidFill>
              </a:rPr>
              <a:t>Welch BL. 1947. The generalization of 'Student's' problem when several different population variances are involved. Biometrika 34:28–35.</a:t>
            </a:r>
            <a:endParaRPr lang="en-US" sz="1100" dirty="0"/>
          </a:p>
        </p:txBody>
      </p:sp>
      <p:sp>
        <p:nvSpPr>
          <p:cNvPr id="4" name="Text 2"/>
          <p:cNvSpPr txBox="1"/>
          <p:nvPr/>
        </p:nvSpPr>
        <p:spPr>
          <a:xfrm>
            <a:off x="502920" y="6080760"/>
            <a:ext cx="11183112" cy="365760"/>
          </a:xfrm>
          <a:prstGeom prst="rect">
            <a:avLst/>
          </a:prstGeom>
          <a:noFill/>
          <a:ln/>
        </p:spPr>
        <p:txBody>
          <a:bodyPr wrap="square" lIns="0" tIns="0" rIns="0" bIns="0" rtlCol="0" anchor="t"/>
          <a:lstStyle/>
          <a:p>
            <a:pPr indent="0" marL="0">
              <a:buNone/>
            </a:pPr>
            <a:r>
              <a:rPr lang="en-US" sz="1100" i="1" dirty="0">
                <a:solidFill>
                  <a:srgbClr val="52514E"/>
                </a:solidFill>
              </a:rPr>
              <a:t>Full list (100 references, including the source of every vegetation index) in the Word report.</a:t>
            </a:r>
            <a:endParaRPr lang="en-US" sz="1100" dirty="0"/>
          </a:p>
        </p:txBody>
      </p:sp>
      <p:sp>
        <p:nvSpPr>
          <p:cNvPr id="25" name="Slide Number Placeholder 0"/>
          <p:cNvSpPr>
            <a:spLocks noGrp="1"/>
          </p:cNvSpPr>
          <p:nvPr>
            <p:ph type="sldNum" sz="quarter" idx="4294967295"/>
          </p:nvPr>
        </p:nvSpPr>
        <p:spPr>
          <a:xfrm>
            <a:off x="11274552" y="647395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latin typeface="Calibri"/>
                <a:ea typeface="Calibri"/>
                <a:cs typeface="Calibri"/>
              </a:defRPr>
            </a:lvl1pPr>
          </a:lstStyle>
          <a:p>
            <a:pPr algn="l"/>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White rust mustard">
  <a:themeElements>
    <a:clrScheme name="White rust mustard">
      <a:dk1>
        <a:srgbClr val="1B1B1A"/>
      </a:dk1>
      <a:lt1>
        <a:srgbClr val="FFFFFF"/>
      </a:lt1>
      <a:dk2>
        <a:srgbClr val="1F3D2B"/>
      </a:dk2>
      <a:lt2>
        <a:srgbClr val="EEF3EF"/>
      </a:lt2>
      <a:accent1>
        <a:srgbClr val="2A78D6"/>
      </a:accent1>
      <a:accent2>
        <a:srgbClr val="EB6834"/>
      </a:accent2>
      <a:accent3>
        <a:srgbClr val="1BAF7A"/>
      </a:accent3>
      <a:accent4>
        <a:srgbClr val="D9A21B"/>
      </a:accent4>
      <a:accent5>
        <a:srgbClr val="2A5A3C"/>
      </a:accent5>
      <a:accent6>
        <a:srgbClr val="52514E"/>
      </a:accent6>
      <a:hlink>
        <a:srgbClr val="2A78D6"/>
      </a:hlink>
      <a:folHlink>
        <a:srgbClr val="52514E"/>
      </a:folHlink>
    </a:clrScheme>
    <a:fontScheme name="White rust must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rust of mustard — plot-average four-tier analysis</dc:title>
  <dc:subject>PptxGenJS Presentation</dc:subject>
  <dc:creator>Animesh Panda</dc:creator>
  <cp:lastModifiedBy>Animesh Panda</cp:lastModifiedBy>
  <cp:revision>1</cp:revision>
  <dcterms:created xsi:type="dcterms:W3CDTF">2026-10-19T14:28:40Z</dcterms:created>
  <dcterms:modified xsi:type="dcterms:W3CDTF">2026-10-19T14:28:40Z</dcterms:modified>
</cp:coreProperties>
</file>