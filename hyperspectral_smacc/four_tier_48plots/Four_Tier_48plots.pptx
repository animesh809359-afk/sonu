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4a83cdc-33aa-bc70-f9ea-bf4bb66192d9}">
          <p14:sldIdLst>
            <p14:sldId id="256"/>
            <p14:sldId id="257"/>
            <p14:sldId id="258"/>
            <p14:sldId id="259"/>
          </p14:sldIdLst>
        </p14:section>
        <p14:section name="A. Data" id="{16d019f2-7cf4-79fc-a4ea-db0a03bf680b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B. Methods and why" id="{06e6bea2-2f6c-f051-d24d-1a25dc176e38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. Results" id="{0d665797-5b02-0938-9110-84d08ccbf40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D. Discussion and conclusion" id="{e1b03fd0-e1fb-4f6c-cee6-a7ec925eb7a5}">
          <p14:sldIdLst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Spectrum-level BA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CART-S0</c:v>
                  </c:pt>
                  <c:pt idx="1">
                    <c:v>CART-S1</c:v>
                  </c:pt>
                  <c:pt idx="2">
                    <c:v>CART-S2</c:v>
                  </c:pt>
                  <c:pt idx="3">
                    <c:v>CART-S3</c:v>
                  </c:pt>
                  <c:pt idx="4">
                    <c:v>RF-S0</c:v>
                  </c:pt>
                  <c:pt idx="5">
                    <c:v>RF-S1</c:v>
                  </c:pt>
                  <c:pt idx="6">
                    <c:v>RF-S2</c:v>
                  </c:pt>
                  <c:pt idx="7">
                    <c:v>RF-S3</c:v>
                  </c:pt>
                  <c:pt idx="8">
                    <c:v>RF all bands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0.579</c:v>
                </c:pt>
                <c:pt idx="1">
                  <c:v>0.615</c:v>
                </c:pt>
                <c:pt idx="2">
                  <c:v>0.611</c:v>
                </c:pt>
                <c:pt idx="3">
                  <c:v>0.6</c:v>
                </c:pt>
                <c:pt idx="4">
                  <c:v>0.585</c:v>
                </c:pt>
                <c:pt idx="5">
                  <c:v>0.604</c:v>
                </c:pt>
                <c:pt idx="6">
                  <c:v>0.614</c:v>
                </c:pt>
                <c:pt idx="7">
                  <c:v>0.588</c:v>
                </c:pt>
                <c:pt idx="8">
                  <c:v>0.549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Plot-level BA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CART-S0</c:v>
                  </c:pt>
                  <c:pt idx="1">
                    <c:v>CART-S1</c:v>
                  </c:pt>
                  <c:pt idx="2">
                    <c:v>CART-S2</c:v>
                  </c:pt>
                  <c:pt idx="3">
                    <c:v>CART-S3</c:v>
                  </c:pt>
                  <c:pt idx="4">
                    <c:v>RF-S0</c:v>
                  </c:pt>
                  <c:pt idx="5">
                    <c:v>RF-S1</c:v>
                  </c:pt>
                  <c:pt idx="6">
                    <c:v>RF-S2</c:v>
                  </c:pt>
                  <c:pt idx="7">
                    <c:v>RF-S3</c:v>
                  </c:pt>
                  <c:pt idx="8">
                    <c:v>RF all bands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0.543</c:v>
                </c:pt>
                <c:pt idx="1">
                  <c:v>0.737</c:v>
                </c:pt>
                <c:pt idx="2">
                  <c:v>0.751</c:v>
                </c:pt>
                <c:pt idx="3">
                  <c:v>0.707</c:v>
                </c:pt>
                <c:pt idx="4">
                  <c:v>0.556</c:v>
                </c:pt>
                <c:pt idx="5">
                  <c:v>0.732</c:v>
                </c:pt>
                <c:pt idx="6">
                  <c:v>0.76</c:v>
                </c:pt>
                <c:pt idx="7">
                  <c:v>0.683</c:v>
                </c:pt>
                <c:pt idx="8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Balanced accuracy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6984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plots · healthy vs diseased · four-tier analysis, RF comparison, imbalance handling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4592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vs diseased plots from SMACC endmembers: four-tier analysis with imbalance handling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method of Das et al. (2020): ANOVA → CART → J–M distance → QDA, with Random Forest in place of CART in Tier 2 for comparison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plots (1–12 healthy, 13–48 diseased) · 1417 endmember spectra kept separately · all 483 reflectance bands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Abbreviations (1/2)</a:t>
            </a:r>
            <a:endParaRPr lang="en-US" sz="30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Abbreviation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disagreement: share of predictions misplaced although class totals agree (Pontius &amp; Millones 2011)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of variance (one-way, Tier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/ ROC-AUC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under the receiver operating characteristic curve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Bhattacharyya distance (basis of the J–M distance)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 = (sensitivity + specificity) / 2; 0.5 = chance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(block)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block: plots 1–12, not inoculated = 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and regression tree (Tier 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 … RF-S3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= Tier-2 method (CART or RF) + imbalance strategy (S0–S3), always followed by QDA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interval (95%, plot-cluster bootstrap)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parameter of rpart pruning (0.01)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Paper-style random stratified 10-fold CV (× 5), bands chosen on all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 nested 4-fold CV (× 10) — main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 CV (48 folds)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1887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Abbreviation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Leave-one-treatment-combination-out CV (variety × inoculation date, 12 folds)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Leave-one-variety-out CV (3 folds)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Leave-one-inoculation-date-out CV (4 folds)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/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/ healthy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D1–D4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Inoculation-date codes (days after sowing) from the treatment 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after sowing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(Cohen's 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mean difference between classes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Endmember (one SMACC spectrum)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F statistic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 = harmonic mean of producer's and user's accuracy of a class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discovery rate (Benjamini–Hochberg correction)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Honestly significant difference (Tukey post-hoc test)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J–M / JM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Jeffries–Matusita distance, 0–2 scale; 1.94 = separability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/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selected bands; in SMOTE, k = 5 nearest neighbours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V1–V3 are varieties; validation schemes are CV1–CV6. 'D' alone = diseased, D1–D4 = inoculation dates; 'R' + wavelength = reflectance, R1–R3 = inoculated blocks.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Abbreviations (2/2)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Abbreviation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 (= CV3)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Matthews correlation coefficient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decrease in impurity (Gini importance of Random Forest)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bands tried at each Random Forest split (√p)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spectra (N = all, n = per class or plot)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infrared (750–1,350 nm)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Nanometre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 = correct predictions / all predictions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p-value; also number of bands entering a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Producer's accuracy = correct / reference total of a class (1 − omission error)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disagreement: error from wrong class proportions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discriminant analysis (Tier 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R1, R2, 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 replication blocks (plots 37–48, 25–36, 13–24) = diseased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R2380 etc.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Reflectance at that wavelength (nm), e.g. in CART split 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188720"/>
          <a:ext cx="54406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14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Abbreviation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of interest (plot polygon)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strategy: no correction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strategy: class weighting (cost-sensitive)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strategy: random under-sampling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strategy: SMOTE over-sampling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deviation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maximum angle convex cone (endmember extraction)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minority over-sampling technique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SWIR-1 / SWIR-2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Short-wave infrared 1 (1,350–1,800 nm) / 2 (1,800–2,400 nm)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User's accuracy = correct / predicted total of a class (1 − commission error)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V1–V3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Variety codes from the treatment sheet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range (400–700 nm)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at a glance</a:t>
            </a:r>
            <a:endParaRPr lang="en-US" sz="3000" dirty="0"/>
          </a:p>
        </p:txBody>
      </p:sp>
      <p:sp>
        <p:nvSpPr>
          <p:cNvPr id="3" name="stage A"/>
          <p:cNvSpPr/>
          <p:nvPr/>
        </p:nvSpPr>
        <p:spPr>
          <a:xfrm>
            <a:off x="548640" y="13716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stage badge A"/>
          <p:cNvSpPr/>
          <p:nvPr/>
        </p:nvSpPr>
        <p:spPr>
          <a:xfrm>
            <a:off x="731520" y="1572768"/>
            <a:ext cx="566928" cy="566928"/>
          </a:xfrm>
          <a:prstGeom prst="ellipse">
            <a:avLst/>
          </a:prstGeom>
          <a:solidFill>
            <a:srgbClr val="52514E"/>
          </a:solidFill>
          <a:ln w="12700">
            <a:solidFill>
              <a:srgbClr val="5251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48 plot ROIs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SMACC: 30 endmembers / plot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1417 spectra kept separately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All 483 bands, reflectance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Data check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36392" y="292608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stage B"/>
          <p:cNvSpPr/>
          <p:nvPr/>
        </p:nvSpPr>
        <p:spPr>
          <a:xfrm>
            <a:off x="3376879" y="13716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stage badge B"/>
          <p:cNvSpPr/>
          <p:nvPr/>
        </p:nvSpPr>
        <p:spPr>
          <a:xfrm>
            <a:off x="3559759" y="1572768"/>
            <a:ext cx="566928" cy="566928"/>
          </a:xfrm>
          <a:prstGeom prst="ellipse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9759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245559" y="15727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analysis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59759" y="237744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1: ANOVA + Tukey per band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2: CART or RF band selection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3: J–M distance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Tier 4: QDA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64631" y="292608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stage C"/>
          <p:cNvSpPr/>
          <p:nvPr/>
        </p:nvSpPr>
        <p:spPr>
          <a:xfrm>
            <a:off x="6205118" y="13716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stage badge C"/>
          <p:cNvSpPr/>
          <p:nvPr/>
        </p:nvSpPr>
        <p:spPr>
          <a:xfrm>
            <a:off x="6387998" y="1572768"/>
            <a:ext cx="566928" cy="566928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799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073798" y="15727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387998" y="237744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Healthy : diseased = 1 : 2.96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S0 no correction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S1 class weighting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S2 random under-sampling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S3 SMOTE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92870" y="2926080"/>
            <a:ext cx="258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2514E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stage D"/>
          <p:cNvSpPr/>
          <p:nvPr/>
        </p:nvSpPr>
        <p:spPr>
          <a:xfrm>
            <a:off x="9033358" y="137160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stage badge D"/>
          <p:cNvSpPr/>
          <p:nvPr/>
        </p:nvSpPr>
        <p:spPr>
          <a:xfrm>
            <a:off x="9216238" y="1572768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1623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902038" y="157276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checks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16238" y="2377440"/>
            <a:ext cx="2286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Paper-style 10-fold; plot-grouped (main); leave-one-plot-out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Leave-one-treatment / variety / date-out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Block-vs-block negative control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Permutation tests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Error matrices + CIs; Excel checks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analysis configurations = 2 Tier-2 methods (CART, RF) × 4 imbalance strategies (S0–S3). Every re-sampling and every band selection is done on training data only. Seed 42 for all random steps.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Data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plot ROIs, 30 SMACC endmembers per plot, every endmember kept as a separate spectrum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plots and the analysis data set</a:t>
            </a:r>
            <a:endParaRPr lang="en-US" sz="3000" dirty="0"/>
          </a:p>
        </p:txBody>
      </p:sp>
      <p:pic>
        <p:nvPicPr>
          <p:cNvPr id="3" name="Plot map" descr="Plo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6840"/>
            <a:ext cx="5486400" cy="472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1417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984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endmember spectra analysed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 / 1059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healthy / diseased spectra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264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reflectance bands (399–2398 nm)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2.96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3264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class ratio (imbalanced)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931920"/>
            <a:ext cx="5239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Plot polygons from 48_plot_roi_new.xml (ROI #1–#48, WGS-84), drawn in local metres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30 SMACC endmembers per plot (Gruninger et al. 2004); 23 were removed before this analysis, so plots keep 26–30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Endmembers are not averaged: each is one sample, labelled by its plot's class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Healthy plots 1–12 lie together at the west end of the field: class and position are partly confounded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design (treatment_detail.xlsx)</a:t>
            </a:r>
            <a:endParaRPr lang="en-US" sz="3000" dirty="0"/>
          </a:p>
        </p:txBody>
      </p:sp>
      <p:pic>
        <p:nvPicPr>
          <p:cNvPr id="3" name="Treatment design map" descr="Treatment design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042"/>
            <a:ext cx="6035040" cy="4710275"/>
          </a:xfrm>
          <a:prstGeom prst="rect">
            <a:avLst/>
          </a:prstGeom>
        </p:spPr>
      </p:pic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25880"/>
          <a:ext cx="48737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2313432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(not inoculated)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37–48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Inoculated, replication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3154680"/>
            <a:ext cx="48737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Every block contains all 3 varieties (V1, V2, V3) × 4 inoculation dates (D1, D2, D3, D4, days after sowing), once each (checked)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Blocks run west → east: C, R3, R2, R1; block centres are ≈ 13 m apart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All healthy plots form one block, so healthy vs diseased is confounded with block/location (Hurlbert 1984). The validation is extended to measure this (Part D of the methods)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Endmember spectra per plot</a:t>
            </a:r>
            <a:endParaRPr lang="en-US" sz="3000" dirty="0"/>
          </a:p>
        </p:txBody>
      </p:sp>
      <p:pic>
        <p:nvPicPr>
          <p:cNvPr id="3" name="Endmembers per plot" descr="Endmembers per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2929"/>
            <a:ext cx="11094415" cy="34291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377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Healthy plots: 29–30 spectra each (358 in total); diseased plots: 26–30 each (1059 in total)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Spectra of one plot share soil, illumination and management: they are not independent samples. This is why validation is done by plot (Part D)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endmember spectra</a:t>
            </a:r>
            <a:endParaRPr lang="en-US" sz="3000" dirty="0"/>
          </a:p>
        </p:txBody>
      </p:sp>
      <p:pic>
        <p:nvPicPr>
          <p:cNvPr id="3" name="All endmember spectra" descr="All endmember spec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5024"/>
            <a:ext cx="11094415" cy="4067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Thin lines: individual endmembers (358 healthy, 1059 diseased); black: class mean. Gaps are the water-absorption bands absent from the image. SMACC picks the most extreme spectra of each plot, hence the wide spread.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means and variability</a:t>
            </a:r>
            <a:endParaRPr lang="en-US" sz="3000" dirty="0"/>
          </a:p>
        </p:txBody>
      </p:sp>
      <p:pic>
        <p:nvPicPr>
          <p:cNvPr id="3" name="Mean ± SD spectra" descr="Mean ± SD spect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748" y="1234440"/>
            <a:ext cx="1074420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Mean ± 1 SD per class over all 483 bands. The two bands overlap almost everywhere: the class difference is small compared with the spread within each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check: everything is analysed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1417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spectra analysed: none removed in this step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29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bands analysed: none excluded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As requested, all uploaded endmembers and all wavelengths are used, including the detector edges (&lt; 420 nm, &gt; 2,350 nm)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Negative reflectance (physically impossible) in 21 healthy and 296 diseased spectra, at 76 bands, mainly the noisy ends of the range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These values are kept (no editing of data), but bands chosen there are flagged when the results are interpreted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Checks passed: 1417 × 483 values, no missing values, plots 1–12 = healthy, 13–48 = diseased, each spectrum in exactly one plot</a:t>
            </a:r>
            <a:endParaRPr lang="en-US" sz="1450" dirty="0"/>
          </a:p>
        </p:txBody>
      </p:sp>
      <p:pic>
        <p:nvPicPr>
          <p:cNvPr id="8" name="Negative reflectance by band" descr="Negative reflectance by b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73402"/>
            <a:ext cx="5239512" cy="26197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Methods and why they are used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method, imbalance strategies, validation design and accuracy measures, each with its reference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method: what each tier does and why</a:t>
            </a:r>
            <a:endParaRPr lang="en-US" sz="30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023360"/>
                <a:gridCol w="3291840"/>
                <a:gridCol w="2542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done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ANOVA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 per band, p &lt; 0.05; Tukey HSD; FDR and Bonferroni reported; plot-mean ANOVA as a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only bands where class means differ; removes uninformative bands before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 2020; Tukey 1949; Benjamini &amp; Hochberg 1995; Hurlbert 1984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 · 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rpart-equivalent tree (Gini, minsplit 20, minbucket 7, cp 0.01) on the significant bands; bands used in splits are 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a small set of complementary bands; same settings as the 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et al. 1984; Therneau &amp; Atkinson (rpart)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 · 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(500 trees, mtry = √p) importance ranking; top bands with |r| &lt; 0.95; same number of bands as 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requested: a more stable, ensemble-based band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2001; Strobl et al. 2008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J–M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Jeffries–Matusita distance JM = 2(1 − e^−B) per band and for the selected set; 1.94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how separable the classes are on the chosen bands (0 = none, 2 = complete)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Richards 2013; Das et al.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QDA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discriminant analysis on the selected 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used in the paper; allows a different covariance per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Das et al. (2020) used 14 rice genotypes; here there are 2 classes, so Tukey HSD tests one pair and gives the same decision as the ANOVA (checked at every band).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 imbalance matters (1 : 2.96)</a:t>
            </a:r>
            <a:endParaRPr lang="en-US" sz="3000" dirty="0"/>
          </a:p>
        </p:txBody>
      </p:sp>
      <p:sp>
        <p:nvSpPr>
          <p:cNvPr id="3" name="card The problem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502920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1059 diseased vs 358 healthy spectra: a model that calls everything “diseased” already reaches 74.7% overall accuracy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Trees and QDA (with empirical priors) are pulled towards the majority class: healthy plots are under-detected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Overall accuracy is therefore misleading; balanced accuracy, MCC, kappa and per-class F1 are reported instead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Imbalance handling must be fitted on training folds only, or the test result is optimistic</a:t>
            </a:r>
            <a:endParaRPr lang="en-US" sz="1450" dirty="0"/>
          </a:p>
        </p:txBody>
      </p:sp>
      <p:sp>
        <p:nvSpPr>
          <p:cNvPr id="6" name="card References"/>
          <p:cNvSpPr/>
          <p:nvPr/>
        </p:nvSpPr>
        <p:spPr>
          <a:xfrm>
            <a:off x="6153912" y="137160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36792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920240"/>
            <a:ext cx="512064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He &amp; Garcia (2009) IEEE TKDE: review of imbalanced learning; why accuracy misleads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Brodersen et al. (2010) ICPR: balanced accuracy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Chicco &amp; Jurman (2020) BMC Genomics: MCC for imbalanced binary problems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Santos et al. (2018) IEEE CIM: re-sample inside the cross-validation, never before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imbalance strategies compared</a:t>
            </a:r>
            <a:endParaRPr lang="en-US" sz="30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337560"/>
                <a:gridCol w="2011680"/>
                <a:gridCol w="1828800"/>
                <a:gridCol w="20391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applied (training folds 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imbalance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 correction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as is; QDA with empirical priors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as in Das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weighting (cost-sensitive)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N/(2n_k) per class in CART (= rpart prior) and RF (class_weight = balanced); QDA equal priors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every spectrum; no synthetic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Breiman et al. 1984; Chen, Liaw &amp; Breiman 2004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2004 (weighted RF); He &amp; Garcia 2009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Random under-sampling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training spectra randomly reduced to the healthy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Simple; removes majority dominance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&amp; Garcia 2009; Lemaître et al. 2017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 2004 (balanced RF)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healthy spectra by interpolation between 5 nearest healthy neighbours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minority information without discarding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Chawla et al. 2002; Lemaître et al. 2017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Cuenca-Romero et al. 2024 (wheat rust, hyperspectral); Douzas et al. 2019 (land cover)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S1 class weights: healthy 1417/(2·358) ≈ 1.98, diseased 1417/(2·1059) ≈ 0.67 (on the full data; recomputed in each training fold). The test spectra are never re-sampled.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Cuenca-Romero et al. (2024) used SMOTE on imbalanced hyperspectral data to detect yellow and brown rust in wheat: a direct plant-disease example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Douzas et al. (2019) used SMOTE-type over-sampling for imbalanced land-cover classes in remote sensing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design and why</a:t>
            </a:r>
            <a:endParaRPr lang="en-US" sz="3000" dirty="0"/>
          </a:p>
        </p:txBody>
      </p:sp>
      <p:sp>
        <p:nvSpPr>
          <p:cNvPr id="3" name="box CV1 · Paper-style random 10-fold (× 5)"/>
          <p:cNvSpPr/>
          <p:nvPr/>
        </p:nvSpPr>
        <p:spPr>
          <a:xfrm>
            <a:off x="548640" y="1325880"/>
            <a:ext cx="5468112" cy="2240280"/>
          </a:xfrm>
          <a:prstGeom prst="roundRect">
            <a:avLst>
              <a:gd name="adj" fmla="val 32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CV1 · Paper-style random 10-fold (× 5)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51023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 in Das et al.: bands chosen once on all data, then QDA cross-validated on randomly split spectra. Reported for comparison only: it is optimistic because spectra of the same plot fall in training and test, and the bands were chosen with the test spectra.</a:t>
            </a:r>
            <a:endParaRPr lang="en-US" sz="1300" dirty="0"/>
          </a:p>
        </p:txBody>
      </p:sp>
      <p:sp>
        <p:nvSpPr>
          <p:cNvPr id="6" name="box CV2 · Plot-grouped nested 4-fold (× 10) — main result"/>
          <p:cNvSpPr/>
          <p:nvPr/>
        </p:nvSpPr>
        <p:spPr>
          <a:xfrm>
            <a:off x="6172200" y="1325880"/>
            <a:ext cx="5468112" cy="2240280"/>
          </a:xfrm>
          <a:prstGeom prst="roundRect">
            <a:avLst>
              <a:gd name="adj" fmla="val 32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43560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CV2 · Plot-grouped nested 4-fold (× 10) — main result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828800"/>
            <a:ext cx="51023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Whole plots are held out (3 healthy + 9 diseased per test fold). Tier 1, Tier 2, re-sampling and QDA are all redone inside each training fold. Repeated 10 times with different plot splits.</a:t>
            </a:r>
            <a:endParaRPr lang="en-US" sz="1300" dirty="0"/>
          </a:p>
        </p:txBody>
      </p:sp>
      <p:sp>
        <p:nvSpPr>
          <p:cNvPr id="9" name="box CV3 · Leave-one-plot-out (48 folds)"/>
          <p:cNvSpPr/>
          <p:nvPr/>
        </p:nvSpPr>
        <p:spPr>
          <a:xfrm>
            <a:off x="548640" y="3721608"/>
            <a:ext cx="5468112" cy="2240280"/>
          </a:xfrm>
          <a:prstGeom prst="roundRect">
            <a:avLst>
              <a:gd name="adj" fmla="val 32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31336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CV3 · Leave-one-plot-out (48 folds)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24528"/>
            <a:ext cx="51023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plot predicted by a model built on the other 47 plots; a plot is called diseased if &gt; 50% of its spectra are. Shows which plots are misclassified.</a:t>
            </a:r>
            <a:endParaRPr lang="en-US" sz="1300" dirty="0"/>
          </a:p>
        </p:txBody>
      </p:sp>
      <p:sp>
        <p:nvSpPr>
          <p:cNvPr id="12" name="box Permutation test (100 ×)"/>
          <p:cNvSpPr/>
          <p:nvPr/>
        </p:nvSpPr>
        <p:spPr>
          <a:xfrm>
            <a:off x="6172200" y="3721608"/>
            <a:ext cx="5468112" cy="2240280"/>
          </a:xfrm>
          <a:prstGeom prst="roundRect">
            <a:avLst>
              <a:gd name="adj" fmla="val 326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831336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test (100 ×)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224528"/>
            <a:ext cx="51023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Plot labels shuffled (12 healthy / 36 diseased kept) and CV2 repeated: tells whether the observed balanced accuracy is better than chance.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References: Hurlbert 1984 (pseudo-replication); Roberts et al. 2017 (grouped/block CV); Ambroise &amp; McLachlan 2002 (selection inside the folds); Santos et al. 2018 (re-sampling inside the folds); Ojala &amp; Garriga 2010 (permutation test).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using the treatment design and why</a:t>
            </a:r>
            <a:endParaRPr lang="en-US" sz="3000" dirty="0"/>
          </a:p>
        </p:txBody>
      </p:sp>
      <p:sp>
        <p:nvSpPr>
          <p:cNvPr id="3" name="box CV4 · Leave-one-treatment-combination-out (12 folds)"/>
          <p:cNvSpPr/>
          <p:nvPr/>
        </p:nvSpPr>
        <p:spPr>
          <a:xfrm>
            <a:off x="548640" y="1280160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CV4 · Leave-one-treatment-combination-out (12 folds)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Hold out the 4 plots sharing a variety × inoculation date (1 control + 3 inoculated). The model never saw that combination: tests transfer to new treatment levels (Meyer et al. 2018).</a:t>
            </a:r>
            <a:endParaRPr lang="en-US" sz="1250" dirty="0"/>
          </a:p>
        </p:txBody>
      </p:sp>
      <p:sp>
        <p:nvSpPr>
          <p:cNvPr id="6" name="box CV5 · Leave-one-variety-out (3 folds)"/>
          <p:cNvSpPr/>
          <p:nvPr/>
        </p:nvSpPr>
        <p:spPr>
          <a:xfrm>
            <a:off x="6172200" y="1280160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38988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CV5 · Leave-one-variety-out (3 folds)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83080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Train on two varieties, test on the third (4 control + 12 inoculated plots). Disease detection should not depend on the variety.</a:t>
            </a:r>
            <a:endParaRPr lang="en-US" sz="1250" dirty="0"/>
          </a:p>
        </p:txBody>
      </p:sp>
      <p:sp>
        <p:nvSpPr>
          <p:cNvPr id="9" name="box CV6 · Leave-one-inoculation-date-out (4 folds)"/>
          <p:cNvSpPr/>
          <p:nvPr/>
        </p:nvSpPr>
        <p:spPr>
          <a:xfrm>
            <a:off x="548640" y="2871216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80944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CV6 · Leave-one-inoculation-date-out (4 folds)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74136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Train on three inoculation dates, test on the fourth (3 + 9 plots).</a:t>
            </a:r>
            <a:endParaRPr lang="en-US" sz="1250" dirty="0"/>
          </a:p>
        </p:txBody>
      </p:sp>
      <p:sp>
        <p:nvSpPr>
          <p:cNvPr id="12" name="box Negative control: block vs block"/>
          <p:cNvSpPr/>
          <p:nvPr/>
        </p:nvSpPr>
        <p:spPr>
          <a:xfrm>
            <a:off x="6172200" y="2871216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980944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control: block vs block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374136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Classify two INOCULATED blocks (e.g. R3 vs R1) with the same pipeline. They cannot differ by disease, so their accuracy measures the block/location effect (Lipsitch et al. 2010).</a:t>
            </a:r>
            <a:endParaRPr lang="en-US" sz="1250" dirty="0"/>
          </a:p>
        </p:txBody>
      </p:sp>
      <p:sp>
        <p:nvSpPr>
          <p:cNvPr id="15" name="box Restricted permutation (4 labellings)"/>
          <p:cNvSpPr/>
          <p:nvPr/>
        </p:nvSpPr>
        <p:spPr>
          <a:xfrm>
            <a:off x="548640" y="4462272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7200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permutation (4 labellings)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965192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Treatments were applied to whole blocks, so blocks are the exchangeable units (Anderson &amp; ter Braak 2003): label each block in turn 'healthy'. The smallest attainable p is 1/4.</a:t>
            </a:r>
            <a:endParaRPr lang="en-US" sz="1250" dirty="0"/>
          </a:p>
        </p:txBody>
      </p:sp>
      <p:sp>
        <p:nvSpPr>
          <p:cNvPr id="18" name="box Detection by block, variety and date"/>
          <p:cNvSpPr/>
          <p:nvPr/>
        </p:nvSpPr>
        <p:spPr>
          <a:xfrm>
            <a:off x="6172200" y="4462272"/>
            <a:ext cx="5468112" cy="1481328"/>
          </a:xfrm>
          <a:prstGeom prst="roundRect">
            <a:avLst>
              <a:gd name="adj" fmla="val 493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572000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by block, variety and date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4965192"/>
            <a:ext cx="5102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Share of each plot's spectra predicted diseased, compared between blocks, varieties and inoculation dates (Kruskal &amp; Wallis 1952).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All schemes are nested: Tier 1, Tier 2, re-balancing and QDA are refitted without the test plots. Every test fold keeps the 1 healthy : 3 diseased plot ratio.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measures reported</a:t>
            </a:r>
            <a:endParaRPr lang="en-US" sz="30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3383280"/>
                <a:gridCol w="176479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 (BA) — 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(sensitivity + specificity) /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inflated by the majority class; 0.5 = chance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Brodersen et al. 2010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/ specificity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diseased / correct 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which class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&amp; Garcia 2009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of observed and predicted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all four cells; robust to 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Chicco &amp; Jurman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beyond chance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remote sensing and by Das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Cohen 1960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per class, 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Precision–recall balance; ranking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Complementary 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&amp; Garcia 2009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Plot-level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vote of a plot's spectra vs its true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are the real units of interest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Hurlbert 1984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 (OA), error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/ total, from the reference × predicted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remote-sensing report; inflated by the majority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Congalton 1991; Das et al. 2020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Producer's / user's accuracy (PA, UA)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= correct / reference total; UA = correct / predicted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Omission and commission error per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&amp; Congalton 1986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/ allocation disagreement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class proportions / wrong placement; sum = 1 − 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the errors; alternative to kappa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Pontius &amp; Millones 2011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confidence intervals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 resampled with replacement within each class (2000×)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 of a plot are not independent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&amp; Welsh 2007; Olofsson et al. 2014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Results, tier by tier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→ Tier 2 (CART and RF) → Tier 3 → Tier 4, then validation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· 411 of 483 bands differ at p &lt; 0.05</a:t>
            </a:r>
            <a:endParaRPr lang="en-US" sz="3000" dirty="0"/>
          </a:p>
        </p:txBody>
      </p:sp>
      <p:pic>
        <p:nvPicPr>
          <p:cNvPr id="3" name="Tier 1 ANOVA results" descr="Tier 1 ANOVA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784" y="1188720"/>
            <a:ext cx="6869151" cy="5120640"/>
          </a:xfrm>
          <a:prstGeom prst="rect">
            <a:avLst/>
          </a:prstGeom>
        </p:spPr>
      </p:pic>
      <p:sp>
        <p:nvSpPr>
          <p:cNvPr id="4" name="card What Tier 1 shows"/>
          <p:cNvSpPr/>
          <p:nvPr/>
        </p:nvSpPr>
        <p:spPr>
          <a:xfrm>
            <a:off x="7680960" y="1325880"/>
            <a:ext cx="3959352" cy="4846320"/>
          </a:xfrm>
          <a:prstGeom prst="roundRect">
            <a:avLst>
              <a:gd name="adj" fmla="val 184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63840" y="143560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Tier 1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874520"/>
            <a:ext cx="359359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411 bands significant with all spectra as replicates; 407 after FDR and 132 after Bonferroni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Tukey HSD gives the same 411 bands (one pair)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Effect sizes are small: largest |d| = 0.51 (2392 nm); 3 bands |d| ≥ 0.5, 0 bands |d| ≥ 0.8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With the 48 plot means as replicates only 302 bands are significant: the spectrum-level test is inflated by pseudo-replication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· how robust is the band list?</a:t>
            </a:r>
            <a:endParaRPr lang="en-US" sz="30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2377440"/>
                <a:gridCol w="3685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significant (of 483)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ANOVA, p &lt; 0.05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spectra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to Tier 2 (as in Das et al.)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Tukey HSD, p &lt; 0.05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spectra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decision (one pair)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+ FDR (Benjamini–Hochberg)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spectra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false discoveries over 483 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+ Bonferroni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spectra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Strictest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 (unequal variances)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spectra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Levene: variances differ at 93 bands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on plot 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plots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Pseudo-replication check (Hurlbert 1984)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The band list is stable across tests that use spectra as replicates; with plots as replicates fewer bands remain, so p-values from spectra overstate the evidence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Inside every validation fold Tier 1 is recomputed on the training spectra only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2a · CART tree (class-weighted, S1)</a:t>
            </a:r>
            <a:endParaRPr lang="en-US" sz="3000" dirty="0"/>
          </a:p>
        </p:txBody>
      </p:sp>
      <p:pic>
        <p:nvPicPr>
          <p:cNvPr id="3" name="CART tree" descr="CART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575" y="1188720"/>
            <a:ext cx="10806545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Tree grown on all 1417 spectra with class weights (S1), pruned at cp = 0.01: 18 splits on 17 bands. Boxes: split rule (R = reflectance at that wavelength); leaves: predicted class and healthy | diseased spectra. The first split (R2380 ≤ 0.0001) isolates 241 spectra with zero or negative reflectance at 2,380 nm, 238 of them diseased: the tree exploits the noisy edge band.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2a · CART bands for each imbalance strategy</a:t>
            </a:r>
            <a:endParaRPr lang="en-US" sz="3000" dirty="0"/>
          </a:p>
        </p:txBody>
      </p:sp>
      <p:graphicFrame>
        <p:nvGraphicFramePr>
          <p:cNvPr id="2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6949440"/>
                <a:gridCol w="12161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wavelengths (nm)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bands*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399, 405, 428, 452, 466, 475, 479, 760, 846, 858, 885, 927, 945, 1996, 2008, 2044, 2050, 2326, 2344, 2356, 2380, 2398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405, 443, 498, 760, 797, 846, 899, 920, 927, 1600, 1780, 1984, 2056, 2194, 2302, 2344, 2380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under-sampling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494, 498, 505, 711, 855, 885, 890, 920, 1497, 1726, 2008, 2344, 2374, 2380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470, 505, 577, 916, 920, 939, 951, 1143, 1155, 1233, 1293, 1317, 1329, 1461, 1636, 1990, 2272, 2326, 2368, 2380, 2392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selected bands change with the imbalance strategy: individual bands should not be over-interpreted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Recurring regions: blue/green (≈ 400–500 nm), red-edge/NIR (≈ 700–950 nm) and SWIR-2 (≈ 2,000–2,400 nm)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* Edge bands &lt; 420 or &gt; 2,350 nm are kept as requested but are the noisiest part of the sensor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2b · Random Forest instead of CART</a:t>
            </a:r>
            <a:endParaRPr lang="en-US" sz="3000" dirty="0"/>
          </a:p>
        </p:txBody>
      </p:sp>
      <p:pic>
        <p:nvPicPr>
          <p:cNvPr id="3" name="RF importance" descr="RF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33" y="1143000"/>
            <a:ext cx="7064829" cy="2697480"/>
          </a:xfrm>
          <a:prstGeom prst="rect">
            <a:avLst/>
          </a:prstGeom>
        </p:spPr>
      </p:pic>
      <p:graphicFrame>
        <p:nvGraphicFramePr>
          <p:cNvPr id="2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165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RF-selected wavelengths (nm), in order of importance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2386, 2014, 920, 921, 401, 406, 890, 918, 498, 2284, 760, 456, 421, 505, 705, 939, 1485, 1467, 719, 2158, 1299, 1744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2386, 2014, 920, 921, 2302, 403, 498, 426, 760, 918, 412, 489, 939, 899, 705, 1473, 505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under-sampling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2362, 2014, 920, 921, 918, 399, 897, 498, 408, 712, 512, 486, 2248, 939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2386, 2014, 920, 933, 921, 2278, 918, 758, 403, 897, 412, 426, 496, 707, 1461, 479, 505, 834, 1491, 1726, 721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RF ranks all ANOVA-significant bands; neighbours with |r| ≥ 0.95 to an already chosen band are skipped (Strobl et al. 2008) so that the same number of bands as CART is kept.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bands were selected? CART vs RF</a:t>
            </a:r>
            <a:endParaRPr lang="en-US" sz="3000" dirty="0"/>
          </a:p>
        </p:txBody>
      </p:sp>
      <p:pic>
        <p:nvPicPr>
          <p:cNvPr id="3" name="Band selection matrix" descr="Band selection matr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987" y="1188720"/>
            <a:ext cx="10495722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Each row is one configuration (Tier-2 method × imbalance strategy); ticks are the selected wavelengths on the full data. Background: −log10 p of Tier 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· Jeffries–Matusita distance</a:t>
            </a:r>
            <a:endParaRPr lang="en-US" sz="3000" dirty="0"/>
          </a:p>
        </p:txBody>
      </p:sp>
      <p:pic>
        <p:nvPicPr>
          <p:cNvPr id="3" name="J-M distance" descr="J-M di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7048"/>
            <a:ext cx="7132320" cy="2615184"/>
          </a:xfrm>
          <a:prstGeom prst="rect">
            <a:avLst/>
          </a:prstGeom>
        </p:spPr>
      </p:pic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280160"/>
          <a:ext cx="37764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124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(0–2)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63440"/>
            <a:ext cx="7132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configuration reaches the 1.94 threshold of Das et al.: the best is CART-S3 with JM = 1.147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best single band reaches only JM = 0.068 (2392 nm)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Healthy and diseased endmembers overlap strongly in spectral space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· J–M of each band selected by CART in Tier 2</a:t>
            </a:r>
            <a:endParaRPr lang="en-US" sz="30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"/>
                <a:gridCol w="1143000"/>
                <a:gridCol w="868680"/>
                <a:gridCol w="676656"/>
                <a:gridCol w="1143000"/>
                <a:gridCol w="868680"/>
                <a:gridCol w="676656"/>
                <a:gridCol w="1143000"/>
                <a:gridCol w="868680"/>
                <a:gridCol w="676656"/>
                <a:gridCol w="1143000"/>
                <a:gridCol w="868680"/>
                <a:gridCol w="676656"/>
              </a:tblGrid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none: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weights: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under-sampling: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916.2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854.7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845.9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898.6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889.8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845.9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858.2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2379.6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2049.5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2379.6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2379.6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2379.6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2391.6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2397.6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70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Bands in wavelength order (all bands used in the pruned tree). JM band = J–M of that single band (0–2 scale); JM cumul. = J–M of the first k bands together; last row = J–M of the whole set. No single band exceeds JM 0.068; the 1.94 threshold is not reached.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· J–M of each band selected by RF in Tier 2</a:t>
            </a:r>
            <a:endParaRPr lang="en-US" sz="30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338328"/>
                <a:gridCol w="1143000"/>
                <a:gridCol w="868680"/>
                <a:gridCol w="676656"/>
                <a:gridCol w="1143000"/>
                <a:gridCol w="868680"/>
                <a:gridCol w="676656"/>
                <a:gridCol w="1143000"/>
                <a:gridCol w="868680"/>
                <a:gridCol w="676656"/>
                <a:gridCol w="1143000"/>
                <a:gridCol w="868680"/>
                <a:gridCol w="676656"/>
              </a:tblGrid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none: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weights: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under-sampling: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SMOTE: band (nm)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band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 cumul.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2385.6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889.8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489.0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898.6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705.3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833.6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719.3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2157.5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1725.5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1299.4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1743.5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0.065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70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Bands in order of RF importance (after the |r| &lt; 0.95 filter). JM band = J–M of that single band (0–2 scale); JM cumul. = J–M of the first k bands together; last row = J–M of the whole set. No single band exceeds JM 0.068; the 1.94 threshold is not reached.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4 · QDA with paper-style validation (CV1)</a:t>
            </a:r>
            <a:endParaRPr lang="en-US" sz="30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04872"/>
                <a:gridCol w="2404872"/>
                <a:gridCol w="2404872"/>
                <a:gridCol w="241401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class weights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under-sampling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 (OA 70.7%)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 (OA 56.8%)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 (OA 60.1%)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 (OA 76.4%)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 (OA 75.5%)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 (OA 60.1%)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 (OA 58.1%)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 (OA 61.8%)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10896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Balanced accuracy (overall accuracy in brackets); random stratified 10-fold × 5, bands chosen once on all spectra, as in Das et al. (2020)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Best: CART-S3, BA 0.762. This scheme is optimistic: spectra of one plot are in both training and test sets, and the bands were selected with the test spectra (Ambroise &amp; McLachlan 2002)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realistic estimate is the plot-grouped nested validation on the next slides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 · plot-grouped nested validation (CV2)</a:t>
            </a:r>
            <a:endParaRPr lang="en-US" sz="3000" dirty="0"/>
          </a:p>
        </p:txBody>
      </p:sp>
      <p:graphicFrame>
        <p:nvGraphicFramePr>
          <p:cNvPr id="3" name="BA chart" descr=""/>
          <p:cNvGraphicFramePr/>
          <p:nvPr/>
        </p:nvGraphicFramePr>
        <p:xfrm>
          <a:off x="548640" y="1234440"/>
          <a:ext cx="74980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Reading the chart"/>
          <p:cNvSpPr/>
          <p:nvPr/>
        </p:nvSpPr>
        <p:spPr>
          <a:xfrm>
            <a:off x="8229600" y="1325880"/>
            <a:ext cx="3410712" cy="4846320"/>
          </a:xfrm>
          <a:prstGeom prst="roundRect">
            <a:avLst>
              <a:gd name="adj" fmla="val 214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0" y="143560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874520"/>
            <a:ext cx="304495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0.5 = chance for balanced accuracy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Spectrum level: 0.58–0.62; best CART-S1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Plot level (majority vote): best RF-S2 at 0.76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Imbalance correction (S1–S3) clearly helps at plot level compared with S0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 on all 483 bands as benchmark: 0.55 / 0.50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CV2 in detail (mean ± SD over 10 repetitions)</a:t>
            </a:r>
            <a:endParaRPr lang="en-US" sz="30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188720"/>
                <a:gridCol w="1188720"/>
                <a:gridCol w="1325880"/>
                <a:gridCol w="1325880"/>
                <a:gridCol w="1188720"/>
                <a:gridCol w="1234440"/>
                <a:gridCol w="103327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(D)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 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Bands/fold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 ± 0.032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± 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± 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± 0.06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 ± 0.031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± 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 ± 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 ± 0.016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 ± 0.06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 ± 0.021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± 0.07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 ± 0.022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 ± 0.018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 ± 0.09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 ± 0.020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 ± 0.020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 ±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all bands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 ± 0.016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± 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 ± 0.03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 ± 0.02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± 0.04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Tier 1, Tier 2, re-sampling and QDA refitted in every training fold; test plots never seen. D = diseased, H = healthy. The RF benchmark is a class-weighted RF classifier on all bands (no Tier 1–3).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assessment · error matrices (plot-grouped CV2)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CART-S1 + QDA (Class weighting (cost-sensitive))</a:t>
            </a:r>
            <a:endParaRPr lang="en-US" sz="15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914400"/>
                <a:gridCol w="73152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\ Predicted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 (56–63%)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63.1% (57–69%)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(plot bootstrap)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58.0–66.8%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58.2–65.0%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0.129–0.254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 · F1 healthy · F1 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0.203 · 0.45 · 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/ allocation disagreement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17.5% / 20.2%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153912" y="1234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RF-S2 + QDA (Random under-sampling)</a:t>
            </a:r>
            <a:endParaRPr lang="en-US" sz="1500" dirty="0"/>
          </a:p>
        </p:txBody>
      </p:sp>
      <p:graphicFrame>
        <p:nvGraphicFramePr>
          <p:cNvPr id="9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1600200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14400"/>
                <a:gridCol w="914400"/>
                <a:gridCol w="73152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\ Predicted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62.0% (59–66%)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60.7% (54–67%)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3383280"/>
          <a:ext cx="5440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 (plot bootstrap)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56.4–65.6%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57.8–64.9%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0.121–0.245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 · F1 healthy · F1 diseased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 · 0.45 · 0.70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/ allocation disagreement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19.8% / 19.2%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Error matrices summed over 10 repetitions × 1417 spectra (each spectrum predicted once per repetition, always from plots not used for training). PA = producer's accuracy (1 − omission error), UA = user's accuracy (1 − commission error) (Story &amp; Congalton 1986). CI: 2000 stratified bootstrap resamples of plots (Field &amp; Welsh 2007).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of every configuration (95% CI by plot bootstrap)</a:t>
            </a:r>
            <a:endParaRPr lang="en-US" sz="30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325880"/>
                <a:gridCol w="777240"/>
                <a:gridCol w="1600200"/>
                <a:gridCol w="1508760"/>
                <a:gridCol w="731520"/>
                <a:gridCol w="731520"/>
                <a:gridCol w="731520"/>
                <a:gridCol w="731520"/>
                <a:gridCol w="2084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(95% CI)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Kappa (95% CI)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/ allocation disagr.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57.9% (55–60%)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(0.11–0.22)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/ 28%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 (52–59%)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 (0.04–0.20)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/ 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61.5% (58–65%)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 (0.13–0.25)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 / 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60.5% (55–66%)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(0.08–0.25)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/ 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61.1% (58–64%)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(0.12–0.23)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 / 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 (57–66%)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(0.11–0.26)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 / 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 (57–63%)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(0.10–0.23)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/ 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62.0% (58–66%)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(0.12–0.25)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 / 17%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58.5% (56–61%)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(0.11–0.24)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/ 29%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57.9% (54–62%)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 (0.08–0.24)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/ 29%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60.4% (57–64%)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(0.11–0.24)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/ 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 (52–61%)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 (0.02–0.18)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/ 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61.4% (58–65%)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(0.12–0.24)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/ 19%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60.8% (56–65%)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 (0.09–0.24)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 / 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plot-grouped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 (55–63%)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 (0.08–0.21)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/ 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leave-one-plot-out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 (52–60%)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 (0.03–0.16)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/ 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Spectrum level. H = healthy, D = diseased. Without correction (S0) PA healthy is low: healthy spectra are absorbed by the majority class. UA healthy stays below 50% in every configuration: many spectra predicted healthy are diseased. Plot-level matrices and all schemes: sheet 14_Accuracy.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 same bands chosen in every fold?</a:t>
            </a:r>
            <a:endParaRPr lang="en-US" sz="3000" dirty="0"/>
          </a:p>
        </p:txBody>
      </p:sp>
      <p:graphicFrame>
        <p:nvGraphicFramePr>
          <p:cNvPr id="3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46304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CART-S1: share of folds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(nm)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RF-S2: share of folds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2379.6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919.7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card Stability of band selection"/>
          <p:cNvSpPr/>
          <p:nvPr/>
        </p:nvSpPr>
        <p:spPr>
          <a:xfrm>
            <a:off x="7406640" y="1371600"/>
            <a:ext cx="4233672" cy="4480560"/>
          </a:xfrm>
          <a:prstGeom prst="roundRect">
            <a:avLst>
              <a:gd name="adj" fmla="val 1728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48132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of band selection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920240"/>
            <a:ext cx="386791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40 training folds (4 folds × 10 repetitions) per configuration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CART-S1 and RF-S2 are the best-performing strategies of each Tier-2 method in CV2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Even the most frequent bands are chosen in only part of the folds: the band set depends on which plots are in the training set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Report regions (blue, red-edge/NIR, SWIR-2) rather than single wavelengths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Leave-one-plot-out (CV3): which plots are misclassified?</a:t>
            </a:r>
            <a:endParaRPr lang="en-US" sz="3000" dirty="0"/>
          </a:p>
        </p:txBody>
      </p:sp>
      <p:pic>
        <p:nvPicPr>
          <p:cNvPr id="3" name="LOPO CART map" descr="LOPO CAR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7940"/>
            <a:ext cx="4206240" cy="3622040"/>
          </a:xfrm>
          <a:prstGeom prst="rect">
            <a:avLst/>
          </a:prstGeom>
        </p:spPr>
      </p:pic>
      <p:pic>
        <p:nvPicPr>
          <p:cNvPr id="4" name="LOPO RF map" descr="LOPO RF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97940"/>
            <a:ext cx="4206240" cy="3622040"/>
          </a:xfrm>
          <a:prstGeom prst="rect">
            <a:avLst/>
          </a:prstGeom>
        </p:spPr>
      </p:pic>
      <p:sp>
        <p:nvSpPr>
          <p:cNvPr id="5" name="card Plot level"/>
          <p:cNvSpPr/>
          <p:nvPr/>
        </p:nvSpPr>
        <p:spPr>
          <a:xfrm>
            <a:off x="9235440" y="1280160"/>
            <a:ext cx="2404872" cy="3749040"/>
          </a:xfrm>
          <a:prstGeom prst="roundRect">
            <a:avLst>
              <a:gd name="adj" fmla="val 304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418320" y="13898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level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9418320" y="1828800"/>
            <a:ext cx="203911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CART-S1: 30/48 plots, plot BA 0.67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RF-S2: 32/48 plots, plot BA 0.75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Best plot BA of 8: CART-S3 0.81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S0 looks good on plots correct (CART 37/48) only because it calls nearly all plots diseased</a:t>
            </a:r>
            <a:endParaRPr lang="en-US" sz="1200" dirty="0"/>
          </a:p>
        </p:txBody>
      </p:sp>
      <p:graphicFrame>
        <p:nvGraphicFramePr>
          <p:cNvPr id="3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3017520"/>
                <a:gridCol w="359359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Spectrum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plots wrong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 plots wrong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6, 11, 12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plots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plots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test: better than chance?</a:t>
            </a:r>
            <a:endParaRPr lang="en-US" sz="3000" dirty="0"/>
          </a:p>
        </p:txBody>
      </p:sp>
      <p:pic>
        <p:nvPicPr>
          <p:cNvPr id="3" name="Permutation null distributions" descr="Permutation null distribu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179"/>
            <a:ext cx="6583680" cy="2274362"/>
          </a:xfrm>
          <a:prstGeom prst="rect">
            <a:avLst/>
          </a:prstGeom>
        </p:spPr>
      </p:pic>
      <p:graphicFrame>
        <p:nvGraphicFramePr>
          <p:cNvPr id="3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371600"/>
          <a:ext cx="43251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868680"/>
                <a:gridCol w="731520"/>
                <a:gridCol w="73152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95%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634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 labels were shuffled 100 times (12 healthy / 36 diseased kept) and the full nested pipeline rerun (one 4-fold repetition each)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Observed = balanced accuracy of CV2 repetition 1 with the true labels. CART: p = 0.010; RF: p = 0.010 (smallest possible p with 100 permutations = 0.010)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Because whole plots are permuted, this tests the plot-level class difference (Ojala &amp; Garriga 2010). In 80 of 800 permuted folds Tier 1 found no significant band; these folds predict by prior (BA 0.5), as the pipeline would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using the treatment design (CV4–CV6)</a:t>
            </a:r>
            <a:endParaRPr lang="en-US" sz="3000" dirty="0"/>
          </a:p>
        </p:txBody>
      </p:sp>
      <p:graphicFrame>
        <p:nvGraphicFramePr>
          <p:cNvPr id="3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51560"/>
                <a:gridCol w="1463040"/>
                <a:gridCol w="1463040"/>
                <a:gridCol w="146304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 plot-grouped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CV4 leave-one-treatment-out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CV5 leave-one-variety-out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CV6 leave-one-date-out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CV4–CV6 plot 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 (0.54–0.63)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 (0.53–0.61)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 (0.57–0.67)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· 0.54 · 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 (0.57–0.68)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 (0.58–0.69)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 (0.63–0.74)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· 0.75 · 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 (0.58–0.66)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 (0.61–0.69)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 (0.58–0.68)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· 0.75 · 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 (0.56–0.67)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 (0.60–0.70)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 (0.55–0.67)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 · 0.78 · 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 (0.57–0.63)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 (0.58–0.67)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 (0.52–0.66)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 · 0.65 · 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 (0.59–0.68)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 (0.58–0.67)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 (0.56–0.68)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 · 0.79 · 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 (0.57–0.66)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 (0.59–0.68)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 (0.54–0.67)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 · 0.76 · 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 (0.54–0.62)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 (0.57–0.66)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 (0.55–0.63)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· 0.78 · 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card What it shows"/>
          <p:cNvSpPr/>
          <p:nvPr/>
        </p:nvSpPr>
        <p:spPr>
          <a:xfrm>
            <a:off x="8412480" y="1280160"/>
            <a:ext cx="3227832" cy="4846320"/>
          </a:xfrm>
          <a:prstGeom prst="roundRect">
            <a:avLst>
              <a:gd name="adj" fmla="val 226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95360" y="138988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828800"/>
            <a:ext cx="286207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Balanced accuracy 0.57–0.69 when a whole treatment level is held out, similar to CV2 (0.58–0.62)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weak separation is not specific to one variety or inoculation date: the model transfers, but stays weak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Brackets: 95% CI by plot bootstrap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These folds still keep the control block C intact in its location, so they cannot remove the block confound (next slides)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control: block vs block</a:t>
            </a:r>
            <a:endParaRPr lang="en-US" sz="3000" dirty="0"/>
          </a:p>
        </p:txBody>
      </p:sp>
      <p:pic>
        <p:nvPicPr>
          <p:cNvPr id="3" name="Negative control: balanced accuracy for block pairs" descr="Negative control: balanced accuracy for block pa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36" y="1188720"/>
            <a:ext cx="10261023" cy="3611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Control vs inoculated: mean BA 0.62 (CART) / 0.61 (RF); inoculated vs inoculated: 0.51 / 0.50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At the same distance (≈ 27 m): C vs R2 0.61 / 0.60 against R3 vs R1 0.53 / 0.52: the control block differs more than location alone explains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But Tier 1 also finds many significant bands between inoculated blocks (R3 vs R1: 242; plot means 136) and C vs R accuracy rises with distance (C vs R3 0.58 → C vs R1 0.66): a west–east gradient adds to the class difference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by block, variety and inoculation date</a:t>
            </a:r>
            <a:endParaRPr lang="en-US" sz="3000" dirty="0"/>
          </a:p>
        </p:txBody>
      </p:sp>
      <p:pic>
        <p:nvPicPr>
          <p:cNvPr id="3" name="Detection by block" descr="Detection by b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3594"/>
            <a:ext cx="7589520" cy="2656332"/>
          </a:xfrm>
          <a:prstGeom prst="rect">
            <a:avLst/>
          </a:prstGeom>
        </p:spPr>
      </p:pic>
      <p:graphicFrame>
        <p:nvGraphicFramePr>
          <p:cNvPr id="4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280160"/>
          <a:ext cx="33192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48640"/>
                <a:gridCol w="457200"/>
                <a:gridCol w="457200"/>
                <a:gridCol w="457200"/>
                <a:gridCol w="4846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labelled 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(true)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321040" y="2514600"/>
            <a:ext cx="3319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Restricted permutation: CV2 balanced accuracy when each block in turn is called healthy. p ≥ 0.25 is the smallest possible with 4 blocks.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25196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Share of spectra predicted diseased rises from west to east: C 40%, R3 58%, R2 58%, R1 74% (CART; RF 38% → 70%)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Among inoculated plots detection does not differ by inoculation date (Kruskal–Wallis p = 0.96 CART, 0.88 RF) or variety (p = 0.83, 0.83); between inoculated blocks p = 0.08 / 0.15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true labelling ranks first of 4 for both methods (p = 0.25), the best this design allows: disease and block cannot be separated statistically with one control block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Comparison: CART vs RF in Tier 2 and the imbalance strategies</a:t>
            </a:r>
            <a:endParaRPr lang="en-US" sz="3000" dirty="0"/>
          </a:p>
        </p:txBody>
      </p:sp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02920"/>
                <a:gridCol w="594360"/>
                <a:gridCol w="640080"/>
                <a:gridCol w="640080"/>
                <a:gridCol w="731520"/>
                <a:gridCol w="1051560"/>
                <a:gridCol w="640080"/>
                <a:gridCol w="640080"/>
                <a:gridCol w="6400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CV1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 plot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CV3 plot BA (correct)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CV4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CV5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CV6 BA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(37/48)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(30/48)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(33/48)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 (34/48)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(37/48)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 (25/48)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 (32/48)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RF-S3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(31/48)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card What the comparison shows"/>
          <p:cNvSpPr/>
          <p:nvPr/>
        </p:nvSpPr>
        <p:spPr>
          <a:xfrm>
            <a:off x="8092440" y="1325880"/>
            <a:ext cx="3547872" cy="4846320"/>
          </a:xfrm>
          <a:prstGeom prst="roundRect">
            <a:avLst>
              <a:gd name="adj" fmla="val 20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75320" y="143560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comparison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874520"/>
            <a:ext cx="318211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Paper-style CV is optimistic by up to 0.16 BA compared with plot-grouped CV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CART vs RF in Tier 2: best CV2 BA 0.615 (CART) vs 0.614 (RF): no clear winner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S0 (no correction) gives the weakest plot-level result: healthy plots are missed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S1/S2/S3 perform similarly; S1 (class weights) needs no synthetic or discarded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RF classifier on all 483 bands with class weights only: BA 0.55, plot BA 0.50: it still favours the majority class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was cross-checked</a:t>
            </a:r>
            <a:endParaRPr lang="en-US" sz="30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7251192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checked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1417 × 483; plots 1–12 healthy; no missing values; unique spectra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 = scipy; Tukey = ANOVA decision at all bands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under-sampling and SMOTE give equal class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closed-form J–M = matrix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plot in training and test; SMOTE on training only; permutation nulls ≈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hand-coded QDA = sklearn; BA = (sens + spec)/2; confusion matrix total =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weights equalise the root; custom tree = sklearn; bands ⊂ significant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plots; C = plots 1–12; each block holds every variety × date once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 re-run with the shared pipeline module reproduces all 80 stored repetitions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pooled matrix totals; OA = 1 − QD − AD; kappa = sklearn; CV3 matrix = stored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spectrum tested once; both classes in every fold; true labelling = main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↔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 F and p, weights, J–M, design layout, all accuracy measures of every error matrix recomputed by Excel formulas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8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33 of 33 Python checks pass; live Excel checks in sheet 18_Cross_Checks of Four_Tier_48plots.xlsx. QDA needed the ridge fallback in 0 fits.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Discussion, summary and 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mean, their limits, and what to do next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box Weak to moderate separation"/>
          <p:cNvSpPr/>
          <p:nvPr/>
        </p:nvSpPr>
        <p:spPr>
          <a:xfrm>
            <a:off x="548640" y="128016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to moderate separation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JM ≤ 1.15 (threshold 1.94) and plot-grouped BA 0.58–0.62, far below the 98% of Das et al. Their samples were averaged field spectra of uniform plots; here single SMACC endmembers mix leaves, lesions, soil and shadow.</a:t>
            </a:r>
            <a:endParaRPr lang="en-US" sz="1150" dirty="0"/>
          </a:p>
        </p:txBody>
      </p:sp>
      <p:sp>
        <p:nvSpPr>
          <p:cNvPr id="6" name="box Pseudo-replication"/>
          <p:cNvSpPr/>
          <p:nvPr/>
        </p:nvSpPr>
        <p:spPr>
          <a:xfrm>
            <a:off x="6172200" y="128016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38988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Pseudo-replication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78308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411 bands are significant with spectra as replicates but only 302 with plot means. Spectra of one plot are not independent, so plot-grouped validation is the honest estimate (Hurlbert 1984; Roberts et al. 2017).</a:t>
            </a:r>
            <a:endParaRPr lang="en-US" sz="1150" dirty="0"/>
          </a:p>
        </p:txBody>
      </p:sp>
      <p:sp>
        <p:nvSpPr>
          <p:cNvPr id="9" name="box Imbalance handling helps at plot level"/>
          <p:cNvSpPr/>
          <p:nvPr/>
        </p:nvSpPr>
        <p:spPr>
          <a:xfrm>
            <a:off x="548640" y="292608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3580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 handling helps at plot level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2900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Without correction the minority (healthy) class is under-predicted. Class weighting, under-sampling and SMOTE all raise plot-level BA (best 0.76); applied inside folds only (Santos et al. 2018).</a:t>
            </a:r>
            <a:endParaRPr lang="en-US" sz="1150" dirty="0"/>
          </a:p>
        </p:txBody>
      </p:sp>
      <p:sp>
        <p:nvSpPr>
          <p:cNvPr id="12" name="box CART vs RF in Tier 2"/>
          <p:cNvSpPr/>
          <p:nvPr/>
        </p:nvSpPr>
        <p:spPr>
          <a:xfrm>
            <a:off x="6172200" y="292608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303580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vs RF in Tier 2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42900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Similar performance (CV2 BA 0.615 vs 0.614). RF ranking is more stable in principle; CART picks complementary bands. The bands change from fold to fold for both.</a:t>
            </a:r>
            <a:endParaRPr lang="en-US" sz="1150" dirty="0"/>
          </a:p>
        </p:txBody>
      </p:sp>
      <p:sp>
        <p:nvSpPr>
          <p:cNvPr id="15" name="box Block / location confound"/>
          <p:cNvSpPr/>
          <p:nvPr/>
        </p:nvSpPr>
        <p:spPr>
          <a:xfrm>
            <a:off x="548640" y="457200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68172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/ location confound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All healthy plots form block C at the west end. Inoculated blocks also differ from each other, and the share predicted diseased rises west → east (40% → 74%). Control vs inoculated (BA 0.62) beats inoculated vs inoculated (0.51), so some disease signal is likely, but with one control block it cannot be proven (restricted permutation p = 0.25).</a:t>
            </a:r>
            <a:endParaRPr lang="en-US" sz="1150" dirty="0"/>
          </a:p>
        </p:txBody>
      </p:sp>
      <p:sp>
        <p:nvSpPr>
          <p:cNvPr id="18" name="box All wavelengths kept"/>
          <p:cNvSpPr/>
          <p:nvPr/>
        </p:nvSpPr>
        <p:spPr>
          <a:xfrm>
            <a:off x="6172200" y="4572000"/>
            <a:ext cx="5468112" cy="1536192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681728"/>
            <a:ext cx="5102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wavelengths kept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074920"/>
            <a:ext cx="51023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Edge bands (&lt; 420, &gt; 2,350 nm) and negative reflectance are retained as requested; some selected bands lie there (CART-S1: 2 edge bands). CART's first split uses near-zero/negative R2380. The ≈ 918–921 nm bands, chosen in most RF folds, sit just after the 899–916 nm gap where Tier 1 shows a narrow spike: check for a sensor artefact.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ummary 1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1417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endmember spectra (358 healthy, 1059 diseased) × 483 bands, all kept separately</a:t>
            </a:r>
            <a:endParaRPr lang="en-US" sz="1400" dirty="0"/>
          </a:p>
        </p:txBody>
      </p:sp>
      <p:sp>
        <p:nvSpPr>
          <p:cNvPr id="6" name="summary 2"/>
          <p:cNvSpPr/>
          <p:nvPr/>
        </p:nvSpPr>
        <p:spPr>
          <a:xfrm>
            <a:off x="429768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423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bands significant in Tier 1 (only 302 with plot means)</a:t>
            </a:r>
            <a:endParaRPr lang="en-US" sz="1400" dirty="0"/>
          </a:p>
        </p:txBody>
      </p:sp>
      <p:sp>
        <p:nvSpPr>
          <p:cNvPr id="9" name="summary 3"/>
          <p:cNvSpPr/>
          <p:nvPr/>
        </p:nvSpPr>
        <p:spPr>
          <a:xfrm>
            <a:off x="804672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22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4231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CART bands with / without class weights; RF selects the same number</a:t>
            </a:r>
            <a:endParaRPr lang="en-US" sz="1400" dirty="0"/>
          </a:p>
        </p:txBody>
      </p:sp>
      <p:sp>
        <p:nvSpPr>
          <p:cNvPr id="12" name="summary 4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J–M distance (CART-S3), below the 1.94 threshold</a:t>
            </a:r>
            <a:endParaRPr lang="en-US" sz="1400" dirty="0"/>
          </a:p>
        </p:txBody>
      </p:sp>
      <p:sp>
        <p:nvSpPr>
          <p:cNvPr id="15" name="summary 5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plot-grouped balanced accuracy (CART-S1); paper-style up to 0.76</a:t>
            </a:r>
            <a:endParaRPr lang="en-US" sz="1400" dirty="0"/>
          </a:p>
        </p:txBody>
      </p:sp>
      <p:sp>
        <p:nvSpPr>
          <p:cNvPr id="18" name="summary 6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8463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plot-level BA (RF-S2); plot-label permutation p = 0.010, block-level p = 0.25 (minimum possible)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The four-tier method of Das et al. (2020) was applied to all 1417 endmembers of 48 plots and all 483 bands, with Random Forest replacing CART in Tier 2 for comparison and four ways of handling the 1 : 2.96 imbalance.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Healthy and diseased spectra differ statistically, but separability is low (JM ≤ 1.15) and realistic plot-grouped balanced accuracy is 0.62 at best (plot level 0.76).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Imbalance correction is needed: class weighting (S1) is the simplest choice that keeps all data; CART and RF in Tier 2 perform similarly.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Paper-style random cross-validation overstates accuracy; plots must be the validation unit. Holding out whole varieties, inoculation dates or treatment combinations gives similar, weak accuracy (BA ≈ 0.62).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The control plots form a single block, and inoculated blocks also differ along the field: part of the healthy–diseased separation is location. Next season: randomise control plots within every replication, add plot-level disease scores and an independent date.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DD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Das B, Sahoo RN, Biswas A, Pargal S, Krishna G, Verma R, Chinnusamy V, Sehgal VK, Gupta VK (2020) Discrimination of rice genotypes using field spectroradiometry. Geocarto International 35(1):64–77. doi:10.1080/10106049.2018.1506507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Gruninger JH, Ratkowski AJ, Hoke ML (2004) The sequential maximum angle convex cone (SMACC) endmember model. Proc. SPIE 5425, Algorithms and Technologies for Multispectral, Hyperspectral, and Ultraspectral Imagery X. doi:10.1117/12.543794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Tukey JW (1949) Comparing individual means in the analysis of variance. Biometrics 5(2):99–114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Benjamini Y, Hochberg Y (1995) Controlling the false discovery rate: a practical and powerful approach to multiple testing. Journal of the Royal Statistical Society B 57(1):289–300. doi:10.1111/j.2517-6161.1995.tb02031.x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Hurlbert SH (1984) Pseudoreplication and the design of ecological field experiments. Ecological Monographs 54(2):187–211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Breiman L, Friedman JH, Olshen RA, Stone CJ (1984) Classification and Regression Trees. Wadsworth, Belmont, CA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Therneau TM, Atkinson EJ. An introduction to recursive partitioning using the RPART routines. Mayo Foundation; R package rpart (rpart.control defaults: minsplit 20, cp 0.01, maxdepth 30)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Breiman L (2001) Random forests. Machine Learning 45(1):5–32. doi:10.1023/A:1010933404324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Strobl C, Boulesteix A-L, Kneib T, Augustin T, Zeileis A (2008) Conditional variable importance for random forests. BMC Bioinformatics 9:307. doi:10.1186/1471-2105-9-307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Richards JA (2013) Remote Sensing Digital Image Analysis. Springer, Berlin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Chawla NV, Bowyer KW, Hall LO, Kegelmeyer WP (2002) SMOTE: Synthetic Minority Over-sampling Technique. Journal of Artificial Intelligence Research 16:321–357. doi:10.1613/jair.953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 H, Garcia EA (2009) Learning from imbalanced data. IEEE Transactions on Knowledge and Data Engineering 21(9):1263–1284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Chen C, Liaw A, Breiman L (2004) Using random forest to learn imbalanced data. Technical Report 666, Department of Statistics, University of California, Berkeley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Douzas G, Bacao F, Fonseca J, Khudinyan M (2019) Imbalanced learning in land cover classification: improving minority classes' prediction accuracy using the geometric SMOTE algorithm. Remote Sensing 11(24):3040. doi:10.3390/rs11243040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Cuenca-Romero C, Apolo-Apolo OE, Rodríguez Vázquez JN, Egea G, Pérez-Ruiz M (2024) Tackling unbalanced datasets for yellow and brown rust detection in wheat. Frontiers in Plant Science 15:1392409. doi:10.3389/fpls.2024.1392409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Santos MS, Soares JP, Abreu PH, Araújo H, Santos J (2018) Cross-validation for imbalanced datasets: avoiding overoptimistic and overfitting approaches. IEEE Computational Intelligence Magazine 13(4):59–76. doi:10.1109/MCI.2018.2866730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Lemaître G, Nogueira F, Aridas CK (2017) Imbalanced-learn: a Python toolbox to tackle the curse of imbalanced datasets in machine learning. Journal of Machine Learning Research 18(17):1–5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Brodersen KH, Ong CS, Stephan KE, Buhmann JM (2010) The balanced accuracy and its posterior distribution. Proc. 20th International Conference on Pattern Recognition, 3121–3124. doi:10.1109/ICPR.2010.764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Chicco D, Jurman G (2020) The advantages of the Matthews correlation coefficient (MCC) over F1 score and accuracy in binary classification evaluation. BMC Genomics 21:6. doi:10.1186/s12864-019-6413-7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Cohen J (1960) A coefficient of agreement for nominal scales. Educational and Psychological Measurement 20(1):37–46. doi:10.1177/001316446002000104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Story M, Congalton RG (1986) Accuracy assessment: a user's perspective. Photogrammetric Engineering and Remote Sensing 52(3):397–399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Congalton RG (1991) A review of assessing the accuracy of classifications of remotely sensed data. Remote Sensing of Environment 37(1):35–46. doi:10.1016/0034-4257(91)90048-B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(3/3)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Olofsson P, Foody GM, Herold M, Stehman SV, Woodcock CE, Wulder MA (2014) Good practices for estimating area and assessing accuracy of land change. Remote Sensing of Environment 148:42–57. doi:10.1016/j.rse.2014.02.015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Pontius RG Jr, Millones M (2011) Death to Kappa: birth of quantity disagreement and allocation disagreement for accuracy assessment. International Journal of Remote Sensing 32(15):4407–4429. doi:10.1080/01431161.2011.552923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Field CA, Welsh AH (2007) Bootstrapping clustered data. Journal of the Royal Statistical Society B 69(3):369–390. doi:10.1111/j.1467-9868.2007.00593.x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Roberts DR, Bahn V, Ciuti S, et al. (2017) Cross-validation strategies for data with temporal, spatial, hierarchical, or phylogenetic structure. Ecography 40(8):913–929. doi:10.1111/ecog.02881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Ambroise C, McLachlan GJ (2002) Selection bias in gene extraction on the basis of microarray gene-expression data. PNAS 99(10):6562–6566. doi:10.1073/pnas.102102699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Meyer H, Reudenbach C, Hengl T, Katurji M, Nauss T (2018) Improving performance of spatio-temporal machine learning models using forward feature selection and target-oriented validation. Environmental Modelling &amp; Software 101:1–9. doi:10.1016/j.envsoft.2017.12.001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Lipsitch M, Tchetgen Tchetgen E, Cohen T (2010) Negative controls: a tool for detecting confounding and bias in observational studies. Epidemiology 21(3):383–388. doi:10.1097/EDE.0b013e3181d61eeb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Anderson MJ, ter Braak CJF (2003) Permutation tests for multi-factorial analysis of variance. Journal of Statistical Computation and Simulation 73(2):85–113. doi:10.1080/00949650215733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Kruskal WH, Wallis WA (1952) Use of ranks in one-criterion variance analysis. Journal of the American Statistical Association 47(260):583–621. doi:10.2307/2280779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Ojala M, Garriga GC (2010) Permutation tests for studying classifier performance. Journal of Machine Learning Research 11:1833–1863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Pedregosa F, et al. (2011) Scikit-learn: machine learning in Python. Journal of Machine Learning Research 12:2825–2830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514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opy">
  <a:themeElements>
    <a:clrScheme name="Canopy">
      <a:dk1>
        <a:srgbClr val="1B1F1D"/>
      </a:dk1>
      <a:lt1>
        <a:srgbClr val="FFFFFF"/>
      </a:lt1>
      <a:dk2>
        <a:srgbClr val="1F3A2E"/>
      </a:dk2>
      <a:lt2>
        <a:srgbClr val="EEF3EF"/>
      </a:lt2>
      <a:accent1>
        <a:srgbClr val="1BAF7A"/>
      </a:accent1>
      <a:accent2>
        <a:srgbClr val="EB6834"/>
      </a:accent2>
      <a:accent3>
        <a:srgbClr val="2A78D6"/>
      </a:accent3>
      <a:accent4>
        <a:srgbClr val="EDA100"/>
      </a:accent4>
      <a:accent5>
        <a:srgbClr val="6250D6"/>
      </a:accent5>
      <a:accent6>
        <a:srgbClr val="52514E"/>
      </a:accent6>
      <a:hlink>
        <a:srgbClr val="2A78D6"/>
      </a:hlink>
      <a:folHlink>
        <a:srgbClr val="6250D6"/>
      </a:folHlink>
    </a:clrScheme>
    <a:fontScheme name="Canop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Four-tier analysis of 48-plot SMACC endmembers</dc:title>
  <dc:subject>PptxGenJS Presentation</dc:subject>
  <dc:creator>PptxGenJS</dc:creator>
  <cp:lastModifiedBy>PptxGenJS</cp:lastModifiedBy>
  <cp:revision>1</cp:revision>
  <dcterms:created xsi:type="dcterms:W3CDTF">2026-10-17T19:40:49Z</dcterms:created>
  <dcterms:modified xsi:type="dcterms:W3CDTF">2026-10-17T19:40:49Z</dcterms:modified>
</cp:coreProperties>
</file>