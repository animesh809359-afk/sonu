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7ef1a0a-9915-8d29-efa7-e69ac25113e3}">
          <p14:sldIdLst>
            <p14:sldId id="256"/>
            <p14:sldId id="257"/>
            <p14:sldId id="258"/>
            <p14:sldId id="259"/>
            <p14:sldId id="260"/>
          </p14:sldIdLst>
        </p14:section>
        <p14:section name="Eddy covariance tower" id="{62623354-8d24-c80e-dea6-98e625bb6cc3}">
          <p14:sldIdLst>
            <p14:sldId id="261"/>
            <p14:sldId id="262"/>
            <p14:sldId id="263"/>
            <p14:sldId id="264"/>
            <p14:sldId id="265"/>
            <p14:sldId id="266"/>
            <p14:sldId id="267"/>
            <p14:sldId id="268"/>
            <p14:sldId id="269"/>
            <p14:sldId id="270"/>
            <p14:sldId id="271"/>
            <p14:sldId id="272"/>
          </p14:sldIdLst>
        </p14:section>
        <p14:section name="Large aperture scintillometer" id="{dad9f2e4-0549-2bf6-c65c-1ee767aac120}">
          <p14:sldIdLst>
            <p14:sldId id="273"/>
            <p14:sldId id="274"/>
            <p14:sldId id="275"/>
            <p14:sldId id="276"/>
            <p14:sldId id="277"/>
            <p14:sldId id="278"/>
            <p14:sldId id="279"/>
          </p14:sldIdLst>
        </p14:section>
        <p14:section name="Indian case studies" id="{65e8bae2-40f7-995a-b241-a683690dbc61}">
          <p14:sldIdLst>
            <p14:sldId id="280"/>
            <p14:sldId id="281"/>
            <p14:sldId id="282"/>
          </p14:sldIdLst>
        </p14:section>
        <p14:section name="Comparison and ISRO relevance" id="{5f614664-6449-77e3-b0d3-b311e859cd94}">
          <p14:sldIdLst>
            <p14:sldId id="283"/>
            <p14:sldId id="284"/>
            <p14:sldId id="285"/>
          </p14:sldIdLst>
        </p14:section>
        <p14:section name="Summary" id="{dfa50875-bdd0-9918-6af6-51a2b9ada5da}">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micrometeorological tools dominate field measurement of surface energy and gas fluxes over crops: the eddy covariance (EC) tower, which is a point measurement over a few hectares, and the large aperture scintillometer (LAS), which averages sensible heat flux along a path of 250 m to 4.5 km. This deck covers the theory, installation, processing and the Indian studies from ICAR-NRRI Cuttack (rice) and IARI New Delhi with IIRS-ISRO (maize–wheat).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Available energy Rn − G is split into turbulent fluxes H and LE. EC measures H and LE (and CO2, CH4) directly; LAS measures H, and LE is obtained as the residual Rn − G − H. Sign convention in the IARI study: radiative fluxes towards the surface are positive, non-radiative fluxes away from the surface are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 and LAS are complementary: EC gives direct fluxes of energy and gases at a point (fetch about 100 times the sensor height); LAS gives sensible heat averaged over kilometres, which matches MODIS/INSAT pixel sizes and is valuable for validating remote-sensing 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Obukhov length L = −u*³ T / (k g w′T′) (equivalently u*² T /(k g T*)). L &lt; 0 means unstable (daytime), L &gt; 0 stable (night). The EC tower rule from the NRRI bulletin: sensor height 1.5–2 × canopy height, fetch 100 × height; the Kipp &amp; Zonen manual uses 3 × obstacle height for the top of the roughness sublayer.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Interviewers often ask why d = 2/3 h. Inside a dense canopy momentum is absorbed by the upper leaves, so the canopy behaves as if the ground were raised to about two-thirds of its height. Both EC and LAS calculations use the effective height z −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Primes are deviations from the 30-min mean, overbars are time averages. Mean of a deviation is zero by definition; density fluctuations are handled by the WPL correction; w̄ ≈ 0 after coordinate rotation over flat terrain. Sign: positive flux = upward (to atmosphere), negative NEE = uptake by crop.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Sonic anemometer principle: transit time of ultrasonic pulses between transducer pairs in both directions gives wind speed along each path (and speed of sound gives sonic temperature). IRGA principle: absorption of infrared at CO2 (4.26 µm) and H2O (2.59 µm) bands. The LI-7500A head is tilted about 15° to shed rain. The sensors are aligned facing the prevailing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Fetch requirement comes from the footprint: the area contributing to the flux grows with measurement height and atmospheric stability (longer at night). If the tower is too low, it sits in the roughness sublayer; too high, and the footprint extends beyond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filling at NRRI: gaps longer than 3 h filled by mean diurnal variation in a 10-day window; shorter gaps by look-up tables or linear interpolation (Falge et al. 2001). Reported output is 30-min mean flux after quality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Coordinate rotation forces the mean vertical wind to zero so that horizontal wind does not leak into w′. Time lag: an open-path IRGA a few cm from the sonic has almost no lag; a closed-path system has a tube delay, which for water vapour varies with humidity because H2O sticks to tube walls.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most-asked corrections are WPL, coordinate rotation and u* filtering. WPL matters because warm rising air is less dense, which looks like a CO2 deficit even with no true flux. The u* threshold is chosen where night-time NEE stops increasing with 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Q10 is the factor by which respiration increases for a 10 °C rise (often about 2). Partitioning matters because NEE alone cannot tell whether a change in uptake came from photosynthesis or respiration. NEP ≈ −NEE.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Smith et al. (2010) stress that tower NEE alone is not the carbon budget of a cropland: harvest removal, manure and CH4 losses must be added. CH4 GWP-100 is about 28 (AR5) to 27 (AR6). Rice contributes about 18% of India's agricultural methane according to the bulletin.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Storage terms: S = soil heat storage above the flux plate, W = heat stored in the floodwater, C = canopy heat storage, F = photosynthetic energy. Adding them raised EBR only slightly at Cuttack. Residual heat flux distinguished seasons best, followed by 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low Bowen ratio means most energy goes into evaporation (well-watered crop); a high Bowen ratio means dry conditions. Note: the NRRI bulletin text states this the other way round in one sentence, but the standard definition is that low β means LE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to reduce uncertainty: careful siting, footprint analysis, standard processing (EddyPro), u* filtering, closure checks, and cross-comparison with chambers, lysimeters or 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physics makes stars twinkle and the road shimmer on a hot day. A scintillometer quantifies that shimmer. Unlike EC, it does not need fast-response sonic and gas sensors; it needs only the beam, plus basic weather data (T, P, wind speed) and an estimate of roughness.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the near-infrared LAS sees mostly temperature fluctuations; the factor (1 + 0.03/β)² corrects for humidity. Over dry surfaces β &gt; 3 and the correction is tiny; over wet crops β &lt; 0.5 and it matters. IARI used β ≈ 0.5 as typical for an irrigated agro-ecosystem. Stable (night) function: fT = 4.9[1 + 2.2 (z − d)/L]^(2/3); there is no consensus on the stable function. Ψm is the integrated stability function for momentum.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U_CN2 is a logarithmic signal, averaging the voltage and then converting gives a biased Cn²; the manual recommends either converting each 1 s value first, or applying the variance correction Cn² = 10^(U_CN2 − 12 + 1.15 σ²). Software: WINLAS (manual) or EVATION (used at IARI).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flux derived from Cn² is very sensitive to the effective beam height, so it must be measured carefully. Over non-flat terrain the effective height is computed by weighting the beam height above the surface along the path with the path-weighting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an LAS can be compared directly with MODIS or Landsat ET pixels: its measurement integrates over a strip of land rather than a point. For validation, the satellite ET is weighted with the LAS footprint.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Cn² depends on the square of temperature fluctuations, so it is always positive. The direction of H is assigned from the sign of net radiation or a vertical temperature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ISRO-linked LAS paper to quote. The authors argue LAS fluxes are at a scale comparable to coarse-resolution satellite ET products and recommend using them for calibrating and validating SEBAL/METRIC and crop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H &gt; LE in the June and May fallows and in November between seasons; LE ≈ 4 × H in the monsoon (6.82 vs 1.56 MJ m⁻² d⁻¹); LE dominates from mid-December to March in wheat. Soil moisture correlated negatively with H (R² 0.68). Mean ET 2.04 mm/d in kharif and 1.45 mm/d in rabi. Peaks: Rn 490.5, H 231.7, G 91.9, LE 297.3 W m⁻². Limitation: poor visibility (fog) and stable nights cause errors; G/Rn becomes large in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comparison of the two crops is a good interview answer: flooded rice keeps LE high all day, while upland crops under water stress show midday stomatal closure and higher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Studies comparing the two over crops (e.g. Evans 2012; CSU irrigated fields) generally find good agreement in H, with LAS often 10–30% higher, partly because of different source areas and the EC closure deficit.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 line: 'Ground flux measurements are the truth against which satellite energy-balance ET is judged. EC gives direct but small-footprint fluxes; LAS gives sensible heat at the scale of a satellite pixel. Together they let us validate products from INSAT-3D, MODIS and, in future, TRISHNA.'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possible questions: What is u* filtering? (removing low-turbulence night data below about 0.1 m/s). What is fetch? (upwind distance of uniform surface; about 100 × height). Q10? (respiration change per 10 °C). Bowen ratio over rice? (0.21–0.64). Effective height of LAS? (path-weighted beam height above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integration message: EC and LAS provide the ground truth that makes satellite ET, GPP and crop-stress products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566160"/>
            <a:ext cx="10698480" cy="1280160"/>
          </a:xfrm>
          <a:prstGeom prst="rect">
            <a:avLst/>
          </a:prstGeom>
          <a:noFill/>
          <a:ln/>
        </p:spPr>
        <p:txBody>
          <a:bodyPr wrap="square" rtlCol="0"/>
          <a:lstStyle>
            <a:lvl1pPr indent="0" marL="0">
              <a:buNone/>
              <a:defRPr lang="en-US" sz="2000" dirty="0">
                <a:solidFill>
                  <a:schemeClr val="bg2"/>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103120" y="2103120"/>
            <a:ext cx="9326880" cy="118872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2103120" y="3429000"/>
            <a:ext cx="9326880" cy="1280160"/>
          </a:xfrm>
          <a:prstGeom prst="rect">
            <a:avLst/>
          </a:prstGeom>
          <a:noFill/>
          <a:ln/>
        </p:spPr>
        <p:txBody>
          <a:bodyPr wrap="square" rtlCol="0"/>
          <a:lstStyle>
            <a:lvl1pPr indent="0" marL="0">
              <a:buNone/>
              <a:defRPr lang="en-US" sz="1800" dirty="0">
                <a:solidFill>
                  <a:schemeClr val="bg1"/>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02920" y="6419088"/>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EC tower &amp; LAS in agriculture  |  ISRO interview notes</a:t>
            </a:r>
            <a:endParaRPr lang="en-US" sz="1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Eddy Covariance Tower &amp; Large Aperture Scintillometer in Agriculture</a:t>
            </a:r>
            <a:endParaRPr lang="en-US" sz="4000" dirty="0"/>
          </a:p>
        </p:txBody>
      </p:sp>
      <p:sp>
        <p:nvSpPr>
          <p:cNvPr id="3" name="Text 0"/>
          <p:cNvSpPr/>
          <p:nvPr>
            <p:ph idx="101" type="body" hasCustomPrompt="1"/>
          </p:nvPr>
        </p:nvSpPr>
        <p:spPr>
          <a:xfrm>
            <a:off x="731520" y="3566160"/>
            <a:ext cx="10698480" cy="128016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Principles, equations, installation, data processing and Indian case studies, prepared for the ISRO scientist interview</a:t>
            </a:r>
            <a:endParaRPr lang="en-US" sz="2000" dirty="0"/>
          </a:p>
        </p:txBody>
      </p:sp>
      <p:sp>
        <p:nvSpPr>
          <p:cNvPr id="4" name="badge-1"/>
          <p:cNvSpPr/>
          <p:nvPr/>
        </p:nvSpPr>
        <p:spPr>
          <a:xfrm>
            <a:off x="731520" y="914400"/>
            <a:ext cx="594360" cy="594360"/>
          </a:xfrm>
          <a:prstGeom prst="ellipse">
            <a:avLst/>
          </a:prstGeom>
          <a:solidFill>
            <a:schemeClr val="accent5"/>
          </a:solidFill>
          <a:ln w="12700">
            <a:solidFill>
              <a:schemeClr val="accent5"/>
            </a:solidFill>
            <a:prstDash val="solid"/>
          </a:ln>
        </p:spPr>
      </p:sp>
      <p:sp>
        <p:nvSpPr>
          <p:cNvPr id="5" name="badge-t-2"/>
          <p:cNvSpPr txBox="1"/>
          <p:nvPr/>
        </p:nvSpPr>
        <p:spPr>
          <a:xfrm>
            <a:off x="731520" y="914400"/>
            <a:ext cx="594360" cy="594360"/>
          </a:xfrm>
          <a:prstGeom prst="rect">
            <a:avLst/>
          </a:prstGeom>
          <a:noFill/>
          <a:ln/>
        </p:spPr>
        <p:txBody>
          <a:bodyPr wrap="square" lIns="0" tIns="0" rIns="0" bIns="0" rtlCol="0" anchor="ctr"/>
          <a:lstStyle/>
          <a:p>
            <a:pPr algn="ctr" indent="0" marL="0">
              <a:buNone/>
            </a:pPr>
            <a:r>
              <a:rPr lang="en-US" sz="1500" b="1" dirty="0">
                <a:solidFill>
                  <a:schemeClr val="bg1"/>
                </a:solidFill>
              </a:rPr>
              <a:t>Rn</a:t>
            </a:r>
            <a:endParaRPr lang="en-US" sz="1500" dirty="0"/>
          </a:p>
        </p:txBody>
      </p:sp>
      <p:sp>
        <p:nvSpPr>
          <p:cNvPr id="6" name="badge-3"/>
          <p:cNvSpPr/>
          <p:nvPr/>
        </p:nvSpPr>
        <p:spPr>
          <a:xfrm>
            <a:off x="1508760" y="914400"/>
            <a:ext cx="594360" cy="594360"/>
          </a:xfrm>
          <a:prstGeom prst="ellipse">
            <a:avLst/>
          </a:prstGeom>
          <a:solidFill>
            <a:schemeClr val="accent2"/>
          </a:solidFill>
          <a:ln w="12700">
            <a:solidFill>
              <a:schemeClr val="accent2"/>
            </a:solidFill>
            <a:prstDash val="solid"/>
          </a:ln>
        </p:spPr>
      </p:sp>
      <p:sp>
        <p:nvSpPr>
          <p:cNvPr id="7" name="badge-t-4"/>
          <p:cNvSpPr txBox="1"/>
          <p:nvPr/>
        </p:nvSpPr>
        <p:spPr>
          <a:xfrm>
            <a:off x="1508760" y="914400"/>
            <a:ext cx="594360" cy="594360"/>
          </a:xfrm>
          <a:prstGeom prst="rect">
            <a:avLst/>
          </a:prstGeom>
          <a:noFill/>
          <a:ln/>
        </p:spPr>
        <p:txBody>
          <a:bodyPr wrap="square" lIns="0" tIns="0" rIns="0" bIns="0" rtlCol="0" anchor="ctr"/>
          <a:lstStyle/>
          <a:p>
            <a:pPr algn="ctr" indent="0" marL="0">
              <a:buNone/>
            </a:pPr>
            <a:r>
              <a:rPr lang="en-US" sz="1500" b="1" dirty="0">
                <a:solidFill>
                  <a:schemeClr val="bg1"/>
                </a:solidFill>
              </a:rPr>
              <a:t>H</a:t>
            </a:r>
            <a:endParaRPr lang="en-US" sz="1500" dirty="0"/>
          </a:p>
        </p:txBody>
      </p:sp>
      <p:sp>
        <p:nvSpPr>
          <p:cNvPr id="8" name="badge-5"/>
          <p:cNvSpPr/>
          <p:nvPr/>
        </p:nvSpPr>
        <p:spPr>
          <a:xfrm>
            <a:off x="2286000" y="914400"/>
            <a:ext cx="594360" cy="594360"/>
          </a:xfrm>
          <a:prstGeom prst="ellipse">
            <a:avLst/>
          </a:prstGeom>
          <a:solidFill>
            <a:schemeClr val="accent3"/>
          </a:solidFill>
          <a:ln w="12700">
            <a:solidFill>
              <a:schemeClr val="accent3"/>
            </a:solidFill>
            <a:prstDash val="solid"/>
          </a:ln>
        </p:spPr>
      </p:sp>
      <p:sp>
        <p:nvSpPr>
          <p:cNvPr id="9" name="badge-t-6"/>
          <p:cNvSpPr txBox="1"/>
          <p:nvPr/>
        </p:nvSpPr>
        <p:spPr>
          <a:xfrm>
            <a:off x="2286000" y="914400"/>
            <a:ext cx="594360" cy="594360"/>
          </a:xfrm>
          <a:prstGeom prst="rect">
            <a:avLst/>
          </a:prstGeom>
          <a:noFill/>
          <a:ln/>
        </p:spPr>
        <p:txBody>
          <a:bodyPr wrap="square" lIns="0" tIns="0" rIns="0" bIns="0" rtlCol="0" anchor="ctr"/>
          <a:lstStyle/>
          <a:p>
            <a:pPr algn="ctr" indent="0" marL="0">
              <a:buNone/>
            </a:pPr>
            <a:r>
              <a:rPr lang="en-US" sz="1500" b="1" dirty="0">
                <a:solidFill>
                  <a:schemeClr val="bg1"/>
                </a:solidFill>
              </a:rPr>
              <a:t>LE</a:t>
            </a:r>
            <a:endParaRPr lang="en-US" sz="1500" dirty="0"/>
          </a:p>
        </p:txBody>
      </p:sp>
      <p:sp>
        <p:nvSpPr>
          <p:cNvPr id="10" name="badge-7"/>
          <p:cNvSpPr/>
          <p:nvPr/>
        </p:nvSpPr>
        <p:spPr>
          <a:xfrm>
            <a:off x="3063240" y="914400"/>
            <a:ext cx="594360" cy="594360"/>
          </a:xfrm>
          <a:prstGeom prst="ellipse">
            <a:avLst/>
          </a:prstGeom>
          <a:solidFill>
            <a:schemeClr val="accent4"/>
          </a:solidFill>
          <a:ln w="12700">
            <a:solidFill>
              <a:schemeClr val="accent4"/>
            </a:solidFill>
            <a:prstDash val="solid"/>
          </a:ln>
        </p:spPr>
      </p:sp>
      <p:sp>
        <p:nvSpPr>
          <p:cNvPr id="11" name="badge-t-8"/>
          <p:cNvSpPr txBox="1"/>
          <p:nvPr/>
        </p:nvSpPr>
        <p:spPr>
          <a:xfrm>
            <a:off x="3063240" y="914400"/>
            <a:ext cx="594360" cy="594360"/>
          </a:xfrm>
          <a:prstGeom prst="rect">
            <a:avLst/>
          </a:prstGeom>
          <a:noFill/>
          <a:ln/>
        </p:spPr>
        <p:txBody>
          <a:bodyPr wrap="square" lIns="0" tIns="0" rIns="0" bIns="0" rtlCol="0" anchor="ctr"/>
          <a:lstStyle/>
          <a:p>
            <a:pPr algn="ctr" indent="0" marL="0">
              <a:buNone/>
            </a:pPr>
            <a:r>
              <a:rPr lang="en-US" sz="1500" b="1" dirty="0">
                <a:solidFill>
                  <a:schemeClr val="bg1"/>
                </a:solidFill>
              </a:rPr>
              <a:t>G</a:t>
            </a:r>
            <a:endParaRPr lang="en-US" sz="1500" dirty="0"/>
          </a:p>
        </p:txBody>
      </p:sp>
      <p:sp>
        <p:nvSpPr>
          <p:cNvPr id="12" name="text-9"/>
          <p:cNvSpPr txBox="1"/>
          <p:nvPr/>
        </p:nvSpPr>
        <p:spPr>
          <a:xfrm>
            <a:off x="731520" y="5760720"/>
            <a:ext cx="10698480" cy="548640"/>
          </a:xfrm>
          <a:prstGeom prst="rect">
            <a:avLst/>
          </a:prstGeom>
          <a:noFill/>
          <a:ln/>
        </p:spPr>
        <p:txBody>
          <a:bodyPr wrap="square" lIns="635" tIns="635" rIns="635" bIns="635" rtlCol="0" anchor="t"/>
          <a:lstStyle/>
          <a:p>
            <a:pPr indent="0" marL="0">
              <a:buNone/>
            </a:pPr>
            <a:r>
              <a:rPr lang="en-US" sz="1200" dirty="0">
                <a:solidFill>
                  <a:schemeClr val="bg2"/>
                </a:solidFill>
              </a:rPr>
              <a:t>Based on: ICAR-NRRI Research Bulletin 29 (Chatterjee et al., 2021)  •  Danodia et al., J. Earth Syst. Sci. 126:69 (2017), IARI–IIRS (ISRO)  •  Kipp &amp; Zonen LAS/XLAS instruction manual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Why measure surface fluxes: the energy balance</a:t>
            </a:r>
            <a:endParaRPr lang="en-US" sz="3000" dirty="0"/>
          </a:p>
        </p:txBody>
      </p:sp>
      <p:sp>
        <p:nvSpPr>
          <p:cNvPr id="3" name="card-10"/>
          <p:cNvSpPr/>
          <p:nvPr/>
        </p:nvSpPr>
        <p:spPr>
          <a:xfrm>
            <a:off x="502920" y="1188720"/>
            <a:ext cx="6766560" cy="868680"/>
          </a:xfrm>
          <a:prstGeom prst="roundRect">
            <a:avLst>
              <a:gd name="adj" fmla="val 8421"/>
            </a:avLst>
          </a:prstGeom>
          <a:solidFill>
            <a:schemeClr val="bg2"/>
          </a:solidFill>
          <a:ln w="6350">
            <a:solidFill>
              <a:schemeClr val="bg2"/>
            </a:solidFill>
            <a:prstDash val="solid"/>
          </a:ln>
        </p:spPr>
      </p:sp>
      <p:sp>
        <p:nvSpPr>
          <p:cNvPr id="4" name="eq-11"/>
          <p:cNvSpPr txBox="1"/>
          <p:nvPr/>
        </p:nvSpPr>
        <p:spPr>
          <a:xfrm>
            <a:off x="640080" y="1188720"/>
            <a:ext cx="6492240" cy="868680"/>
          </a:xfrm>
          <a:prstGeom prst="rect">
            <a:avLst/>
          </a:prstGeom>
          <a:noFill/>
          <a:ln/>
        </p:spPr>
        <p:txBody>
          <a:bodyPr wrap="square" lIns="0" tIns="0" rIns="0" bIns="0" rtlCol="0" anchor="ctr"/>
          <a:lstStyle/>
          <a:p>
            <a:pPr algn="ctr" indent="0" marL="0">
              <a:buNone/>
            </a:pPr>
            <a:r>
              <a:rPr lang="en-US" sz="2600" dirty="0">
                <a:solidFill>
                  <a:schemeClr val="tx2"/>
                </a:solidFill>
                <a:latin typeface="Cambria" pitchFamily="34" charset="0"/>
                <a:ea typeface="Cambria" pitchFamily="34" charset="-122"/>
                <a:cs typeface="Cambria" pitchFamily="34" charset="-120"/>
              </a:rPr>
              <a:t>Rn  =  H  +  LE  +  G   (+ S storage)</a:t>
            </a:r>
            <a:endParaRPr lang="en-US" sz="2600" dirty="0"/>
          </a:p>
        </p:txBody>
      </p:sp>
      <p:sp>
        <p:nvSpPr>
          <p:cNvPr id="5" name="badge-12"/>
          <p:cNvSpPr/>
          <p:nvPr/>
        </p:nvSpPr>
        <p:spPr>
          <a:xfrm>
            <a:off x="548640" y="2423160"/>
            <a:ext cx="658368" cy="658368"/>
          </a:xfrm>
          <a:prstGeom prst="ellipse">
            <a:avLst/>
          </a:prstGeom>
          <a:solidFill>
            <a:schemeClr val="accent5"/>
          </a:solidFill>
          <a:ln w="12700">
            <a:solidFill>
              <a:schemeClr val="accent5"/>
            </a:solidFill>
            <a:prstDash val="solid"/>
          </a:ln>
        </p:spPr>
      </p:sp>
      <p:sp>
        <p:nvSpPr>
          <p:cNvPr id="6" name="badge-t-13"/>
          <p:cNvSpPr txBox="1"/>
          <p:nvPr/>
        </p:nvSpPr>
        <p:spPr>
          <a:xfrm>
            <a:off x="548640" y="2423160"/>
            <a:ext cx="658368" cy="658368"/>
          </a:xfrm>
          <a:prstGeom prst="rect">
            <a:avLst/>
          </a:prstGeom>
          <a:noFill/>
          <a:ln/>
        </p:spPr>
        <p:txBody>
          <a:bodyPr wrap="square" lIns="0" tIns="0" rIns="0" bIns="0" rtlCol="0" anchor="ctr"/>
          <a:lstStyle/>
          <a:p>
            <a:pPr algn="ctr" indent="0" marL="0">
              <a:buNone/>
            </a:pPr>
            <a:r>
              <a:rPr lang="en-US" sz="1600" b="1" dirty="0">
                <a:solidFill>
                  <a:schemeClr val="bg1"/>
                </a:solidFill>
              </a:rPr>
              <a:t>Rn</a:t>
            </a:r>
            <a:endParaRPr lang="en-US" sz="1600" dirty="0"/>
          </a:p>
        </p:txBody>
      </p:sp>
      <p:sp>
        <p:nvSpPr>
          <p:cNvPr id="7" name="text-14"/>
          <p:cNvSpPr txBox="1"/>
          <p:nvPr/>
        </p:nvSpPr>
        <p:spPr>
          <a:xfrm>
            <a:off x="1371600" y="2331720"/>
            <a:ext cx="5852160" cy="347472"/>
          </a:xfrm>
          <a:prstGeom prst="rect">
            <a:avLst/>
          </a:prstGeom>
          <a:noFill/>
          <a:ln/>
        </p:spPr>
        <p:txBody>
          <a:bodyPr wrap="square" lIns="635" tIns="635" rIns="635" bIns="635" rtlCol="0" anchor="t"/>
          <a:lstStyle/>
          <a:p>
            <a:pPr indent="0" marL="0">
              <a:buNone/>
            </a:pPr>
            <a:r>
              <a:rPr lang="en-US" sz="1600" b="1" dirty="0">
                <a:solidFill>
                  <a:schemeClr val="tx2"/>
                </a:solidFill>
              </a:rPr>
              <a:t>Net radiation</a:t>
            </a:r>
            <a:endParaRPr lang="en-US" sz="1600" dirty="0"/>
          </a:p>
        </p:txBody>
      </p:sp>
      <p:sp>
        <p:nvSpPr>
          <p:cNvPr id="8" name="text-15"/>
          <p:cNvSpPr txBox="1"/>
          <p:nvPr/>
        </p:nvSpPr>
        <p:spPr>
          <a:xfrm>
            <a:off x="1371600" y="2679192"/>
            <a:ext cx="5852160" cy="566928"/>
          </a:xfrm>
          <a:prstGeom prst="rect">
            <a:avLst/>
          </a:prstGeom>
          <a:noFill/>
          <a:ln/>
        </p:spPr>
        <p:txBody>
          <a:bodyPr wrap="square" lIns="635" tIns="635" rIns="635" bIns="635" rtlCol="0" anchor="t"/>
          <a:lstStyle/>
          <a:p>
            <a:pPr indent="0" marL="0">
              <a:buNone/>
            </a:pPr>
            <a:r>
              <a:rPr lang="en-US" sz="1300" dirty="0">
                <a:solidFill>
                  <a:schemeClr val="tx1"/>
                </a:solidFill>
              </a:rPr>
              <a:t>Rn = (SW↓ − SW↑) + (LW↓ − LW↑); measured by a 4-component net radiometer</a:t>
            </a:r>
            <a:endParaRPr lang="en-US" sz="1300" dirty="0"/>
          </a:p>
        </p:txBody>
      </p:sp>
      <p:sp>
        <p:nvSpPr>
          <p:cNvPr id="9" name="badge-16"/>
          <p:cNvSpPr/>
          <p:nvPr/>
        </p:nvSpPr>
        <p:spPr>
          <a:xfrm>
            <a:off x="548640" y="3401568"/>
            <a:ext cx="658368" cy="658368"/>
          </a:xfrm>
          <a:prstGeom prst="ellipse">
            <a:avLst/>
          </a:prstGeom>
          <a:solidFill>
            <a:schemeClr val="accent2"/>
          </a:solidFill>
          <a:ln w="12700">
            <a:solidFill>
              <a:schemeClr val="accent2"/>
            </a:solidFill>
            <a:prstDash val="solid"/>
          </a:ln>
        </p:spPr>
      </p:sp>
      <p:sp>
        <p:nvSpPr>
          <p:cNvPr id="10" name="badge-t-17"/>
          <p:cNvSpPr txBox="1"/>
          <p:nvPr/>
        </p:nvSpPr>
        <p:spPr>
          <a:xfrm>
            <a:off x="548640" y="3401568"/>
            <a:ext cx="658368" cy="658368"/>
          </a:xfrm>
          <a:prstGeom prst="rect">
            <a:avLst/>
          </a:prstGeom>
          <a:noFill/>
          <a:ln/>
        </p:spPr>
        <p:txBody>
          <a:bodyPr wrap="square" lIns="0" tIns="0" rIns="0" bIns="0" rtlCol="0" anchor="ctr"/>
          <a:lstStyle/>
          <a:p>
            <a:pPr algn="ctr" indent="0" marL="0">
              <a:buNone/>
            </a:pPr>
            <a:r>
              <a:rPr lang="en-US" sz="1600" b="1" dirty="0">
                <a:solidFill>
                  <a:schemeClr val="bg1"/>
                </a:solidFill>
              </a:rPr>
              <a:t>H</a:t>
            </a:r>
            <a:endParaRPr lang="en-US" sz="1600" dirty="0"/>
          </a:p>
        </p:txBody>
      </p:sp>
      <p:sp>
        <p:nvSpPr>
          <p:cNvPr id="11" name="text-18"/>
          <p:cNvSpPr txBox="1"/>
          <p:nvPr/>
        </p:nvSpPr>
        <p:spPr>
          <a:xfrm>
            <a:off x="1371600" y="3310128"/>
            <a:ext cx="5852160" cy="347472"/>
          </a:xfrm>
          <a:prstGeom prst="rect">
            <a:avLst/>
          </a:prstGeom>
          <a:noFill/>
          <a:ln/>
        </p:spPr>
        <p:txBody>
          <a:bodyPr wrap="square" lIns="635" tIns="635" rIns="635" bIns="635" rtlCol="0" anchor="t"/>
          <a:lstStyle/>
          <a:p>
            <a:pPr indent="0" marL="0">
              <a:buNone/>
            </a:pPr>
            <a:r>
              <a:rPr lang="en-US" sz="1600" b="1" dirty="0">
                <a:solidFill>
                  <a:schemeClr val="tx2"/>
                </a:solidFill>
              </a:rPr>
              <a:t>Sensible heat flux</a:t>
            </a:r>
            <a:endParaRPr lang="en-US" sz="1600" dirty="0"/>
          </a:p>
        </p:txBody>
      </p:sp>
      <p:sp>
        <p:nvSpPr>
          <p:cNvPr id="12" name="text-19"/>
          <p:cNvSpPr txBox="1"/>
          <p:nvPr/>
        </p:nvSpPr>
        <p:spPr>
          <a:xfrm>
            <a:off x="1371600" y="3657600"/>
            <a:ext cx="5852160" cy="566928"/>
          </a:xfrm>
          <a:prstGeom prst="rect">
            <a:avLst/>
          </a:prstGeom>
          <a:noFill/>
          <a:ln/>
        </p:spPr>
        <p:txBody>
          <a:bodyPr wrap="square" lIns="635" tIns="635" rIns="635" bIns="635" rtlCol="0" anchor="t"/>
          <a:lstStyle/>
          <a:p>
            <a:pPr indent="0" marL="0">
              <a:buNone/>
            </a:pPr>
            <a:r>
              <a:rPr lang="en-US" sz="1300" dirty="0">
                <a:solidFill>
                  <a:schemeClr val="tx1"/>
                </a:solidFill>
              </a:rPr>
              <a:t>Heat carried by turbulence that changes air temperature (EC: w′T′; LAS: from Cn²)</a:t>
            </a:r>
            <a:endParaRPr lang="en-US" sz="1300" dirty="0"/>
          </a:p>
        </p:txBody>
      </p:sp>
      <p:sp>
        <p:nvSpPr>
          <p:cNvPr id="13" name="badge-20"/>
          <p:cNvSpPr/>
          <p:nvPr/>
        </p:nvSpPr>
        <p:spPr>
          <a:xfrm>
            <a:off x="548640" y="4379976"/>
            <a:ext cx="658368" cy="658368"/>
          </a:xfrm>
          <a:prstGeom prst="ellipse">
            <a:avLst/>
          </a:prstGeom>
          <a:solidFill>
            <a:schemeClr val="accent3"/>
          </a:solidFill>
          <a:ln w="12700">
            <a:solidFill>
              <a:schemeClr val="accent3"/>
            </a:solidFill>
            <a:prstDash val="solid"/>
          </a:ln>
        </p:spPr>
      </p:sp>
      <p:sp>
        <p:nvSpPr>
          <p:cNvPr id="14" name="badge-t-21"/>
          <p:cNvSpPr txBox="1"/>
          <p:nvPr/>
        </p:nvSpPr>
        <p:spPr>
          <a:xfrm>
            <a:off x="548640" y="4379976"/>
            <a:ext cx="658368" cy="658368"/>
          </a:xfrm>
          <a:prstGeom prst="rect">
            <a:avLst/>
          </a:prstGeom>
          <a:noFill/>
          <a:ln/>
        </p:spPr>
        <p:txBody>
          <a:bodyPr wrap="square" lIns="0" tIns="0" rIns="0" bIns="0" rtlCol="0" anchor="ctr"/>
          <a:lstStyle/>
          <a:p>
            <a:pPr algn="ctr" indent="0" marL="0">
              <a:buNone/>
            </a:pPr>
            <a:r>
              <a:rPr lang="en-US" sz="1600" b="1" dirty="0">
                <a:solidFill>
                  <a:schemeClr val="bg1"/>
                </a:solidFill>
              </a:rPr>
              <a:t>LE</a:t>
            </a:r>
            <a:endParaRPr lang="en-US" sz="1600" dirty="0"/>
          </a:p>
        </p:txBody>
      </p:sp>
      <p:sp>
        <p:nvSpPr>
          <p:cNvPr id="15" name="text-22"/>
          <p:cNvSpPr txBox="1"/>
          <p:nvPr/>
        </p:nvSpPr>
        <p:spPr>
          <a:xfrm>
            <a:off x="1371600" y="4288536"/>
            <a:ext cx="5852160" cy="347472"/>
          </a:xfrm>
          <a:prstGeom prst="rect">
            <a:avLst/>
          </a:prstGeom>
          <a:noFill/>
          <a:ln/>
        </p:spPr>
        <p:txBody>
          <a:bodyPr wrap="square" lIns="635" tIns="635" rIns="635" bIns="635" rtlCol="0" anchor="t"/>
          <a:lstStyle/>
          <a:p>
            <a:pPr indent="0" marL="0">
              <a:buNone/>
            </a:pPr>
            <a:r>
              <a:rPr lang="en-US" sz="1600" b="1" dirty="0">
                <a:solidFill>
                  <a:schemeClr val="tx2"/>
                </a:solidFill>
              </a:rPr>
              <a:t>Latent heat flux</a:t>
            </a:r>
            <a:endParaRPr lang="en-US" sz="1600" dirty="0"/>
          </a:p>
        </p:txBody>
      </p:sp>
      <p:sp>
        <p:nvSpPr>
          <p:cNvPr id="16" name="text-23"/>
          <p:cNvSpPr txBox="1"/>
          <p:nvPr/>
        </p:nvSpPr>
        <p:spPr>
          <a:xfrm>
            <a:off x="1371600" y="4636008"/>
            <a:ext cx="5852160" cy="566928"/>
          </a:xfrm>
          <a:prstGeom prst="rect">
            <a:avLst/>
          </a:prstGeom>
          <a:noFill/>
          <a:ln/>
        </p:spPr>
        <p:txBody>
          <a:bodyPr wrap="square" lIns="635" tIns="635" rIns="635" bIns="635" rtlCol="0" anchor="t"/>
          <a:lstStyle/>
          <a:p>
            <a:pPr indent="0" marL="0">
              <a:buNone/>
            </a:pPr>
            <a:r>
              <a:rPr lang="en-US" sz="1300" dirty="0">
                <a:solidFill>
                  <a:schemeClr val="tx1"/>
                </a:solidFill>
              </a:rPr>
              <a:t>Energy used for evapotranspiration; ET (mm) = LE / λ, λ ≈ 2.45 MJ kg⁻¹</a:t>
            </a:r>
            <a:endParaRPr lang="en-US" sz="1300" dirty="0"/>
          </a:p>
        </p:txBody>
      </p:sp>
      <p:sp>
        <p:nvSpPr>
          <p:cNvPr id="17" name="badge-24"/>
          <p:cNvSpPr/>
          <p:nvPr/>
        </p:nvSpPr>
        <p:spPr>
          <a:xfrm>
            <a:off x="548640" y="5358384"/>
            <a:ext cx="658368" cy="658368"/>
          </a:xfrm>
          <a:prstGeom prst="ellipse">
            <a:avLst/>
          </a:prstGeom>
          <a:solidFill>
            <a:schemeClr val="accent4"/>
          </a:solidFill>
          <a:ln w="12700">
            <a:solidFill>
              <a:schemeClr val="accent4"/>
            </a:solidFill>
            <a:prstDash val="solid"/>
          </a:ln>
        </p:spPr>
      </p:sp>
      <p:sp>
        <p:nvSpPr>
          <p:cNvPr id="18" name="badge-t-25"/>
          <p:cNvSpPr txBox="1"/>
          <p:nvPr/>
        </p:nvSpPr>
        <p:spPr>
          <a:xfrm>
            <a:off x="548640" y="5358384"/>
            <a:ext cx="658368" cy="658368"/>
          </a:xfrm>
          <a:prstGeom prst="rect">
            <a:avLst/>
          </a:prstGeom>
          <a:noFill/>
          <a:ln/>
        </p:spPr>
        <p:txBody>
          <a:bodyPr wrap="square" lIns="0" tIns="0" rIns="0" bIns="0" rtlCol="0" anchor="ctr"/>
          <a:lstStyle/>
          <a:p>
            <a:pPr algn="ctr" indent="0" marL="0">
              <a:buNone/>
            </a:pPr>
            <a:r>
              <a:rPr lang="en-US" sz="1600" b="1" dirty="0">
                <a:solidFill>
                  <a:schemeClr val="bg1"/>
                </a:solidFill>
              </a:rPr>
              <a:t>G</a:t>
            </a:r>
            <a:endParaRPr lang="en-US" sz="1600" dirty="0"/>
          </a:p>
        </p:txBody>
      </p:sp>
      <p:sp>
        <p:nvSpPr>
          <p:cNvPr id="19" name="text-26"/>
          <p:cNvSpPr txBox="1"/>
          <p:nvPr/>
        </p:nvSpPr>
        <p:spPr>
          <a:xfrm>
            <a:off x="1371600" y="5266944"/>
            <a:ext cx="5852160" cy="347472"/>
          </a:xfrm>
          <a:prstGeom prst="rect">
            <a:avLst/>
          </a:prstGeom>
          <a:noFill/>
          <a:ln/>
        </p:spPr>
        <p:txBody>
          <a:bodyPr wrap="square" lIns="635" tIns="635" rIns="635" bIns="635" rtlCol="0" anchor="t"/>
          <a:lstStyle/>
          <a:p>
            <a:pPr indent="0" marL="0">
              <a:buNone/>
            </a:pPr>
            <a:r>
              <a:rPr lang="en-US" sz="1600" b="1" dirty="0">
                <a:solidFill>
                  <a:schemeClr val="tx2"/>
                </a:solidFill>
              </a:rPr>
              <a:t>Soil heat flux</a:t>
            </a:r>
            <a:endParaRPr lang="en-US" sz="1600" dirty="0"/>
          </a:p>
        </p:txBody>
      </p:sp>
      <p:sp>
        <p:nvSpPr>
          <p:cNvPr id="20" name="text-27"/>
          <p:cNvSpPr txBox="1"/>
          <p:nvPr/>
        </p:nvSpPr>
        <p:spPr>
          <a:xfrm>
            <a:off x="1371600" y="5614416"/>
            <a:ext cx="5852160" cy="566928"/>
          </a:xfrm>
          <a:prstGeom prst="rect">
            <a:avLst/>
          </a:prstGeom>
          <a:noFill/>
          <a:ln/>
        </p:spPr>
        <p:txBody>
          <a:bodyPr wrap="square" lIns="635" tIns="635" rIns="635" bIns="635" rtlCol="0" anchor="t"/>
          <a:lstStyle/>
          <a:p>
            <a:pPr indent="0" marL="0">
              <a:buNone/>
            </a:pPr>
            <a:r>
              <a:rPr lang="en-US" sz="1300" dirty="0">
                <a:solidFill>
                  <a:schemeClr val="tx1"/>
                </a:solidFill>
              </a:rPr>
              <a:t>Conduction into soil; soil heat flux plates (e.g. at 5–10 cm) plus storage above plate</a:t>
            </a:r>
            <a:endParaRPr lang="en-US" sz="1300" dirty="0"/>
          </a:p>
        </p:txBody>
      </p:sp>
      <p:sp>
        <p:nvSpPr>
          <p:cNvPr id="21" name="card-28"/>
          <p:cNvSpPr/>
          <p:nvPr/>
        </p:nvSpPr>
        <p:spPr>
          <a:xfrm>
            <a:off x="7589520" y="1188720"/>
            <a:ext cx="4069080" cy="5029200"/>
          </a:xfrm>
          <a:prstGeom prst="roundRect">
            <a:avLst>
              <a:gd name="adj" fmla="val 1798"/>
            </a:avLst>
          </a:prstGeom>
          <a:solidFill>
            <a:schemeClr val="bg2"/>
          </a:solidFill>
          <a:ln w="6350">
            <a:solidFill>
              <a:schemeClr val="bg2"/>
            </a:solidFill>
            <a:prstDash val="solid"/>
          </a:ln>
        </p:spPr>
      </p:sp>
      <p:sp>
        <p:nvSpPr>
          <p:cNvPr id="22" name="text-29"/>
          <p:cNvSpPr txBox="1"/>
          <p:nvPr/>
        </p:nvSpPr>
        <p:spPr>
          <a:xfrm>
            <a:off x="7772400" y="1325880"/>
            <a:ext cx="3749040" cy="411480"/>
          </a:xfrm>
          <a:prstGeom prst="rect">
            <a:avLst/>
          </a:prstGeom>
          <a:noFill/>
          <a:ln/>
        </p:spPr>
        <p:txBody>
          <a:bodyPr wrap="square" lIns="635" tIns="635" rIns="635" bIns="635" rtlCol="0" anchor="t"/>
          <a:lstStyle/>
          <a:p>
            <a:pPr indent="0" marL="0">
              <a:buNone/>
            </a:pPr>
            <a:r>
              <a:rPr lang="en-US" sz="1700" b="1" dirty="0">
                <a:solidFill>
                  <a:schemeClr val="accent1"/>
                </a:solidFill>
              </a:rPr>
              <a:t>Why agriculture needs these numbers</a:t>
            </a:r>
            <a:endParaRPr lang="en-US" sz="1700" dirty="0"/>
          </a:p>
        </p:txBody>
      </p:sp>
      <p:sp>
        <p:nvSpPr>
          <p:cNvPr id="23" name="list-30"/>
          <p:cNvSpPr txBox="1"/>
          <p:nvPr/>
        </p:nvSpPr>
        <p:spPr>
          <a:xfrm>
            <a:off x="7772400" y="1783080"/>
            <a:ext cx="3749040" cy="4343400"/>
          </a:xfrm>
          <a:prstGeom prst="rect">
            <a:avLst/>
          </a:prstGeom>
          <a:noFill/>
          <a:ln/>
        </p:spPr>
        <p:txBody>
          <a:bodyPr wrap="square" lIns="635" tIns="635" rIns="635" bIns="635" rtlCol="0" anchor="t"/>
          <a:lstStyle/>
          <a:p>
            <a:pPr marL="203200" indent="-203200">
              <a:spcAft>
                <a:spcPts val="500"/>
              </a:spcAft>
              <a:buSzPct val="100000"/>
              <a:buChar char="•"/>
            </a:pPr>
            <a:r>
              <a:rPr lang="en-US" sz="1400" dirty="0">
                <a:solidFill>
                  <a:schemeClr val="tx1"/>
                </a:solidFill>
              </a:rPr>
              <a:t>Actual crop ET (ETa) → irrigation scheduling, crop coefficients (Kc), water productivity</a:t>
            </a:r>
            <a:endParaRPr lang="en-US" sz="1400" dirty="0"/>
          </a:p>
          <a:p>
            <a:pPr marL="203200" indent="-203200">
              <a:spcAft>
                <a:spcPts val="500"/>
              </a:spcAft>
              <a:buSzPct val="100000"/>
              <a:buChar char="•"/>
            </a:pPr>
            <a:r>
              <a:rPr lang="en-US" sz="1400" dirty="0">
                <a:solidFill>
                  <a:schemeClr val="tx1"/>
                </a:solidFill>
              </a:rPr>
              <a:t>Calibration/validation of satellite ET models: SEBAL, METRIC, SEBS, TSEB</a:t>
            </a:r>
            <a:endParaRPr lang="en-US" sz="1400" dirty="0"/>
          </a:p>
          <a:p>
            <a:pPr marL="203200" indent="-203200">
              <a:spcAft>
                <a:spcPts val="500"/>
              </a:spcAft>
              <a:buSzPct val="100000"/>
              <a:buChar char="•"/>
            </a:pPr>
            <a:r>
              <a:rPr lang="en-US" sz="1400" dirty="0">
                <a:solidFill>
                  <a:schemeClr val="tx1"/>
                </a:solidFill>
              </a:rPr>
              <a:t>Carbon budgets: NEE, GPP, ecosystem respiration; CH₄ from rice</a:t>
            </a:r>
            <a:endParaRPr lang="en-US" sz="1400" dirty="0"/>
          </a:p>
          <a:p>
            <a:pPr marL="203200" indent="-203200">
              <a:spcAft>
                <a:spcPts val="500"/>
              </a:spcAft>
              <a:buSzPct val="100000"/>
              <a:buChar char="•"/>
            </a:pPr>
            <a:r>
              <a:rPr lang="en-US" sz="1400" dirty="0">
                <a:solidFill>
                  <a:schemeClr val="tx1"/>
                </a:solidFill>
              </a:rPr>
              <a:t>Inputs and checks for crop, hydrological and climate models</a:t>
            </a:r>
            <a:endParaRPr lang="en-US" sz="1400" dirty="0"/>
          </a:p>
          <a:p>
            <a:pPr marL="203200" indent="-203200">
              <a:spcAft>
                <a:spcPts val="500"/>
              </a:spcAft>
              <a:buSzPct val="100000"/>
              <a:buChar char="•"/>
            </a:pPr>
            <a:r>
              <a:rPr lang="en-US" sz="1400" dirty="0">
                <a:solidFill>
                  <a:schemeClr val="tx1"/>
                </a:solidFill>
              </a:rPr>
              <a:t>Bowen ratio (β = H/LE) and evaporative fraction EF = LE/(Rn − G) show crop water status</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Flux measurement methods at a glance</a:t>
            </a:r>
            <a:endParaRPr lang="en-US" sz="3000" dirty="0"/>
          </a:p>
        </p:txBody>
      </p:sp>
      <p:graphicFrame>
        <p:nvGraphicFramePr>
          <p:cNvPr id="4" name="methods-table"/>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914400"/>
        </p:xfrm>
        <a:graphic>
          <a:graphicData uri="http://schemas.openxmlformats.org/drawingml/2006/table">
            <a:tbl>
              <a:tblPr/>
              <a:tblGrid>
                <a:gridCol w="2103120"/>
                <a:gridCol w="2377440"/>
                <a:gridCol w="2011680"/>
                <a:gridCol w="2194560"/>
                <a:gridCol w="2468880"/>
              </a:tblGrid>
              <a:tr h="640080">
                <a:tc>
                  <a:txBody>
                    <a:bodyPr/>
                    <a:lstStyle/>
                    <a:p>
                      <a:pPr indent="0" marL="0">
                        <a:buNone/>
                      </a:pPr>
                      <a:r>
                        <a:rPr lang="en-US" sz="1300" b="1" dirty="0">
                          <a:solidFill>
                            <a:schemeClr val="bg1"/>
                          </a:solidFill>
                        </a:rPr>
                        <a:t>Method</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it measures</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Spatial scale</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Key strength</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Key limitation</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r>
              <a:tr h="640080">
                <a:tc>
                  <a:txBody>
                    <a:bodyPr/>
                    <a:lstStyle/>
                    <a:p>
                      <a:pPr indent="0" marL="0">
                        <a:buNone/>
                      </a:pPr>
                      <a:r>
                        <a:rPr lang="en-US" sz="1300" dirty="0">
                          <a:solidFill>
                            <a:schemeClr val="tx1"/>
                          </a:solidFill>
                        </a:rPr>
                        <a:t>Closed chamber + GC</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CH₄, N₂O, CO₂ (discrete samples)</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&lt; 1 m²</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Cheap, treatment comparison</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Disturbs plants; interpolated between samples</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Bowen ratio energy balance</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 LE from T and e gradients</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100 m</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Simple, low cost</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Unreliable under advection</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Eddy covariance</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 LE, CO₂, CH₄, momentum (direct)</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Few hundred m (2–3 ha fetch)</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Direct, continuous, 10 Hz</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Many corrections; needs flat homogeneous fetch; closure gap</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r>
              <a:tr h="640080">
                <a:tc>
                  <a:txBody>
                    <a:bodyPr/>
                    <a:lstStyle/>
                    <a:p>
                      <a:pPr indent="0" marL="0">
                        <a:buNone/>
                      </a:pPr>
                      <a:r>
                        <a:rPr lang="en-US" sz="1300" dirty="0">
                          <a:solidFill>
                            <a:schemeClr val="tx1"/>
                          </a:solidFill>
                        </a:rPr>
                        <a:t>Large aperture scintillometer</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Path-averaged H (LE as residual)</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250 m – 4.5 km (XLAS to 8 km)</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Matches satellite pixel scale; low maintenance</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Relies on MOST; saturation; no CO₂</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r>
              <a:tr h="640080">
                <a:tc>
                  <a:txBody>
                    <a:bodyPr/>
                    <a:lstStyle/>
                    <a:p>
                      <a:pPr indent="0" marL="0">
                        <a:buNone/>
                      </a:pPr>
                      <a:r>
                        <a:rPr lang="en-US" sz="1300" dirty="0">
                          <a:solidFill>
                            <a:schemeClr val="tx1"/>
                          </a:solidFill>
                        </a:rPr>
                        <a:t>Weighing lysimeter</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ET by mass change</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1–10 m²</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Reference standard for ET</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Fixed site, expensive</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Satellite energy balance</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ET maps from LST, albedo, NDVI</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30 m – 5 km</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Regional, repeatable</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Needs ground validation (EC/LAS)</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Where fluxes are measured: the atmospheric surface layer</a:t>
            </a:r>
            <a:endParaRPr lang="en-US" sz="3000" dirty="0"/>
          </a:p>
        </p:txBody>
      </p:sp>
      <p:pic>
        <p:nvPicPr>
          <p:cNvPr id="3" name="img-31" descr="Atmospheric layers and EC installation (Burba &amp; Anderson 2010, in ICAR-NRRI Bulletin 29)">    </p:cNvPr>
          <p:cNvPicPr>
            <a:picLocks noChangeAspect="1"/>
          </p:cNvPicPr>
          <p:nvPr/>
        </p:nvPicPr>
        <p:blipFill>
          <a:blip r:embed="rId1"/>
          <a:stretch>
            <a:fillRect/>
          </a:stretch>
        </p:blipFill>
        <p:spPr>
          <a:xfrm>
            <a:off x="502920" y="1219997"/>
            <a:ext cx="6675120" cy="3028117"/>
          </a:xfrm>
          <a:prstGeom prst="rect">
            <a:avLst/>
          </a:prstGeom>
        </p:spPr>
      </p:pic>
      <p:sp>
        <p:nvSpPr>
          <p:cNvPr id="4" name="frame-32"/>
          <p:cNvSpPr/>
          <p:nvPr/>
        </p:nvSpPr>
        <p:spPr>
          <a:xfrm>
            <a:off x="502920" y="1219997"/>
            <a:ext cx="6675120" cy="3028117"/>
          </a:xfrm>
          <a:prstGeom prst="rect">
            <a:avLst/>
          </a:prstGeom>
          <a:ln w="9525">
            <a:solidFill>
              <a:srgbClr val="C9D3CC"/>
            </a:solidFill>
            <a:prstDash val="solid"/>
          </a:ln>
        </p:spPr>
      </p:sp>
      <p:sp>
        <p:nvSpPr>
          <p:cNvPr id="5" name="text-33"/>
          <p:cNvSpPr txBox="1"/>
          <p:nvPr/>
        </p:nvSpPr>
        <p:spPr>
          <a:xfrm>
            <a:off x="502920" y="4315968"/>
            <a:ext cx="667512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Atmospheric layers and EC installation (Burba &amp; Anderson 2010, in ICAR-NRRI Bulletin 29)</a:t>
            </a:r>
            <a:endParaRPr lang="en-US" sz="1000" dirty="0"/>
          </a:p>
        </p:txBody>
      </p:sp>
      <p:sp>
        <p:nvSpPr>
          <p:cNvPr id="6" name="labeled-34"/>
          <p:cNvSpPr txBox="1"/>
          <p:nvPr/>
        </p:nvSpPr>
        <p:spPr>
          <a:xfrm>
            <a:off x="7406640" y="1188720"/>
            <a:ext cx="4297680" cy="5029200"/>
          </a:xfrm>
          <a:prstGeom prst="rect">
            <a:avLst/>
          </a:prstGeom>
          <a:noFill/>
          <a:ln/>
        </p:spPr>
        <p:txBody>
          <a:bodyPr wrap="square" lIns="635" tIns="635" rIns="635" bIns="635" rtlCol="0" anchor="t"/>
          <a:lstStyle/>
          <a:p>
            <a:pPr marL="203200" indent="-203200">
              <a:spcAft>
                <a:spcPts val="600"/>
              </a:spcAft>
              <a:buSzPct val="100000"/>
              <a:buChar char="•"/>
            </a:pPr>
            <a:r>
              <a:rPr lang="en-US" sz="1400" b="1" dirty="0">
                <a:solidFill>
                  <a:schemeClr val="tx2"/>
                </a:solidFill>
              </a:rPr>
              <a:t>Planetary boundary layer (PBL): </a:t>
            </a:r>
            <a:pPr indent="0" marL="0">
              <a:buNone/>
            </a:pPr>
            <a:r>
              <a:rPr lang="en-US" sz="1400" dirty="0">
                <a:solidFill>
                  <a:schemeClr val="tx1"/>
                </a:solidFill>
              </a:rPr>
              <a:t>100 m (night) to 1–2 km (day); directly heated/cooled by the surface</a:t>
            </a:r>
            <a:endParaRPr lang="en-US" sz="1400" dirty="0"/>
          </a:p>
          <a:p>
            <a:pPr marL="203200" indent="-203200">
              <a:spcAft>
                <a:spcPts val="600"/>
              </a:spcAft>
              <a:buSzPct val="100000"/>
              <a:buChar char="•"/>
            </a:pPr>
            <a:r>
              <a:rPr lang="en-US" sz="1400" b="1" dirty="0">
                <a:solidFill>
                  <a:schemeClr val="tx2"/>
                </a:solidFill>
              </a:rPr>
              <a:t>Surface layer = constant-flux layer: </a:t>
            </a:r>
            <a:pPr indent="0" marL="0">
              <a:buNone/>
            </a:pPr>
            <a:r>
              <a:rPr lang="en-US" sz="1400" dirty="0">
                <a:solidFill>
                  <a:schemeClr val="tx1"/>
                </a:solidFill>
              </a:rPr>
              <a:t>lowest ~10% of PBL (20 m night, ~100 m day); fluxes ≈ constant with height</a:t>
            </a:r>
            <a:endParaRPr lang="en-US" sz="1400" dirty="0"/>
          </a:p>
          <a:p>
            <a:pPr marL="203200" indent="-203200">
              <a:spcAft>
                <a:spcPts val="600"/>
              </a:spcAft>
              <a:buSzPct val="100000"/>
              <a:buChar char="•"/>
            </a:pPr>
            <a:r>
              <a:rPr lang="en-US" sz="1400" b="1" dirty="0">
                <a:solidFill>
                  <a:schemeClr val="tx2"/>
                </a:solidFill>
              </a:rPr>
              <a:t>Roughness sublayer: </a:t>
            </a:r>
            <a:pPr indent="0" marL="0">
              <a:buNone/>
            </a:pPr>
            <a:r>
              <a:rPr lang="en-US" sz="1400" dirty="0">
                <a:solidFill>
                  <a:schemeClr val="tx1"/>
                </a:solidFill>
              </a:rPr>
              <a:t>up to ~1.5–3 × canopy height h; flow disturbed by individual plants, so avoid it</a:t>
            </a:r>
            <a:endParaRPr lang="en-US" sz="1400" dirty="0"/>
          </a:p>
          <a:p>
            <a:pPr marL="203200" indent="-203200">
              <a:spcAft>
                <a:spcPts val="600"/>
              </a:spcAft>
              <a:buSzPct val="100000"/>
              <a:buChar char="•"/>
            </a:pPr>
            <a:r>
              <a:rPr lang="en-US" sz="1400" b="1" dirty="0">
                <a:solidFill>
                  <a:schemeClr val="tx2"/>
                </a:solidFill>
              </a:rPr>
              <a:t>MOST (Monin–Obukhov similarity theory): </a:t>
            </a:r>
            <a:pPr indent="0" marL="0">
              <a:buNone/>
            </a:pPr>
            <a:r>
              <a:rPr lang="en-US" sz="1400" dirty="0">
                <a:solidFill>
                  <a:schemeClr val="tx1"/>
                </a:solidFill>
              </a:rPr>
              <a:t>flux–profile relations depend on (z − d)/L, L = Obukhov length</a:t>
            </a:r>
            <a:endParaRPr lang="en-US" sz="1400" dirty="0"/>
          </a:p>
          <a:p>
            <a:pPr marL="203200" indent="-203200">
              <a:spcAft>
                <a:spcPts val="600"/>
              </a:spcAft>
              <a:buSzPct val="100000"/>
              <a:buChar char="•"/>
            </a:pPr>
            <a:r>
              <a:rPr lang="en-US" sz="1400" b="1" dirty="0">
                <a:solidFill>
                  <a:schemeClr val="tx2"/>
                </a:solidFill>
              </a:rPr>
              <a:t>Fetch &amp; footprint: </a:t>
            </a:r>
            <a:pPr indent="0" marL="0">
              <a:buNone/>
            </a:pPr>
            <a:r>
              <a:rPr lang="en-US" sz="1400" dirty="0">
                <a:solidFill>
                  <a:schemeClr val="tx1"/>
                </a:solidFill>
              </a:rPr>
              <a:t>upwind area the sensor sees; rule of thumb fetch ≈ 100 × sensor height</a:t>
            </a:r>
            <a:endParaRPr lang="en-US" sz="1400" dirty="0"/>
          </a:p>
        </p:txBody>
      </p:sp>
      <p:sp>
        <p:nvSpPr>
          <p:cNvPr id="7" name="text-35"/>
          <p:cNvSpPr txBox="1"/>
          <p:nvPr/>
        </p:nvSpPr>
        <p:spPr>
          <a:xfrm>
            <a:off x="502920" y="4800600"/>
            <a:ext cx="6675120" cy="822960"/>
          </a:xfrm>
          <a:prstGeom prst="rect">
            <a:avLst/>
          </a:prstGeom>
          <a:noFill/>
          <a:ln/>
        </p:spPr>
        <p:txBody>
          <a:bodyPr wrap="square" lIns="635" tIns="635" rIns="635" bIns="635" rtlCol="0" anchor="t"/>
          <a:lstStyle/>
          <a:p>
            <a:pPr indent="0" marL="0">
              <a:buNone/>
            </a:pPr>
            <a:r>
              <a:rPr lang="en-US" sz="1600" b="1" dirty="0">
                <a:solidFill>
                  <a:schemeClr val="accent1"/>
                </a:solidFill>
              </a:rPr>
              <a:t>Both instruments must sit inside the constant-flux layer and above the roughness sublayer.</a:t>
            </a:r>
            <a:endParaRPr lang="en-US" sz="16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Roughness length (z₀) and zero-plane displacement (d)</a:t>
            </a:r>
            <a:endParaRPr lang="en-US" sz="3000" dirty="0"/>
          </a:p>
        </p:txBody>
      </p:sp>
      <p:pic>
        <p:nvPicPr>
          <p:cNvPr id="3" name="img-36" descr="Dense vs sparse roughness elements (Kipp &amp; Zonen LAS manual, Fig. 18)">    </p:cNvPr>
          <p:cNvPicPr>
            <a:picLocks noChangeAspect="1"/>
          </p:cNvPicPr>
          <p:nvPr/>
        </p:nvPicPr>
        <p:blipFill>
          <a:blip r:embed="rId1"/>
          <a:stretch>
            <a:fillRect/>
          </a:stretch>
        </p:blipFill>
        <p:spPr>
          <a:xfrm>
            <a:off x="502920" y="1216690"/>
            <a:ext cx="6309360" cy="3080452"/>
          </a:xfrm>
          <a:prstGeom prst="rect">
            <a:avLst/>
          </a:prstGeom>
        </p:spPr>
      </p:pic>
      <p:sp>
        <p:nvSpPr>
          <p:cNvPr id="4" name="frame-37"/>
          <p:cNvSpPr/>
          <p:nvPr/>
        </p:nvSpPr>
        <p:spPr>
          <a:xfrm>
            <a:off x="502920" y="1216690"/>
            <a:ext cx="6309360" cy="3080452"/>
          </a:xfrm>
          <a:prstGeom prst="rect">
            <a:avLst/>
          </a:prstGeom>
          <a:ln w="9525">
            <a:solidFill>
              <a:srgbClr val="C9D3CC"/>
            </a:solidFill>
            <a:prstDash val="solid"/>
          </a:ln>
        </p:spPr>
      </p:sp>
      <p:sp>
        <p:nvSpPr>
          <p:cNvPr id="5" name="text-38"/>
          <p:cNvSpPr txBox="1"/>
          <p:nvPr/>
        </p:nvSpPr>
        <p:spPr>
          <a:xfrm>
            <a:off x="502920" y="4361688"/>
            <a:ext cx="630936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Dense vs sparse roughness elements (Kipp &amp; Zonen LAS manual, Fig. 18)</a:t>
            </a:r>
            <a:endParaRPr lang="en-US" sz="1000" dirty="0"/>
          </a:p>
        </p:txBody>
      </p:sp>
      <p:sp>
        <p:nvSpPr>
          <p:cNvPr id="6" name="card-39"/>
          <p:cNvSpPr/>
          <p:nvPr/>
        </p:nvSpPr>
        <p:spPr>
          <a:xfrm>
            <a:off x="7086600" y="1188720"/>
            <a:ext cx="4572000" cy="2148840"/>
          </a:xfrm>
          <a:prstGeom prst="roundRect">
            <a:avLst>
              <a:gd name="adj" fmla="val 3404"/>
            </a:avLst>
          </a:prstGeom>
          <a:solidFill>
            <a:schemeClr val="bg2"/>
          </a:solidFill>
          <a:ln w="6350">
            <a:solidFill>
              <a:schemeClr val="bg2"/>
            </a:solidFill>
            <a:prstDash val="solid"/>
          </a:ln>
        </p:spPr>
      </p:sp>
      <p:sp>
        <p:nvSpPr>
          <p:cNvPr id="7" name="text-40"/>
          <p:cNvSpPr txBox="1"/>
          <p:nvPr/>
        </p:nvSpPr>
        <p:spPr>
          <a:xfrm>
            <a:off x="7269480" y="1280160"/>
            <a:ext cx="4206240" cy="365760"/>
          </a:xfrm>
          <a:prstGeom prst="rect">
            <a:avLst/>
          </a:prstGeom>
          <a:noFill/>
          <a:ln/>
        </p:spPr>
        <p:txBody>
          <a:bodyPr wrap="square" lIns="635" tIns="635" rIns="635" bIns="635" rtlCol="0" anchor="t"/>
          <a:lstStyle/>
          <a:p>
            <a:pPr indent="0" marL="0">
              <a:buNone/>
            </a:pPr>
            <a:r>
              <a:rPr lang="en-US" sz="1600" b="1" dirty="0">
                <a:solidFill>
                  <a:schemeClr val="accent1"/>
                </a:solidFill>
              </a:rPr>
              <a:t>Rules of thumb for a dense crop of height h</a:t>
            </a:r>
            <a:endParaRPr lang="en-US" sz="1600" dirty="0"/>
          </a:p>
        </p:txBody>
      </p:sp>
      <p:sp>
        <p:nvSpPr>
          <p:cNvPr id="8" name="text-41"/>
          <p:cNvSpPr txBox="1"/>
          <p:nvPr/>
        </p:nvSpPr>
        <p:spPr>
          <a:xfrm>
            <a:off x="7269480" y="1691640"/>
            <a:ext cx="4206240" cy="1554480"/>
          </a:xfrm>
          <a:prstGeom prst="rect">
            <a:avLst/>
          </a:prstGeom>
          <a:noFill/>
          <a:ln/>
        </p:spPr>
        <p:txBody>
          <a:bodyPr wrap="square" lIns="635" tIns="635" rIns="635" bIns="635" rtlCol="0" anchor="t"/>
          <a:lstStyle/>
          <a:p>
            <a:pPr indent="0" marL="0">
              <a:buNone/>
            </a:pPr>
            <a:r>
              <a:rPr lang="en-US" sz="1700" dirty="0">
                <a:solidFill>
                  <a:schemeClr val="tx2"/>
                </a:solidFill>
                <a:latin typeface="Cambria" pitchFamily="34" charset="0"/>
                <a:ea typeface="Cambria" pitchFamily="34" charset="-122"/>
                <a:cs typeface="Cambria" pitchFamily="34" charset="-120"/>
              </a:rPr>
              <a:t>d ≈ 0.67 h  (IARI study)  /  0.7 h  (K&amp;Z manual)</a:t>
            </a:r>
            <a:endParaRPr lang="en-US" sz="1700" dirty="0"/>
          </a:p>
          <a:p>
            <a:pPr indent="0" marL="0">
              <a:buNone/>
            </a:pPr>
            <a:r>
              <a:rPr lang="en-US" sz="1700" dirty="0">
                <a:solidFill>
                  <a:schemeClr val="tx2"/>
                </a:solidFill>
                <a:latin typeface="Cambria" pitchFamily="34" charset="0"/>
                <a:ea typeface="Cambria" pitchFamily="34" charset="-122"/>
                <a:cs typeface="Cambria" pitchFamily="34" charset="-120"/>
              </a:rPr>
              <a:t>z₀ ≈ 0.1 h</a:t>
            </a:r>
            <a:endParaRPr lang="en-US" sz="1700" dirty="0"/>
          </a:p>
          <a:p>
            <a:pPr indent="0" marL="0">
              <a:buNone/>
            </a:pPr>
            <a:r>
              <a:rPr lang="en-US" sz="1700" dirty="0">
                <a:solidFill>
                  <a:schemeClr val="tx2"/>
                </a:solidFill>
                <a:latin typeface="Cambria" pitchFamily="34" charset="0"/>
                <a:ea typeface="Cambria" pitchFamily="34" charset="-122"/>
                <a:cs typeface="Cambria" pitchFamily="34" charset="-120"/>
              </a:rPr>
              <a:t>Sparse elements: use d = 0</a:t>
            </a:r>
            <a:endParaRPr lang="en-US" sz="1700" dirty="0"/>
          </a:p>
        </p:txBody>
      </p:sp>
      <p:sp>
        <p:nvSpPr>
          <p:cNvPr id="9" name="list-42"/>
          <p:cNvSpPr txBox="1"/>
          <p:nvPr/>
        </p:nvSpPr>
        <p:spPr>
          <a:xfrm>
            <a:off x="7086600" y="3520440"/>
            <a:ext cx="4572000" cy="2743200"/>
          </a:xfrm>
          <a:prstGeom prst="rect">
            <a:avLst/>
          </a:prstGeom>
          <a:noFill/>
          <a:ln/>
        </p:spPr>
        <p:txBody>
          <a:bodyPr wrap="square" lIns="635" tIns="635" rIns="635" bIns="635" rtlCol="0" anchor="t"/>
          <a:lstStyle/>
          <a:p>
            <a:pPr marL="203200" indent="-203200">
              <a:spcAft>
                <a:spcPts val="500"/>
              </a:spcAft>
              <a:buSzPct val="100000"/>
              <a:buChar char="•"/>
            </a:pPr>
            <a:r>
              <a:rPr lang="en-US" sz="1400" dirty="0">
                <a:solidFill>
                  <a:schemeClr val="tx1"/>
                </a:solidFill>
              </a:rPr>
              <a:t>z₀: height where the log wind profile extrapolates to zero; sets mechanical turbulence</a:t>
            </a:r>
            <a:endParaRPr lang="en-US" sz="1400" dirty="0"/>
          </a:p>
          <a:p>
            <a:pPr marL="203200" indent="-203200">
              <a:spcAft>
                <a:spcPts val="500"/>
              </a:spcAft>
              <a:buSzPct val="100000"/>
              <a:buChar char="•"/>
            </a:pPr>
            <a:r>
              <a:rPr lang="en-US" sz="1400" dirty="0">
                <a:solidFill>
                  <a:schemeClr val="tx1"/>
                </a:solidFill>
              </a:rPr>
              <a:t>d: the effective 'raised ground' inside a dense canopy; measurement height is used as (z − d)</a:t>
            </a:r>
            <a:endParaRPr lang="en-US" sz="1400" dirty="0"/>
          </a:p>
          <a:p>
            <a:pPr marL="203200" indent="-203200">
              <a:spcAft>
                <a:spcPts val="500"/>
              </a:spcAft>
              <a:buSzPct val="100000"/>
              <a:buChar char="•"/>
            </a:pPr>
            <a:r>
              <a:rPr lang="en-US" sz="1400" dirty="0">
                <a:solidFill>
                  <a:schemeClr val="tx1"/>
                </a:solidFill>
              </a:rPr>
              <a:t>Dense canopy → high d, low z₀; sparse → low d, high z₀</a:t>
            </a:r>
            <a:endParaRPr lang="en-US" sz="1400" dirty="0"/>
          </a:p>
          <a:p>
            <a:pPr marL="203200" indent="-203200">
              <a:spcAft>
                <a:spcPts val="500"/>
              </a:spcAft>
              <a:buSzPct val="100000"/>
              <a:buChar char="•"/>
            </a:pPr>
            <a:r>
              <a:rPr lang="en-US" sz="1400" dirty="0">
                <a:solidFill>
                  <a:schemeClr val="tx1"/>
                </a:solidFill>
              </a:rPr>
              <a:t>Typical z₀: open grass 0.03 m, cultivated low crops 0.1 m, mature forest 1.0 m</a:t>
            </a:r>
            <a:endParaRPr lang="en-US" sz="1400" dirty="0"/>
          </a:p>
          <a:p>
            <a:pPr marL="203200" indent="-203200">
              <a:spcAft>
                <a:spcPts val="500"/>
              </a:spcAft>
              <a:buSzPct val="100000"/>
              <a:buChar char="•"/>
            </a:pPr>
            <a:r>
              <a:rPr lang="en-US" sz="1400" dirty="0">
                <a:solidFill>
                  <a:schemeClr val="tx1"/>
                </a:solidFill>
              </a:rPr>
              <a:t>Night-time LAS fluxes are very sensitive to z₀; daytime (free convection) much less</a:t>
            </a:r>
            <a:endParaRPr lang="en-US" sz="1400" dirty="0"/>
          </a:p>
        </p:txBody>
      </p:sp>
      <p:sp>
        <p:nvSpPr>
          <p:cNvPr id="10" name="text-43"/>
          <p:cNvSpPr txBox="1"/>
          <p:nvPr/>
        </p:nvSpPr>
        <p:spPr>
          <a:xfrm>
            <a:off x="502920" y="4846320"/>
            <a:ext cx="6309360" cy="457200"/>
          </a:xfrm>
          <a:prstGeom prst="rect">
            <a:avLst/>
          </a:prstGeom>
          <a:noFill/>
          <a:ln/>
        </p:spPr>
        <p:txBody>
          <a:bodyPr wrap="square" lIns="635" tIns="635" rIns="635" bIns="635" rtlCol="0" anchor="t"/>
          <a:lstStyle/>
          <a:p>
            <a:pPr indent="0" marL="0">
              <a:buNone/>
            </a:pPr>
            <a:r>
              <a:rPr lang="en-US" sz="1500" dirty="0">
                <a:solidFill>
                  <a:schemeClr val="tx2"/>
                </a:solidFill>
                <a:latin typeface="Cambria" pitchFamily="34" charset="0"/>
                <a:ea typeface="Cambria" pitchFamily="34" charset="-122"/>
                <a:cs typeface="Cambria" pitchFamily="34" charset="-120"/>
              </a:rPr>
              <a:t>Log wind profile (neutral):  u(z) = (u*/k) · ln[(z − d)/z₀],  k = 0.40</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2103120" y="2103120"/>
            <a:ext cx="9326880" cy="118872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Part A — Eddy Covariance (EC) Tower</a:t>
            </a:r>
            <a:endParaRPr lang="en-US" sz="4000" dirty="0"/>
          </a:p>
        </p:txBody>
      </p:sp>
      <p:sp>
        <p:nvSpPr>
          <p:cNvPr id="3" name="Text 0"/>
          <p:cNvSpPr/>
          <p:nvPr>
            <p:ph idx="101" type="body" hasCustomPrompt="1"/>
          </p:nvPr>
        </p:nvSpPr>
        <p:spPr>
          <a:xfrm>
            <a:off x="2103120" y="3429000"/>
            <a:ext cx="9326880" cy="1280160"/>
          </a:xfrm>
          <a:prstGeom prst="rect">
            <a:avLst/>
          </a:prstGeom>
          <a:noFill/>
          <a:ln/>
        </p:spPr>
        <p:txBody>
          <a:bodyPr wrap="square" lIns="0" tIns="0" rIns="0" bIns="0" rtlCol="0" anchor="t"/>
          <a:lstStyle/>
          <a:p>
            <a:pPr indent="0" marL="0">
              <a:buNone/>
            </a:pPr>
            <a:r>
              <a:rPr lang="en-US" sz="1800" dirty="0">
                <a:solidFill>
                  <a:schemeClr val="bg1"/>
                </a:solidFill>
                <a:latin typeface="Calibri" pitchFamily="34" charset="0"/>
                <a:ea typeface="Calibri" pitchFamily="34" charset="-122"/>
                <a:cs typeface="Calibri" pitchFamily="34" charset="-120"/>
              </a:rPr>
              <a:t>Direct, high-frequency measurement of energy, water vapour, CO₂ and CH₄ exchange over a crop</a:t>
            </a:r>
            <a:endParaRPr lang="en-US" sz="1800" dirty="0"/>
          </a:p>
        </p:txBody>
      </p:sp>
      <p:sp>
        <p:nvSpPr>
          <p:cNvPr id="4" name="badge-44"/>
          <p:cNvSpPr/>
          <p:nvPr/>
        </p:nvSpPr>
        <p:spPr>
          <a:xfrm>
            <a:off x="731520" y="2286000"/>
            <a:ext cx="1097280" cy="1097280"/>
          </a:xfrm>
          <a:prstGeom prst="ellipse">
            <a:avLst/>
          </a:prstGeom>
          <a:solidFill>
            <a:schemeClr val="tx2"/>
          </a:solidFill>
          <a:ln w="12700">
            <a:solidFill>
              <a:schemeClr val="tx2"/>
            </a:solidFill>
            <a:prstDash val="solid"/>
          </a:ln>
        </p:spPr>
      </p:sp>
      <p:sp>
        <p:nvSpPr>
          <p:cNvPr id="5" name="badge-t-45"/>
          <p:cNvSpPr txBox="1"/>
          <p:nvPr/>
        </p:nvSpPr>
        <p:spPr>
          <a:xfrm>
            <a:off x="731520" y="2286000"/>
            <a:ext cx="1097280" cy="1097280"/>
          </a:xfrm>
          <a:prstGeom prst="rect">
            <a:avLst/>
          </a:prstGeom>
          <a:noFill/>
          <a:ln/>
        </p:spPr>
        <p:txBody>
          <a:bodyPr wrap="square" lIns="0" tIns="0" rIns="0" bIns="0" rtlCol="0" anchor="ctr"/>
          <a:lstStyle/>
          <a:p>
            <a:pPr algn="ctr" indent="0" marL="0">
              <a:buNone/>
            </a:pPr>
            <a:r>
              <a:rPr lang="en-US" sz="4000" b="1" dirty="0">
                <a:solidFill>
                  <a:schemeClr val="bg1"/>
                </a:solidFill>
              </a:rPr>
              <a:t>A</a:t>
            </a:r>
            <a:endParaRPr lang="en-US" sz="4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EC principle: covariance of vertical wind and scalar</a:t>
            </a:r>
            <a:endParaRPr lang="en-US" sz="3000" dirty="0"/>
          </a:p>
        </p:txBody>
      </p:sp>
      <p:sp>
        <p:nvSpPr>
          <p:cNvPr id="3" name="text-46"/>
          <p:cNvSpPr txBox="1"/>
          <p:nvPr/>
        </p:nvSpPr>
        <p:spPr>
          <a:xfrm>
            <a:off x="502920" y="1143000"/>
            <a:ext cx="11155680" cy="685800"/>
          </a:xfrm>
          <a:prstGeom prst="rect">
            <a:avLst/>
          </a:prstGeom>
          <a:noFill/>
          <a:ln/>
        </p:spPr>
        <p:txBody>
          <a:bodyPr wrap="square" lIns="635" tIns="635" rIns="635" bIns="635" rtlCol="0" anchor="t"/>
          <a:lstStyle/>
          <a:p>
            <a:pPr indent="0" marL="0">
              <a:buNone/>
            </a:pPr>
            <a:r>
              <a:rPr lang="en-US" sz="1500" dirty="0">
                <a:solidFill>
                  <a:schemeClr val="tx1"/>
                </a:solidFill>
              </a:rPr>
              <a:t>Air moves as rotating eddies. Each eddy has velocity components u (horizontal), v (lateral) and w (vertical). The net vertical transport of any quantity s = average of w × s over 30 min.</a:t>
            </a:r>
            <a:endParaRPr lang="en-US" sz="1500" dirty="0"/>
          </a:p>
        </p:txBody>
      </p:sp>
      <p:sp>
        <p:nvSpPr>
          <p:cNvPr id="4" name="badge-47"/>
          <p:cNvSpPr/>
          <p:nvPr/>
        </p:nvSpPr>
        <p:spPr>
          <a:xfrm>
            <a:off x="548640" y="2075688"/>
            <a:ext cx="502920" cy="502920"/>
          </a:xfrm>
          <a:prstGeom prst="ellipse">
            <a:avLst/>
          </a:prstGeom>
          <a:solidFill>
            <a:schemeClr val="accent1"/>
          </a:solidFill>
          <a:ln w="12700">
            <a:solidFill>
              <a:schemeClr val="accent1"/>
            </a:solidFill>
            <a:prstDash val="solid"/>
          </a:ln>
        </p:spPr>
      </p:sp>
      <p:sp>
        <p:nvSpPr>
          <p:cNvPr id="5" name="badge-t-48"/>
          <p:cNvSpPr txBox="1"/>
          <p:nvPr/>
        </p:nvSpPr>
        <p:spPr>
          <a:xfrm>
            <a:off x="548640" y="207568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49"/>
          <p:cNvSpPr txBox="1"/>
          <p:nvPr/>
        </p:nvSpPr>
        <p:spPr>
          <a:xfrm>
            <a:off x="1234440" y="1965960"/>
            <a:ext cx="4206240" cy="731520"/>
          </a:xfrm>
          <a:prstGeom prst="rect">
            <a:avLst/>
          </a:prstGeom>
          <a:noFill/>
          <a:ln/>
        </p:spPr>
        <p:txBody>
          <a:bodyPr wrap="square" lIns="635" tIns="635" rIns="635" bIns="635" rtlCol="0" anchor="ctr"/>
          <a:lstStyle/>
          <a:p>
            <a:pPr indent="0" marL="0">
              <a:buNone/>
            </a:pPr>
            <a:r>
              <a:rPr lang="en-US" sz="1400" b="1" dirty="0">
                <a:solidFill>
                  <a:schemeClr val="tx2"/>
                </a:solidFill>
              </a:rPr>
              <a:t>Vertical flux</a:t>
            </a:r>
            <a:endParaRPr lang="en-US" sz="1400" dirty="0"/>
          </a:p>
        </p:txBody>
      </p:sp>
      <p:sp>
        <p:nvSpPr>
          <p:cNvPr id="7" name="card-50"/>
          <p:cNvSpPr/>
          <p:nvPr/>
        </p:nvSpPr>
        <p:spPr>
          <a:xfrm>
            <a:off x="5577840" y="1965960"/>
            <a:ext cx="6080760" cy="731520"/>
          </a:xfrm>
          <a:prstGeom prst="roundRect">
            <a:avLst>
              <a:gd name="adj" fmla="val 10000"/>
            </a:avLst>
          </a:prstGeom>
          <a:solidFill>
            <a:schemeClr val="bg2"/>
          </a:solidFill>
          <a:ln w="6350">
            <a:solidFill>
              <a:schemeClr val="bg2"/>
            </a:solidFill>
            <a:prstDash val="solid"/>
          </a:ln>
        </p:spPr>
      </p:sp>
      <p:sp>
        <p:nvSpPr>
          <p:cNvPr id="8" name="eq-51"/>
          <p:cNvSpPr txBox="1"/>
          <p:nvPr/>
        </p:nvSpPr>
        <p:spPr>
          <a:xfrm>
            <a:off x="5715000" y="1965960"/>
            <a:ext cx="5806440" cy="731520"/>
          </a:xfrm>
          <a:prstGeom prst="rect">
            <a:avLst/>
          </a:prstGeom>
          <a:noFill/>
          <a:ln/>
        </p:spPr>
        <p:txBody>
          <a:bodyPr wrap="square" lIns="0" tIns="0" rIns="0" bIns="0" rtlCol="0" anchor="ctr"/>
          <a:lstStyle/>
          <a:p>
            <a:pPr algn="ctr" indent="0" marL="0">
              <a:buNone/>
            </a:pPr>
            <a:r>
              <a:rPr lang="en-US" sz="2000" dirty="0">
                <a:solidFill>
                  <a:schemeClr val="tx2"/>
                </a:solidFill>
                <a:latin typeface="Cambria" pitchFamily="34" charset="0"/>
                <a:ea typeface="Cambria" pitchFamily="34" charset="-122"/>
                <a:cs typeface="Cambria" pitchFamily="34" charset="-120"/>
              </a:rPr>
              <a:t>F = ρₐ · mean(w s)</a:t>
            </a:r>
            <a:endParaRPr lang="en-US" sz="2000" dirty="0"/>
          </a:p>
        </p:txBody>
      </p:sp>
      <p:sp>
        <p:nvSpPr>
          <p:cNvPr id="9" name="badge-52"/>
          <p:cNvSpPr/>
          <p:nvPr/>
        </p:nvSpPr>
        <p:spPr>
          <a:xfrm>
            <a:off x="548640" y="2944368"/>
            <a:ext cx="502920" cy="502920"/>
          </a:xfrm>
          <a:prstGeom prst="ellipse">
            <a:avLst/>
          </a:prstGeom>
          <a:solidFill>
            <a:schemeClr val="accent1"/>
          </a:solidFill>
          <a:ln w="12700">
            <a:solidFill>
              <a:schemeClr val="accent1"/>
            </a:solidFill>
            <a:prstDash val="solid"/>
          </a:ln>
        </p:spPr>
      </p:sp>
      <p:sp>
        <p:nvSpPr>
          <p:cNvPr id="10" name="badge-t-53"/>
          <p:cNvSpPr txBox="1"/>
          <p:nvPr/>
        </p:nvSpPr>
        <p:spPr>
          <a:xfrm>
            <a:off x="548640" y="29443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54"/>
          <p:cNvSpPr txBox="1"/>
          <p:nvPr/>
        </p:nvSpPr>
        <p:spPr>
          <a:xfrm>
            <a:off x="1234440" y="2834640"/>
            <a:ext cx="4206240" cy="731520"/>
          </a:xfrm>
          <a:prstGeom prst="rect">
            <a:avLst/>
          </a:prstGeom>
          <a:noFill/>
          <a:ln/>
        </p:spPr>
        <p:txBody>
          <a:bodyPr wrap="square" lIns="635" tIns="635" rIns="635" bIns="635" rtlCol="0" anchor="ctr"/>
          <a:lstStyle/>
          <a:p>
            <a:pPr indent="0" marL="0">
              <a:buNone/>
            </a:pPr>
            <a:r>
              <a:rPr lang="en-US" sz="1400" b="1" dirty="0">
                <a:solidFill>
                  <a:schemeClr val="tx2"/>
                </a:solidFill>
              </a:rPr>
              <a:t>Reynolds decomposition</a:t>
            </a:r>
            <a:endParaRPr lang="en-US" sz="1400" dirty="0"/>
          </a:p>
        </p:txBody>
      </p:sp>
      <p:sp>
        <p:nvSpPr>
          <p:cNvPr id="12" name="card-55"/>
          <p:cNvSpPr/>
          <p:nvPr/>
        </p:nvSpPr>
        <p:spPr>
          <a:xfrm>
            <a:off x="5577840" y="2834640"/>
            <a:ext cx="6080760" cy="731520"/>
          </a:xfrm>
          <a:prstGeom prst="roundRect">
            <a:avLst>
              <a:gd name="adj" fmla="val 10000"/>
            </a:avLst>
          </a:prstGeom>
          <a:solidFill>
            <a:schemeClr val="bg2"/>
          </a:solidFill>
          <a:ln w="6350">
            <a:solidFill>
              <a:schemeClr val="bg2"/>
            </a:solidFill>
            <a:prstDash val="solid"/>
          </a:ln>
        </p:spPr>
      </p:sp>
      <p:sp>
        <p:nvSpPr>
          <p:cNvPr id="13" name="eq-56"/>
          <p:cNvSpPr txBox="1"/>
          <p:nvPr/>
        </p:nvSpPr>
        <p:spPr>
          <a:xfrm>
            <a:off x="5715000" y="2834640"/>
            <a:ext cx="5806440" cy="731520"/>
          </a:xfrm>
          <a:prstGeom prst="rect">
            <a:avLst/>
          </a:prstGeom>
          <a:noFill/>
          <a:ln/>
        </p:spPr>
        <p:txBody>
          <a:bodyPr wrap="square" lIns="0" tIns="0" rIns="0" bIns="0" rtlCol="0" anchor="ctr"/>
          <a:lstStyle/>
          <a:p>
            <a:pPr algn="ctr" indent="0" marL="0">
              <a:buNone/>
            </a:pPr>
            <a:r>
              <a:rPr lang="en-US" sz="2000" dirty="0">
                <a:solidFill>
                  <a:schemeClr val="tx2"/>
                </a:solidFill>
                <a:latin typeface="Cambria" pitchFamily="34" charset="0"/>
                <a:ea typeface="Cambria" pitchFamily="34" charset="-122"/>
                <a:cs typeface="Cambria" pitchFamily="34" charset="-120"/>
              </a:rPr>
              <a:t>w = w̄ + w′ ,  s = s̄ + s′</a:t>
            </a:r>
            <a:endParaRPr lang="en-US" sz="2000" dirty="0"/>
          </a:p>
        </p:txBody>
      </p:sp>
      <p:sp>
        <p:nvSpPr>
          <p:cNvPr id="14" name="badge-57"/>
          <p:cNvSpPr/>
          <p:nvPr/>
        </p:nvSpPr>
        <p:spPr>
          <a:xfrm>
            <a:off x="548640" y="3813048"/>
            <a:ext cx="502920" cy="502920"/>
          </a:xfrm>
          <a:prstGeom prst="ellipse">
            <a:avLst/>
          </a:prstGeom>
          <a:solidFill>
            <a:schemeClr val="accent1"/>
          </a:solidFill>
          <a:ln w="12700">
            <a:solidFill>
              <a:schemeClr val="accent1"/>
            </a:solidFill>
            <a:prstDash val="solid"/>
          </a:ln>
        </p:spPr>
      </p:sp>
      <p:sp>
        <p:nvSpPr>
          <p:cNvPr id="15" name="badge-t-58"/>
          <p:cNvSpPr txBox="1"/>
          <p:nvPr/>
        </p:nvSpPr>
        <p:spPr>
          <a:xfrm>
            <a:off x="548640" y="38130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59"/>
          <p:cNvSpPr txBox="1"/>
          <p:nvPr/>
        </p:nvSpPr>
        <p:spPr>
          <a:xfrm>
            <a:off x="1234440" y="3703320"/>
            <a:ext cx="4206240" cy="731520"/>
          </a:xfrm>
          <a:prstGeom prst="rect">
            <a:avLst/>
          </a:prstGeom>
          <a:noFill/>
          <a:ln/>
        </p:spPr>
        <p:txBody>
          <a:bodyPr wrap="square" lIns="635" tIns="635" rIns="635" bIns="635" rtlCol="0" anchor="ctr"/>
          <a:lstStyle/>
          <a:p>
            <a:pPr indent="0" marL="0">
              <a:buNone/>
            </a:pPr>
            <a:r>
              <a:rPr lang="en-US" sz="1400" b="1" dirty="0">
                <a:solidFill>
                  <a:schemeClr val="tx2"/>
                </a:solidFill>
              </a:rPr>
              <a:t>Assume mean(w′)=mean(s′)=0, ρ′ ≈ 0, w̄ ≈ 0 (flat, homogeneous)</a:t>
            </a:r>
            <a:endParaRPr lang="en-US" sz="1400" dirty="0"/>
          </a:p>
        </p:txBody>
      </p:sp>
      <p:sp>
        <p:nvSpPr>
          <p:cNvPr id="17" name="card-60"/>
          <p:cNvSpPr/>
          <p:nvPr/>
        </p:nvSpPr>
        <p:spPr>
          <a:xfrm>
            <a:off x="5577840" y="3703320"/>
            <a:ext cx="6080760" cy="731520"/>
          </a:xfrm>
          <a:prstGeom prst="roundRect">
            <a:avLst>
              <a:gd name="adj" fmla="val 10000"/>
            </a:avLst>
          </a:prstGeom>
          <a:solidFill>
            <a:schemeClr val="bg2"/>
          </a:solidFill>
          <a:ln w="6350">
            <a:solidFill>
              <a:schemeClr val="bg2"/>
            </a:solidFill>
            <a:prstDash val="solid"/>
          </a:ln>
        </p:spPr>
      </p:sp>
      <p:sp>
        <p:nvSpPr>
          <p:cNvPr id="18" name="eq-61"/>
          <p:cNvSpPr txBox="1"/>
          <p:nvPr/>
        </p:nvSpPr>
        <p:spPr>
          <a:xfrm>
            <a:off x="5715000" y="3703320"/>
            <a:ext cx="5806440" cy="731520"/>
          </a:xfrm>
          <a:prstGeom prst="rect">
            <a:avLst/>
          </a:prstGeom>
          <a:noFill/>
          <a:ln/>
        </p:spPr>
        <p:txBody>
          <a:bodyPr wrap="square" lIns="0" tIns="0" rIns="0" bIns="0" rtlCol="0" anchor="ctr"/>
          <a:lstStyle/>
          <a:p>
            <a:pPr algn="ctr" indent="0" marL="0">
              <a:buNone/>
            </a:pPr>
            <a:r>
              <a:rPr lang="en-US" sz="2000" dirty="0">
                <a:solidFill>
                  <a:schemeClr val="tx2"/>
                </a:solidFill>
                <a:latin typeface="Cambria" pitchFamily="34" charset="0"/>
                <a:ea typeface="Cambria" pitchFamily="34" charset="-122"/>
                <a:cs typeface="Cambria" pitchFamily="34" charset="-120"/>
              </a:rPr>
              <a:t>F ≈ ρₐ · mean(w′ s′)</a:t>
            </a:r>
            <a:endParaRPr lang="en-US" sz="2000" dirty="0"/>
          </a:p>
        </p:txBody>
      </p:sp>
      <p:sp>
        <p:nvSpPr>
          <p:cNvPr id="19" name="card-62"/>
          <p:cNvSpPr/>
          <p:nvPr/>
        </p:nvSpPr>
        <p:spPr>
          <a:xfrm>
            <a:off x="502920" y="4663440"/>
            <a:ext cx="2651760" cy="1508760"/>
          </a:xfrm>
          <a:prstGeom prst="roundRect">
            <a:avLst>
              <a:gd name="adj" fmla="val 4848"/>
            </a:avLst>
          </a:prstGeom>
          <a:solidFill>
            <a:schemeClr val="bg2"/>
          </a:solidFill>
          <a:ln w="6350">
            <a:solidFill>
              <a:schemeClr val="bg2"/>
            </a:solidFill>
            <a:prstDash val="solid"/>
          </a:ln>
        </p:spPr>
      </p:sp>
      <p:sp>
        <p:nvSpPr>
          <p:cNvPr id="20" name="badge-63"/>
          <p:cNvSpPr/>
          <p:nvPr/>
        </p:nvSpPr>
        <p:spPr>
          <a:xfrm>
            <a:off x="640080" y="4800600"/>
            <a:ext cx="566928" cy="566928"/>
          </a:xfrm>
          <a:prstGeom prst="ellipse">
            <a:avLst/>
          </a:prstGeom>
          <a:solidFill>
            <a:schemeClr val="accent2"/>
          </a:solidFill>
          <a:ln w="12700">
            <a:solidFill>
              <a:schemeClr val="accent2"/>
            </a:solidFill>
            <a:prstDash val="solid"/>
          </a:ln>
        </p:spPr>
      </p:sp>
      <p:sp>
        <p:nvSpPr>
          <p:cNvPr id="21" name="badge-t-64"/>
          <p:cNvSpPr txBox="1"/>
          <p:nvPr/>
        </p:nvSpPr>
        <p:spPr>
          <a:xfrm>
            <a:off x="640080" y="480060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H</a:t>
            </a:r>
            <a:endParaRPr lang="en-US" sz="1500" dirty="0"/>
          </a:p>
        </p:txBody>
      </p:sp>
      <p:sp>
        <p:nvSpPr>
          <p:cNvPr id="22" name="text-65"/>
          <p:cNvSpPr txBox="1"/>
          <p:nvPr/>
        </p:nvSpPr>
        <p:spPr>
          <a:xfrm>
            <a:off x="594360" y="5440680"/>
            <a:ext cx="2468880" cy="640080"/>
          </a:xfrm>
          <a:prstGeom prst="rect">
            <a:avLst/>
          </a:prstGeom>
          <a:noFill/>
          <a:ln/>
        </p:spPr>
        <p:txBody>
          <a:bodyPr wrap="square" lIns="635" tIns="635" rIns="635" bIns="635" rtlCol="0" anchor="ctr"/>
          <a:lstStyle/>
          <a:p>
            <a:pPr algn="ctr" indent="0" marL="0">
              <a:buNone/>
            </a:pPr>
            <a:r>
              <a:rPr lang="en-US" sz="1400" dirty="0">
                <a:solidFill>
                  <a:schemeClr val="tx2"/>
                </a:solidFill>
                <a:latin typeface="Cambria" pitchFamily="34" charset="0"/>
                <a:ea typeface="Cambria" pitchFamily="34" charset="-122"/>
                <a:cs typeface="Cambria" pitchFamily="34" charset="-120"/>
              </a:rPr>
              <a:t>H = ρₐ cₚ · mean(w′T′)</a:t>
            </a:r>
            <a:endParaRPr lang="en-US" sz="1400" dirty="0"/>
          </a:p>
        </p:txBody>
      </p:sp>
      <p:sp>
        <p:nvSpPr>
          <p:cNvPr id="23" name="card-66"/>
          <p:cNvSpPr/>
          <p:nvPr/>
        </p:nvSpPr>
        <p:spPr>
          <a:xfrm>
            <a:off x="3319272" y="4663440"/>
            <a:ext cx="2651760" cy="1508760"/>
          </a:xfrm>
          <a:prstGeom prst="roundRect">
            <a:avLst>
              <a:gd name="adj" fmla="val 4848"/>
            </a:avLst>
          </a:prstGeom>
          <a:solidFill>
            <a:schemeClr val="bg2"/>
          </a:solidFill>
          <a:ln w="6350">
            <a:solidFill>
              <a:schemeClr val="bg2"/>
            </a:solidFill>
            <a:prstDash val="solid"/>
          </a:ln>
        </p:spPr>
      </p:sp>
      <p:sp>
        <p:nvSpPr>
          <p:cNvPr id="24" name="badge-67"/>
          <p:cNvSpPr/>
          <p:nvPr/>
        </p:nvSpPr>
        <p:spPr>
          <a:xfrm>
            <a:off x="3456432" y="4800600"/>
            <a:ext cx="566928" cy="566928"/>
          </a:xfrm>
          <a:prstGeom prst="ellipse">
            <a:avLst/>
          </a:prstGeom>
          <a:solidFill>
            <a:schemeClr val="accent3"/>
          </a:solidFill>
          <a:ln w="12700">
            <a:solidFill>
              <a:schemeClr val="accent3"/>
            </a:solidFill>
            <a:prstDash val="solid"/>
          </a:ln>
        </p:spPr>
      </p:sp>
      <p:sp>
        <p:nvSpPr>
          <p:cNvPr id="25" name="badge-t-68"/>
          <p:cNvSpPr txBox="1"/>
          <p:nvPr/>
        </p:nvSpPr>
        <p:spPr>
          <a:xfrm>
            <a:off x="3456432" y="480060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rPr>
              <a:t>LE</a:t>
            </a:r>
            <a:endParaRPr lang="en-US" sz="1500" dirty="0"/>
          </a:p>
        </p:txBody>
      </p:sp>
      <p:sp>
        <p:nvSpPr>
          <p:cNvPr id="26" name="text-69"/>
          <p:cNvSpPr txBox="1"/>
          <p:nvPr/>
        </p:nvSpPr>
        <p:spPr>
          <a:xfrm>
            <a:off x="3410712" y="5440680"/>
            <a:ext cx="2468880" cy="640080"/>
          </a:xfrm>
          <a:prstGeom prst="rect">
            <a:avLst/>
          </a:prstGeom>
          <a:noFill/>
          <a:ln/>
        </p:spPr>
        <p:txBody>
          <a:bodyPr wrap="square" lIns="635" tIns="635" rIns="635" bIns="635" rtlCol="0" anchor="ctr"/>
          <a:lstStyle/>
          <a:p>
            <a:pPr algn="ctr" indent="0" marL="0">
              <a:buNone/>
            </a:pPr>
            <a:r>
              <a:rPr lang="en-US" sz="1400" dirty="0">
                <a:solidFill>
                  <a:schemeClr val="tx2"/>
                </a:solidFill>
                <a:latin typeface="Cambria" pitchFamily="34" charset="0"/>
                <a:ea typeface="Cambria" pitchFamily="34" charset="-122"/>
                <a:cs typeface="Cambria" pitchFamily="34" charset="-120"/>
              </a:rPr>
              <a:t>LE = λ ρₐ · mean(w′q′)</a:t>
            </a:r>
            <a:endParaRPr lang="en-US" sz="1400" dirty="0"/>
          </a:p>
        </p:txBody>
      </p:sp>
      <p:sp>
        <p:nvSpPr>
          <p:cNvPr id="27" name="card-70"/>
          <p:cNvSpPr/>
          <p:nvPr/>
        </p:nvSpPr>
        <p:spPr>
          <a:xfrm>
            <a:off x="6135624" y="4663440"/>
            <a:ext cx="2651760" cy="1508760"/>
          </a:xfrm>
          <a:prstGeom prst="roundRect">
            <a:avLst>
              <a:gd name="adj" fmla="val 4848"/>
            </a:avLst>
          </a:prstGeom>
          <a:solidFill>
            <a:schemeClr val="bg2"/>
          </a:solidFill>
          <a:ln w="6350">
            <a:solidFill>
              <a:schemeClr val="bg2"/>
            </a:solidFill>
            <a:prstDash val="solid"/>
          </a:ln>
        </p:spPr>
      </p:sp>
      <p:sp>
        <p:nvSpPr>
          <p:cNvPr id="28" name="badge-71"/>
          <p:cNvSpPr/>
          <p:nvPr/>
        </p:nvSpPr>
        <p:spPr>
          <a:xfrm>
            <a:off x="6272784" y="4800600"/>
            <a:ext cx="566928" cy="566928"/>
          </a:xfrm>
          <a:prstGeom prst="ellipse">
            <a:avLst/>
          </a:prstGeom>
          <a:solidFill>
            <a:schemeClr val="accent1"/>
          </a:solidFill>
          <a:ln w="12700">
            <a:solidFill>
              <a:schemeClr val="accent1"/>
            </a:solidFill>
            <a:prstDash val="solid"/>
          </a:ln>
        </p:spPr>
      </p:sp>
      <p:sp>
        <p:nvSpPr>
          <p:cNvPr id="29" name="badge-t-72"/>
          <p:cNvSpPr txBox="1"/>
          <p:nvPr/>
        </p:nvSpPr>
        <p:spPr>
          <a:xfrm>
            <a:off x="6272784" y="4800600"/>
            <a:ext cx="566928" cy="566928"/>
          </a:xfrm>
          <a:prstGeom prst="rect">
            <a:avLst/>
          </a:prstGeom>
          <a:noFill/>
          <a:ln/>
        </p:spPr>
        <p:txBody>
          <a:bodyPr wrap="square" lIns="0" tIns="0" rIns="0" bIns="0" rtlCol="0" anchor="ctr"/>
          <a:lstStyle/>
          <a:p>
            <a:pPr algn="ctr" indent="0" marL="0">
              <a:buNone/>
            </a:pPr>
            <a:r>
              <a:rPr lang="en-US" sz="1200" b="1" dirty="0">
                <a:solidFill>
                  <a:schemeClr val="bg1"/>
                </a:solidFill>
              </a:rPr>
              <a:t>CO₂</a:t>
            </a:r>
            <a:endParaRPr lang="en-US" sz="1200" dirty="0"/>
          </a:p>
        </p:txBody>
      </p:sp>
      <p:sp>
        <p:nvSpPr>
          <p:cNvPr id="30" name="text-73"/>
          <p:cNvSpPr txBox="1"/>
          <p:nvPr/>
        </p:nvSpPr>
        <p:spPr>
          <a:xfrm>
            <a:off x="6227064" y="5440680"/>
            <a:ext cx="2468880" cy="640080"/>
          </a:xfrm>
          <a:prstGeom prst="rect">
            <a:avLst/>
          </a:prstGeom>
          <a:noFill/>
          <a:ln/>
        </p:spPr>
        <p:txBody>
          <a:bodyPr wrap="square" lIns="635" tIns="635" rIns="635" bIns="635" rtlCol="0" anchor="ctr"/>
          <a:lstStyle/>
          <a:p>
            <a:pPr algn="ctr" indent="0" marL="0">
              <a:buNone/>
            </a:pPr>
            <a:r>
              <a:rPr lang="en-US" sz="1400" dirty="0">
                <a:solidFill>
                  <a:schemeClr val="tx2"/>
                </a:solidFill>
                <a:latin typeface="Cambria" pitchFamily="34" charset="0"/>
                <a:ea typeface="Cambria" pitchFamily="34" charset="-122"/>
                <a:cs typeface="Cambria" pitchFamily="34" charset="-120"/>
              </a:rPr>
              <a:t>Fc = ρₐ · mean(w′c′) = NEE</a:t>
            </a:r>
            <a:endParaRPr lang="en-US" sz="1400" dirty="0"/>
          </a:p>
        </p:txBody>
      </p:sp>
      <p:sp>
        <p:nvSpPr>
          <p:cNvPr id="31" name="card-74"/>
          <p:cNvSpPr/>
          <p:nvPr/>
        </p:nvSpPr>
        <p:spPr>
          <a:xfrm>
            <a:off x="8951976" y="4663440"/>
            <a:ext cx="2651760" cy="1508760"/>
          </a:xfrm>
          <a:prstGeom prst="roundRect">
            <a:avLst>
              <a:gd name="adj" fmla="val 4848"/>
            </a:avLst>
          </a:prstGeom>
          <a:solidFill>
            <a:schemeClr val="bg2"/>
          </a:solidFill>
          <a:ln w="6350">
            <a:solidFill>
              <a:schemeClr val="bg2"/>
            </a:solidFill>
            <a:prstDash val="solid"/>
          </a:ln>
        </p:spPr>
      </p:sp>
      <p:sp>
        <p:nvSpPr>
          <p:cNvPr id="32" name="badge-75"/>
          <p:cNvSpPr/>
          <p:nvPr/>
        </p:nvSpPr>
        <p:spPr>
          <a:xfrm>
            <a:off x="9089136" y="4800600"/>
            <a:ext cx="566928" cy="566928"/>
          </a:xfrm>
          <a:prstGeom prst="ellipse">
            <a:avLst/>
          </a:prstGeom>
          <a:solidFill>
            <a:schemeClr val="accent6"/>
          </a:solidFill>
          <a:ln w="12700">
            <a:solidFill>
              <a:schemeClr val="accent6"/>
            </a:solidFill>
            <a:prstDash val="solid"/>
          </a:ln>
        </p:spPr>
      </p:sp>
      <p:sp>
        <p:nvSpPr>
          <p:cNvPr id="33" name="badge-t-76"/>
          <p:cNvSpPr txBox="1"/>
          <p:nvPr/>
        </p:nvSpPr>
        <p:spPr>
          <a:xfrm>
            <a:off x="9089136" y="4800600"/>
            <a:ext cx="566928" cy="566928"/>
          </a:xfrm>
          <a:prstGeom prst="rect">
            <a:avLst/>
          </a:prstGeom>
          <a:noFill/>
          <a:ln/>
        </p:spPr>
        <p:txBody>
          <a:bodyPr wrap="square" lIns="0" tIns="0" rIns="0" bIns="0" rtlCol="0" anchor="ctr"/>
          <a:lstStyle/>
          <a:p>
            <a:pPr algn="ctr" indent="0" marL="0">
              <a:buNone/>
            </a:pPr>
            <a:r>
              <a:rPr lang="en-US" sz="1200" b="1" dirty="0">
                <a:solidFill>
                  <a:schemeClr val="bg1"/>
                </a:solidFill>
              </a:rPr>
              <a:t>CH₄</a:t>
            </a:r>
            <a:endParaRPr lang="en-US" sz="1200" dirty="0"/>
          </a:p>
        </p:txBody>
      </p:sp>
      <p:sp>
        <p:nvSpPr>
          <p:cNvPr id="34" name="text-77"/>
          <p:cNvSpPr txBox="1"/>
          <p:nvPr/>
        </p:nvSpPr>
        <p:spPr>
          <a:xfrm>
            <a:off x="9043416" y="5440680"/>
            <a:ext cx="2468880" cy="640080"/>
          </a:xfrm>
          <a:prstGeom prst="rect">
            <a:avLst/>
          </a:prstGeom>
          <a:noFill/>
          <a:ln/>
        </p:spPr>
        <p:txBody>
          <a:bodyPr wrap="square" lIns="635" tIns="635" rIns="635" bIns="635" rtlCol="0" anchor="ctr"/>
          <a:lstStyle/>
          <a:p>
            <a:pPr algn="ctr" indent="0" marL="0">
              <a:buNone/>
            </a:pPr>
            <a:r>
              <a:rPr lang="en-US" sz="1400" dirty="0">
                <a:solidFill>
                  <a:schemeClr val="tx2"/>
                </a:solidFill>
                <a:latin typeface="Cambria" pitchFamily="34" charset="0"/>
                <a:ea typeface="Cambria" pitchFamily="34" charset="-122"/>
                <a:cs typeface="Cambria" pitchFamily="34" charset="-120"/>
              </a:rPr>
              <a:t>F_CH₄ = ρₐ · mean(w′c′_CH₄)</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Components of an open-path EC system</a:t>
            </a:r>
            <a:endParaRPr lang="en-US" sz="3000" dirty="0"/>
          </a:p>
        </p:txBody>
      </p:sp>
      <p:pic>
        <p:nvPicPr>
          <p:cNvPr id="3" name="img-78" descr="Open-path EC system in lowland rice, ICAR-NRRI Cuttack (Bulletin 29, Fig. 1)">    </p:cNvPr>
          <p:cNvPicPr>
            <a:picLocks noChangeAspect="1"/>
          </p:cNvPicPr>
          <p:nvPr/>
        </p:nvPicPr>
        <p:blipFill>
          <a:blip r:embed="rId1"/>
          <a:stretch>
            <a:fillRect/>
          </a:stretch>
        </p:blipFill>
        <p:spPr>
          <a:xfrm>
            <a:off x="502920" y="1241192"/>
            <a:ext cx="6035040" cy="3397208"/>
          </a:xfrm>
          <a:prstGeom prst="rect">
            <a:avLst/>
          </a:prstGeom>
        </p:spPr>
      </p:pic>
      <p:sp>
        <p:nvSpPr>
          <p:cNvPr id="4" name="frame-79"/>
          <p:cNvSpPr/>
          <p:nvPr/>
        </p:nvSpPr>
        <p:spPr>
          <a:xfrm>
            <a:off x="502920" y="1241192"/>
            <a:ext cx="6035040" cy="3397208"/>
          </a:xfrm>
          <a:prstGeom prst="rect">
            <a:avLst/>
          </a:prstGeom>
          <a:ln w="9525">
            <a:solidFill>
              <a:srgbClr val="C9D3CC"/>
            </a:solidFill>
            <a:prstDash val="solid"/>
          </a:ln>
        </p:spPr>
      </p:sp>
      <p:sp>
        <p:nvSpPr>
          <p:cNvPr id="5" name="text-80"/>
          <p:cNvSpPr txBox="1"/>
          <p:nvPr/>
        </p:nvSpPr>
        <p:spPr>
          <a:xfrm>
            <a:off x="502920" y="4727448"/>
            <a:ext cx="603504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Open-path EC system in lowland rice, ICAR-NRRI Cuttack (Bulletin 29, Fig. 1)</a:t>
            </a:r>
            <a:endParaRPr lang="en-US" sz="1000" dirty="0"/>
          </a:p>
        </p:txBody>
      </p:sp>
      <p:graphicFrame>
        <p:nvGraphicFramePr>
          <p:cNvPr id="9" name="ec-sensor-table"/>
          <p:cNvGraphicFramePr>
            <a:graphicFrameLocks noGrp="1"/>
          </p:cNvGraphicFramePr>
          <p:nvPr>
            <p:extLst>
              <p:ext uri="{D42A27DB-BD31-4B8C-83A1-F6EECF244321}">
                <p14:modId xmlns:p14="http://schemas.microsoft.com/office/powerpoint/2010/main" val="1579011935"/>
              </p:ext>
            </p:extLst>
          </p:nvPr>
        </p:nvGraphicFramePr>
        <p:xfrm>
          <a:off x="6766560" y="1188720"/>
          <a:ext cx="4892040" cy="914400"/>
        </p:xfrm>
        <a:graphic>
          <a:graphicData uri="http://schemas.openxmlformats.org/drawingml/2006/table">
            <a:tbl>
              <a:tblPr/>
              <a:tblGrid>
                <a:gridCol w="2514600"/>
                <a:gridCol w="2377440"/>
              </a:tblGrid>
              <a:tr h="384048">
                <a:tc>
                  <a:txBody>
                    <a:bodyPr/>
                    <a:lstStyle/>
                    <a:p>
                      <a:pPr indent="0" marL="0">
                        <a:buNone/>
                      </a:pPr>
                      <a:r>
                        <a:rPr lang="en-US" sz="1200" b="1" dirty="0">
                          <a:solidFill>
                            <a:schemeClr val="bg1"/>
                          </a:solidFill>
                        </a:rPr>
                        <a:t>Sensor (example)</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Measures</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r>
              <a:tr h="384048">
                <a:tc>
                  <a:txBody>
                    <a:bodyPr/>
                    <a:lstStyle/>
                    <a:p>
                      <a:pPr indent="0" marL="0">
                        <a:buNone/>
                      </a:pPr>
                      <a:r>
                        <a:rPr lang="en-US" sz="1200" dirty="0">
                          <a:solidFill>
                            <a:schemeClr val="tx1"/>
                          </a:solidFill>
                        </a:rPr>
                        <a:t>3-D sonic anemometer (CSAT3)</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200" dirty="0">
                          <a:solidFill>
                            <a:schemeClr val="tx1"/>
                          </a:solidFill>
                        </a:rPr>
                        <a:t>u, v, w and sonic temperature at 10 Hz</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384048">
                <a:tc>
                  <a:txBody>
                    <a:bodyPr/>
                    <a:lstStyle/>
                    <a:p>
                      <a:pPr indent="0" marL="0">
                        <a:buNone/>
                      </a:pPr>
                      <a:r>
                        <a:rPr lang="en-US" sz="1200" dirty="0">
                          <a:solidFill>
                            <a:schemeClr val="tx1"/>
                          </a:solidFill>
                        </a:rPr>
                        <a:t>Open-path IRGA (LI-7500A)</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200" dirty="0">
                          <a:solidFill>
                            <a:schemeClr val="tx1"/>
                          </a:solidFill>
                        </a:rPr>
                        <a:t>CO₂ and H₂O densities</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384048">
                <a:tc>
                  <a:txBody>
                    <a:bodyPr/>
                    <a:lstStyle/>
                    <a:p>
                      <a:pPr indent="0" marL="0">
                        <a:buNone/>
                      </a:pPr>
                      <a:r>
                        <a:rPr lang="en-US" sz="1200" dirty="0">
                          <a:solidFill>
                            <a:schemeClr val="tx1"/>
                          </a:solidFill>
                        </a:rPr>
                        <a:t>Open-path CH₄ analyser (LI-7700)</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200" dirty="0">
                          <a:solidFill>
                            <a:schemeClr val="tx1"/>
                          </a:solidFill>
                        </a:rPr>
                        <a:t>CH₄ density</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384048">
                <a:tc>
                  <a:txBody>
                    <a:bodyPr/>
                    <a:lstStyle/>
                    <a:p>
                      <a:pPr indent="0" marL="0">
                        <a:buNone/>
                      </a:pPr>
                      <a:r>
                        <a:rPr lang="en-US" sz="1200" dirty="0">
                          <a:solidFill>
                            <a:schemeClr val="tx1"/>
                          </a:solidFill>
                        </a:rPr>
                        <a:t>4-component net radiometer (CNR4)</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200" dirty="0">
                          <a:solidFill>
                            <a:schemeClr val="tx1"/>
                          </a:solidFill>
                        </a:rPr>
                        <a:t>SW↓, SW↑, LW↓, LW↑, Rn, albedo</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384048">
                <a:tc>
                  <a:txBody>
                    <a:bodyPr/>
                    <a:lstStyle/>
                    <a:p>
                      <a:pPr indent="0" marL="0">
                        <a:buNone/>
                      </a:pPr>
                      <a:r>
                        <a:rPr lang="en-US" sz="1200" dirty="0">
                          <a:solidFill>
                            <a:schemeClr val="tx1"/>
                          </a:solidFill>
                        </a:rPr>
                        <a:t>Quantum sensor (LI-190)</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200" dirty="0">
                          <a:solidFill>
                            <a:schemeClr val="tx1"/>
                          </a:solidFill>
                        </a:rPr>
                        <a:t>PAR</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384048">
                <a:tc>
                  <a:txBody>
                    <a:bodyPr/>
                    <a:lstStyle/>
                    <a:p>
                      <a:pPr indent="0" marL="0">
                        <a:buNone/>
                      </a:pPr>
                      <a:r>
                        <a:rPr lang="en-US" sz="1200" dirty="0">
                          <a:solidFill>
                            <a:schemeClr val="tx1"/>
                          </a:solidFill>
                        </a:rPr>
                        <a:t>T/RH probe (HMP45C), fine-wire thermocouple</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200" dirty="0">
                          <a:solidFill>
                            <a:schemeClr val="tx1"/>
                          </a:solidFill>
                        </a:rPr>
                        <a:t>Air temperature, humidity</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384048">
                <a:tc>
                  <a:txBody>
                    <a:bodyPr/>
                    <a:lstStyle/>
                    <a:p>
                      <a:pPr indent="0" marL="0">
                        <a:buNone/>
                      </a:pPr>
                      <a:r>
                        <a:rPr lang="en-US" sz="1200" dirty="0">
                          <a:solidFill>
                            <a:schemeClr val="tx1"/>
                          </a:solidFill>
                        </a:rPr>
                        <a:t>Soil temp. probes + heat flux plates</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200" dirty="0">
                          <a:solidFill>
                            <a:schemeClr val="tx1"/>
                          </a:solidFill>
                        </a:rPr>
                        <a:t>Soil T (5, 15, 30 cm), G</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384048">
                <a:tc>
                  <a:txBody>
                    <a:bodyPr/>
                    <a:lstStyle/>
                    <a:p>
                      <a:pPr indent="0" marL="0">
                        <a:buNone/>
                      </a:pPr>
                      <a:r>
                        <a:rPr lang="en-US" sz="1200" dirty="0">
                          <a:solidFill>
                            <a:schemeClr val="tx1"/>
                          </a:solidFill>
                        </a:rPr>
                        <a:t>Data logger (CR3000) + solar power</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200" dirty="0">
                          <a:solidFill>
                            <a:schemeClr val="tx1"/>
                          </a:solidFill>
                        </a:rPr>
                        <a:t>10 Hz storage, power</a:t>
                      </a:r>
                      <a:endParaRPr lang="en-US" sz="12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bl>
          </a:graphicData>
        </a:graphic>
      </p:graphicFrame>
      <p:sp>
        <p:nvSpPr>
          <p:cNvPr id="7" name="card-81"/>
          <p:cNvSpPr/>
          <p:nvPr/>
        </p:nvSpPr>
        <p:spPr>
          <a:xfrm>
            <a:off x="502920" y="5166360"/>
            <a:ext cx="11155680" cy="1051560"/>
          </a:xfrm>
          <a:prstGeom prst="roundRect">
            <a:avLst>
              <a:gd name="adj" fmla="val 6957"/>
            </a:avLst>
          </a:prstGeom>
          <a:solidFill>
            <a:schemeClr val="bg2"/>
          </a:solidFill>
          <a:ln w="6350">
            <a:solidFill>
              <a:schemeClr val="bg2"/>
            </a:solidFill>
            <a:prstDash val="solid"/>
          </a:ln>
        </p:spPr>
      </p:sp>
      <p:sp>
        <p:nvSpPr>
          <p:cNvPr id="8" name="text-82"/>
          <p:cNvSpPr txBox="1"/>
          <p:nvPr/>
        </p:nvSpPr>
        <p:spPr>
          <a:xfrm>
            <a:off x="685800" y="5212080"/>
            <a:ext cx="10789920" cy="960120"/>
          </a:xfrm>
          <a:prstGeom prst="rect">
            <a:avLst/>
          </a:prstGeom>
          <a:noFill/>
          <a:ln/>
        </p:spPr>
        <p:txBody>
          <a:bodyPr wrap="square" lIns="635" tIns="635" rIns="635" bIns="635" rtlCol="0" anchor="ctr"/>
          <a:lstStyle/>
          <a:p>
            <a:pPr indent="0" marL="0">
              <a:buNone/>
            </a:pPr>
            <a:r>
              <a:rPr lang="en-US" sz="1400" b="1" dirty="0">
                <a:solidFill>
                  <a:schemeClr val="accent1"/>
                </a:solidFill>
              </a:rPr>
              <a:t>Open path: </a:t>
            </a:r>
            <a:pPr indent="0" marL="0">
              <a:buNone/>
            </a:pPr>
            <a:r>
              <a:rPr lang="en-US" sz="1400" dirty="0">
                <a:solidFill>
                  <a:schemeClr val="tx1"/>
                </a:solidFill>
              </a:rPr>
              <a:t>low power, good frequency response, but data lost in rain and needs WPL density correction.   </a:t>
            </a:r>
            <a:pPr indent="0" marL="0">
              <a:buNone/>
            </a:pPr>
            <a:r>
              <a:rPr lang="en-US" sz="1400" b="1" dirty="0">
                <a:solidFill>
                  <a:schemeClr val="accent3"/>
                </a:solidFill>
              </a:rPr>
              <a:t>Closed path: </a:t>
            </a:r>
            <a:pPr indent="0" marL="0">
              <a:buNone/>
            </a:pPr>
            <a:r>
              <a:rPr lang="en-US" sz="1400" dirty="0">
                <a:solidFill>
                  <a:schemeClr val="tx1"/>
                </a:solidFill>
              </a:rPr>
              <a:t>air pumped through a tube; works in rain, less maintenance for long-term runs, but tube attenuation of water vapour.</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Siting and installation rules</a:t>
            </a:r>
            <a:endParaRPr lang="en-US" sz="3000" dirty="0"/>
          </a:p>
        </p:txBody>
      </p:sp>
      <p:sp>
        <p:nvSpPr>
          <p:cNvPr id="3" name="badge-83"/>
          <p:cNvSpPr/>
          <p:nvPr/>
        </p:nvSpPr>
        <p:spPr>
          <a:xfrm>
            <a:off x="502920" y="1261872"/>
            <a:ext cx="502920" cy="502920"/>
          </a:xfrm>
          <a:prstGeom prst="ellipse">
            <a:avLst/>
          </a:prstGeom>
          <a:solidFill>
            <a:schemeClr val="accent1"/>
          </a:solidFill>
          <a:ln w="12700">
            <a:solidFill>
              <a:schemeClr val="accent1"/>
            </a:solidFill>
            <a:prstDash val="solid"/>
          </a:ln>
        </p:spPr>
      </p:sp>
      <p:sp>
        <p:nvSpPr>
          <p:cNvPr id="4" name="badge-t-84"/>
          <p:cNvSpPr txBox="1"/>
          <p:nvPr/>
        </p:nvSpPr>
        <p:spPr>
          <a:xfrm>
            <a:off x="502920" y="1261872"/>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85"/>
          <p:cNvSpPr txBox="1"/>
          <p:nvPr/>
        </p:nvSpPr>
        <p:spPr>
          <a:xfrm>
            <a:off x="1143000" y="1188720"/>
            <a:ext cx="1463040" cy="640080"/>
          </a:xfrm>
          <a:prstGeom prst="rect">
            <a:avLst/>
          </a:prstGeom>
          <a:noFill/>
          <a:ln/>
        </p:spPr>
        <p:txBody>
          <a:bodyPr wrap="square" lIns="635" tIns="635" rIns="635" bIns="635" rtlCol="0" anchor="ctr"/>
          <a:lstStyle/>
          <a:p>
            <a:pPr indent="0" marL="0">
              <a:buNone/>
            </a:pPr>
            <a:r>
              <a:rPr lang="en-US" sz="1500" b="1" dirty="0">
                <a:solidFill>
                  <a:schemeClr val="tx2"/>
                </a:solidFill>
              </a:rPr>
              <a:t>Terrain</a:t>
            </a:r>
            <a:endParaRPr lang="en-US" sz="1500" dirty="0"/>
          </a:p>
        </p:txBody>
      </p:sp>
      <p:sp>
        <p:nvSpPr>
          <p:cNvPr id="6" name="text-86"/>
          <p:cNvSpPr txBox="1"/>
          <p:nvPr/>
        </p:nvSpPr>
        <p:spPr>
          <a:xfrm>
            <a:off x="2606040" y="1188720"/>
            <a:ext cx="4023360" cy="640080"/>
          </a:xfrm>
          <a:prstGeom prst="rect">
            <a:avLst/>
          </a:prstGeom>
          <a:noFill/>
          <a:ln/>
        </p:spPr>
        <p:txBody>
          <a:bodyPr wrap="square" lIns="635" tIns="635" rIns="635" bIns="635" rtlCol="0" anchor="ctr"/>
          <a:lstStyle/>
          <a:p>
            <a:pPr indent="0" marL="0">
              <a:buNone/>
            </a:pPr>
            <a:r>
              <a:rPr lang="en-US" sz="1400" dirty="0">
                <a:solidFill>
                  <a:schemeClr val="tx1"/>
                </a:solidFill>
              </a:rPr>
              <a:t>Flat, horizontal, homogeneous crop; same variety and management across the fetch</a:t>
            </a:r>
            <a:endParaRPr lang="en-US" sz="1400" dirty="0"/>
          </a:p>
        </p:txBody>
      </p:sp>
      <p:sp>
        <p:nvSpPr>
          <p:cNvPr id="7" name="badge-87"/>
          <p:cNvSpPr/>
          <p:nvPr/>
        </p:nvSpPr>
        <p:spPr>
          <a:xfrm>
            <a:off x="502920" y="2029968"/>
            <a:ext cx="502920" cy="502920"/>
          </a:xfrm>
          <a:prstGeom prst="ellipse">
            <a:avLst/>
          </a:prstGeom>
          <a:solidFill>
            <a:schemeClr val="accent1"/>
          </a:solidFill>
          <a:ln w="12700">
            <a:solidFill>
              <a:schemeClr val="accent1"/>
            </a:solidFill>
            <a:prstDash val="solid"/>
          </a:ln>
        </p:spPr>
      </p:sp>
      <p:sp>
        <p:nvSpPr>
          <p:cNvPr id="8" name="badge-t-88"/>
          <p:cNvSpPr txBox="1"/>
          <p:nvPr/>
        </p:nvSpPr>
        <p:spPr>
          <a:xfrm>
            <a:off x="502920" y="2029968"/>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89"/>
          <p:cNvSpPr txBox="1"/>
          <p:nvPr/>
        </p:nvSpPr>
        <p:spPr>
          <a:xfrm>
            <a:off x="1143000" y="1956816"/>
            <a:ext cx="1463040" cy="640080"/>
          </a:xfrm>
          <a:prstGeom prst="rect">
            <a:avLst/>
          </a:prstGeom>
          <a:noFill/>
          <a:ln/>
        </p:spPr>
        <p:txBody>
          <a:bodyPr wrap="square" lIns="635" tIns="635" rIns="635" bIns="635" rtlCol="0" anchor="ctr"/>
          <a:lstStyle/>
          <a:p>
            <a:pPr indent="0" marL="0">
              <a:buNone/>
            </a:pPr>
            <a:r>
              <a:rPr lang="en-US" sz="1500" b="1" dirty="0">
                <a:solidFill>
                  <a:schemeClr val="tx2"/>
                </a:solidFill>
              </a:rPr>
              <a:t>Height</a:t>
            </a:r>
            <a:endParaRPr lang="en-US" sz="1500" dirty="0"/>
          </a:p>
        </p:txBody>
      </p:sp>
      <p:sp>
        <p:nvSpPr>
          <p:cNvPr id="10" name="text-90"/>
          <p:cNvSpPr txBox="1"/>
          <p:nvPr/>
        </p:nvSpPr>
        <p:spPr>
          <a:xfrm>
            <a:off x="2606040" y="1956816"/>
            <a:ext cx="4023360" cy="640080"/>
          </a:xfrm>
          <a:prstGeom prst="rect">
            <a:avLst/>
          </a:prstGeom>
          <a:noFill/>
          <a:ln/>
        </p:spPr>
        <p:txBody>
          <a:bodyPr wrap="square" lIns="635" tIns="635" rIns="635" bIns="635" rtlCol="0" anchor="ctr"/>
          <a:lstStyle/>
          <a:p>
            <a:pPr indent="0" marL="0">
              <a:buNone/>
            </a:pPr>
            <a:r>
              <a:rPr lang="en-US" sz="1400" dirty="0">
                <a:solidFill>
                  <a:schemeClr val="tx1"/>
                </a:solidFill>
              </a:rPr>
              <a:t>Inside constant-flux layer: about 1.5–2 × canopy height (h + z &gt; 2h, z &gt; 1.5 m)</a:t>
            </a:r>
            <a:endParaRPr lang="en-US" sz="1400" dirty="0"/>
          </a:p>
        </p:txBody>
      </p:sp>
      <p:sp>
        <p:nvSpPr>
          <p:cNvPr id="11" name="badge-91"/>
          <p:cNvSpPr/>
          <p:nvPr/>
        </p:nvSpPr>
        <p:spPr>
          <a:xfrm>
            <a:off x="502920" y="2798064"/>
            <a:ext cx="502920" cy="502920"/>
          </a:xfrm>
          <a:prstGeom prst="ellipse">
            <a:avLst/>
          </a:prstGeom>
          <a:solidFill>
            <a:schemeClr val="accent1"/>
          </a:solidFill>
          <a:ln w="12700">
            <a:solidFill>
              <a:schemeClr val="accent1"/>
            </a:solidFill>
            <a:prstDash val="solid"/>
          </a:ln>
        </p:spPr>
      </p:sp>
      <p:sp>
        <p:nvSpPr>
          <p:cNvPr id="12" name="badge-t-92"/>
          <p:cNvSpPr txBox="1"/>
          <p:nvPr/>
        </p:nvSpPr>
        <p:spPr>
          <a:xfrm>
            <a:off x="502920" y="2798064"/>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93"/>
          <p:cNvSpPr txBox="1"/>
          <p:nvPr/>
        </p:nvSpPr>
        <p:spPr>
          <a:xfrm>
            <a:off x="1143000" y="2724912"/>
            <a:ext cx="1463040" cy="640080"/>
          </a:xfrm>
          <a:prstGeom prst="rect">
            <a:avLst/>
          </a:prstGeom>
          <a:noFill/>
          <a:ln/>
        </p:spPr>
        <p:txBody>
          <a:bodyPr wrap="square" lIns="635" tIns="635" rIns="635" bIns="635" rtlCol="0" anchor="ctr"/>
          <a:lstStyle/>
          <a:p>
            <a:pPr indent="0" marL="0">
              <a:buNone/>
            </a:pPr>
            <a:r>
              <a:rPr lang="en-US" sz="1500" b="1" dirty="0">
                <a:solidFill>
                  <a:schemeClr val="tx2"/>
                </a:solidFill>
              </a:rPr>
              <a:t>Fetch</a:t>
            </a:r>
            <a:endParaRPr lang="en-US" sz="1500" dirty="0"/>
          </a:p>
        </p:txBody>
      </p:sp>
      <p:sp>
        <p:nvSpPr>
          <p:cNvPr id="14" name="text-94"/>
          <p:cNvSpPr txBox="1"/>
          <p:nvPr/>
        </p:nvSpPr>
        <p:spPr>
          <a:xfrm>
            <a:off x="2606040" y="2724912"/>
            <a:ext cx="4023360" cy="640080"/>
          </a:xfrm>
          <a:prstGeom prst="rect">
            <a:avLst/>
          </a:prstGeom>
          <a:noFill/>
          <a:ln/>
        </p:spPr>
        <p:txBody>
          <a:bodyPr wrap="square" lIns="635" tIns="635" rIns="635" bIns="635" rtlCol="0" anchor="ctr"/>
          <a:lstStyle/>
          <a:p>
            <a:pPr indent="0" marL="0">
              <a:buNone/>
            </a:pPr>
            <a:r>
              <a:rPr lang="en-US" sz="1400" dirty="0">
                <a:solidFill>
                  <a:schemeClr val="tx1"/>
                </a:solidFill>
              </a:rPr>
              <a:t>≈ 100 × sensor height in the dominant wind direction (1 m sensor → 100 m of same crop)</a:t>
            </a:r>
            <a:endParaRPr lang="en-US" sz="1400" dirty="0"/>
          </a:p>
        </p:txBody>
      </p:sp>
      <p:sp>
        <p:nvSpPr>
          <p:cNvPr id="15" name="badge-95"/>
          <p:cNvSpPr/>
          <p:nvPr/>
        </p:nvSpPr>
        <p:spPr>
          <a:xfrm>
            <a:off x="502920" y="3566160"/>
            <a:ext cx="502920" cy="502920"/>
          </a:xfrm>
          <a:prstGeom prst="ellipse">
            <a:avLst/>
          </a:prstGeom>
          <a:solidFill>
            <a:schemeClr val="accent1"/>
          </a:solidFill>
          <a:ln w="12700">
            <a:solidFill>
              <a:schemeClr val="accent1"/>
            </a:solidFill>
            <a:prstDash val="solid"/>
          </a:ln>
        </p:spPr>
      </p:sp>
      <p:sp>
        <p:nvSpPr>
          <p:cNvPr id="16" name="badge-t-96"/>
          <p:cNvSpPr txBox="1"/>
          <p:nvPr/>
        </p:nvSpPr>
        <p:spPr>
          <a:xfrm>
            <a:off x="502920" y="35661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text-97"/>
          <p:cNvSpPr txBox="1"/>
          <p:nvPr/>
        </p:nvSpPr>
        <p:spPr>
          <a:xfrm>
            <a:off x="1143000" y="3493008"/>
            <a:ext cx="1463040" cy="640080"/>
          </a:xfrm>
          <a:prstGeom prst="rect">
            <a:avLst/>
          </a:prstGeom>
          <a:noFill/>
          <a:ln/>
        </p:spPr>
        <p:txBody>
          <a:bodyPr wrap="square" lIns="635" tIns="635" rIns="635" bIns="635" rtlCol="0" anchor="ctr"/>
          <a:lstStyle/>
          <a:p>
            <a:pPr indent="0" marL="0">
              <a:buNone/>
            </a:pPr>
            <a:r>
              <a:rPr lang="en-US" sz="1500" b="1" dirty="0">
                <a:solidFill>
                  <a:schemeClr val="tx2"/>
                </a:solidFill>
              </a:rPr>
              <a:t>Sampling</a:t>
            </a:r>
            <a:endParaRPr lang="en-US" sz="1500" dirty="0"/>
          </a:p>
        </p:txBody>
      </p:sp>
      <p:sp>
        <p:nvSpPr>
          <p:cNvPr id="18" name="text-98"/>
          <p:cNvSpPr txBox="1"/>
          <p:nvPr/>
        </p:nvSpPr>
        <p:spPr>
          <a:xfrm>
            <a:off x="2606040" y="3493008"/>
            <a:ext cx="4023360" cy="640080"/>
          </a:xfrm>
          <a:prstGeom prst="rect">
            <a:avLst/>
          </a:prstGeom>
          <a:noFill/>
          <a:ln/>
        </p:spPr>
        <p:txBody>
          <a:bodyPr wrap="square" lIns="635" tIns="635" rIns="635" bIns="635" rtlCol="0" anchor="ctr"/>
          <a:lstStyle/>
          <a:p>
            <a:pPr indent="0" marL="0">
              <a:buNone/>
            </a:pPr>
            <a:r>
              <a:rPr lang="en-US" sz="1400" dirty="0">
                <a:solidFill>
                  <a:schemeClr val="tx1"/>
                </a:solidFill>
              </a:rPr>
              <a:t>Fast response 5–40 Hz (typically 10 Hz); averaging period 30 min</a:t>
            </a:r>
            <a:endParaRPr lang="en-US" sz="1400" dirty="0"/>
          </a:p>
        </p:txBody>
      </p:sp>
      <p:sp>
        <p:nvSpPr>
          <p:cNvPr id="19" name="badge-99"/>
          <p:cNvSpPr/>
          <p:nvPr/>
        </p:nvSpPr>
        <p:spPr>
          <a:xfrm>
            <a:off x="502920" y="4334256"/>
            <a:ext cx="502920" cy="502920"/>
          </a:xfrm>
          <a:prstGeom prst="ellipse">
            <a:avLst/>
          </a:prstGeom>
          <a:solidFill>
            <a:schemeClr val="accent1"/>
          </a:solidFill>
          <a:ln w="12700">
            <a:solidFill>
              <a:schemeClr val="accent1"/>
            </a:solidFill>
            <a:prstDash val="solid"/>
          </a:ln>
        </p:spPr>
      </p:sp>
      <p:sp>
        <p:nvSpPr>
          <p:cNvPr id="20" name="badge-t-100"/>
          <p:cNvSpPr txBox="1"/>
          <p:nvPr/>
        </p:nvSpPr>
        <p:spPr>
          <a:xfrm>
            <a:off x="502920" y="4334256"/>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1" name="text-101"/>
          <p:cNvSpPr txBox="1"/>
          <p:nvPr/>
        </p:nvSpPr>
        <p:spPr>
          <a:xfrm>
            <a:off x="1143000" y="4261104"/>
            <a:ext cx="1463040" cy="640080"/>
          </a:xfrm>
          <a:prstGeom prst="rect">
            <a:avLst/>
          </a:prstGeom>
          <a:noFill/>
          <a:ln/>
        </p:spPr>
        <p:txBody>
          <a:bodyPr wrap="square" lIns="635" tIns="635" rIns="635" bIns="635" rtlCol="0" anchor="ctr"/>
          <a:lstStyle/>
          <a:p>
            <a:pPr indent="0" marL="0">
              <a:buNone/>
            </a:pPr>
            <a:r>
              <a:rPr lang="en-US" sz="1500" b="1" dirty="0">
                <a:solidFill>
                  <a:schemeClr val="tx2"/>
                </a:solidFill>
              </a:rPr>
              <a:t>Turbulence</a:t>
            </a:r>
            <a:endParaRPr lang="en-US" sz="1500" dirty="0"/>
          </a:p>
        </p:txBody>
      </p:sp>
      <p:sp>
        <p:nvSpPr>
          <p:cNvPr id="22" name="text-102"/>
          <p:cNvSpPr txBox="1"/>
          <p:nvPr/>
        </p:nvSpPr>
        <p:spPr>
          <a:xfrm>
            <a:off x="2606040" y="4261104"/>
            <a:ext cx="4023360" cy="640080"/>
          </a:xfrm>
          <a:prstGeom prst="rect">
            <a:avLst/>
          </a:prstGeom>
          <a:noFill/>
          <a:ln/>
        </p:spPr>
        <p:txBody>
          <a:bodyPr wrap="square" lIns="635" tIns="635" rIns="635" bIns="635" rtlCol="0" anchor="ctr"/>
          <a:lstStyle/>
          <a:p>
            <a:pPr indent="0" marL="0">
              <a:buNone/>
            </a:pPr>
            <a:r>
              <a:rPr lang="en-US" sz="1400" dirty="0">
                <a:solidFill>
                  <a:schemeClr val="tx1"/>
                </a:solidFill>
              </a:rPr>
              <a:t>Flux carried fully by turbulent eddies; no flow convergence/divergence</a:t>
            </a:r>
            <a:endParaRPr lang="en-US" sz="1400" dirty="0"/>
          </a:p>
        </p:txBody>
      </p:sp>
      <p:sp>
        <p:nvSpPr>
          <p:cNvPr id="23" name="card-103"/>
          <p:cNvSpPr/>
          <p:nvPr/>
        </p:nvSpPr>
        <p:spPr>
          <a:xfrm>
            <a:off x="502920" y="5120640"/>
            <a:ext cx="6126480" cy="1097280"/>
          </a:xfrm>
          <a:prstGeom prst="roundRect">
            <a:avLst>
              <a:gd name="adj" fmla="val 6667"/>
            </a:avLst>
          </a:prstGeom>
          <a:solidFill>
            <a:schemeClr val="bg2"/>
          </a:solidFill>
          <a:ln w="6350">
            <a:solidFill>
              <a:schemeClr val="bg2"/>
            </a:solidFill>
            <a:prstDash val="solid"/>
          </a:ln>
        </p:spPr>
      </p:sp>
      <p:sp>
        <p:nvSpPr>
          <p:cNvPr id="24" name="text-104"/>
          <p:cNvSpPr txBox="1"/>
          <p:nvPr/>
        </p:nvSpPr>
        <p:spPr>
          <a:xfrm>
            <a:off x="685800" y="5166360"/>
            <a:ext cx="5760720" cy="1005840"/>
          </a:xfrm>
          <a:prstGeom prst="rect">
            <a:avLst/>
          </a:prstGeom>
          <a:noFill/>
          <a:ln/>
        </p:spPr>
        <p:txBody>
          <a:bodyPr wrap="square" lIns="635" tIns="635" rIns="635" bIns="635" rtlCol="0" anchor="ctr"/>
          <a:lstStyle/>
          <a:p>
            <a:pPr indent="0" marL="0">
              <a:buNone/>
            </a:pPr>
            <a:r>
              <a:rPr lang="en-US" sz="1400" dirty="0">
                <a:solidFill>
                  <a:schemeClr val="tx1"/>
                </a:solidFill>
              </a:rPr>
              <a:t>NRRI Cuttack site: 20.45°N, 85.94°E; sensors at 1.5 m in a 2.25 ha paddy; fetch 150 m (S–SE winds); 5–8 cm standing water.</a:t>
            </a:r>
            <a:endParaRPr lang="en-US" sz="1400" dirty="0"/>
          </a:p>
        </p:txBody>
      </p:sp>
      <p:pic>
        <p:nvPicPr>
          <p:cNvPr id="25" name="img-105" descr="EC tower through rice growth stages (Bulletin 29, Fig. 3)">    </p:cNvPr>
          <p:cNvPicPr>
            <a:picLocks noChangeAspect="1"/>
          </p:cNvPicPr>
          <p:nvPr/>
        </p:nvPicPr>
        <p:blipFill>
          <a:blip r:embed="rId1"/>
          <a:stretch>
            <a:fillRect/>
          </a:stretch>
        </p:blipFill>
        <p:spPr>
          <a:xfrm>
            <a:off x="6858000" y="1595598"/>
            <a:ext cx="4800600" cy="2734117"/>
          </a:xfrm>
          <a:prstGeom prst="rect">
            <a:avLst/>
          </a:prstGeom>
        </p:spPr>
      </p:pic>
      <p:sp>
        <p:nvSpPr>
          <p:cNvPr id="26" name="frame-106"/>
          <p:cNvSpPr/>
          <p:nvPr/>
        </p:nvSpPr>
        <p:spPr>
          <a:xfrm>
            <a:off x="6858000" y="1595598"/>
            <a:ext cx="4800600" cy="2734117"/>
          </a:xfrm>
          <a:prstGeom prst="rect">
            <a:avLst/>
          </a:prstGeom>
          <a:ln w="9525">
            <a:solidFill>
              <a:srgbClr val="C9D3CC"/>
            </a:solidFill>
            <a:prstDash val="solid"/>
          </a:ln>
        </p:spPr>
      </p:sp>
      <p:sp>
        <p:nvSpPr>
          <p:cNvPr id="27" name="text-107"/>
          <p:cNvSpPr txBox="1"/>
          <p:nvPr/>
        </p:nvSpPr>
        <p:spPr>
          <a:xfrm>
            <a:off x="6858000" y="4773168"/>
            <a:ext cx="480060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EC tower through rice growth stages (Bulletin 29, Fig. 3)</a:t>
            </a:r>
            <a:endParaRPr lang="en-US" sz="1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Raw data to fluxes: processing workflow</a:t>
            </a:r>
            <a:endParaRPr lang="en-US" sz="3000" dirty="0"/>
          </a:p>
        </p:txBody>
      </p:sp>
      <p:sp>
        <p:nvSpPr>
          <p:cNvPr id="3" name="flowbox-108"/>
          <p:cNvSpPr/>
          <p:nvPr/>
        </p:nvSpPr>
        <p:spPr>
          <a:xfrm>
            <a:off x="502920" y="1188720"/>
            <a:ext cx="5852160" cy="658368"/>
          </a:xfrm>
          <a:prstGeom prst="roundRect">
            <a:avLst>
              <a:gd name="adj" fmla="val 9722"/>
            </a:avLst>
          </a:prstGeom>
          <a:solidFill>
            <a:schemeClr val="tx2"/>
          </a:solidFill>
          <a:ln w="12700">
            <a:solidFill>
              <a:schemeClr val="tx2"/>
            </a:solidFill>
            <a:prstDash val="solid"/>
          </a:ln>
          <a:effectLst>
            <a:outerShdw sx="100000" sy="100000" kx="0" ky="0" algn="bl" rotWithShape="0" blurRad="76200" dist="25400" dir="5400000">
              <a:srgbClr val="000000">
                <a:alpha val="14000"/>
              </a:srgbClr>
            </a:outerShdw>
          </a:effectLst>
        </p:spPr>
      </p:sp>
      <p:sp>
        <p:nvSpPr>
          <p:cNvPr id="4" name="flowtext-109"/>
          <p:cNvSpPr txBox="1"/>
          <p:nvPr/>
        </p:nvSpPr>
        <p:spPr>
          <a:xfrm>
            <a:off x="594360" y="1188720"/>
            <a:ext cx="5669280" cy="658368"/>
          </a:xfrm>
          <a:prstGeom prst="rect">
            <a:avLst/>
          </a:prstGeom>
          <a:noFill/>
          <a:ln/>
        </p:spPr>
        <p:txBody>
          <a:bodyPr wrap="square" lIns="0" tIns="0" rIns="0" bIns="0" rtlCol="0" anchor="ctr"/>
          <a:lstStyle/>
          <a:p>
            <a:pPr algn="ctr" indent="0" marL="0">
              <a:buNone/>
            </a:pPr>
            <a:r>
              <a:rPr lang="en-US" sz="1300" dirty="0">
                <a:solidFill>
                  <a:schemeClr val="bg1"/>
                </a:solidFill>
              </a:rPr>
              <a:t>Data logger (CR3000) records 10 Hz raw data → TOB3 files on flash card</a:t>
            </a:r>
            <a:endParaRPr lang="en-US" sz="1300" dirty="0"/>
          </a:p>
        </p:txBody>
      </p:sp>
      <p:sp>
        <p:nvSpPr>
          <p:cNvPr id="5" name="arrow-110"/>
          <p:cNvSpPr/>
          <p:nvPr/>
        </p:nvSpPr>
        <p:spPr>
          <a:xfrm>
            <a:off x="3429000" y="1847088"/>
            <a:ext cx="0" cy="182880"/>
          </a:xfrm>
          <a:prstGeom prst="line">
            <a:avLst/>
          </a:prstGeom>
          <a:noFill/>
          <a:ln w="19050">
            <a:solidFill>
              <a:schemeClr val="accent6"/>
            </a:solidFill>
            <a:prstDash val="solid"/>
            <a:tailEnd type="triangle"/>
          </a:ln>
        </p:spPr>
      </p:sp>
      <p:sp>
        <p:nvSpPr>
          <p:cNvPr id="6" name="flowbox-111"/>
          <p:cNvSpPr/>
          <p:nvPr/>
        </p:nvSpPr>
        <p:spPr>
          <a:xfrm>
            <a:off x="502920" y="2029968"/>
            <a:ext cx="5852160" cy="658368"/>
          </a:xfrm>
          <a:prstGeom prst="roundRect">
            <a:avLst>
              <a:gd name="adj" fmla="val 9722"/>
            </a:avLst>
          </a:prstGeom>
          <a:solidFill>
            <a:schemeClr val="accent1"/>
          </a:solidFill>
          <a:ln w="12700">
            <a:solidFill>
              <a:schemeClr val="accent1"/>
            </a:solidFill>
            <a:prstDash val="solid"/>
          </a:ln>
          <a:effectLst>
            <a:outerShdw sx="100000" sy="100000" kx="0" ky="0" algn="bl" rotWithShape="0" blurRad="76200" dist="25400" dir="5400000">
              <a:srgbClr val="000000">
                <a:alpha val="14000"/>
              </a:srgbClr>
            </a:outerShdw>
          </a:effectLst>
        </p:spPr>
      </p:sp>
      <p:sp>
        <p:nvSpPr>
          <p:cNvPr id="7" name="flowtext-112"/>
          <p:cNvSpPr txBox="1"/>
          <p:nvPr/>
        </p:nvSpPr>
        <p:spPr>
          <a:xfrm>
            <a:off x="594360" y="2029968"/>
            <a:ext cx="5669280" cy="658368"/>
          </a:xfrm>
          <a:prstGeom prst="rect">
            <a:avLst/>
          </a:prstGeom>
          <a:noFill/>
          <a:ln/>
        </p:spPr>
        <p:txBody>
          <a:bodyPr wrap="square" lIns="0" tIns="0" rIns="0" bIns="0" rtlCol="0" anchor="ctr"/>
          <a:lstStyle/>
          <a:p>
            <a:pPr algn="ctr" indent="0" marL="0">
              <a:buNone/>
            </a:pPr>
            <a:r>
              <a:rPr lang="en-US" sz="1300" dirty="0">
                <a:solidFill>
                  <a:schemeClr val="bg1"/>
                </a:solidFill>
              </a:rPr>
              <a:t>LoggerNet converts to TOB1 (binary) / TOA5 (ASCII, 30-min met data)</a:t>
            </a:r>
            <a:endParaRPr lang="en-US" sz="1300" dirty="0"/>
          </a:p>
        </p:txBody>
      </p:sp>
      <p:sp>
        <p:nvSpPr>
          <p:cNvPr id="8" name="arrow-113"/>
          <p:cNvSpPr/>
          <p:nvPr/>
        </p:nvSpPr>
        <p:spPr>
          <a:xfrm>
            <a:off x="3429000" y="2688336"/>
            <a:ext cx="0" cy="182880"/>
          </a:xfrm>
          <a:prstGeom prst="line">
            <a:avLst/>
          </a:prstGeom>
          <a:noFill/>
          <a:ln w="19050">
            <a:solidFill>
              <a:schemeClr val="accent6"/>
            </a:solidFill>
            <a:prstDash val="solid"/>
            <a:tailEnd type="triangle"/>
          </a:ln>
        </p:spPr>
      </p:sp>
      <p:sp>
        <p:nvSpPr>
          <p:cNvPr id="9" name="flowbox-114"/>
          <p:cNvSpPr/>
          <p:nvPr/>
        </p:nvSpPr>
        <p:spPr>
          <a:xfrm>
            <a:off x="502920" y="2871216"/>
            <a:ext cx="5852160" cy="658368"/>
          </a:xfrm>
          <a:prstGeom prst="roundRect">
            <a:avLst>
              <a:gd name="adj" fmla="val 9722"/>
            </a:avLst>
          </a:prstGeom>
          <a:solidFill>
            <a:schemeClr val="accent1"/>
          </a:solidFill>
          <a:ln w="12700">
            <a:solidFill>
              <a:schemeClr val="accent1"/>
            </a:solidFill>
            <a:prstDash val="solid"/>
          </a:ln>
          <a:effectLst>
            <a:outerShdw sx="100000" sy="100000" kx="0" ky="0" algn="bl" rotWithShape="0" blurRad="76200" dist="25400" dir="5400000">
              <a:srgbClr val="000000">
                <a:alpha val="14000"/>
              </a:srgbClr>
            </a:outerShdw>
          </a:effectLst>
        </p:spPr>
      </p:sp>
      <p:sp>
        <p:nvSpPr>
          <p:cNvPr id="10" name="flowtext-115"/>
          <p:cNvSpPr txBox="1"/>
          <p:nvPr/>
        </p:nvSpPr>
        <p:spPr>
          <a:xfrm>
            <a:off x="594360" y="2871216"/>
            <a:ext cx="5669280" cy="658368"/>
          </a:xfrm>
          <a:prstGeom prst="rect">
            <a:avLst/>
          </a:prstGeom>
          <a:noFill/>
          <a:ln/>
        </p:spPr>
        <p:txBody>
          <a:bodyPr wrap="square" lIns="0" tIns="0" rIns="0" bIns="0" rtlCol="0" anchor="ctr"/>
          <a:lstStyle/>
          <a:p>
            <a:pPr algn="ctr" indent="0" marL="0">
              <a:buNone/>
            </a:pPr>
            <a:r>
              <a:rPr lang="en-US" sz="1300" dirty="0">
                <a:solidFill>
                  <a:schemeClr val="bg1"/>
                </a:solidFill>
              </a:rPr>
              <a:t>Processing in EddyPro / EdiRe: corrections and quality control</a:t>
            </a:r>
            <a:endParaRPr lang="en-US" sz="1300" dirty="0"/>
          </a:p>
        </p:txBody>
      </p:sp>
      <p:sp>
        <p:nvSpPr>
          <p:cNvPr id="11" name="arrow-116"/>
          <p:cNvSpPr/>
          <p:nvPr/>
        </p:nvSpPr>
        <p:spPr>
          <a:xfrm>
            <a:off x="3429000" y="3529584"/>
            <a:ext cx="0" cy="182880"/>
          </a:xfrm>
          <a:prstGeom prst="line">
            <a:avLst/>
          </a:prstGeom>
          <a:noFill/>
          <a:ln w="19050">
            <a:solidFill>
              <a:schemeClr val="accent6"/>
            </a:solidFill>
            <a:prstDash val="solid"/>
            <a:tailEnd type="triangle"/>
          </a:ln>
        </p:spPr>
      </p:sp>
      <p:sp>
        <p:nvSpPr>
          <p:cNvPr id="12" name="flowbox-117"/>
          <p:cNvSpPr/>
          <p:nvPr/>
        </p:nvSpPr>
        <p:spPr>
          <a:xfrm>
            <a:off x="502920" y="3712464"/>
            <a:ext cx="5852160" cy="658368"/>
          </a:xfrm>
          <a:prstGeom prst="roundRect">
            <a:avLst>
              <a:gd name="adj" fmla="val 9722"/>
            </a:avLst>
          </a:prstGeom>
          <a:solidFill>
            <a:schemeClr val="accent3"/>
          </a:solidFill>
          <a:ln w="12700">
            <a:solidFill>
              <a:schemeClr val="accent3"/>
            </a:solidFill>
            <a:prstDash val="solid"/>
          </a:ln>
          <a:effectLst>
            <a:outerShdw sx="100000" sy="100000" kx="0" ky="0" algn="bl" rotWithShape="0" blurRad="76200" dist="25400" dir="5400000">
              <a:srgbClr val="000000">
                <a:alpha val="14000"/>
              </a:srgbClr>
            </a:outerShdw>
          </a:effectLst>
        </p:spPr>
      </p:sp>
      <p:sp>
        <p:nvSpPr>
          <p:cNvPr id="13" name="flowtext-118"/>
          <p:cNvSpPr txBox="1"/>
          <p:nvPr/>
        </p:nvSpPr>
        <p:spPr>
          <a:xfrm>
            <a:off x="594360" y="3712464"/>
            <a:ext cx="5669280" cy="658368"/>
          </a:xfrm>
          <a:prstGeom prst="rect">
            <a:avLst/>
          </a:prstGeom>
          <a:noFill/>
          <a:ln/>
        </p:spPr>
        <p:txBody>
          <a:bodyPr wrap="square" lIns="0" tIns="0" rIns="0" bIns="0" rtlCol="0" anchor="ctr"/>
          <a:lstStyle/>
          <a:p>
            <a:pPr algn="ctr" indent="0" marL="0">
              <a:buNone/>
            </a:pPr>
            <a:r>
              <a:rPr lang="en-US" sz="1300" dirty="0">
                <a:solidFill>
                  <a:schemeClr val="bg1"/>
                </a:solidFill>
              </a:rPr>
              <a:t>Half-hourly fluxes (H, LE, Fc, F_CH₄, τ)</a:t>
            </a:r>
            <a:endParaRPr lang="en-US" sz="1300" dirty="0"/>
          </a:p>
        </p:txBody>
      </p:sp>
      <p:sp>
        <p:nvSpPr>
          <p:cNvPr id="14" name="arrow-119"/>
          <p:cNvSpPr/>
          <p:nvPr/>
        </p:nvSpPr>
        <p:spPr>
          <a:xfrm>
            <a:off x="3429000" y="4370832"/>
            <a:ext cx="0" cy="182880"/>
          </a:xfrm>
          <a:prstGeom prst="line">
            <a:avLst/>
          </a:prstGeom>
          <a:noFill/>
          <a:ln w="19050">
            <a:solidFill>
              <a:schemeClr val="accent6"/>
            </a:solidFill>
            <a:prstDash val="solid"/>
            <a:tailEnd type="triangle"/>
          </a:ln>
        </p:spPr>
      </p:sp>
      <p:sp>
        <p:nvSpPr>
          <p:cNvPr id="15" name="flowbox-120"/>
          <p:cNvSpPr/>
          <p:nvPr/>
        </p:nvSpPr>
        <p:spPr>
          <a:xfrm>
            <a:off x="502920" y="4553712"/>
            <a:ext cx="5852160" cy="658368"/>
          </a:xfrm>
          <a:prstGeom prst="roundRect">
            <a:avLst>
              <a:gd name="adj" fmla="val 9722"/>
            </a:avLst>
          </a:prstGeom>
          <a:solidFill>
            <a:schemeClr val="accent2"/>
          </a:solidFill>
          <a:ln w="12700">
            <a:solidFill>
              <a:schemeClr val="accent2"/>
            </a:solidFill>
            <a:prstDash val="solid"/>
          </a:ln>
          <a:effectLst>
            <a:outerShdw sx="100000" sy="100000" kx="0" ky="0" algn="bl" rotWithShape="0" blurRad="76200" dist="25400" dir="5400000">
              <a:srgbClr val="000000">
                <a:alpha val="14000"/>
              </a:srgbClr>
            </a:outerShdw>
          </a:effectLst>
        </p:spPr>
      </p:sp>
      <p:sp>
        <p:nvSpPr>
          <p:cNvPr id="16" name="flowtext-121"/>
          <p:cNvSpPr txBox="1"/>
          <p:nvPr/>
        </p:nvSpPr>
        <p:spPr>
          <a:xfrm>
            <a:off x="594360" y="4553712"/>
            <a:ext cx="5669280" cy="658368"/>
          </a:xfrm>
          <a:prstGeom prst="rect">
            <a:avLst/>
          </a:prstGeom>
          <a:noFill/>
          <a:ln/>
        </p:spPr>
        <p:txBody>
          <a:bodyPr wrap="square" lIns="0" tIns="0" rIns="0" bIns="0" rtlCol="0" anchor="ctr"/>
          <a:lstStyle/>
          <a:p>
            <a:pPr algn="ctr" indent="0" marL="0">
              <a:buNone/>
            </a:pPr>
            <a:r>
              <a:rPr lang="en-US" sz="1300" dirty="0">
                <a:solidFill>
                  <a:schemeClr val="bg1"/>
                </a:solidFill>
              </a:rPr>
              <a:t>Filtering (u*, spikes, QC flags) and gap filling</a:t>
            </a:r>
            <a:endParaRPr lang="en-US" sz="1300" dirty="0"/>
          </a:p>
        </p:txBody>
      </p:sp>
      <p:sp>
        <p:nvSpPr>
          <p:cNvPr id="17" name="arrow-122"/>
          <p:cNvSpPr/>
          <p:nvPr/>
        </p:nvSpPr>
        <p:spPr>
          <a:xfrm>
            <a:off x="3429000" y="5212080"/>
            <a:ext cx="0" cy="182880"/>
          </a:xfrm>
          <a:prstGeom prst="line">
            <a:avLst/>
          </a:prstGeom>
          <a:noFill/>
          <a:ln w="19050">
            <a:solidFill>
              <a:schemeClr val="accent6"/>
            </a:solidFill>
            <a:prstDash val="solid"/>
            <a:tailEnd type="triangle"/>
          </a:ln>
        </p:spPr>
      </p:sp>
      <p:sp>
        <p:nvSpPr>
          <p:cNvPr id="18" name="flowbox-123"/>
          <p:cNvSpPr/>
          <p:nvPr/>
        </p:nvSpPr>
        <p:spPr>
          <a:xfrm>
            <a:off x="502920" y="5394960"/>
            <a:ext cx="5852160" cy="658368"/>
          </a:xfrm>
          <a:prstGeom prst="roundRect">
            <a:avLst>
              <a:gd name="adj" fmla="val 9722"/>
            </a:avLst>
          </a:prstGeom>
          <a:solidFill>
            <a:schemeClr val="tx2"/>
          </a:solidFill>
          <a:ln w="12700">
            <a:solidFill>
              <a:schemeClr val="tx2"/>
            </a:solidFill>
            <a:prstDash val="solid"/>
          </a:ln>
          <a:effectLst>
            <a:outerShdw sx="100000" sy="100000" kx="0" ky="0" algn="bl" rotWithShape="0" blurRad="76200" dist="25400" dir="5400000">
              <a:srgbClr val="000000">
                <a:alpha val="14000"/>
              </a:srgbClr>
            </a:outerShdw>
          </a:effectLst>
        </p:spPr>
      </p:sp>
      <p:sp>
        <p:nvSpPr>
          <p:cNvPr id="19" name="flowtext-124"/>
          <p:cNvSpPr txBox="1"/>
          <p:nvPr/>
        </p:nvSpPr>
        <p:spPr>
          <a:xfrm>
            <a:off x="594360" y="5394960"/>
            <a:ext cx="5669280" cy="658368"/>
          </a:xfrm>
          <a:prstGeom prst="rect">
            <a:avLst/>
          </a:prstGeom>
          <a:noFill/>
          <a:ln/>
        </p:spPr>
        <p:txBody>
          <a:bodyPr wrap="square" lIns="0" tIns="0" rIns="0" bIns="0" rtlCol="0" anchor="ctr"/>
          <a:lstStyle/>
          <a:p>
            <a:pPr algn="ctr" indent="0" marL="0">
              <a:buNone/>
            </a:pPr>
            <a:r>
              <a:rPr lang="en-US" sz="1300" dirty="0">
                <a:solidFill>
                  <a:schemeClr val="bg1"/>
                </a:solidFill>
              </a:rPr>
              <a:t>Final energy and mass fluxes → daily, seasonal, annual budgets</a:t>
            </a:r>
            <a:endParaRPr lang="en-US" sz="1300" dirty="0"/>
          </a:p>
        </p:txBody>
      </p:sp>
      <p:pic>
        <p:nvPicPr>
          <p:cNvPr id="20" name="img-125" descr="Original flowchart, ICAR-NRRI Bulletin 29 (Fig. 4)">    </p:cNvPr>
          <p:cNvPicPr>
            <a:picLocks noChangeAspect="1"/>
          </p:cNvPicPr>
          <p:nvPr/>
        </p:nvPicPr>
        <p:blipFill>
          <a:blip r:embed="rId1"/>
          <a:stretch>
            <a:fillRect/>
          </a:stretch>
        </p:blipFill>
        <p:spPr>
          <a:xfrm>
            <a:off x="6675120" y="1696462"/>
            <a:ext cx="4983480" cy="3721108"/>
          </a:xfrm>
          <a:prstGeom prst="rect">
            <a:avLst/>
          </a:prstGeom>
        </p:spPr>
      </p:pic>
      <p:sp>
        <p:nvSpPr>
          <p:cNvPr id="21" name="frame-126"/>
          <p:cNvSpPr/>
          <p:nvPr/>
        </p:nvSpPr>
        <p:spPr>
          <a:xfrm>
            <a:off x="6675120" y="1696462"/>
            <a:ext cx="4983480" cy="3721108"/>
          </a:xfrm>
          <a:prstGeom prst="rect">
            <a:avLst/>
          </a:prstGeom>
          <a:ln w="9525">
            <a:solidFill>
              <a:srgbClr val="C9D3CC"/>
            </a:solidFill>
            <a:prstDash val="solid"/>
          </a:ln>
        </p:spPr>
      </p:sp>
      <p:sp>
        <p:nvSpPr>
          <p:cNvPr id="22" name="text-127"/>
          <p:cNvSpPr txBox="1"/>
          <p:nvPr/>
        </p:nvSpPr>
        <p:spPr>
          <a:xfrm>
            <a:off x="6675120" y="5961888"/>
            <a:ext cx="498348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Original flowchart, ICAR-NRRI Bulletin 29 (Fig. 4)</a:t>
            </a:r>
            <a:endParaRPr lang="en-US" sz="1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Flux corrections (1/2): cleaning the raw time series</a:t>
            </a:r>
            <a:endParaRPr lang="en-US" sz="3000" dirty="0"/>
          </a:p>
        </p:txBody>
      </p:sp>
      <p:sp>
        <p:nvSpPr>
          <p:cNvPr id="3" name="card-128"/>
          <p:cNvSpPr/>
          <p:nvPr/>
        </p:nvSpPr>
        <p:spPr>
          <a:xfrm>
            <a:off x="502920" y="1188720"/>
            <a:ext cx="3291840" cy="2377440"/>
          </a:xfrm>
          <a:prstGeom prst="roundRect">
            <a:avLst>
              <a:gd name="adj" fmla="val 3077"/>
            </a:avLst>
          </a:prstGeom>
          <a:solidFill>
            <a:schemeClr val="bg2"/>
          </a:solidFill>
          <a:ln w="6350">
            <a:solidFill>
              <a:schemeClr val="bg2"/>
            </a:solidFill>
            <a:prstDash val="solid"/>
          </a:ln>
        </p:spPr>
      </p:sp>
      <p:sp>
        <p:nvSpPr>
          <p:cNvPr id="4" name="badge-129"/>
          <p:cNvSpPr/>
          <p:nvPr/>
        </p:nvSpPr>
        <p:spPr>
          <a:xfrm>
            <a:off x="640080" y="1325880"/>
            <a:ext cx="457200" cy="457200"/>
          </a:xfrm>
          <a:prstGeom prst="ellipse">
            <a:avLst/>
          </a:prstGeom>
          <a:solidFill>
            <a:schemeClr val="accent1"/>
          </a:solidFill>
          <a:ln w="12700">
            <a:solidFill>
              <a:schemeClr val="accent1"/>
            </a:solidFill>
            <a:prstDash val="solid"/>
          </a:ln>
        </p:spPr>
      </p:sp>
      <p:sp>
        <p:nvSpPr>
          <p:cNvPr id="5" name="badge-t-130"/>
          <p:cNvSpPr txBox="1"/>
          <p:nvPr/>
        </p:nvSpPr>
        <p:spPr>
          <a:xfrm>
            <a:off x="640080" y="13258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131"/>
          <p:cNvSpPr txBox="1"/>
          <p:nvPr/>
        </p:nvSpPr>
        <p:spPr>
          <a:xfrm>
            <a:off x="1188720" y="1325880"/>
            <a:ext cx="2514600" cy="457200"/>
          </a:xfrm>
          <a:prstGeom prst="rect">
            <a:avLst/>
          </a:prstGeom>
          <a:noFill/>
          <a:ln/>
        </p:spPr>
        <p:txBody>
          <a:bodyPr wrap="square" lIns="635" tIns="635" rIns="635" bIns="635" rtlCol="0" anchor="ctr"/>
          <a:lstStyle/>
          <a:p>
            <a:pPr indent="0" marL="0">
              <a:buNone/>
            </a:pPr>
            <a:r>
              <a:rPr lang="en-US" sz="1600" b="1" dirty="0">
                <a:solidFill>
                  <a:schemeClr val="accent1"/>
                </a:solidFill>
              </a:rPr>
              <a:t>Coordinate rotation</a:t>
            </a:r>
            <a:endParaRPr lang="en-US" sz="1600" dirty="0"/>
          </a:p>
        </p:txBody>
      </p:sp>
      <p:sp>
        <p:nvSpPr>
          <p:cNvPr id="7" name="text-132"/>
          <p:cNvSpPr txBox="1"/>
          <p:nvPr/>
        </p:nvSpPr>
        <p:spPr>
          <a:xfrm>
            <a:off x="640080" y="1920240"/>
            <a:ext cx="3017520" cy="1554480"/>
          </a:xfrm>
          <a:prstGeom prst="rect">
            <a:avLst/>
          </a:prstGeom>
          <a:noFill/>
          <a:ln/>
        </p:spPr>
        <p:txBody>
          <a:bodyPr wrap="square" lIns="635" tIns="635" rIns="635" bIns="635" rtlCol="0" anchor="t"/>
          <a:lstStyle/>
          <a:p>
            <a:pPr indent="0" marL="0">
              <a:buNone/>
            </a:pPr>
            <a:r>
              <a:rPr lang="en-US" sz="1400" dirty="0">
                <a:solidFill>
                  <a:schemeClr val="tx1"/>
                </a:solidFill>
              </a:rPr>
              <a:t>Removes sonic tilt so mean w = 0. Double rotation for flat, homogeneous fields; planar fit for slopes or uneven canopy.</a:t>
            </a:r>
            <a:endParaRPr lang="en-US" sz="1400" dirty="0"/>
          </a:p>
        </p:txBody>
      </p:sp>
      <p:sp>
        <p:nvSpPr>
          <p:cNvPr id="8" name="card-133"/>
          <p:cNvSpPr/>
          <p:nvPr/>
        </p:nvSpPr>
        <p:spPr>
          <a:xfrm>
            <a:off x="3931920" y="1188720"/>
            <a:ext cx="3291840" cy="2377440"/>
          </a:xfrm>
          <a:prstGeom prst="roundRect">
            <a:avLst>
              <a:gd name="adj" fmla="val 3077"/>
            </a:avLst>
          </a:prstGeom>
          <a:solidFill>
            <a:schemeClr val="bg2"/>
          </a:solidFill>
          <a:ln w="6350">
            <a:solidFill>
              <a:schemeClr val="bg2"/>
            </a:solidFill>
            <a:prstDash val="solid"/>
          </a:ln>
        </p:spPr>
      </p:sp>
      <p:sp>
        <p:nvSpPr>
          <p:cNvPr id="9" name="badge-134"/>
          <p:cNvSpPr/>
          <p:nvPr/>
        </p:nvSpPr>
        <p:spPr>
          <a:xfrm>
            <a:off x="4069080" y="1325880"/>
            <a:ext cx="457200" cy="457200"/>
          </a:xfrm>
          <a:prstGeom prst="ellipse">
            <a:avLst/>
          </a:prstGeom>
          <a:solidFill>
            <a:schemeClr val="accent1"/>
          </a:solidFill>
          <a:ln w="12700">
            <a:solidFill>
              <a:schemeClr val="accent1"/>
            </a:solidFill>
            <a:prstDash val="solid"/>
          </a:ln>
        </p:spPr>
      </p:sp>
      <p:sp>
        <p:nvSpPr>
          <p:cNvPr id="10" name="badge-t-135"/>
          <p:cNvSpPr txBox="1"/>
          <p:nvPr/>
        </p:nvSpPr>
        <p:spPr>
          <a:xfrm>
            <a:off x="4069080" y="13258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136"/>
          <p:cNvSpPr txBox="1"/>
          <p:nvPr/>
        </p:nvSpPr>
        <p:spPr>
          <a:xfrm>
            <a:off x="4617720" y="1325880"/>
            <a:ext cx="2514600" cy="457200"/>
          </a:xfrm>
          <a:prstGeom prst="rect">
            <a:avLst/>
          </a:prstGeom>
          <a:noFill/>
          <a:ln/>
        </p:spPr>
        <p:txBody>
          <a:bodyPr wrap="square" lIns="635" tIns="635" rIns="635" bIns="635" rtlCol="0" anchor="ctr"/>
          <a:lstStyle/>
          <a:p>
            <a:pPr indent="0" marL="0">
              <a:buNone/>
            </a:pPr>
            <a:r>
              <a:rPr lang="en-US" sz="1600" b="1" dirty="0">
                <a:solidFill>
                  <a:schemeClr val="accent1"/>
                </a:solidFill>
              </a:rPr>
              <a:t>Time-lag compensation</a:t>
            </a:r>
            <a:endParaRPr lang="en-US" sz="1600" dirty="0"/>
          </a:p>
        </p:txBody>
      </p:sp>
      <p:sp>
        <p:nvSpPr>
          <p:cNvPr id="12" name="text-137"/>
          <p:cNvSpPr txBox="1"/>
          <p:nvPr/>
        </p:nvSpPr>
        <p:spPr>
          <a:xfrm>
            <a:off x="4069080" y="1920240"/>
            <a:ext cx="3017520" cy="1554480"/>
          </a:xfrm>
          <a:prstGeom prst="rect">
            <a:avLst/>
          </a:prstGeom>
          <a:noFill/>
          <a:ln/>
        </p:spPr>
        <p:txBody>
          <a:bodyPr wrap="square" lIns="635" tIns="635" rIns="635" bIns="635" rtlCol="0" anchor="t"/>
          <a:lstStyle/>
          <a:p>
            <a:pPr indent="0" marL="0">
              <a:buNone/>
            </a:pPr>
            <a:r>
              <a:rPr lang="en-US" sz="1400" dirty="0">
                <a:solidFill>
                  <a:schemeClr val="tx1"/>
                </a:solidFill>
              </a:rPr>
              <a:t>Sensor separation and electronics delay; lag found by maximum cross-correlation between w and the scalar.</a:t>
            </a:r>
            <a:endParaRPr lang="en-US" sz="1400" dirty="0"/>
          </a:p>
        </p:txBody>
      </p:sp>
      <p:sp>
        <p:nvSpPr>
          <p:cNvPr id="13" name="card-138"/>
          <p:cNvSpPr/>
          <p:nvPr/>
        </p:nvSpPr>
        <p:spPr>
          <a:xfrm>
            <a:off x="502920" y="3749040"/>
            <a:ext cx="3291840" cy="2377440"/>
          </a:xfrm>
          <a:prstGeom prst="roundRect">
            <a:avLst>
              <a:gd name="adj" fmla="val 3077"/>
            </a:avLst>
          </a:prstGeom>
          <a:solidFill>
            <a:schemeClr val="bg2"/>
          </a:solidFill>
          <a:ln w="6350">
            <a:solidFill>
              <a:schemeClr val="bg2"/>
            </a:solidFill>
            <a:prstDash val="solid"/>
          </a:ln>
        </p:spPr>
      </p:sp>
      <p:sp>
        <p:nvSpPr>
          <p:cNvPr id="14" name="badge-139"/>
          <p:cNvSpPr/>
          <p:nvPr/>
        </p:nvSpPr>
        <p:spPr>
          <a:xfrm>
            <a:off x="640080" y="3886200"/>
            <a:ext cx="457200" cy="457200"/>
          </a:xfrm>
          <a:prstGeom prst="ellipse">
            <a:avLst/>
          </a:prstGeom>
          <a:solidFill>
            <a:schemeClr val="accent1"/>
          </a:solidFill>
          <a:ln w="12700">
            <a:solidFill>
              <a:schemeClr val="accent1"/>
            </a:solidFill>
            <a:prstDash val="solid"/>
          </a:ln>
        </p:spPr>
      </p:sp>
      <p:sp>
        <p:nvSpPr>
          <p:cNvPr id="15" name="badge-t-140"/>
          <p:cNvSpPr txBox="1"/>
          <p:nvPr/>
        </p:nvSpPr>
        <p:spPr>
          <a:xfrm>
            <a:off x="640080"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141"/>
          <p:cNvSpPr txBox="1"/>
          <p:nvPr/>
        </p:nvSpPr>
        <p:spPr>
          <a:xfrm>
            <a:off x="1188720" y="3886200"/>
            <a:ext cx="2514600" cy="457200"/>
          </a:xfrm>
          <a:prstGeom prst="rect">
            <a:avLst/>
          </a:prstGeom>
          <a:noFill/>
          <a:ln/>
        </p:spPr>
        <p:txBody>
          <a:bodyPr wrap="square" lIns="635" tIns="635" rIns="635" bIns="635" rtlCol="0" anchor="ctr"/>
          <a:lstStyle/>
          <a:p>
            <a:pPr indent="0" marL="0">
              <a:buNone/>
            </a:pPr>
            <a:r>
              <a:rPr lang="en-US" sz="1600" b="1" dirty="0">
                <a:solidFill>
                  <a:schemeClr val="accent1"/>
                </a:solidFill>
              </a:rPr>
              <a:t>Despiking</a:t>
            </a:r>
            <a:endParaRPr lang="en-US" sz="1600" dirty="0"/>
          </a:p>
        </p:txBody>
      </p:sp>
      <p:sp>
        <p:nvSpPr>
          <p:cNvPr id="17" name="text-142"/>
          <p:cNvSpPr txBox="1"/>
          <p:nvPr/>
        </p:nvSpPr>
        <p:spPr>
          <a:xfrm>
            <a:off x="640080" y="4480560"/>
            <a:ext cx="3017520" cy="1554480"/>
          </a:xfrm>
          <a:prstGeom prst="rect">
            <a:avLst/>
          </a:prstGeom>
          <a:noFill/>
          <a:ln/>
        </p:spPr>
        <p:txBody>
          <a:bodyPr wrap="square" lIns="635" tIns="635" rIns="635" bIns="635" rtlCol="0" anchor="t"/>
          <a:lstStyle/>
          <a:p>
            <a:pPr indent="0" marL="0">
              <a:buNone/>
            </a:pPr>
            <a:r>
              <a:rPr lang="en-US" sz="1400" dirty="0">
                <a:solidFill>
                  <a:schemeClr val="tx1"/>
                </a:solidFill>
              </a:rPr>
              <a:t>Vickers &amp; Mahrt (1997): flag values beyond mean ± 3.5σ (u, v, CO₂, H₂O), ± 5σ (w), ± 8σ (CH₄).</a:t>
            </a:r>
            <a:endParaRPr lang="en-US" sz="1400" dirty="0"/>
          </a:p>
        </p:txBody>
      </p:sp>
      <p:sp>
        <p:nvSpPr>
          <p:cNvPr id="18" name="card-143"/>
          <p:cNvSpPr/>
          <p:nvPr/>
        </p:nvSpPr>
        <p:spPr>
          <a:xfrm>
            <a:off x="3931920" y="3749040"/>
            <a:ext cx="3291840" cy="2377440"/>
          </a:xfrm>
          <a:prstGeom prst="roundRect">
            <a:avLst>
              <a:gd name="adj" fmla="val 3077"/>
            </a:avLst>
          </a:prstGeom>
          <a:solidFill>
            <a:schemeClr val="bg2"/>
          </a:solidFill>
          <a:ln w="6350">
            <a:solidFill>
              <a:schemeClr val="bg2"/>
            </a:solidFill>
            <a:prstDash val="solid"/>
          </a:ln>
        </p:spPr>
      </p:sp>
      <p:sp>
        <p:nvSpPr>
          <p:cNvPr id="19" name="badge-144"/>
          <p:cNvSpPr/>
          <p:nvPr/>
        </p:nvSpPr>
        <p:spPr>
          <a:xfrm>
            <a:off x="4069080" y="3886200"/>
            <a:ext cx="457200" cy="457200"/>
          </a:xfrm>
          <a:prstGeom prst="ellipse">
            <a:avLst/>
          </a:prstGeom>
          <a:solidFill>
            <a:schemeClr val="accent1"/>
          </a:solidFill>
          <a:ln w="12700">
            <a:solidFill>
              <a:schemeClr val="accent1"/>
            </a:solidFill>
            <a:prstDash val="solid"/>
          </a:ln>
        </p:spPr>
      </p:sp>
      <p:sp>
        <p:nvSpPr>
          <p:cNvPr id="20" name="badge-t-145"/>
          <p:cNvSpPr txBox="1"/>
          <p:nvPr/>
        </p:nvSpPr>
        <p:spPr>
          <a:xfrm>
            <a:off x="4069080"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146"/>
          <p:cNvSpPr txBox="1"/>
          <p:nvPr/>
        </p:nvSpPr>
        <p:spPr>
          <a:xfrm>
            <a:off x="4617720" y="3886200"/>
            <a:ext cx="2514600" cy="457200"/>
          </a:xfrm>
          <a:prstGeom prst="rect">
            <a:avLst/>
          </a:prstGeom>
          <a:noFill/>
          <a:ln/>
        </p:spPr>
        <p:txBody>
          <a:bodyPr wrap="square" lIns="635" tIns="635" rIns="635" bIns="635" rtlCol="0" anchor="ctr"/>
          <a:lstStyle/>
          <a:p>
            <a:pPr indent="0" marL="0">
              <a:buNone/>
            </a:pPr>
            <a:r>
              <a:rPr lang="en-US" sz="1600" b="1" dirty="0">
                <a:solidFill>
                  <a:schemeClr val="accent1"/>
                </a:solidFill>
              </a:rPr>
              <a:t>Detrending</a:t>
            </a:r>
            <a:endParaRPr lang="en-US" sz="1600" dirty="0"/>
          </a:p>
        </p:txBody>
      </p:sp>
      <p:sp>
        <p:nvSpPr>
          <p:cNvPr id="22" name="text-147"/>
          <p:cNvSpPr txBox="1"/>
          <p:nvPr/>
        </p:nvSpPr>
        <p:spPr>
          <a:xfrm>
            <a:off x="4069080" y="4480560"/>
            <a:ext cx="3017520" cy="1554480"/>
          </a:xfrm>
          <a:prstGeom prst="rect">
            <a:avLst/>
          </a:prstGeom>
          <a:noFill/>
          <a:ln/>
        </p:spPr>
        <p:txBody>
          <a:bodyPr wrap="square" lIns="635" tIns="635" rIns="635" bIns="635" rtlCol="0" anchor="t"/>
          <a:lstStyle/>
          <a:p>
            <a:pPr indent="0" marL="0">
              <a:buNone/>
            </a:pPr>
            <a:r>
              <a:rPr lang="en-US" sz="1400" dirty="0">
                <a:solidFill>
                  <a:schemeClr val="tx1"/>
                </a:solidFill>
              </a:rPr>
              <a:t>Block averaging (default) or linear/running mean removes low-frequency drift.</a:t>
            </a:r>
            <a:endParaRPr lang="en-US" sz="1400" dirty="0"/>
          </a:p>
        </p:txBody>
      </p:sp>
      <p:pic>
        <p:nvPicPr>
          <p:cNvPr id="23" name="img-148" descr="Time lag τ between w and scalar (LI-COR, in Bulletin 29)">    </p:cNvPr>
          <p:cNvPicPr>
            <a:picLocks noChangeAspect="1"/>
          </p:cNvPicPr>
          <p:nvPr/>
        </p:nvPicPr>
        <p:blipFill>
          <a:blip r:embed="rId1"/>
          <a:stretch>
            <a:fillRect/>
          </a:stretch>
        </p:blipFill>
        <p:spPr>
          <a:xfrm>
            <a:off x="7758047" y="1188720"/>
            <a:ext cx="3594866" cy="2221992"/>
          </a:xfrm>
          <a:prstGeom prst="rect">
            <a:avLst/>
          </a:prstGeom>
        </p:spPr>
      </p:pic>
      <p:sp>
        <p:nvSpPr>
          <p:cNvPr id="24" name="frame-149"/>
          <p:cNvSpPr/>
          <p:nvPr/>
        </p:nvSpPr>
        <p:spPr>
          <a:xfrm>
            <a:off x="7758047" y="1188720"/>
            <a:ext cx="3594866" cy="2221992"/>
          </a:xfrm>
          <a:prstGeom prst="rect">
            <a:avLst/>
          </a:prstGeom>
          <a:ln w="9525">
            <a:solidFill>
              <a:srgbClr val="C9D3CC"/>
            </a:solidFill>
            <a:prstDash val="solid"/>
          </a:ln>
        </p:spPr>
      </p:sp>
      <p:sp>
        <p:nvSpPr>
          <p:cNvPr id="25" name="text-150"/>
          <p:cNvSpPr txBox="1"/>
          <p:nvPr/>
        </p:nvSpPr>
        <p:spPr>
          <a:xfrm>
            <a:off x="7452360" y="3447288"/>
            <a:ext cx="420624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Time lag τ between w and scalar (LI-COR, in Bulletin 29)</a:t>
            </a:r>
            <a:endParaRPr lang="en-US" sz="1000" dirty="0"/>
          </a:p>
        </p:txBody>
      </p:sp>
      <p:pic>
        <p:nvPicPr>
          <p:cNvPr id="26" name="img-151" descr="Spike detection: red = spike, blue = plausibility range">    </p:cNvPr>
          <p:cNvPicPr>
            <a:picLocks noChangeAspect="1"/>
          </p:cNvPicPr>
          <p:nvPr/>
        </p:nvPicPr>
        <p:blipFill>
          <a:blip r:embed="rId2"/>
          <a:stretch>
            <a:fillRect/>
          </a:stretch>
        </p:blipFill>
        <p:spPr>
          <a:xfrm>
            <a:off x="7452360" y="4023749"/>
            <a:ext cx="4206240" cy="1718294"/>
          </a:xfrm>
          <a:prstGeom prst="rect">
            <a:avLst/>
          </a:prstGeom>
        </p:spPr>
      </p:pic>
      <p:sp>
        <p:nvSpPr>
          <p:cNvPr id="27" name="frame-152"/>
          <p:cNvSpPr/>
          <p:nvPr/>
        </p:nvSpPr>
        <p:spPr>
          <a:xfrm>
            <a:off x="7452360" y="4023749"/>
            <a:ext cx="4206240" cy="1718294"/>
          </a:xfrm>
          <a:prstGeom prst="rect">
            <a:avLst/>
          </a:prstGeom>
          <a:ln w="9525">
            <a:solidFill>
              <a:srgbClr val="C9D3CC"/>
            </a:solidFill>
            <a:prstDash val="solid"/>
          </a:ln>
        </p:spPr>
      </p:sp>
      <p:sp>
        <p:nvSpPr>
          <p:cNvPr id="28" name="text-153"/>
          <p:cNvSpPr txBox="1"/>
          <p:nvPr/>
        </p:nvSpPr>
        <p:spPr>
          <a:xfrm>
            <a:off x="7452360" y="5961888"/>
            <a:ext cx="420624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Spike detection: red = spike, blue = plausibility range</a:t>
            </a:r>
            <a:endParaRPr lang="en-US" sz="1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Flux corrections (2/2): density, spectra and filtering</a:t>
            </a:r>
            <a:endParaRPr lang="en-US" sz="3000" dirty="0"/>
          </a:p>
        </p:txBody>
      </p:sp>
      <p:sp>
        <p:nvSpPr>
          <p:cNvPr id="3" name="badge-154"/>
          <p:cNvSpPr/>
          <p:nvPr/>
        </p:nvSpPr>
        <p:spPr>
          <a:xfrm>
            <a:off x="502920" y="1325880"/>
            <a:ext cx="548640" cy="548640"/>
          </a:xfrm>
          <a:prstGeom prst="ellipse">
            <a:avLst/>
          </a:prstGeom>
          <a:solidFill>
            <a:schemeClr val="accent3"/>
          </a:solidFill>
          <a:ln w="12700">
            <a:solidFill>
              <a:schemeClr val="accent3"/>
            </a:solidFill>
            <a:prstDash val="solid"/>
          </a:ln>
        </p:spPr>
      </p:sp>
      <p:sp>
        <p:nvSpPr>
          <p:cNvPr id="4" name="badge-t-155"/>
          <p:cNvSpPr txBox="1"/>
          <p:nvPr/>
        </p:nvSpPr>
        <p:spPr>
          <a:xfrm>
            <a:off x="502920" y="13258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5" name="text-156"/>
          <p:cNvSpPr txBox="1"/>
          <p:nvPr/>
        </p:nvSpPr>
        <p:spPr>
          <a:xfrm>
            <a:off x="1234440" y="1188720"/>
            <a:ext cx="3108960" cy="868680"/>
          </a:xfrm>
          <a:prstGeom prst="rect">
            <a:avLst/>
          </a:prstGeom>
          <a:noFill/>
          <a:ln/>
        </p:spPr>
        <p:txBody>
          <a:bodyPr wrap="square" lIns="635" tIns="635" rIns="635" bIns="635" rtlCol="0" anchor="ctr"/>
          <a:lstStyle/>
          <a:p>
            <a:pPr indent="0" marL="0">
              <a:buNone/>
            </a:pPr>
            <a:r>
              <a:rPr lang="en-US" sz="1600" b="1" dirty="0">
                <a:solidFill>
                  <a:schemeClr val="tx2"/>
                </a:solidFill>
              </a:rPr>
              <a:t>WPL density correction</a:t>
            </a:r>
            <a:endParaRPr lang="en-US" sz="1600" dirty="0"/>
          </a:p>
        </p:txBody>
      </p:sp>
      <p:sp>
        <p:nvSpPr>
          <p:cNvPr id="6" name="card-157"/>
          <p:cNvSpPr/>
          <p:nvPr/>
        </p:nvSpPr>
        <p:spPr>
          <a:xfrm>
            <a:off x="4389120" y="1188720"/>
            <a:ext cx="7269480" cy="868680"/>
          </a:xfrm>
          <a:prstGeom prst="roundRect">
            <a:avLst>
              <a:gd name="adj" fmla="val 8421"/>
            </a:avLst>
          </a:prstGeom>
          <a:solidFill>
            <a:schemeClr val="bg2"/>
          </a:solidFill>
          <a:ln w="6350">
            <a:solidFill>
              <a:schemeClr val="bg2"/>
            </a:solidFill>
            <a:prstDash val="solid"/>
          </a:ln>
        </p:spPr>
      </p:sp>
      <p:sp>
        <p:nvSpPr>
          <p:cNvPr id="7" name="text-158"/>
          <p:cNvSpPr txBox="1"/>
          <p:nvPr/>
        </p:nvSpPr>
        <p:spPr>
          <a:xfrm>
            <a:off x="4526280" y="1188720"/>
            <a:ext cx="7040880" cy="868680"/>
          </a:xfrm>
          <a:prstGeom prst="rect">
            <a:avLst/>
          </a:prstGeom>
          <a:noFill/>
          <a:ln/>
        </p:spPr>
        <p:txBody>
          <a:bodyPr wrap="square" lIns="635" tIns="635" rIns="635" bIns="635" rtlCol="0" anchor="ctr"/>
          <a:lstStyle/>
          <a:p>
            <a:pPr indent="0" marL="0">
              <a:buNone/>
            </a:pPr>
            <a:r>
              <a:rPr lang="en-US" sz="1400" dirty="0">
                <a:solidFill>
                  <a:schemeClr val="tx1"/>
                </a:solidFill>
              </a:rPr>
              <a:t>Webb–Pearman–Leuning: open-path IRGAs measure gas density; heat and water vapour change air density, which mimics a gas flux. WPL converts to the true flux (mixing-ratio basis).</a:t>
            </a:r>
            <a:endParaRPr lang="en-US" sz="1400" dirty="0"/>
          </a:p>
        </p:txBody>
      </p:sp>
      <p:sp>
        <p:nvSpPr>
          <p:cNvPr id="8" name="badge-159"/>
          <p:cNvSpPr/>
          <p:nvPr/>
        </p:nvSpPr>
        <p:spPr>
          <a:xfrm>
            <a:off x="502920" y="2331720"/>
            <a:ext cx="548640" cy="548640"/>
          </a:xfrm>
          <a:prstGeom prst="ellipse">
            <a:avLst/>
          </a:prstGeom>
          <a:solidFill>
            <a:schemeClr val="accent3"/>
          </a:solidFill>
          <a:ln w="12700">
            <a:solidFill>
              <a:schemeClr val="accent3"/>
            </a:solidFill>
            <a:prstDash val="solid"/>
          </a:ln>
        </p:spPr>
      </p:sp>
      <p:sp>
        <p:nvSpPr>
          <p:cNvPr id="9" name="badge-t-160"/>
          <p:cNvSpPr txBox="1"/>
          <p:nvPr/>
        </p:nvSpPr>
        <p:spPr>
          <a:xfrm>
            <a:off x="502920" y="23317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0" name="text-161"/>
          <p:cNvSpPr txBox="1"/>
          <p:nvPr/>
        </p:nvSpPr>
        <p:spPr>
          <a:xfrm>
            <a:off x="1234440" y="2194560"/>
            <a:ext cx="3108960" cy="868680"/>
          </a:xfrm>
          <a:prstGeom prst="rect">
            <a:avLst/>
          </a:prstGeom>
          <a:noFill/>
          <a:ln/>
        </p:spPr>
        <p:txBody>
          <a:bodyPr wrap="square" lIns="635" tIns="635" rIns="635" bIns="635" rtlCol="0" anchor="ctr"/>
          <a:lstStyle/>
          <a:p>
            <a:pPr indent="0" marL="0">
              <a:buNone/>
            </a:pPr>
            <a:r>
              <a:rPr lang="en-US" sz="1600" b="1" dirty="0">
                <a:solidFill>
                  <a:schemeClr val="tx2"/>
                </a:solidFill>
              </a:rPr>
              <a:t>Spectral / frequency response</a:t>
            </a:r>
            <a:endParaRPr lang="en-US" sz="1600" dirty="0"/>
          </a:p>
        </p:txBody>
      </p:sp>
      <p:sp>
        <p:nvSpPr>
          <p:cNvPr id="11" name="card-162"/>
          <p:cNvSpPr/>
          <p:nvPr/>
        </p:nvSpPr>
        <p:spPr>
          <a:xfrm>
            <a:off x="4389120" y="2194560"/>
            <a:ext cx="7269480" cy="868680"/>
          </a:xfrm>
          <a:prstGeom prst="roundRect">
            <a:avLst>
              <a:gd name="adj" fmla="val 8421"/>
            </a:avLst>
          </a:prstGeom>
          <a:solidFill>
            <a:schemeClr val="bg2"/>
          </a:solidFill>
          <a:ln w="6350">
            <a:solidFill>
              <a:schemeClr val="bg2"/>
            </a:solidFill>
            <a:prstDash val="solid"/>
          </a:ln>
        </p:spPr>
      </p:sp>
      <p:sp>
        <p:nvSpPr>
          <p:cNvPr id="12" name="text-163"/>
          <p:cNvSpPr txBox="1"/>
          <p:nvPr/>
        </p:nvSpPr>
        <p:spPr>
          <a:xfrm>
            <a:off x="4526280" y="2194560"/>
            <a:ext cx="7040880" cy="868680"/>
          </a:xfrm>
          <a:prstGeom prst="rect">
            <a:avLst/>
          </a:prstGeom>
          <a:noFill/>
          <a:ln/>
        </p:spPr>
        <p:txBody>
          <a:bodyPr wrap="square" lIns="635" tIns="635" rIns="635" bIns="635" rtlCol="0" anchor="ctr"/>
          <a:lstStyle/>
          <a:p>
            <a:pPr indent="0" marL="0">
              <a:buNone/>
            </a:pPr>
            <a:r>
              <a:rPr lang="en-US" sz="1400" dirty="0">
                <a:solidFill>
                  <a:schemeClr val="tx1"/>
                </a:solidFill>
              </a:rPr>
              <a:t>Recovers flux lost to path averaging, sensor separation, tube attenuation and finite sampling (high- and low-pass filtering).</a:t>
            </a:r>
            <a:endParaRPr lang="en-US" sz="1400" dirty="0"/>
          </a:p>
        </p:txBody>
      </p:sp>
      <p:sp>
        <p:nvSpPr>
          <p:cNvPr id="13" name="badge-164"/>
          <p:cNvSpPr/>
          <p:nvPr/>
        </p:nvSpPr>
        <p:spPr>
          <a:xfrm>
            <a:off x="502920" y="3337560"/>
            <a:ext cx="548640" cy="548640"/>
          </a:xfrm>
          <a:prstGeom prst="ellipse">
            <a:avLst/>
          </a:prstGeom>
          <a:solidFill>
            <a:schemeClr val="accent2"/>
          </a:solidFill>
          <a:ln w="12700">
            <a:solidFill>
              <a:schemeClr val="accent2"/>
            </a:solidFill>
            <a:prstDash val="solid"/>
          </a:ln>
        </p:spPr>
      </p:sp>
      <p:sp>
        <p:nvSpPr>
          <p:cNvPr id="14" name="badge-t-165"/>
          <p:cNvSpPr txBox="1"/>
          <p:nvPr/>
        </p:nvSpPr>
        <p:spPr>
          <a:xfrm>
            <a:off x="502920" y="33375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5" name="text-166"/>
          <p:cNvSpPr txBox="1"/>
          <p:nvPr/>
        </p:nvSpPr>
        <p:spPr>
          <a:xfrm>
            <a:off x="1234440" y="3200400"/>
            <a:ext cx="3108960" cy="868680"/>
          </a:xfrm>
          <a:prstGeom prst="rect">
            <a:avLst/>
          </a:prstGeom>
          <a:noFill/>
          <a:ln/>
        </p:spPr>
        <p:txBody>
          <a:bodyPr wrap="square" lIns="635" tIns="635" rIns="635" bIns="635" rtlCol="0" anchor="ctr"/>
          <a:lstStyle/>
          <a:p>
            <a:pPr indent="0" marL="0">
              <a:buNone/>
            </a:pPr>
            <a:r>
              <a:rPr lang="en-US" sz="1600" b="1" dirty="0">
                <a:solidFill>
                  <a:schemeClr val="tx2"/>
                </a:solidFill>
              </a:rPr>
              <a:t>Sonic temperature</a:t>
            </a:r>
            <a:endParaRPr lang="en-US" sz="1600" dirty="0"/>
          </a:p>
        </p:txBody>
      </p:sp>
      <p:sp>
        <p:nvSpPr>
          <p:cNvPr id="16" name="card-167"/>
          <p:cNvSpPr/>
          <p:nvPr/>
        </p:nvSpPr>
        <p:spPr>
          <a:xfrm>
            <a:off x="4389120" y="3200400"/>
            <a:ext cx="7269480" cy="868680"/>
          </a:xfrm>
          <a:prstGeom prst="roundRect">
            <a:avLst>
              <a:gd name="adj" fmla="val 8421"/>
            </a:avLst>
          </a:prstGeom>
          <a:solidFill>
            <a:schemeClr val="bg2"/>
          </a:solidFill>
          <a:ln w="6350">
            <a:solidFill>
              <a:schemeClr val="bg2"/>
            </a:solidFill>
            <a:prstDash val="solid"/>
          </a:ln>
        </p:spPr>
      </p:sp>
      <p:sp>
        <p:nvSpPr>
          <p:cNvPr id="17" name="text-168"/>
          <p:cNvSpPr txBox="1"/>
          <p:nvPr/>
        </p:nvSpPr>
        <p:spPr>
          <a:xfrm>
            <a:off x="4526280" y="3200400"/>
            <a:ext cx="7040880" cy="868680"/>
          </a:xfrm>
          <a:prstGeom prst="rect">
            <a:avLst/>
          </a:prstGeom>
          <a:noFill/>
          <a:ln/>
        </p:spPr>
        <p:txBody>
          <a:bodyPr wrap="square" lIns="635" tIns="635" rIns="635" bIns="635" rtlCol="0" anchor="ctr"/>
          <a:lstStyle/>
          <a:p>
            <a:pPr indent="0" marL="0">
              <a:buNone/>
            </a:pPr>
            <a:r>
              <a:rPr lang="en-US" sz="1400" dirty="0">
                <a:solidFill>
                  <a:schemeClr val="tx1"/>
                </a:solidFill>
              </a:rPr>
              <a:t>Sonic anemometer gives virtual (sonic) temperature; its flux is converted to the true sensible heat flux.</a:t>
            </a:r>
            <a:endParaRPr lang="en-US" sz="1400" dirty="0"/>
          </a:p>
        </p:txBody>
      </p:sp>
      <p:sp>
        <p:nvSpPr>
          <p:cNvPr id="18" name="badge-169"/>
          <p:cNvSpPr/>
          <p:nvPr/>
        </p:nvSpPr>
        <p:spPr>
          <a:xfrm>
            <a:off x="502920" y="4343400"/>
            <a:ext cx="548640" cy="548640"/>
          </a:xfrm>
          <a:prstGeom prst="ellipse">
            <a:avLst/>
          </a:prstGeom>
          <a:solidFill>
            <a:schemeClr val="accent5"/>
          </a:solidFill>
          <a:ln w="12700">
            <a:solidFill>
              <a:schemeClr val="accent5"/>
            </a:solidFill>
            <a:prstDash val="solid"/>
          </a:ln>
        </p:spPr>
      </p:sp>
      <p:sp>
        <p:nvSpPr>
          <p:cNvPr id="19" name="badge-t-170"/>
          <p:cNvSpPr txBox="1"/>
          <p:nvPr/>
        </p:nvSpPr>
        <p:spPr>
          <a:xfrm>
            <a:off x="502920" y="43434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20" name="text-171"/>
          <p:cNvSpPr txBox="1"/>
          <p:nvPr/>
        </p:nvSpPr>
        <p:spPr>
          <a:xfrm>
            <a:off x="1234440" y="4206240"/>
            <a:ext cx="3108960" cy="868680"/>
          </a:xfrm>
          <a:prstGeom prst="rect">
            <a:avLst/>
          </a:prstGeom>
          <a:noFill/>
          <a:ln/>
        </p:spPr>
        <p:txBody>
          <a:bodyPr wrap="square" lIns="635" tIns="635" rIns="635" bIns="635" rtlCol="0" anchor="ctr"/>
          <a:lstStyle/>
          <a:p>
            <a:pPr indent="0" marL="0">
              <a:buNone/>
            </a:pPr>
            <a:r>
              <a:rPr lang="en-US" sz="1600" b="1" dirty="0">
                <a:solidFill>
                  <a:schemeClr val="tx2"/>
                </a:solidFill>
              </a:rPr>
              <a:t>u* filtering</a:t>
            </a:r>
            <a:endParaRPr lang="en-US" sz="1600" dirty="0"/>
          </a:p>
        </p:txBody>
      </p:sp>
      <p:sp>
        <p:nvSpPr>
          <p:cNvPr id="21" name="card-172"/>
          <p:cNvSpPr/>
          <p:nvPr/>
        </p:nvSpPr>
        <p:spPr>
          <a:xfrm>
            <a:off x="4389120" y="4206240"/>
            <a:ext cx="7269480" cy="868680"/>
          </a:xfrm>
          <a:prstGeom prst="roundRect">
            <a:avLst>
              <a:gd name="adj" fmla="val 8421"/>
            </a:avLst>
          </a:prstGeom>
          <a:solidFill>
            <a:schemeClr val="bg2"/>
          </a:solidFill>
          <a:ln w="6350">
            <a:solidFill>
              <a:schemeClr val="bg2"/>
            </a:solidFill>
            <a:prstDash val="solid"/>
          </a:ln>
        </p:spPr>
      </p:sp>
      <p:sp>
        <p:nvSpPr>
          <p:cNvPr id="22" name="text-173"/>
          <p:cNvSpPr txBox="1"/>
          <p:nvPr/>
        </p:nvSpPr>
        <p:spPr>
          <a:xfrm>
            <a:off x="4526280" y="4206240"/>
            <a:ext cx="7040880" cy="868680"/>
          </a:xfrm>
          <a:prstGeom prst="rect">
            <a:avLst/>
          </a:prstGeom>
          <a:noFill/>
          <a:ln/>
        </p:spPr>
        <p:txBody>
          <a:bodyPr wrap="square" lIns="635" tIns="635" rIns="635" bIns="635" rtlCol="0" anchor="ctr"/>
          <a:lstStyle/>
          <a:p>
            <a:pPr indent="0" marL="0">
              <a:buNone/>
            </a:pPr>
            <a:r>
              <a:rPr lang="en-US" sz="1400" dirty="0">
                <a:solidFill>
                  <a:schemeClr val="tx1"/>
                </a:solidFill>
              </a:rPr>
              <a:t>Discard calm-night data below a threshold friction velocity (~0.1 m s⁻¹), when turbulence cannot carry the flux to the sensor.</a:t>
            </a:r>
            <a:endParaRPr lang="en-US" sz="1400" dirty="0"/>
          </a:p>
        </p:txBody>
      </p:sp>
      <p:sp>
        <p:nvSpPr>
          <p:cNvPr id="23" name="badge-174"/>
          <p:cNvSpPr/>
          <p:nvPr/>
        </p:nvSpPr>
        <p:spPr>
          <a:xfrm>
            <a:off x="502920" y="5349240"/>
            <a:ext cx="548640" cy="548640"/>
          </a:xfrm>
          <a:prstGeom prst="ellipse">
            <a:avLst/>
          </a:prstGeom>
          <a:solidFill>
            <a:schemeClr val="accent1"/>
          </a:solidFill>
          <a:ln w="12700">
            <a:solidFill>
              <a:schemeClr val="accent1"/>
            </a:solidFill>
            <a:prstDash val="solid"/>
          </a:ln>
        </p:spPr>
      </p:sp>
      <p:sp>
        <p:nvSpPr>
          <p:cNvPr id="24" name="badge-t-175"/>
          <p:cNvSpPr txBox="1"/>
          <p:nvPr/>
        </p:nvSpPr>
        <p:spPr>
          <a:xfrm>
            <a:off x="502920" y="53492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25" name="text-176"/>
          <p:cNvSpPr txBox="1"/>
          <p:nvPr/>
        </p:nvSpPr>
        <p:spPr>
          <a:xfrm>
            <a:off x="1234440" y="5212080"/>
            <a:ext cx="3108960" cy="868680"/>
          </a:xfrm>
          <a:prstGeom prst="rect">
            <a:avLst/>
          </a:prstGeom>
          <a:noFill/>
          <a:ln/>
        </p:spPr>
        <p:txBody>
          <a:bodyPr wrap="square" lIns="635" tIns="635" rIns="635" bIns="635" rtlCol="0" anchor="ctr"/>
          <a:lstStyle/>
          <a:p>
            <a:pPr indent="0" marL="0">
              <a:buNone/>
            </a:pPr>
            <a:r>
              <a:rPr lang="en-US" sz="1600" b="1" dirty="0">
                <a:solidFill>
                  <a:schemeClr val="tx2"/>
                </a:solidFill>
              </a:rPr>
              <a:t>Gap filling</a:t>
            </a:r>
            <a:endParaRPr lang="en-US" sz="1600" dirty="0"/>
          </a:p>
        </p:txBody>
      </p:sp>
      <p:sp>
        <p:nvSpPr>
          <p:cNvPr id="26" name="card-177"/>
          <p:cNvSpPr/>
          <p:nvPr/>
        </p:nvSpPr>
        <p:spPr>
          <a:xfrm>
            <a:off x="4389120" y="5212080"/>
            <a:ext cx="7269480" cy="868680"/>
          </a:xfrm>
          <a:prstGeom prst="roundRect">
            <a:avLst>
              <a:gd name="adj" fmla="val 8421"/>
            </a:avLst>
          </a:prstGeom>
          <a:solidFill>
            <a:schemeClr val="bg2"/>
          </a:solidFill>
          <a:ln w="6350">
            <a:solidFill>
              <a:schemeClr val="bg2"/>
            </a:solidFill>
            <a:prstDash val="solid"/>
          </a:ln>
        </p:spPr>
      </p:sp>
      <p:sp>
        <p:nvSpPr>
          <p:cNvPr id="27" name="text-178"/>
          <p:cNvSpPr txBox="1"/>
          <p:nvPr/>
        </p:nvSpPr>
        <p:spPr>
          <a:xfrm>
            <a:off x="4526280" y="5212080"/>
            <a:ext cx="7040880" cy="868680"/>
          </a:xfrm>
          <a:prstGeom prst="rect">
            <a:avLst/>
          </a:prstGeom>
          <a:noFill/>
          <a:ln/>
        </p:spPr>
        <p:txBody>
          <a:bodyPr wrap="square" lIns="635" tIns="635" rIns="635" bIns="635" rtlCol="0" anchor="ctr"/>
          <a:lstStyle/>
          <a:p>
            <a:pPr indent="0" marL="0">
              <a:buNone/>
            </a:pPr>
            <a:r>
              <a:rPr lang="en-US" sz="1400" dirty="0">
                <a:solidFill>
                  <a:schemeClr val="tx1"/>
                </a:solidFill>
              </a:rPr>
              <a:t>Mean diurnal variation in a 10-day window for gaps &gt; 3 h; look-up tables or linear interpolation for shorter gaps.</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Partitioning NEE into GPP and ecosystem respiration</a:t>
            </a:r>
            <a:endParaRPr lang="en-US" sz="3000" dirty="0"/>
          </a:p>
        </p:txBody>
      </p:sp>
      <p:sp>
        <p:nvSpPr>
          <p:cNvPr id="3" name="card-179"/>
          <p:cNvSpPr/>
          <p:nvPr/>
        </p:nvSpPr>
        <p:spPr>
          <a:xfrm>
            <a:off x="502920" y="1188720"/>
            <a:ext cx="5852160" cy="685800"/>
          </a:xfrm>
          <a:prstGeom prst="roundRect">
            <a:avLst>
              <a:gd name="adj" fmla="val 10667"/>
            </a:avLst>
          </a:prstGeom>
          <a:solidFill>
            <a:schemeClr val="bg2"/>
          </a:solidFill>
          <a:ln w="6350">
            <a:solidFill>
              <a:schemeClr val="bg2"/>
            </a:solidFill>
            <a:prstDash val="solid"/>
          </a:ln>
        </p:spPr>
      </p:sp>
      <p:sp>
        <p:nvSpPr>
          <p:cNvPr id="4" name="eq-180"/>
          <p:cNvSpPr txBox="1"/>
          <p:nvPr/>
        </p:nvSpPr>
        <p:spPr>
          <a:xfrm>
            <a:off x="640080" y="1188720"/>
            <a:ext cx="5577840" cy="685800"/>
          </a:xfrm>
          <a:prstGeom prst="rect">
            <a:avLst/>
          </a:prstGeom>
          <a:noFill/>
          <a:ln/>
        </p:spPr>
        <p:txBody>
          <a:bodyPr wrap="square" lIns="0" tIns="0" rIns="0" bIns="0" rtlCol="0" anchor="ctr"/>
          <a:lstStyle/>
          <a:p>
            <a:pPr algn="ctr" indent="0" marL="0">
              <a:buNone/>
            </a:pPr>
            <a:r>
              <a:rPr lang="en-US" sz="1900" dirty="0">
                <a:solidFill>
                  <a:schemeClr val="tx2"/>
                </a:solidFill>
                <a:latin typeface="Cambria" pitchFamily="34" charset="0"/>
                <a:ea typeface="Cambria" pitchFamily="34" charset="-122"/>
                <a:cs typeface="Cambria" pitchFamily="34" charset="-120"/>
              </a:rPr>
              <a:t>NEE = RE − GPP    (negative NEE = net uptake)</a:t>
            </a:r>
            <a:endParaRPr lang="en-US" sz="1900" dirty="0"/>
          </a:p>
        </p:txBody>
      </p:sp>
      <p:sp>
        <p:nvSpPr>
          <p:cNvPr id="5" name="flowbox-181"/>
          <p:cNvSpPr/>
          <p:nvPr/>
        </p:nvSpPr>
        <p:spPr>
          <a:xfrm>
            <a:off x="502920" y="2057400"/>
            <a:ext cx="5852160" cy="621792"/>
          </a:xfrm>
          <a:prstGeom prst="roundRect">
            <a:avLst>
              <a:gd name="adj" fmla="val 10294"/>
            </a:avLst>
          </a:prstGeom>
          <a:solidFill>
            <a:schemeClr val="tx2"/>
          </a:solidFill>
          <a:ln w="12700">
            <a:solidFill>
              <a:schemeClr val="tx2"/>
            </a:solidFill>
            <a:prstDash val="solid"/>
          </a:ln>
          <a:effectLst>
            <a:outerShdw sx="100000" sy="100000" kx="0" ky="0" algn="bl" rotWithShape="0" blurRad="76200" dist="25400" dir="5400000">
              <a:srgbClr val="000000">
                <a:alpha val="14000"/>
              </a:srgbClr>
            </a:outerShdw>
          </a:effectLst>
        </p:spPr>
      </p:sp>
      <p:sp>
        <p:nvSpPr>
          <p:cNvPr id="6" name="flowtext-182"/>
          <p:cNvSpPr txBox="1"/>
          <p:nvPr/>
        </p:nvSpPr>
        <p:spPr>
          <a:xfrm>
            <a:off x="594360" y="2057400"/>
            <a:ext cx="5669280" cy="621792"/>
          </a:xfrm>
          <a:prstGeom prst="rect">
            <a:avLst/>
          </a:prstGeom>
          <a:noFill/>
          <a:ln/>
        </p:spPr>
        <p:txBody>
          <a:bodyPr wrap="square" lIns="0" tIns="0" rIns="0" bIns="0" rtlCol="0" anchor="ctr"/>
          <a:lstStyle/>
          <a:p>
            <a:pPr algn="ctr" indent="0" marL="0">
              <a:buNone/>
            </a:pPr>
            <a:r>
              <a:rPr lang="en-US" sz="1300" dirty="0">
                <a:solidFill>
                  <a:schemeClr val="bg1"/>
                </a:solidFill>
              </a:rPr>
              <a:t>Night: GPP = 0, so NEEₙ = REₙ</a:t>
            </a:r>
            <a:endParaRPr lang="en-US" sz="1300" dirty="0"/>
          </a:p>
        </p:txBody>
      </p:sp>
      <p:sp>
        <p:nvSpPr>
          <p:cNvPr id="7" name="arrow-183"/>
          <p:cNvSpPr/>
          <p:nvPr/>
        </p:nvSpPr>
        <p:spPr>
          <a:xfrm>
            <a:off x="3429000" y="2679192"/>
            <a:ext cx="0" cy="164592"/>
          </a:xfrm>
          <a:prstGeom prst="line">
            <a:avLst/>
          </a:prstGeom>
          <a:noFill/>
          <a:ln w="19050">
            <a:solidFill>
              <a:schemeClr val="accent6"/>
            </a:solidFill>
            <a:prstDash val="solid"/>
            <a:tailEnd type="triangle"/>
          </a:ln>
        </p:spPr>
      </p:sp>
      <p:sp>
        <p:nvSpPr>
          <p:cNvPr id="8" name="flowbox-184"/>
          <p:cNvSpPr/>
          <p:nvPr/>
        </p:nvSpPr>
        <p:spPr>
          <a:xfrm>
            <a:off x="502920" y="2843784"/>
            <a:ext cx="5852160" cy="621792"/>
          </a:xfrm>
          <a:prstGeom prst="roundRect">
            <a:avLst>
              <a:gd name="adj" fmla="val 10294"/>
            </a:avLst>
          </a:prstGeom>
          <a:solidFill>
            <a:schemeClr val="accent1"/>
          </a:solidFill>
          <a:ln w="12700">
            <a:solidFill>
              <a:schemeClr val="accent1"/>
            </a:solidFill>
            <a:prstDash val="solid"/>
          </a:ln>
          <a:effectLst>
            <a:outerShdw sx="100000" sy="100000" kx="0" ky="0" algn="bl" rotWithShape="0" blurRad="76200" dist="25400" dir="5400000">
              <a:srgbClr val="000000">
                <a:alpha val="14000"/>
              </a:srgbClr>
            </a:outerShdw>
          </a:effectLst>
        </p:spPr>
      </p:sp>
      <p:sp>
        <p:nvSpPr>
          <p:cNvPr id="9" name="flowtext-185"/>
          <p:cNvSpPr txBox="1"/>
          <p:nvPr/>
        </p:nvSpPr>
        <p:spPr>
          <a:xfrm>
            <a:off x="594360" y="2843784"/>
            <a:ext cx="5669280" cy="621792"/>
          </a:xfrm>
          <a:prstGeom prst="rect">
            <a:avLst/>
          </a:prstGeom>
          <a:noFill/>
          <a:ln/>
        </p:spPr>
        <p:txBody>
          <a:bodyPr wrap="square" lIns="0" tIns="0" rIns="0" bIns="0" rtlCol="0" anchor="ctr"/>
          <a:lstStyle/>
          <a:p>
            <a:pPr algn="ctr" indent="0" marL="0">
              <a:buNone/>
            </a:pPr>
            <a:r>
              <a:rPr lang="en-US" sz="1300" dirty="0">
                <a:solidFill>
                  <a:schemeClr val="bg1"/>
                </a:solidFill>
              </a:rPr>
              <a:t>Fit REₙ to air temperature:  RE = R₀ · Q₁₀^((T − T₀)/10)</a:t>
            </a:r>
            <a:endParaRPr lang="en-US" sz="1300" dirty="0"/>
          </a:p>
        </p:txBody>
      </p:sp>
      <p:sp>
        <p:nvSpPr>
          <p:cNvPr id="10" name="arrow-186"/>
          <p:cNvSpPr/>
          <p:nvPr/>
        </p:nvSpPr>
        <p:spPr>
          <a:xfrm>
            <a:off x="3429000" y="3465576"/>
            <a:ext cx="0" cy="164592"/>
          </a:xfrm>
          <a:prstGeom prst="line">
            <a:avLst/>
          </a:prstGeom>
          <a:noFill/>
          <a:ln w="19050">
            <a:solidFill>
              <a:schemeClr val="accent6"/>
            </a:solidFill>
            <a:prstDash val="solid"/>
            <a:tailEnd type="triangle"/>
          </a:ln>
        </p:spPr>
      </p:sp>
      <p:sp>
        <p:nvSpPr>
          <p:cNvPr id="11" name="flowbox-187"/>
          <p:cNvSpPr/>
          <p:nvPr/>
        </p:nvSpPr>
        <p:spPr>
          <a:xfrm>
            <a:off x="502920" y="3630168"/>
            <a:ext cx="5852160" cy="621792"/>
          </a:xfrm>
          <a:prstGeom prst="roundRect">
            <a:avLst>
              <a:gd name="adj" fmla="val 10294"/>
            </a:avLst>
          </a:prstGeom>
          <a:solidFill>
            <a:schemeClr val="accent1"/>
          </a:solidFill>
          <a:ln w="12700">
            <a:solidFill>
              <a:schemeClr val="accent1"/>
            </a:solidFill>
            <a:prstDash val="solid"/>
          </a:ln>
          <a:effectLst>
            <a:outerShdw sx="100000" sy="100000" kx="0" ky="0" algn="bl" rotWithShape="0" blurRad="76200" dist="25400" dir="5400000">
              <a:srgbClr val="000000">
                <a:alpha val="14000"/>
              </a:srgbClr>
            </a:outerShdw>
          </a:effectLst>
        </p:spPr>
      </p:sp>
      <p:sp>
        <p:nvSpPr>
          <p:cNvPr id="12" name="flowtext-188"/>
          <p:cNvSpPr txBox="1"/>
          <p:nvPr/>
        </p:nvSpPr>
        <p:spPr>
          <a:xfrm>
            <a:off x="594360" y="3630168"/>
            <a:ext cx="5669280" cy="621792"/>
          </a:xfrm>
          <a:prstGeom prst="rect">
            <a:avLst/>
          </a:prstGeom>
          <a:noFill/>
          <a:ln/>
        </p:spPr>
        <p:txBody>
          <a:bodyPr wrap="square" lIns="0" tIns="0" rIns="0" bIns="0" rtlCol="0" anchor="ctr"/>
          <a:lstStyle/>
          <a:p>
            <a:pPr algn="ctr" indent="0" marL="0">
              <a:buNone/>
            </a:pPr>
            <a:r>
              <a:rPr lang="en-US" sz="1300" dirty="0">
                <a:solidFill>
                  <a:schemeClr val="bg1"/>
                </a:solidFill>
              </a:rPr>
              <a:t>Extrapolate RE to daytime with daytime T</a:t>
            </a:r>
            <a:endParaRPr lang="en-US" sz="1300" dirty="0"/>
          </a:p>
        </p:txBody>
      </p:sp>
      <p:sp>
        <p:nvSpPr>
          <p:cNvPr id="13" name="arrow-189"/>
          <p:cNvSpPr/>
          <p:nvPr/>
        </p:nvSpPr>
        <p:spPr>
          <a:xfrm>
            <a:off x="3429000" y="4251960"/>
            <a:ext cx="0" cy="164592"/>
          </a:xfrm>
          <a:prstGeom prst="line">
            <a:avLst/>
          </a:prstGeom>
          <a:noFill/>
          <a:ln w="19050">
            <a:solidFill>
              <a:schemeClr val="accent6"/>
            </a:solidFill>
            <a:prstDash val="solid"/>
            <a:tailEnd type="triangle"/>
          </a:ln>
        </p:spPr>
      </p:sp>
      <p:sp>
        <p:nvSpPr>
          <p:cNvPr id="14" name="flowbox-190"/>
          <p:cNvSpPr/>
          <p:nvPr/>
        </p:nvSpPr>
        <p:spPr>
          <a:xfrm>
            <a:off x="502920" y="4416552"/>
            <a:ext cx="5852160" cy="621792"/>
          </a:xfrm>
          <a:prstGeom prst="roundRect">
            <a:avLst>
              <a:gd name="adj" fmla="val 10294"/>
            </a:avLst>
          </a:prstGeom>
          <a:solidFill>
            <a:schemeClr val="accent3"/>
          </a:solidFill>
          <a:ln w="12700">
            <a:solidFill>
              <a:schemeClr val="accent3"/>
            </a:solidFill>
            <a:prstDash val="solid"/>
          </a:ln>
          <a:effectLst>
            <a:outerShdw sx="100000" sy="100000" kx="0" ky="0" algn="bl" rotWithShape="0" blurRad="76200" dist="25400" dir="5400000">
              <a:srgbClr val="000000">
                <a:alpha val="14000"/>
              </a:srgbClr>
            </a:outerShdw>
          </a:effectLst>
        </p:spPr>
      </p:sp>
      <p:sp>
        <p:nvSpPr>
          <p:cNvPr id="15" name="flowtext-191"/>
          <p:cNvSpPr txBox="1"/>
          <p:nvPr/>
        </p:nvSpPr>
        <p:spPr>
          <a:xfrm>
            <a:off x="594360" y="4416552"/>
            <a:ext cx="5669280" cy="621792"/>
          </a:xfrm>
          <a:prstGeom prst="rect">
            <a:avLst/>
          </a:prstGeom>
          <a:noFill/>
          <a:ln/>
        </p:spPr>
        <p:txBody>
          <a:bodyPr wrap="square" lIns="0" tIns="0" rIns="0" bIns="0" rtlCol="0" anchor="ctr"/>
          <a:lstStyle/>
          <a:p>
            <a:pPr algn="ctr" indent="0" marL="0">
              <a:buNone/>
            </a:pPr>
            <a:r>
              <a:rPr lang="en-US" sz="1300" dirty="0">
                <a:solidFill>
                  <a:schemeClr val="bg1"/>
                </a:solidFill>
              </a:rPr>
              <a:t>GPP = RE − NEE (day)</a:t>
            </a:r>
            <a:endParaRPr lang="en-US" sz="1300" dirty="0"/>
          </a:p>
        </p:txBody>
      </p:sp>
      <p:sp>
        <p:nvSpPr>
          <p:cNvPr id="16" name="card-192"/>
          <p:cNvSpPr/>
          <p:nvPr/>
        </p:nvSpPr>
        <p:spPr>
          <a:xfrm>
            <a:off x="502920" y="5257800"/>
            <a:ext cx="5852160" cy="685800"/>
          </a:xfrm>
          <a:prstGeom prst="roundRect">
            <a:avLst>
              <a:gd name="adj" fmla="val 10667"/>
            </a:avLst>
          </a:prstGeom>
          <a:solidFill>
            <a:schemeClr val="bg2"/>
          </a:solidFill>
          <a:ln w="6350">
            <a:solidFill>
              <a:schemeClr val="bg2"/>
            </a:solidFill>
            <a:prstDash val="solid"/>
          </a:ln>
        </p:spPr>
      </p:sp>
      <p:sp>
        <p:nvSpPr>
          <p:cNvPr id="17" name="eq-193"/>
          <p:cNvSpPr txBox="1"/>
          <p:nvPr/>
        </p:nvSpPr>
        <p:spPr>
          <a:xfrm>
            <a:off x="640080" y="5257800"/>
            <a:ext cx="5577840" cy="685800"/>
          </a:xfrm>
          <a:prstGeom prst="rect">
            <a:avLst/>
          </a:prstGeom>
          <a:noFill/>
          <a:ln/>
        </p:spPr>
        <p:txBody>
          <a:bodyPr wrap="square" lIns="0" tIns="0" rIns="0" bIns="0" rtlCol="0" anchor="ctr"/>
          <a:lstStyle/>
          <a:p>
            <a:pPr algn="ctr" indent="0" marL="0">
              <a:buNone/>
            </a:pPr>
            <a:r>
              <a:rPr lang="en-US" sz="1600" dirty="0">
                <a:solidFill>
                  <a:schemeClr val="tx2"/>
                </a:solidFill>
                <a:latin typeface="Cambria" pitchFamily="34" charset="0"/>
                <a:ea typeface="Cambria" pitchFamily="34" charset="-122"/>
                <a:cs typeface="Cambria" pitchFamily="34" charset="-120"/>
              </a:rPr>
              <a:t>Light response:  NEE = −(α β Q)/(α Q + β) + γ</a:t>
            </a:r>
            <a:endParaRPr lang="en-US" sz="1600" dirty="0"/>
          </a:p>
        </p:txBody>
      </p:sp>
      <p:sp>
        <p:nvSpPr>
          <p:cNvPr id="18" name="text-194"/>
          <p:cNvSpPr txBox="1"/>
          <p:nvPr/>
        </p:nvSpPr>
        <p:spPr>
          <a:xfrm>
            <a:off x="502920" y="5943600"/>
            <a:ext cx="5852160" cy="292608"/>
          </a:xfrm>
          <a:prstGeom prst="rect">
            <a:avLst/>
          </a:prstGeom>
          <a:noFill/>
          <a:ln/>
        </p:spPr>
        <p:txBody>
          <a:bodyPr wrap="square" lIns="635" tIns="635" rIns="635" bIns="635" rtlCol="0" anchor="t"/>
          <a:lstStyle/>
          <a:p>
            <a:pPr algn="ctr" indent="0" marL="0">
              <a:buNone/>
            </a:pPr>
            <a:r>
              <a:rPr lang="en-US" sz="1100" dirty="0">
                <a:solidFill>
                  <a:schemeClr val="accent6"/>
                </a:solidFill>
              </a:rPr>
              <a:t>α = quantum yield, β = max uptake, γ = RE, Q = PAR</a:t>
            </a:r>
            <a:endParaRPr lang="en-US" sz="1100" dirty="0"/>
          </a:p>
        </p:txBody>
      </p:sp>
      <p:pic>
        <p:nvPicPr>
          <p:cNvPr id="19" name="img-195" descr="NEE, GPP and RE over a rice–rice year, Cuttack (Bulletin 29, Fig. 8)">    </p:cNvPr>
          <p:cNvPicPr>
            <a:picLocks noChangeAspect="1"/>
          </p:cNvPicPr>
          <p:nvPr/>
        </p:nvPicPr>
        <p:blipFill>
          <a:blip r:embed="rId1"/>
          <a:stretch>
            <a:fillRect/>
          </a:stretch>
        </p:blipFill>
        <p:spPr>
          <a:xfrm>
            <a:off x="6659978" y="1188720"/>
            <a:ext cx="4968045" cy="2816352"/>
          </a:xfrm>
          <a:prstGeom prst="rect">
            <a:avLst/>
          </a:prstGeom>
        </p:spPr>
      </p:pic>
      <p:sp>
        <p:nvSpPr>
          <p:cNvPr id="20" name="frame-196"/>
          <p:cNvSpPr/>
          <p:nvPr/>
        </p:nvSpPr>
        <p:spPr>
          <a:xfrm>
            <a:off x="6659978" y="1188720"/>
            <a:ext cx="4968045" cy="2816352"/>
          </a:xfrm>
          <a:prstGeom prst="rect">
            <a:avLst/>
          </a:prstGeom>
          <a:ln w="9525">
            <a:solidFill>
              <a:srgbClr val="C9D3CC"/>
            </a:solidFill>
            <a:prstDash val="solid"/>
          </a:ln>
        </p:spPr>
      </p:sp>
      <p:sp>
        <p:nvSpPr>
          <p:cNvPr id="21" name="text-197"/>
          <p:cNvSpPr txBox="1"/>
          <p:nvPr/>
        </p:nvSpPr>
        <p:spPr>
          <a:xfrm>
            <a:off x="6629400" y="4041648"/>
            <a:ext cx="502920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NEE, GPP and RE over a rice–rice year, Cuttack (Bulletin 29, Fig. 8)</a:t>
            </a:r>
            <a:endParaRPr lang="en-US" sz="1000" dirty="0"/>
          </a:p>
        </p:txBody>
      </p:sp>
      <p:sp>
        <p:nvSpPr>
          <p:cNvPr id="22" name="card-198"/>
          <p:cNvSpPr/>
          <p:nvPr/>
        </p:nvSpPr>
        <p:spPr>
          <a:xfrm>
            <a:off x="6629400" y="4434840"/>
            <a:ext cx="5029200" cy="1783080"/>
          </a:xfrm>
          <a:prstGeom prst="roundRect">
            <a:avLst>
              <a:gd name="adj" fmla="val 4103"/>
            </a:avLst>
          </a:prstGeom>
          <a:solidFill>
            <a:schemeClr val="bg2"/>
          </a:solidFill>
          <a:ln w="6350">
            <a:solidFill>
              <a:schemeClr val="bg2"/>
            </a:solidFill>
            <a:prstDash val="solid"/>
          </a:ln>
        </p:spPr>
      </p:sp>
      <p:sp>
        <p:nvSpPr>
          <p:cNvPr id="23" name="list-199"/>
          <p:cNvSpPr txBox="1"/>
          <p:nvPr/>
        </p:nvSpPr>
        <p:spPr>
          <a:xfrm>
            <a:off x="6766560" y="4526280"/>
            <a:ext cx="4754880" cy="1645920"/>
          </a:xfrm>
          <a:prstGeom prst="rect">
            <a:avLst/>
          </a:prstGeom>
          <a:noFill/>
          <a:ln/>
        </p:spPr>
        <p:txBody>
          <a:bodyPr wrap="square" lIns="635" tIns="635" rIns="635" bIns="635" rtlCol="0" anchor="t"/>
          <a:lstStyle/>
          <a:p>
            <a:pPr marL="203200" indent="-203200">
              <a:spcAft>
                <a:spcPts val="500"/>
              </a:spcAft>
              <a:buSzPct val="100000"/>
              <a:buChar char="•"/>
            </a:pPr>
            <a:r>
              <a:rPr lang="en-US" sz="1300" dirty="0">
                <a:solidFill>
                  <a:schemeClr val="tx1"/>
                </a:solidFill>
              </a:rPr>
              <a:t>Q₁₀ method partitioned better than the rectangular hyperbola in lowland rice</a:t>
            </a:r>
            <a:endParaRPr lang="en-US" sz="1300" dirty="0"/>
          </a:p>
          <a:p>
            <a:pPr marL="203200" indent="-203200">
              <a:spcAft>
                <a:spcPts val="500"/>
              </a:spcAft>
              <a:buSzPct val="100000"/>
              <a:buChar char="•"/>
            </a:pPr>
            <a:r>
              <a:rPr lang="en-US" sz="1300" dirty="0">
                <a:solidFill>
                  <a:schemeClr val="tx1"/>
                </a:solidFill>
              </a:rPr>
              <a:t>GPP −8.11 to −18.92 and RE 7.83 to 15.45 µmol CO₂ m⁻² s⁻¹</a:t>
            </a:r>
            <a:endParaRPr lang="en-US" sz="1300" dirty="0"/>
          </a:p>
          <a:p>
            <a:pPr marL="203200" indent="-203200">
              <a:spcAft>
                <a:spcPts val="500"/>
              </a:spcAft>
              <a:buSzPct val="100000"/>
              <a:buChar char="•"/>
            </a:pPr>
            <a:r>
              <a:rPr lang="en-US" sz="1300" dirty="0">
                <a:solidFill>
                  <a:schemeClr val="tx1"/>
                </a:solidFill>
              </a:rPr>
              <a:t>NEE peak uptake 11:30–12:30; night = CO₂ source</a:t>
            </a:r>
            <a:endParaRPr lang="en-US" sz="13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Methane, N₂O and the carbon balance of rice</a:t>
            </a:r>
            <a:endParaRPr lang="en-US" sz="3000" dirty="0"/>
          </a:p>
        </p:txBody>
      </p:sp>
      <p:sp>
        <p:nvSpPr>
          <p:cNvPr id="3" name="card-200"/>
          <p:cNvSpPr/>
          <p:nvPr/>
        </p:nvSpPr>
        <p:spPr>
          <a:xfrm>
            <a:off x="502920" y="1188720"/>
            <a:ext cx="3657600" cy="5029200"/>
          </a:xfrm>
          <a:prstGeom prst="roundRect">
            <a:avLst>
              <a:gd name="adj" fmla="val 2000"/>
            </a:avLst>
          </a:prstGeom>
          <a:solidFill>
            <a:schemeClr val="bg2"/>
          </a:solidFill>
          <a:ln w="6350">
            <a:solidFill>
              <a:schemeClr val="bg2"/>
            </a:solidFill>
            <a:prstDash val="solid"/>
          </a:ln>
        </p:spPr>
      </p:sp>
      <p:sp>
        <p:nvSpPr>
          <p:cNvPr id="4" name="text-201"/>
          <p:cNvSpPr txBox="1"/>
          <p:nvPr/>
        </p:nvSpPr>
        <p:spPr>
          <a:xfrm>
            <a:off x="685800" y="1280160"/>
            <a:ext cx="3291840" cy="365760"/>
          </a:xfrm>
          <a:prstGeom prst="rect">
            <a:avLst/>
          </a:prstGeom>
          <a:noFill/>
          <a:ln/>
        </p:spPr>
        <p:txBody>
          <a:bodyPr wrap="square" lIns="635" tIns="635" rIns="635" bIns="635" rtlCol="0" anchor="t"/>
          <a:lstStyle/>
          <a:p>
            <a:pPr indent="0" marL="0">
              <a:buNone/>
            </a:pPr>
            <a:r>
              <a:rPr lang="en-US" sz="1700" b="1" dirty="0">
                <a:solidFill>
                  <a:schemeClr val="accent1"/>
                </a:solidFill>
              </a:rPr>
              <a:t>Methane (NEME)</a:t>
            </a:r>
            <a:endParaRPr lang="en-US" sz="1700" dirty="0"/>
          </a:p>
        </p:txBody>
      </p:sp>
      <p:sp>
        <p:nvSpPr>
          <p:cNvPr id="5" name="list-202"/>
          <p:cNvSpPr txBox="1"/>
          <p:nvPr/>
        </p:nvSpPr>
        <p:spPr>
          <a:xfrm>
            <a:off x="685800" y="1691640"/>
            <a:ext cx="3337560" cy="4480560"/>
          </a:xfrm>
          <a:prstGeom prst="rect">
            <a:avLst/>
          </a:prstGeom>
          <a:noFill/>
          <a:ln/>
        </p:spPr>
        <p:txBody>
          <a:bodyPr wrap="square" lIns="635" tIns="635" rIns="635" bIns="635" rtlCol="0" anchor="t"/>
          <a:lstStyle/>
          <a:p>
            <a:pPr marL="203200" indent="-203200">
              <a:spcAft>
                <a:spcPts val="500"/>
              </a:spcAft>
              <a:buSzPct val="100000"/>
              <a:buChar char="•"/>
            </a:pPr>
            <a:r>
              <a:rPr lang="en-US" sz="1400" dirty="0">
                <a:solidFill>
                  <a:schemeClr val="tx1"/>
                </a:solidFill>
              </a:rPr>
              <a:t>Needs organic C + anaerobic soil (Eh ≤ −200 mV) + methanogens</a:t>
            </a:r>
            <a:endParaRPr lang="en-US" sz="1400" dirty="0"/>
          </a:p>
          <a:p>
            <a:pPr marL="203200" indent="-203200">
              <a:spcAft>
                <a:spcPts val="500"/>
              </a:spcAft>
              <a:buSzPct val="100000"/>
              <a:buChar char="•"/>
            </a:pPr>
            <a:r>
              <a:rPr lang="en-US" sz="1400" dirty="0">
                <a:solidFill>
                  <a:schemeClr val="tx1"/>
                </a:solidFill>
              </a:rPr>
              <a:t>Escapes by ebullition, diffusion through floodwater, plant aerenchyma</a:t>
            </a:r>
            <a:endParaRPr lang="en-US" sz="1400" dirty="0"/>
          </a:p>
          <a:p>
            <a:pPr marL="203200" indent="-203200">
              <a:spcAft>
                <a:spcPts val="500"/>
              </a:spcAft>
              <a:buSzPct val="100000"/>
              <a:buChar char="•"/>
            </a:pPr>
            <a:r>
              <a:rPr lang="en-US" sz="1400" dirty="0">
                <a:solidFill>
                  <a:schemeClr val="tx1"/>
                </a:solidFill>
              </a:rPr>
              <a:t>Diurnal peak 13:30–14:30 (soil temperature driven)</a:t>
            </a:r>
            <a:endParaRPr lang="en-US" sz="1400" dirty="0"/>
          </a:p>
          <a:p>
            <a:pPr marL="203200" indent="-203200">
              <a:spcAft>
                <a:spcPts val="500"/>
              </a:spcAft>
              <a:buSzPct val="100000"/>
              <a:buChar char="•"/>
            </a:pPr>
            <a:r>
              <a:rPr lang="en-US" sz="1400" dirty="0">
                <a:solidFill>
                  <a:schemeClr val="tx1"/>
                </a:solidFill>
              </a:rPr>
              <a:t>Seasonal peak active tillering → panicle emergence</a:t>
            </a:r>
            <a:endParaRPr lang="en-US" sz="1400" dirty="0"/>
          </a:p>
          <a:p>
            <a:pPr marL="203200" indent="-203200">
              <a:spcAft>
                <a:spcPts val="500"/>
              </a:spcAft>
              <a:buSzPct val="100000"/>
              <a:buChar char="•"/>
            </a:pPr>
            <a:r>
              <a:rPr lang="en-US" sz="1400" dirty="0">
                <a:solidFill>
                  <a:schemeClr val="tx1"/>
                </a:solidFill>
              </a:rPr>
              <a:t>Cuttack: 2.86 (dry season) vs 4.19 (wet season) mg CH₄ m⁻² h⁻¹</a:t>
            </a:r>
            <a:endParaRPr lang="en-US" sz="1400" dirty="0"/>
          </a:p>
        </p:txBody>
      </p:sp>
      <p:sp>
        <p:nvSpPr>
          <p:cNvPr id="6" name="card-203"/>
          <p:cNvSpPr/>
          <p:nvPr/>
        </p:nvSpPr>
        <p:spPr>
          <a:xfrm>
            <a:off x="4297680" y="1188720"/>
            <a:ext cx="3657600" cy="5029200"/>
          </a:xfrm>
          <a:prstGeom prst="roundRect">
            <a:avLst>
              <a:gd name="adj" fmla="val 2000"/>
            </a:avLst>
          </a:prstGeom>
          <a:solidFill>
            <a:schemeClr val="bg2"/>
          </a:solidFill>
          <a:ln w="6350">
            <a:solidFill>
              <a:schemeClr val="bg2"/>
            </a:solidFill>
            <a:prstDash val="solid"/>
          </a:ln>
        </p:spPr>
      </p:sp>
      <p:sp>
        <p:nvSpPr>
          <p:cNvPr id="7" name="text-204"/>
          <p:cNvSpPr txBox="1"/>
          <p:nvPr/>
        </p:nvSpPr>
        <p:spPr>
          <a:xfrm>
            <a:off x="4480560" y="1280160"/>
            <a:ext cx="3291840" cy="365760"/>
          </a:xfrm>
          <a:prstGeom prst="rect">
            <a:avLst/>
          </a:prstGeom>
          <a:noFill/>
          <a:ln/>
        </p:spPr>
        <p:txBody>
          <a:bodyPr wrap="square" lIns="635" tIns="635" rIns="635" bIns="635" rtlCol="0" anchor="t"/>
          <a:lstStyle/>
          <a:p>
            <a:pPr indent="0" marL="0">
              <a:buNone/>
            </a:pPr>
            <a:r>
              <a:rPr lang="en-US" sz="1700" b="1" dirty="0">
                <a:solidFill>
                  <a:schemeClr val="accent3"/>
                </a:solidFill>
              </a:rPr>
              <a:t>Nitrous oxide &amp; water</a:t>
            </a:r>
            <a:endParaRPr lang="en-US" sz="1700" dirty="0"/>
          </a:p>
        </p:txBody>
      </p:sp>
      <p:sp>
        <p:nvSpPr>
          <p:cNvPr id="8" name="list-205"/>
          <p:cNvSpPr txBox="1"/>
          <p:nvPr/>
        </p:nvSpPr>
        <p:spPr>
          <a:xfrm>
            <a:off x="4480560" y="1691640"/>
            <a:ext cx="3337560" cy="4480560"/>
          </a:xfrm>
          <a:prstGeom prst="rect">
            <a:avLst/>
          </a:prstGeom>
          <a:noFill/>
          <a:ln/>
        </p:spPr>
        <p:txBody>
          <a:bodyPr wrap="square" lIns="635" tIns="635" rIns="635" bIns="635" rtlCol="0" anchor="t"/>
          <a:lstStyle/>
          <a:p>
            <a:pPr marL="203200" indent="-203200">
              <a:spcAft>
                <a:spcPts val="500"/>
              </a:spcAft>
              <a:buSzPct val="100000"/>
              <a:buChar char="•"/>
            </a:pPr>
            <a:r>
              <a:rPr lang="en-US" sz="1400" dirty="0">
                <a:solidFill>
                  <a:schemeClr val="tx1"/>
                </a:solidFill>
              </a:rPr>
              <a:t>N₂O: GWP 298, lifetime ~121 years; flux driven mainly by soil moisture</a:t>
            </a:r>
            <a:endParaRPr lang="en-US" sz="1400" dirty="0"/>
          </a:p>
          <a:p>
            <a:pPr marL="203200" indent="-203200">
              <a:spcAft>
                <a:spcPts val="500"/>
              </a:spcAft>
              <a:buSzPct val="100000"/>
              <a:buChar char="•"/>
            </a:pPr>
            <a:r>
              <a:rPr lang="en-US" sz="1400" dirty="0">
                <a:solidFill>
                  <a:schemeClr val="tx1"/>
                </a:solidFill>
              </a:rPr>
              <a:t>Intermittent flooding raises N₂O 30–45× vs continuous flooding (trade-off with CH₄)</a:t>
            </a:r>
            <a:endParaRPr lang="en-US" sz="1400" dirty="0"/>
          </a:p>
          <a:p>
            <a:pPr marL="203200" indent="-203200">
              <a:spcAft>
                <a:spcPts val="500"/>
              </a:spcAft>
              <a:buSzPct val="100000"/>
              <a:buChar char="•"/>
            </a:pPr>
            <a:r>
              <a:rPr lang="en-US" sz="1400" dirty="0">
                <a:solidFill>
                  <a:schemeClr val="tx1"/>
                </a:solidFill>
              </a:rPr>
              <a:t>Fast N₂O analysers on EC towers are replacing manual chambers</a:t>
            </a:r>
            <a:endParaRPr lang="en-US" sz="1400" dirty="0"/>
          </a:p>
          <a:p>
            <a:pPr marL="203200" indent="-203200">
              <a:spcAft>
                <a:spcPts val="500"/>
              </a:spcAft>
              <a:buSzPct val="100000"/>
              <a:buChar char="•"/>
            </a:pPr>
            <a:r>
              <a:rPr lang="en-US" sz="1400" dirty="0">
                <a:solidFill>
                  <a:schemeClr val="tx1"/>
                </a:solidFill>
              </a:rPr>
              <a:t>Fc and FH₂O positively correlated (r² 0.44–0.76): shared stomatal pathway</a:t>
            </a:r>
            <a:endParaRPr lang="en-US" sz="1400" dirty="0"/>
          </a:p>
          <a:p>
            <a:pPr marL="203200" indent="-203200">
              <a:spcAft>
                <a:spcPts val="500"/>
              </a:spcAft>
              <a:buSzPct val="100000"/>
              <a:buChar char="•"/>
            </a:pPr>
            <a:r>
              <a:rPr lang="en-US" sz="1400" dirty="0">
                <a:solidFill>
                  <a:schemeClr val="tx1"/>
                </a:solidFill>
              </a:rPr>
              <a:t>ETa (rice): 2.31 (dry) and 2.24 (wet season) mm d⁻¹</a:t>
            </a:r>
            <a:endParaRPr lang="en-US" sz="1400" dirty="0"/>
          </a:p>
        </p:txBody>
      </p:sp>
      <p:sp>
        <p:nvSpPr>
          <p:cNvPr id="9" name="card-206"/>
          <p:cNvSpPr/>
          <p:nvPr/>
        </p:nvSpPr>
        <p:spPr>
          <a:xfrm>
            <a:off x="8092440" y="1188720"/>
            <a:ext cx="3566160" cy="5029200"/>
          </a:xfrm>
          <a:prstGeom prst="roundRect">
            <a:avLst>
              <a:gd name="adj" fmla="val 2051"/>
            </a:avLst>
          </a:prstGeom>
          <a:solidFill>
            <a:schemeClr val="tx2"/>
          </a:solidFill>
          <a:ln w="6350">
            <a:solidFill>
              <a:schemeClr val="tx2"/>
            </a:solidFill>
            <a:prstDash val="solid"/>
          </a:ln>
        </p:spPr>
      </p:sp>
      <p:sp>
        <p:nvSpPr>
          <p:cNvPr id="10" name="text-207"/>
          <p:cNvSpPr txBox="1"/>
          <p:nvPr/>
        </p:nvSpPr>
        <p:spPr>
          <a:xfrm>
            <a:off x="8275320" y="1280160"/>
            <a:ext cx="3200400" cy="640080"/>
          </a:xfrm>
          <a:prstGeom prst="rect">
            <a:avLst/>
          </a:prstGeom>
          <a:noFill/>
          <a:ln/>
        </p:spPr>
        <p:txBody>
          <a:bodyPr wrap="square" lIns="635" tIns="635" rIns="635" bIns="635" rtlCol="0" anchor="t"/>
          <a:lstStyle/>
          <a:p>
            <a:pPr indent="0" marL="0">
              <a:buNone/>
            </a:pPr>
            <a:r>
              <a:rPr lang="en-US" sz="1700" b="1" dirty="0">
                <a:solidFill>
                  <a:schemeClr val="bg1"/>
                </a:solidFill>
              </a:rPr>
              <a:t>Net ecosystem carbon balance</a:t>
            </a:r>
            <a:endParaRPr lang="en-US" sz="1700" dirty="0"/>
          </a:p>
        </p:txBody>
      </p:sp>
      <p:sp>
        <p:nvSpPr>
          <p:cNvPr id="11" name="text-208"/>
          <p:cNvSpPr txBox="1"/>
          <p:nvPr/>
        </p:nvSpPr>
        <p:spPr>
          <a:xfrm>
            <a:off x="8275320" y="1920240"/>
            <a:ext cx="3200400" cy="822960"/>
          </a:xfrm>
          <a:prstGeom prst="rect">
            <a:avLst/>
          </a:prstGeom>
          <a:noFill/>
          <a:ln/>
        </p:spPr>
        <p:txBody>
          <a:bodyPr wrap="square" lIns="635" tIns="635" rIns="635" bIns="635" rtlCol="0" anchor="t"/>
          <a:lstStyle/>
          <a:p>
            <a:pPr indent="0" marL="0">
              <a:buNone/>
            </a:pPr>
            <a:r>
              <a:rPr lang="en-US" sz="1500" dirty="0">
                <a:solidFill>
                  <a:schemeClr val="bg1"/>
                </a:solidFill>
                <a:latin typeface="Cambria" pitchFamily="34" charset="0"/>
                <a:ea typeface="Cambria" pitchFamily="34" charset="-122"/>
                <a:cs typeface="Cambria" pitchFamily="34" charset="-120"/>
              </a:rPr>
              <a:t>NECB = NEP + I − HA − METH − DOC − ER − FI − VOC</a:t>
            </a:r>
            <a:endParaRPr lang="en-US" sz="1500" dirty="0"/>
          </a:p>
        </p:txBody>
      </p:sp>
      <p:sp>
        <p:nvSpPr>
          <p:cNvPr id="12" name="text-209"/>
          <p:cNvSpPr txBox="1"/>
          <p:nvPr/>
        </p:nvSpPr>
        <p:spPr>
          <a:xfrm>
            <a:off x="8275320" y="2788920"/>
            <a:ext cx="3200400" cy="1097280"/>
          </a:xfrm>
          <a:prstGeom prst="rect">
            <a:avLst/>
          </a:prstGeom>
          <a:noFill/>
          <a:ln/>
        </p:spPr>
        <p:txBody>
          <a:bodyPr wrap="square" lIns="635" tIns="635" rIns="635" bIns="635" rtlCol="0" anchor="t"/>
          <a:lstStyle/>
          <a:p>
            <a:pPr indent="0" marL="0">
              <a:buNone/>
            </a:pPr>
            <a:r>
              <a:rPr lang="en-US" sz="1200" dirty="0">
                <a:solidFill>
                  <a:schemeClr val="bg2"/>
                </a:solidFill>
              </a:rPr>
              <a:t>I = manure/stubble/root inputs; HA = harvest; METH = CH₄-C; DOC = dissolved C; ER = erosion; FI = fire</a:t>
            </a:r>
            <a:endParaRPr lang="en-US" sz="1200" dirty="0"/>
          </a:p>
        </p:txBody>
      </p:sp>
      <p:sp>
        <p:nvSpPr>
          <p:cNvPr id="13" name="text-210"/>
          <p:cNvSpPr txBox="1"/>
          <p:nvPr/>
        </p:nvSpPr>
        <p:spPr>
          <a:xfrm>
            <a:off x="8275320" y="4023360"/>
            <a:ext cx="3200400" cy="1463040"/>
          </a:xfrm>
          <a:prstGeom prst="rect">
            <a:avLst/>
          </a:prstGeom>
          <a:noFill/>
          <a:ln/>
        </p:spPr>
        <p:txBody>
          <a:bodyPr wrap="square" lIns="635" tIns="635" rIns="635" bIns="635" rtlCol="0" anchor="t"/>
          <a:lstStyle/>
          <a:p>
            <a:pPr indent="0" marL="0">
              <a:buNone/>
            </a:pPr>
            <a:r>
              <a:rPr lang="en-US" sz="1400" b="1" dirty="0">
                <a:solidFill>
                  <a:schemeClr val="bg1"/>
                </a:solidFill>
              </a:rPr>
              <a:t>Cuttack NEP: +3.83 (dry) and +2.51 (wet season) Mg C ha⁻¹ → lowland rice was a net C sink</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Energy balance closure: testing data quality</a:t>
            </a:r>
            <a:endParaRPr lang="en-US" sz="3000" dirty="0"/>
          </a:p>
        </p:txBody>
      </p:sp>
      <p:sp>
        <p:nvSpPr>
          <p:cNvPr id="3" name="card-211"/>
          <p:cNvSpPr/>
          <p:nvPr/>
        </p:nvSpPr>
        <p:spPr>
          <a:xfrm>
            <a:off x="502920" y="1188720"/>
            <a:ext cx="5943600" cy="685800"/>
          </a:xfrm>
          <a:prstGeom prst="roundRect">
            <a:avLst>
              <a:gd name="adj" fmla="val 10667"/>
            </a:avLst>
          </a:prstGeom>
          <a:solidFill>
            <a:schemeClr val="bg2"/>
          </a:solidFill>
          <a:ln w="6350">
            <a:solidFill>
              <a:schemeClr val="bg2"/>
            </a:solidFill>
            <a:prstDash val="solid"/>
          </a:ln>
        </p:spPr>
      </p:sp>
      <p:sp>
        <p:nvSpPr>
          <p:cNvPr id="4" name="eq-212"/>
          <p:cNvSpPr txBox="1"/>
          <p:nvPr/>
        </p:nvSpPr>
        <p:spPr>
          <a:xfrm>
            <a:off x="640080" y="1188720"/>
            <a:ext cx="5669280" cy="685800"/>
          </a:xfrm>
          <a:prstGeom prst="rect">
            <a:avLst/>
          </a:prstGeom>
          <a:noFill/>
          <a:ln/>
        </p:spPr>
        <p:txBody>
          <a:bodyPr wrap="square" lIns="0" tIns="0" rIns="0" bIns="0" rtlCol="0" anchor="ctr"/>
          <a:lstStyle/>
          <a:p>
            <a:pPr algn="ctr" indent="0" marL="0">
              <a:buNone/>
            </a:pPr>
            <a:r>
              <a:rPr lang="en-US" sz="1800" dirty="0">
                <a:solidFill>
                  <a:schemeClr val="tx2"/>
                </a:solidFill>
                <a:latin typeface="Cambria" pitchFamily="34" charset="0"/>
                <a:ea typeface="Cambria" pitchFamily="34" charset="-122"/>
                <a:cs typeface="Cambria" pitchFamily="34" charset="-120"/>
              </a:rPr>
              <a:t>V = Rn − G − S − W − C − F   vs   H + LE</a:t>
            </a:r>
            <a:endParaRPr lang="en-US" sz="1800" dirty="0"/>
          </a:p>
        </p:txBody>
      </p:sp>
      <p:sp>
        <p:nvSpPr>
          <p:cNvPr id="5" name="badge-213"/>
          <p:cNvSpPr/>
          <p:nvPr/>
        </p:nvSpPr>
        <p:spPr>
          <a:xfrm>
            <a:off x="548640" y="2093976"/>
            <a:ext cx="713232" cy="713232"/>
          </a:xfrm>
          <a:prstGeom prst="ellipse">
            <a:avLst/>
          </a:prstGeom>
          <a:solidFill>
            <a:schemeClr val="accent1"/>
          </a:solidFill>
          <a:ln w="12700">
            <a:solidFill>
              <a:schemeClr val="accent1"/>
            </a:solidFill>
            <a:prstDash val="solid"/>
          </a:ln>
        </p:spPr>
      </p:sp>
      <p:sp>
        <p:nvSpPr>
          <p:cNvPr id="6" name="badge-t-214"/>
          <p:cNvSpPr txBox="1"/>
          <p:nvPr/>
        </p:nvSpPr>
        <p:spPr>
          <a:xfrm>
            <a:off x="548640" y="2093976"/>
            <a:ext cx="713232" cy="713232"/>
          </a:xfrm>
          <a:prstGeom prst="rect">
            <a:avLst/>
          </a:prstGeom>
          <a:noFill/>
          <a:ln/>
        </p:spPr>
        <p:txBody>
          <a:bodyPr wrap="square" lIns="0" tIns="0" rIns="0" bIns="0" rtlCol="0" anchor="ctr"/>
          <a:lstStyle/>
          <a:p>
            <a:pPr algn="ctr" indent="0" marL="0">
              <a:buNone/>
            </a:pPr>
            <a:r>
              <a:rPr lang="en-US" sz="1300" b="1" dirty="0">
                <a:solidFill>
                  <a:schemeClr val="bg1"/>
                </a:solidFill>
              </a:rPr>
              <a:t>OLS</a:t>
            </a:r>
            <a:endParaRPr lang="en-US" sz="1300" dirty="0"/>
          </a:p>
        </p:txBody>
      </p:sp>
      <p:sp>
        <p:nvSpPr>
          <p:cNvPr id="7" name="text-215"/>
          <p:cNvSpPr txBox="1"/>
          <p:nvPr/>
        </p:nvSpPr>
        <p:spPr>
          <a:xfrm>
            <a:off x="1417320" y="2057400"/>
            <a:ext cx="5029200" cy="777240"/>
          </a:xfrm>
          <a:prstGeom prst="rect">
            <a:avLst/>
          </a:prstGeom>
          <a:noFill/>
          <a:ln/>
        </p:spPr>
        <p:txBody>
          <a:bodyPr wrap="square" lIns="635" tIns="635" rIns="635" bIns="635" rtlCol="0" anchor="ctr"/>
          <a:lstStyle/>
          <a:p>
            <a:pPr indent="0" marL="0">
              <a:buNone/>
            </a:pPr>
            <a:r>
              <a:rPr lang="en-US" sz="1400" dirty="0">
                <a:solidFill>
                  <a:schemeClr val="tx1"/>
                </a:solidFill>
              </a:rPr>
              <a:t>Regress H + LE on V: slope b and intercept a. Perfect closure: a = 0, b = 1.</a:t>
            </a:r>
            <a:endParaRPr lang="en-US" sz="1400" dirty="0"/>
          </a:p>
        </p:txBody>
      </p:sp>
      <p:sp>
        <p:nvSpPr>
          <p:cNvPr id="8" name="badge-216"/>
          <p:cNvSpPr/>
          <p:nvPr/>
        </p:nvSpPr>
        <p:spPr>
          <a:xfrm>
            <a:off x="548640" y="2962656"/>
            <a:ext cx="713232" cy="713232"/>
          </a:xfrm>
          <a:prstGeom prst="ellipse">
            <a:avLst/>
          </a:prstGeom>
          <a:solidFill>
            <a:schemeClr val="accent1"/>
          </a:solidFill>
          <a:ln w="12700">
            <a:solidFill>
              <a:schemeClr val="accent1"/>
            </a:solidFill>
            <a:prstDash val="solid"/>
          </a:ln>
        </p:spPr>
      </p:sp>
      <p:sp>
        <p:nvSpPr>
          <p:cNvPr id="9" name="badge-t-217"/>
          <p:cNvSpPr txBox="1"/>
          <p:nvPr/>
        </p:nvSpPr>
        <p:spPr>
          <a:xfrm>
            <a:off x="548640" y="2962656"/>
            <a:ext cx="713232" cy="713232"/>
          </a:xfrm>
          <a:prstGeom prst="rect">
            <a:avLst/>
          </a:prstGeom>
          <a:noFill/>
          <a:ln/>
        </p:spPr>
        <p:txBody>
          <a:bodyPr wrap="square" lIns="0" tIns="0" rIns="0" bIns="0" rtlCol="0" anchor="ctr"/>
          <a:lstStyle/>
          <a:p>
            <a:pPr algn="ctr" indent="0" marL="0">
              <a:buNone/>
            </a:pPr>
            <a:r>
              <a:rPr lang="en-US" sz="1300" b="1" dirty="0">
                <a:solidFill>
                  <a:schemeClr val="bg1"/>
                </a:solidFill>
              </a:rPr>
              <a:t>EBR</a:t>
            </a:r>
            <a:endParaRPr lang="en-US" sz="1300" dirty="0"/>
          </a:p>
        </p:txBody>
      </p:sp>
      <p:sp>
        <p:nvSpPr>
          <p:cNvPr id="10" name="text-218"/>
          <p:cNvSpPr txBox="1"/>
          <p:nvPr/>
        </p:nvSpPr>
        <p:spPr>
          <a:xfrm>
            <a:off x="1417320" y="2926080"/>
            <a:ext cx="5029200" cy="777240"/>
          </a:xfrm>
          <a:prstGeom prst="rect">
            <a:avLst/>
          </a:prstGeom>
          <a:noFill/>
          <a:ln/>
        </p:spPr>
        <p:txBody>
          <a:bodyPr wrap="square" lIns="635" tIns="635" rIns="635" bIns="635" rtlCol="0" anchor="ctr"/>
          <a:lstStyle/>
          <a:p>
            <a:pPr indent="0" marL="0">
              <a:buNone/>
            </a:pPr>
            <a:r>
              <a:rPr lang="en-US" sz="1400" dirty="0">
                <a:solidFill>
                  <a:schemeClr val="tx1"/>
                </a:solidFill>
              </a:rPr>
              <a:t>EBR = Σ(H + LE) / Σ(Rn − G). Typical 0.7–0.9; Cuttack 0.50–0.72.</a:t>
            </a:r>
            <a:endParaRPr lang="en-US" sz="1400" dirty="0"/>
          </a:p>
        </p:txBody>
      </p:sp>
      <p:sp>
        <p:nvSpPr>
          <p:cNvPr id="11" name="badge-219"/>
          <p:cNvSpPr/>
          <p:nvPr/>
        </p:nvSpPr>
        <p:spPr>
          <a:xfrm>
            <a:off x="548640" y="3831336"/>
            <a:ext cx="713232" cy="713232"/>
          </a:xfrm>
          <a:prstGeom prst="ellipse">
            <a:avLst/>
          </a:prstGeom>
          <a:solidFill>
            <a:schemeClr val="accent1"/>
          </a:solidFill>
          <a:ln w="12700">
            <a:solidFill>
              <a:schemeClr val="accent1"/>
            </a:solidFill>
            <a:prstDash val="solid"/>
          </a:ln>
        </p:spPr>
      </p:sp>
      <p:sp>
        <p:nvSpPr>
          <p:cNvPr id="12" name="badge-t-220"/>
          <p:cNvSpPr txBox="1"/>
          <p:nvPr/>
        </p:nvSpPr>
        <p:spPr>
          <a:xfrm>
            <a:off x="548640" y="3831336"/>
            <a:ext cx="713232" cy="713232"/>
          </a:xfrm>
          <a:prstGeom prst="rect">
            <a:avLst/>
          </a:prstGeom>
          <a:noFill/>
          <a:ln/>
        </p:spPr>
        <p:txBody>
          <a:bodyPr wrap="square" lIns="0" tIns="0" rIns="0" bIns="0" rtlCol="0" anchor="ctr"/>
          <a:lstStyle/>
          <a:p>
            <a:pPr algn="ctr" indent="0" marL="0">
              <a:buNone/>
            </a:pPr>
            <a:r>
              <a:rPr lang="en-US" sz="1300" b="1" dirty="0">
                <a:solidFill>
                  <a:schemeClr val="bg1"/>
                </a:solidFill>
              </a:rPr>
              <a:t>RHF</a:t>
            </a:r>
            <a:endParaRPr lang="en-US" sz="1300" dirty="0"/>
          </a:p>
        </p:txBody>
      </p:sp>
      <p:sp>
        <p:nvSpPr>
          <p:cNvPr id="13" name="text-221"/>
          <p:cNvSpPr txBox="1"/>
          <p:nvPr/>
        </p:nvSpPr>
        <p:spPr>
          <a:xfrm>
            <a:off x="1417320" y="3794760"/>
            <a:ext cx="5029200" cy="777240"/>
          </a:xfrm>
          <a:prstGeom prst="rect">
            <a:avLst/>
          </a:prstGeom>
          <a:noFill/>
          <a:ln/>
        </p:spPr>
        <p:txBody>
          <a:bodyPr wrap="square" lIns="635" tIns="635" rIns="635" bIns="635" rtlCol="0" anchor="ctr"/>
          <a:lstStyle/>
          <a:p>
            <a:pPr indent="0" marL="0">
              <a:buNone/>
            </a:pPr>
            <a:r>
              <a:rPr lang="en-US" sz="1400" dirty="0">
                <a:solidFill>
                  <a:schemeClr val="tx1"/>
                </a:solidFill>
              </a:rPr>
              <a:t>Residual = (Rn − G) − (H + LE). &gt; 0 means turbulent flux under-measured.</a:t>
            </a:r>
            <a:endParaRPr lang="en-US" sz="1400" dirty="0"/>
          </a:p>
        </p:txBody>
      </p:sp>
      <p:sp>
        <p:nvSpPr>
          <p:cNvPr id="14" name="card-222"/>
          <p:cNvSpPr/>
          <p:nvPr/>
        </p:nvSpPr>
        <p:spPr>
          <a:xfrm>
            <a:off x="502920" y="4754880"/>
            <a:ext cx="5943600" cy="1463040"/>
          </a:xfrm>
          <a:prstGeom prst="roundRect">
            <a:avLst>
              <a:gd name="adj" fmla="val 5000"/>
            </a:avLst>
          </a:prstGeom>
          <a:solidFill>
            <a:schemeClr val="bg2"/>
          </a:solidFill>
          <a:ln w="6350">
            <a:solidFill>
              <a:schemeClr val="bg2"/>
            </a:solidFill>
            <a:prstDash val="solid"/>
          </a:ln>
        </p:spPr>
      </p:sp>
      <p:sp>
        <p:nvSpPr>
          <p:cNvPr id="15" name="text-223"/>
          <p:cNvSpPr txBox="1"/>
          <p:nvPr/>
        </p:nvSpPr>
        <p:spPr>
          <a:xfrm>
            <a:off x="685800" y="4800600"/>
            <a:ext cx="5577840" cy="1371600"/>
          </a:xfrm>
          <a:prstGeom prst="rect">
            <a:avLst/>
          </a:prstGeom>
          <a:noFill/>
          <a:ln/>
        </p:spPr>
        <p:txBody>
          <a:bodyPr wrap="square" lIns="635" tIns="635" rIns="635" bIns="635" rtlCol="0" anchor="ctr"/>
          <a:lstStyle/>
          <a:p>
            <a:pPr indent="0" marL="0">
              <a:buNone/>
            </a:pPr>
            <a:r>
              <a:rPr lang="en-US" sz="1300" b="1" dirty="0">
                <a:solidFill>
                  <a:schemeClr val="accent5"/>
                </a:solidFill>
              </a:rPr>
              <a:t>Why closure fails: </a:t>
            </a:r>
            <a:pPr indent="0" marL="0">
              <a:buNone/>
            </a:pPr>
            <a:r>
              <a:rPr lang="en-US" sz="1300" dirty="0">
                <a:solidFill>
                  <a:schemeClr val="tx1"/>
                </a:solidFill>
              </a:rPr>
              <a:t>missing storage terms (soil S, standing water W, canopy C, photosynthesis F), large eddies and advection, footprint mismatch between Rn (small) and EC (large), instrument errors. In rice, rain and changing water depth worsen closure in the wet season.</a:t>
            </a:r>
            <a:endParaRPr lang="en-US" sz="1300" dirty="0"/>
          </a:p>
        </p:txBody>
      </p:sp>
      <p:pic>
        <p:nvPicPr>
          <p:cNvPr id="16" name="img-224" descr="OLS closure plots by season, Cuttack (Bulletin 29, Fig. 11)">    </p:cNvPr>
          <p:cNvPicPr>
            <a:picLocks noChangeAspect="1"/>
          </p:cNvPicPr>
          <p:nvPr/>
        </p:nvPicPr>
        <p:blipFill>
          <a:blip r:embed="rId1"/>
          <a:stretch>
            <a:fillRect/>
          </a:stretch>
        </p:blipFill>
        <p:spPr>
          <a:xfrm>
            <a:off x="6675120" y="1964613"/>
            <a:ext cx="4983480" cy="3184807"/>
          </a:xfrm>
          <a:prstGeom prst="rect">
            <a:avLst/>
          </a:prstGeom>
        </p:spPr>
      </p:pic>
      <p:sp>
        <p:nvSpPr>
          <p:cNvPr id="17" name="frame-225"/>
          <p:cNvSpPr/>
          <p:nvPr/>
        </p:nvSpPr>
        <p:spPr>
          <a:xfrm>
            <a:off x="6675120" y="1964613"/>
            <a:ext cx="4983480" cy="3184807"/>
          </a:xfrm>
          <a:prstGeom prst="rect">
            <a:avLst/>
          </a:prstGeom>
          <a:ln w="9525">
            <a:solidFill>
              <a:srgbClr val="C9D3CC"/>
            </a:solidFill>
            <a:prstDash val="solid"/>
          </a:ln>
        </p:spPr>
      </p:sp>
      <p:sp>
        <p:nvSpPr>
          <p:cNvPr id="18" name="text-226"/>
          <p:cNvSpPr txBox="1"/>
          <p:nvPr/>
        </p:nvSpPr>
        <p:spPr>
          <a:xfrm>
            <a:off x="6675120" y="5961888"/>
            <a:ext cx="498348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OLS closure plots by season, Cuttack (Bulletin 29, Fig. 11)</a:t>
            </a:r>
            <a:endParaRPr lang="en-US" sz="1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Derived quantities from EC data</a:t>
            </a:r>
            <a:endParaRPr lang="en-US" sz="3000" dirty="0"/>
          </a:p>
        </p:txBody>
      </p:sp>
      <p:sp>
        <p:nvSpPr>
          <p:cNvPr id="3" name="card-227"/>
          <p:cNvSpPr/>
          <p:nvPr/>
        </p:nvSpPr>
        <p:spPr>
          <a:xfrm>
            <a:off x="502920" y="1188720"/>
            <a:ext cx="5486400" cy="1097280"/>
          </a:xfrm>
          <a:prstGeom prst="roundRect">
            <a:avLst>
              <a:gd name="adj" fmla="val 6667"/>
            </a:avLst>
          </a:prstGeom>
          <a:solidFill>
            <a:schemeClr val="bg2"/>
          </a:solidFill>
          <a:ln w="6350">
            <a:solidFill>
              <a:schemeClr val="bg2"/>
            </a:solidFill>
            <a:prstDash val="solid"/>
          </a:ln>
        </p:spPr>
      </p:sp>
      <p:sp>
        <p:nvSpPr>
          <p:cNvPr id="4" name="badge-228"/>
          <p:cNvSpPr/>
          <p:nvPr/>
        </p:nvSpPr>
        <p:spPr>
          <a:xfrm>
            <a:off x="640080" y="1417320"/>
            <a:ext cx="640080" cy="640080"/>
          </a:xfrm>
          <a:prstGeom prst="ellipse">
            <a:avLst/>
          </a:prstGeom>
          <a:solidFill>
            <a:schemeClr val="accent3"/>
          </a:solidFill>
          <a:ln w="12700">
            <a:solidFill>
              <a:schemeClr val="accent3"/>
            </a:solidFill>
            <a:prstDash val="solid"/>
          </a:ln>
        </p:spPr>
      </p:sp>
      <p:sp>
        <p:nvSpPr>
          <p:cNvPr id="5" name="badge-t-229"/>
          <p:cNvSpPr txBox="1"/>
          <p:nvPr/>
        </p:nvSpPr>
        <p:spPr>
          <a:xfrm>
            <a:off x="640080" y="141732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ET</a:t>
            </a:r>
            <a:endParaRPr lang="en-US" sz="1500" dirty="0"/>
          </a:p>
        </p:txBody>
      </p:sp>
      <p:sp>
        <p:nvSpPr>
          <p:cNvPr id="6" name="text-230"/>
          <p:cNvSpPr txBox="1"/>
          <p:nvPr/>
        </p:nvSpPr>
        <p:spPr>
          <a:xfrm>
            <a:off x="1463040" y="1280160"/>
            <a:ext cx="4389120" cy="457200"/>
          </a:xfrm>
          <a:prstGeom prst="rect">
            <a:avLst/>
          </a:prstGeom>
          <a:noFill/>
          <a:ln/>
        </p:spPr>
        <p:txBody>
          <a:bodyPr wrap="square" lIns="635" tIns="635" rIns="635" bIns="635" rtlCol="0" anchor="t"/>
          <a:lstStyle/>
          <a:p>
            <a:pPr indent="0" marL="0">
              <a:buNone/>
            </a:pPr>
            <a:r>
              <a:rPr lang="en-US" sz="1700" dirty="0">
                <a:solidFill>
                  <a:schemeClr val="tx2"/>
                </a:solidFill>
                <a:latin typeface="Cambria" pitchFamily="34" charset="0"/>
                <a:ea typeface="Cambria" pitchFamily="34" charset="-122"/>
                <a:cs typeface="Cambria" pitchFamily="34" charset="-120"/>
              </a:rPr>
              <a:t>ETa = LE / (λ ρw)</a:t>
            </a:r>
            <a:endParaRPr lang="en-US" sz="1700" dirty="0"/>
          </a:p>
        </p:txBody>
      </p:sp>
      <p:sp>
        <p:nvSpPr>
          <p:cNvPr id="7" name="text-231"/>
          <p:cNvSpPr txBox="1"/>
          <p:nvPr/>
        </p:nvSpPr>
        <p:spPr>
          <a:xfrm>
            <a:off x="1463040" y="1737360"/>
            <a:ext cx="4389120" cy="457200"/>
          </a:xfrm>
          <a:prstGeom prst="rect">
            <a:avLst/>
          </a:prstGeom>
          <a:noFill/>
          <a:ln/>
        </p:spPr>
        <p:txBody>
          <a:bodyPr wrap="square" lIns="635" tIns="635" rIns="635" bIns="635" rtlCol="0" anchor="t"/>
          <a:lstStyle/>
          <a:p>
            <a:pPr indent="0" marL="0">
              <a:buNone/>
            </a:pPr>
            <a:r>
              <a:rPr lang="en-US" sz="1300" dirty="0">
                <a:solidFill>
                  <a:schemeClr val="tx1"/>
                </a:solidFill>
              </a:rPr>
              <a:t>λ = 2.501 − 0.00236 Tₐ (MJ kg⁻¹)</a:t>
            </a:r>
            <a:endParaRPr lang="en-US" sz="1300" dirty="0"/>
          </a:p>
        </p:txBody>
      </p:sp>
      <p:sp>
        <p:nvSpPr>
          <p:cNvPr id="8" name="card-232"/>
          <p:cNvSpPr/>
          <p:nvPr/>
        </p:nvSpPr>
        <p:spPr>
          <a:xfrm>
            <a:off x="6126480" y="1188720"/>
            <a:ext cx="5486400" cy="1097280"/>
          </a:xfrm>
          <a:prstGeom prst="roundRect">
            <a:avLst>
              <a:gd name="adj" fmla="val 6667"/>
            </a:avLst>
          </a:prstGeom>
          <a:solidFill>
            <a:schemeClr val="bg2"/>
          </a:solidFill>
          <a:ln w="6350">
            <a:solidFill>
              <a:schemeClr val="bg2"/>
            </a:solidFill>
            <a:prstDash val="solid"/>
          </a:ln>
        </p:spPr>
      </p:sp>
      <p:sp>
        <p:nvSpPr>
          <p:cNvPr id="9" name="badge-233"/>
          <p:cNvSpPr/>
          <p:nvPr/>
        </p:nvSpPr>
        <p:spPr>
          <a:xfrm>
            <a:off x="6263640" y="1417320"/>
            <a:ext cx="640080" cy="640080"/>
          </a:xfrm>
          <a:prstGeom prst="ellipse">
            <a:avLst/>
          </a:prstGeom>
          <a:solidFill>
            <a:schemeClr val="accent2"/>
          </a:solidFill>
          <a:ln w="12700">
            <a:solidFill>
              <a:schemeClr val="accent2"/>
            </a:solidFill>
            <a:prstDash val="solid"/>
          </a:ln>
        </p:spPr>
      </p:sp>
      <p:sp>
        <p:nvSpPr>
          <p:cNvPr id="10" name="badge-t-234"/>
          <p:cNvSpPr txBox="1"/>
          <p:nvPr/>
        </p:nvSpPr>
        <p:spPr>
          <a:xfrm>
            <a:off x="6263640" y="141732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β</a:t>
            </a:r>
            <a:endParaRPr lang="en-US" sz="1500" dirty="0"/>
          </a:p>
        </p:txBody>
      </p:sp>
      <p:sp>
        <p:nvSpPr>
          <p:cNvPr id="11" name="text-235"/>
          <p:cNvSpPr txBox="1"/>
          <p:nvPr/>
        </p:nvSpPr>
        <p:spPr>
          <a:xfrm>
            <a:off x="7086600" y="1280160"/>
            <a:ext cx="4389120" cy="457200"/>
          </a:xfrm>
          <a:prstGeom prst="rect">
            <a:avLst/>
          </a:prstGeom>
          <a:noFill/>
          <a:ln/>
        </p:spPr>
        <p:txBody>
          <a:bodyPr wrap="square" lIns="635" tIns="635" rIns="635" bIns="635" rtlCol="0" anchor="t"/>
          <a:lstStyle/>
          <a:p>
            <a:pPr indent="0" marL="0">
              <a:buNone/>
            </a:pPr>
            <a:r>
              <a:rPr lang="en-US" sz="1700" dirty="0">
                <a:solidFill>
                  <a:schemeClr val="tx2"/>
                </a:solidFill>
                <a:latin typeface="Cambria" pitchFamily="34" charset="0"/>
                <a:ea typeface="Cambria" pitchFamily="34" charset="-122"/>
                <a:cs typeface="Cambria" pitchFamily="34" charset="-120"/>
              </a:rPr>
              <a:t>Bowen ratio β = H / LE</a:t>
            </a:r>
            <a:endParaRPr lang="en-US" sz="1700" dirty="0"/>
          </a:p>
        </p:txBody>
      </p:sp>
      <p:sp>
        <p:nvSpPr>
          <p:cNvPr id="12" name="text-236"/>
          <p:cNvSpPr txBox="1"/>
          <p:nvPr/>
        </p:nvSpPr>
        <p:spPr>
          <a:xfrm>
            <a:off x="7086600" y="1737360"/>
            <a:ext cx="4389120" cy="457200"/>
          </a:xfrm>
          <a:prstGeom prst="rect">
            <a:avLst/>
          </a:prstGeom>
          <a:noFill/>
          <a:ln/>
        </p:spPr>
        <p:txBody>
          <a:bodyPr wrap="square" lIns="635" tIns="635" rIns="635" bIns="635" rtlCol="0" anchor="t"/>
          <a:lstStyle/>
          <a:p>
            <a:pPr indent="0" marL="0">
              <a:buNone/>
            </a:pPr>
            <a:r>
              <a:rPr lang="en-US" sz="1300" dirty="0">
                <a:solidFill>
                  <a:schemeClr val="tx1"/>
                </a:solidFill>
              </a:rPr>
              <a:t>Rice 0.21–0.64 (low: open water, low stomatal resistance)</a:t>
            </a:r>
            <a:endParaRPr lang="en-US" sz="1300" dirty="0"/>
          </a:p>
        </p:txBody>
      </p:sp>
      <p:sp>
        <p:nvSpPr>
          <p:cNvPr id="13" name="card-237"/>
          <p:cNvSpPr/>
          <p:nvPr/>
        </p:nvSpPr>
        <p:spPr>
          <a:xfrm>
            <a:off x="502920" y="2423160"/>
            <a:ext cx="5486400" cy="1097280"/>
          </a:xfrm>
          <a:prstGeom prst="roundRect">
            <a:avLst>
              <a:gd name="adj" fmla="val 6667"/>
            </a:avLst>
          </a:prstGeom>
          <a:solidFill>
            <a:schemeClr val="bg2"/>
          </a:solidFill>
          <a:ln w="6350">
            <a:solidFill>
              <a:schemeClr val="bg2"/>
            </a:solidFill>
            <a:prstDash val="solid"/>
          </a:ln>
        </p:spPr>
      </p:sp>
      <p:sp>
        <p:nvSpPr>
          <p:cNvPr id="14" name="badge-238"/>
          <p:cNvSpPr/>
          <p:nvPr/>
        </p:nvSpPr>
        <p:spPr>
          <a:xfrm>
            <a:off x="640080" y="2651760"/>
            <a:ext cx="640080" cy="640080"/>
          </a:xfrm>
          <a:prstGeom prst="ellipse">
            <a:avLst/>
          </a:prstGeom>
          <a:solidFill>
            <a:schemeClr val="accent1"/>
          </a:solidFill>
          <a:ln w="12700">
            <a:solidFill>
              <a:schemeClr val="accent1"/>
            </a:solidFill>
            <a:prstDash val="solid"/>
          </a:ln>
        </p:spPr>
      </p:sp>
      <p:sp>
        <p:nvSpPr>
          <p:cNvPr id="15" name="badge-t-239"/>
          <p:cNvSpPr txBox="1"/>
          <p:nvPr/>
        </p:nvSpPr>
        <p:spPr>
          <a:xfrm>
            <a:off x="640080" y="265176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EF</a:t>
            </a:r>
            <a:endParaRPr lang="en-US" sz="1500" dirty="0"/>
          </a:p>
        </p:txBody>
      </p:sp>
      <p:sp>
        <p:nvSpPr>
          <p:cNvPr id="16" name="text-240"/>
          <p:cNvSpPr txBox="1"/>
          <p:nvPr/>
        </p:nvSpPr>
        <p:spPr>
          <a:xfrm>
            <a:off x="1463040" y="2514600"/>
            <a:ext cx="4389120" cy="457200"/>
          </a:xfrm>
          <a:prstGeom prst="rect">
            <a:avLst/>
          </a:prstGeom>
          <a:noFill/>
          <a:ln/>
        </p:spPr>
        <p:txBody>
          <a:bodyPr wrap="square" lIns="635" tIns="635" rIns="635" bIns="635" rtlCol="0" anchor="t"/>
          <a:lstStyle/>
          <a:p>
            <a:pPr indent="0" marL="0">
              <a:buNone/>
            </a:pPr>
            <a:r>
              <a:rPr lang="en-US" sz="1700" dirty="0">
                <a:solidFill>
                  <a:schemeClr val="tx2"/>
                </a:solidFill>
                <a:latin typeface="Cambria" pitchFamily="34" charset="0"/>
                <a:ea typeface="Cambria" pitchFamily="34" charset="-122"/>
                <a:cs typeface="Cambria" pitchFamily="34" charset="-120"/>
              </a:rPr>
              <a:t>EF = LE / (Rn − G)</a:t>
            </a:r>
            <a:endParaRPr lang="en-US" sz="1700" dirty="0"/>
          </a:p>
        </p:txBody>
      </p:sp>
      <p:sp>
        <p:nvSpPr>
          <p:cNvPr id="17" name="text-241"/>
          <p:cNvSpPr txBox="1"/>
          <p:nvPr/>
        </p:nvSpPr>
        <p:spPr>
          <a:xfrm>
            <a:off x="1463040" y="2971800"/>
            <a:ext cx="4389120" cy="457200"/>
          </a:xfrm>
          <a:prstGeom prst="rect">
            <a:avLst/>
          </a:prstGeom>
          <a:noFill/>
          <a:ln/>
        </p:spPr>
        <p:txBody>
          <a:bodyPr wrap="square" lIns="635" tIns="635" rIns="635" bIns="635" rtlCol="0" anchor="t"/>
          <a:lstStyle/>
          <a:p>
            <a:pPr indent="0" marL="0">
              <a:buNone/>
            </a:pPr>
            <a:r>
              <a:rPr lang="en-US" sz="1300" dirty="0">
                <a:solidFill>
                  <a:schemeClr val="tx1"/>
                </a:solidFill>
              </a:rPr>
              <a:t>Fraction of available energy used for ET</a:t>
            </a:r>
            <a:endParaRPr lang="en-US" sz="1300" dirty="0"/>
          </a:p>
        </p:txBody>
      </p:sp>
      <p:sp>
        <p:nvSpPr>
          <p:cNvPr id="18" name="card-242"/>
          <p:cNvSpPr/>
          <p:nvPr/>
        </p:nvSpPr>
        <p:spPr>
          <a:xfrm>
            <a:off x="6126480" y="2423160"/>
            <a:ext cx="5486400" cy="1097280"/>
          </a:xfrm>
          <a:prstGeom prst="roundRect">
            <a:avLst>
              <a:gd name="adj" fmla="val 6667"/>
            </a:avLst>
          </a:prstGeom>
          <a:solidFill>
            <a:schemeClr val="bg2"/>
          </a:solidFill>
          <a:ln w="6350">
            <a:solidFill>
              <a:schemeClr val="bg2"/>
            </a:solidFill>
            <a:prstDash val="solid"/>
          </a:ln>
        </p:spPr>
      </p:sp>
      <p:sp>
        <p:nvSpPr>
          <p:cNvPr id="19" name="badge-243"/>
          <p:cNvSpPr/>
          <p:nvPr/>
        </p:nvSpPr>
        <p:spPr>
          <a:xfrm>
            <a:off x="6263640" y="2651760"/>
            <a:ext cx="640080" cy="640080"/>
          </a:xfrm>
          <a:prstGeom prst="ellipse">
            <a:avLst/>
          </a:prstGeom>
          <a:solidFill>
            <a:schemeClr val="accent6"/>
          </a:solidFill>
          <a:ln w="12700">
            <a:solidFill>
              <a:schemeClr val="accent6"/>
            </a:solidFill>
            <a:prstDash val="solid"/>
          </a:ln>
        </p:spPr>
      </p:sp>
      <p:sp>
        <p:nvSpPr>
          <p:cNvPr id="20" name="badge-t-244"/>
          <p:cNvSpPr txBox="1"/>
          <p:nvPr/>
        </p:nvSpPr>
        <p:spPr>
          <a:xfrm>
            <a:off x="6263640" y="265176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α</a:t>
            </a:r>
            <a:endParaRPr lang="en-US" sz="1500" dirty="0"/>
          </a:p>
        </p:txBody>
      </p:sp>
      <p:sp>
        <p:nvSpPr>
          <p:cNvPr id="21" name="text-245"/>
          <p:cNvSpPr txBox="1"/>
          <p:nvPr/>
        </p:nvSpPr>
        <p:spPr>
          <a:xfrm>
            <a:off x="7086600" y="2514600"/>
            <a:ext cx="4389120" cy="457200"/>
          </a:xfrm>
          <a:prstGeom prst="rect">
            <a:avLst/>
          </a:prstGeom>
          <a:noFill/>
          <a:ln/>
        </p:spPr>
        <p:txBody>
          <a:bodyPr wrap="square" lIns="635" tIns="635" rIns="635" bIns="635" rtlCol="0" anchor="t"/>
          <a:lstStyle/>
          <a:p>
            <a:pPr indent="0" marL="0">
              <a:buNone/>
            </a:pPr>
            <a:r>
              <a:rPr lang="en-US" sz="1700" dirty="0">
                <a:solidFill>
                  <a:schemeClr val="tx2"/>
                </a:solidFill>
                <a:latin typeface="Cambria" pitchFamily="34" charset="0"/>
                <a:ea typeface="Cambria" pitchFamily="34" charset="-122"/>
                <a:cs typeface="Cambria" pitchFamily="34" charset="-120"/>
              </a:rPr>
              <a:t>Albedo = SW↑ / SW↓</a:t>
            </a:r>
            <a:endParaRPr lang="en-US" sz="1700" dirty="0"/>
          </a:p>
        </p:txBody>
      </p:sp>
      <p:sp>
        <p:nvSpPr>
          <p:cNvPr id="22" name="text-246"/>
          <p:cNvSpPr txBox="1"/>
          <p:nvPr/>
        </p:nvSpPr>
        <p:spPr>
          <a:xfrm>
            <a:off x="7086600" y="2971800"/>
            <a:ext cx="4389120" cy="457200"/>
          </a:xfrm>
          <a:prstGeom prst="rect">
            <a:avLst/>
          </a:prstGeom>
          <a:noFill/>
          <a:ln/>
        </p:spPr>
        <p:txBody>
          <a:bodyPr wrap="square" lIns="635" tIns="635" rIns="635" bIns="635" rtlCol="0" anchor="t"/>
          <a:lstStyle/>
          <a:p>
            <a:pPr indent="0" marL="0">
              <a:buNone/>
            </a:pPr>
            <a:r>
              <a:rPr lang="en-US" sz="1300" dirty="0">
                <a:solidFill>
                  <a:schemeClr val="tx1"/>
                </a:solidFill>
              </a:rPr>
              <a:t>Rice 0.09–0.24; rises to panicle initiation, then falls</a:t>
            </a:r>
            <a:endParaRPr lang="en-US" sz="1300" dirty="0"/>
          </a:p>
        </p:txBody>
      </p:sp>
      <p:sp>
        <p:nvSpPr>
          <p:cNvPr id="23" name="card-247"/>
          <p:cNvSpPr/>
          <p:nvPr/>
        </p:nvSpPr>
        <p:spPr>
          <a:xfrm>
            <a:off x="502920" y="3657600"/>
            <a:ext cx="5486400" cy="1097280"/>
          </a:xfrm>
          <a:prstGeom prst="roundRect">
            <a:avLst>
              <a:gd name="adj" fmla="val 6667"/>
            </a:avLst>
          </a:prstGeom>
          <a:solidFill>
            <a:schemeClr val="bg2"/>
          </a:solidFill>
          <a:ln w="6350">
            <a:solidFill>
              <a:schemeClr val="bg2"/>
            </a:solidFill>
            <a:prstDash val="solid"/>
          </a:ln>
        </p:spPr>
      </p:sp>
      <p:sp>
        <p:nvSpPr>
          <p:cNvPr id="24" name="badge-248"/>
          <p:cNvSpPr/>
          <p:nvPr/>
        </p:nvSpPr>
        <p:spPr>
          <a:xfrm>
            <a:off x="640080" y="3886200"/>
            <a:ext cx="640080" cy="640080"/>
          </a:xfrm>
          <a:prstGeom prst="ellipse">
            <a:avLst/>
          </a:prstGeom>
          <a:solidFill>
            <a:schemeClr val="accent4"/>
          </a:solidFill>
          <a:ln w="12700">
            <a:solidFill>
              <a:schemeClr val="accent4"/>
            </a:solidFill>
            <a:prstDash val="solid"/>
          </a:ln>
        </p:spPr>
      </p:sp>
      <p:sp>
        <p:nvSpPr>
          <p:cNvPr id="25" name="badge-t-249"/>
          <p:cNvSpPr txBox="1"/>
          <p:nvPr/>
        </p:nvSpPr>
        <p:spPr>
          <a:xfrm>
            <a:off x="640080" y="388620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rₐ</a:t>
            </a:r>
            <a:endParaRPr lang="en-US" sz="1500" dirty="0"/>
          </a:p>
        </p:txBody>
      </p:sp>
      <p:sp>
        <p:nvSpPr>
          <p:cNvPr id="26" name="text-250"/>
          <p:cNvSpPr txBox="1"/>
          <p:nvPr/>
        </p:nvSpPr>
        <p:spPr>
          <a:xfrm>
            <a:off x="1463040" y="3749040"/>
            <a:ext cx="4389120" cy="457200"/>
          </a:xfrm>
          <a:prstGeom prst="rect">
            <a:avLst/>
          </a:prstGeom>
          <a:noFill/>
          <a:ln/>
        </p:spPr>
        <p:txBody>
          <a:bodyPr wrap="square" lIns="635" tIns="635" rIns="635" bIns="635" rtlCol="0" anchor="t"/>
          <a:lstStyle/>
          <a:p>
            <a:pPr indent="0" marL="0">
              <a:buNone/>
            </a:pPr>
            <a:r>
              <a:rPr lang="en-US" sz="1700" dirty="0">
                <a:solidFill>
                  <a:schemeClr val="tx2"/>
                </a:solidFill>
                <a:latin typeface="Cambria" pitchFamily="34" charset="0"/>
                <a:ea typeface="Cambria" pitchFamily="34" charset="-122"/>
                <a:cs typeface="Cambria" pitchFamily="34" charset="-120"/>
              </a:rPr>
              <a:t>rₐ = ρ cₚ (Tₛ − Tₐ) / H</a:t>
            </a:r>
            <a:endParaRPr lang="en-US" sz="1700" dirty="0"/>
          </a:p>
        </p:txBody>
      </p:sp>
      <p:sp>
        <p:nvSpPr>
          <p:cNvPr id="27" name="text-251"/>
          <p:cNvSpPr txBox="1"/>
          <p:nvPr/>
        </p:nvSpPr>
        <p:spPr>
          <a:xfrm>
            <a:off x="1463040" y="4206240"/>
            <a:ext cx="4389120" cy="457200"/>
          </a:xfrm>
          <a:prstGeom prst="rect">
            <a:avLst/>
          </a:prstGeom>
          <a:noFill/>
          <a:ln/>
        </p:spPr>
        <p:txBody>
          <a:bodyPr wrap="square" lIns="635" tIns="635" rIns="635" bIns="635" rtlCol="0" anchor="t"/>
          <a:lstStyle/>
          <a:p>
            <a:pPr indent="0" marL="0">
              <a:buNone/>
            </a:pPr>
            <a:r>
              <a:rPr lang="en-US" sz="1300" dirty="0">
                <a:solidFill>
                  <a:schemeClr val="tx1"/>
                </a:solidFill>
              </a:rPr>
              <a:t>Aerodynamic resistance to heat transfer</a:t>
            </a:r>
            <a:endParaRPr lang="en-US" sz="1300" dirty="0"/>
          </a:p>
        </p:txBody>
      </p:sp>
      <p:sp>
        <p:nvSpPr>
          <p:cNvPr id="28" name="card-252"/>
          <p:cNvSpPr/>
          <p:nvPr/>
        </p:nvSpPr>
        <p:spPr>
          <a:xfrm>
            <a:off x="6126480" y="3657600"/>
            <a:ext cx="5486400" cy="1097280"/>
          </a:xfrm>
          <a:prstGeom prst="roundRect">
            <a:avLst>
              <a:gd name="adj" fmla="val 6667"/>
            </a:avLst>
          </a:prstGeom>
          <a:solidFill>
            <a:schemeClr val="bg2"/>
          </a:solidFill>
          <a:ln w="6350">
            <a:solidFill>
              <a:schemeClr val="bg2"/>
            </a:solidFill>
            <a:prstDash val="solid"/>
          </a:ln>
        </p:spPr>
      </p:sp>
      <p:sp>
        <p:nvSpPr>
          <p:cNvPr id="29" name="badge-253"/>
          <p:cNvSpPr/>
          <p:nvPr/>
        </p:nvSpPr>
        <p:spPr>
          <a:xfrm>
            <a:off x="6263640" y="3886200"/>
            <a:ext cx="640080" cy="640080"/>
          </a:xfrm>
          <a:prstGeom prst="ellipse">
            <a:avLst/>
          </a:prstGeom>
          <a:solidFill>
            <a:schemeClr val="tx2"/>
          </a:solidFill>
          <a:ln w="12700">
            <a:solidFill>
              <a:schemeClr val="tx2"/>
            </a:solidFill>
            <a:prstDash val="solid"/>
          </a:ln>
        </p:spPr>
      </p:sp>
      <p:sp>
        <p:nvSpPr>
          <p:cNvPr id="30" name="badge-t-254"/>
          <p:cNvSpPr txBox="1"/>
          <p:nvPr/>
        </p:nvSpPr>
        <p:spPr>
          <a:xfrm>
            <a:off x="6263640" y="388620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r꜀</a:t>
            </a:r>
            <a:endParaRPr lang="en-US" sz="1500" dirty="0"/>
          </a:p>
        </p:txBody>
      </p:sp>
      <p:sp>
        <p:nvSpPr>
          <p:cNvPr id="31" name="text-255"/>
          <p:cNvSpPr txBox="1"/>
          <p:nvPr/>
        </p:nvSpPr>
        <p:spPr>
          <a:xfrm>
            <a:off x="7086600" y="3749040"/>
            <a:ext cx="4389120" cy="457200"/>
          </a:xfrm>
          <a:prstGeom prst="rect">
            <a:avLst/>
          </a:prstGeom>
          <a:noFill/>
          <a:ln/>
        </p:spPr>
        <p:txBody>
          <a:bodyPr wrap="square" lIns="635" tIns="635" rIns="635" bIns="635" rtlCol="0" anchor="t"/>
          <a:lstStyle/>
          <a:p>
            <a:pPr indent="0" marL="0">
              <a:buNone/>
            </a:pPr>
            <a:r>
              <a:rPr lang="en-US" sz="1700" dirty="0">
                <a:solidFill>
                  <a:schemeClr val="tx2"/>
                </a:solidFill>
                <a:latin typeface="Cambria" pitchFamily="34" charset="0"/>
                <a:ea typeface="Cambria" pitchFamily="34" charset="-122"/>
                <a:cs typeface="Cambria" pitchFamily="34" charset="-120"/>
              </a:rPr>
              <a:t>Canopy resistance from LE, qₛ − qₐ</a:t>
            </a:r>
            <a:endParaRPr lang="en-US" sz="1700" dirty="0"/>
          </a:p>
        </p:txBody>
      </p:sp>
      <p:sp>
        <p:nvSpPr>
          <p:cNvPr id="32" name="text-256"/>
          <p:cNvSpPr txBox="1"/>
          <p:nvPr/>
        </p:nvSpPr>
        <p:spPr>
          <a:xfrm>
            <a:off x="7086600" y="4206240"/>
            <a:ext cx="4389120" cy="457200"/>
          </a:xfrm>
          <a:prstGeom prst="rect">
            <a:avLst/>
          </a:prstGeom>
          <a:noFill/>
          <a:ln/>
        </p:spPr>
        <p:txBody>
          <a:bodyPr wrap="square" lIns="635" tIns="635" rIns="635" bIns="635" rtlCol="0" anchor="t"/>
          <a:lstStyle/>
          <a:p>
            <a:pPr indent="0" marL="0">
              <a:buNone/>
            </a:pPr>
            <a:r>
              <a:rPr lang="en-US" sz="1300" dirty="0">
                <a:solidFill>
                  <a:schemeClr val="tx1"/>
                </a:solidFill>
              </a:rPr>
              <a:t>Resistances rise as the season advances</a:t>
            </a:r>
            <a:endParaRPr lang="en-US" sz="1300" dirty="0"/>
          </a:p>
        </p:txBody>
      </p:sp>
      <p:sp>
        <p:nvSpPr>
          <p:cNvPr id="33" name="card-257"/>
          <p:cNvSpPr/>
          <p:nvPr/>
        </p:nvSpPr>
        <p:spPr>
          <a:xfrm>
            <a:off x="502920" y="4937760"/>
            <a:ext cx="11155680" cy="1280160"/>
          </a:xfrm>
          <a:prstGeom prst="roundRect">
            <a:avLst>
              <a:gd name="adj" fmla="val 5714"/>
            </a:avLst>
          </a:prstGeom>
          <a:solidFill>
            <a:schemeClr val="tx2"/>
          </a:solidFill>
          <a:ln w="6350">
            <a:solidFill>
              <a:schemeClr val="tx2"/>
            </a:solidFill>
            <a:prstDash val="solid"/>
          </a:ln>
        </p:spPr>
      </p:sp>
      <p:sp>
        <p:nvSpPr>
          <p:cNvPr id="34" name="text-258"/>
          <p:cNvSpPr txBox="1"/>
          <p:nvPr/>
        </p:nvSpPr>
        <p:spPr>
          <a:xfrm>
            <a:off x="731520" y="4983480"/>
            <a:ext cx="10698480" cy="1188720"/>
          </a:xfrm>
          <a:prstGeom prst="rect">
            <a:avLst/>
          </a:prstGeom>
          <a:noFill/>
          <a:ln/>
        </p:spPr>
        <p:txBody>
          <a:bodyPr wrap="square" lIns="635" tIns="635" rIns="635" bIns="635" rtlCol="0" anchor="ctr"/>
          <a:lstStyle/>
          <a:p>
            <a:pPr indent="0" marL="0">
              <a:buNone/>
            </a:pPr>
            <a:r>
              <a:rPr lang="en-US" sz="1500" dirty="0">
                <a:solidFill>
                  <a:schemeClr val="bg1"/>
                </a:solidFill>
              </a:rPr>
              <a:t>Cuttack rice energy partitioning: H = 1–23%, LE = 23–66%, G = 5–10% of available energy. LE was 1.2–63.9 × H. During the day Rn is the main source and LE the main sink; at night G becomes the main source.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Eddy covariance: advantages and limitations</a:t>
            </a:r>
            <a:endParaRPr lang="en-US" sz="3000" dirty="0"/>
          </a:p>
        </p:txBody>
      </p:sp>
      <p:sp>
        <p:nvSpPr>
          <p:cNvPr id="3" name="card-259"/>
          <p:cNvSpPr/>
          <p:nvPr/>
        </p:nvSpPr>
        <p:spPr>
          <a:xfrm>
            <a:off x="502920" y="1188720"/>
            <a:ext cx="5440680" cy="5029200"/>
          </a:xfrm>
          <a:prstGeom prst="roundRect">
            <a:avLst>
              <a:gd name="adj" fmla="val 1455"/>
            </a:avLst>
          </a:prstGeom>
          <a:solidFill>
            <a:schemeClr val="bg2"/>
          </a:solidFill>
          <a:ln w="6350">
            <a:solidFill>
              <a:schemeClr val="bg2"/>
            </a:solidFill>
            <a:prstDash val="solid"/>
          </a:ln>
        </p:spPr>
      </p:sp>
      <p:sp>
        <p:nvSpPr>
          <p:cNvPr id="4" name="badge-260"/>
          <p:cNvSpPr/>
          <p:nvPr/>
        </p:nvSpPr>
        <p:spPr>
          <a:xfrm>
            <a:off x="685800" y="1325880"/>
            <a:ext cx="548640" cy="548640"/>
          </a:xfrm>
          <a:prstGeom prst="ellipse">
            <a:avLst/>
          </a:prstGeom>
          <a:solidFill>
            <a:schemeClr val="accent1"/>
          </a:solidFill>
          <a:ln w="12700">
            <a:solidFill>
              <a:schemeClr val="accent1"/>
            </a:solidFill>
            <a:prstDash val="solid"/>
          </a:ln>
        </p:spPr>
      </p:sp>
      <p:sp>
        <p:nvSpPr>
          <p:cNvPr id="5" name="badge-t-261"/>
          <p:cNvSpPr txBox="1"/>
          <p:nvPr/>
        </p:nvSpPr>
        <p:spPr>
          <a:xfrm>
            <a:off x="685800" y="13258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6" name="text-262"/>
          <p:cNvSpPr txBox="1"/>
          <p:nvPr/>
        </p:nvSpPr>
        <p:spPr>
          <a:xfrm>
            <a:off x="1371600" y="1371600"/>
            <a:ext cx="4389120" cy="457200"/>
          </a:xfrm>
          <a:prstGeom prst="rect">
            <a:avLst/>
          </a:prstGeom>
          <a:noFill/>
          <a:ln/>
        </p:spPr>
        <p:txBody>
          <a:bodyPr wrap="square" lIns="635" tIns="635" rIns="635" bIns="635" rtlCol="0" anchor="t"/>
          <a:lstStyle/>
          <a:p>
            <a:pPr indent="0" marL="0">
              <a:buNone/>
            </a:pPr>
            <a:r>
              <a:rPr lang="en-US" sz="1800" b="1" dirty="0">
                <a:solidFill>
                  <a:schemeClr val="accent1"/>
                </a:solidFill>
              </a:rPr>
              <a:t>Advantages</a:t>
            </a:r>
            <a:endParaRPr lang="en-US" sz="1800" dirty="0"/>
          </a:p>
        </p:txBody>
      </p:sp>
      <p:sp>
        <p:nvSpPr>
          <p:cNvPr id="7" name="list-263"/>
          <p:cNvSpPr txBox="1"/>
          <p:nvPr/>
        </p:nvSpPr>
        <p:spPr>
          <a:xfrm>
            <a:off x="731520" y="1965960"/>
            <a:ext cx="5029200" cy="4114800"/>
          </a:xfrm>
          <a:prstGeom prst="rect">
            <a:avLst/>
          </a:prstGeom>
          <a:noFill/>
          <a:ln/>
        </p:spPr>
        <p:txBody>
          <a:bodyPr wrap="square" lIns="635" tIns="635" rIns="635" bIns="635" rtlCol="0" anchor="t"/>
          <a:lstStyle/>
          <a:p>
            <a:pPr marL="203200" indent="-203200">
              <a:spcAft>
                <a:spcPts val="500"/>
              </a:spcAft>
              <a:buSzPct val="100000"/>
              <a:buChar char="•"/>
            </a:pPr>
            <a:r>
              <a:rPr lang="en-US" sz="1500" dirty="0">
                <a:solidFill>
                  <a:schemeClr val="tx1"/>
                </a:solidFill>
              </a:rPr>
              <a:t>Direct measurement of the flux: no empirical exchange coefficients</a:t>
            </a:r>
            <a:endParaRPr lang="en-US" sz="1500" dirty="0"/>
          </a:p>
          <a:p>
            <a:pPr marL="203200" indent="-203200">
              <a:spcAft>
                <a:spcPts val="500"/>
              </a:spcAft>
              <a:buSzPct val="100000"/>
              <a:buChar char="•"/>
            </a:pPr>
            <a:r>
              <a:rPr lang="en-US" sz="1500" dirty="0">
                <a:solidFill>
                  <a:schemeClr val="tx1"/>
                </a:solidFill>
              </a:rPr>
              <a:t>Continuous, automated, non-destructive, half-hourly to annual</a:t>
            </a:r>
            <a:endParaRPr lang="en-US" sz="1500" dirty="0"/>
          </a:p>
          <a:p>
            <a:pPr marL="203200" indent="-203200">
              <a:spcAft>
                <a:spcPts val="500"/>
              </a:spcAft>
              <a:buSzPct val="100000"/>
              <a:buChar char="•"/>
            </a:pPr>
            <a:r>
              <a:rPr lang="en-US" sz="1500" dirty="0">
                <a:solidFill>
                  <a:schemeClr val="tx1"/>
                </a:solidFill>
              </a:rPr>
              <a:t>Measures energy, water and gases (CO₂, CH₄, N₂O) together</a:t>
            </a:r>
            <a:endParaRPr lang="en-US" sz="1500" dirty="0"/>
          </a:p>
          <a:p>
            <a:pPr marL="203200" indent="-203200">
              <a:spcAft>
                <a:spcPts val="500"/>
              </a:spcAft>
              <a:buSzPct val="100000"/>
              <a:buChar char="•"/>
            </a:pPr>
            <a:r>
              <a:rPr lang="en-US" sz="1500" dirty="0">
                <a:solidFill>
                  <a:schemeClr val="tx1"/>
                </a:solidFill>
              </a:rPr>
              <a:t>Integrates over a field (2–3 ha), not a plant</a:t>
            </a:r>
            <a:endParaRPr lang="en-US" sz="1500" dirty="0"/>
          </a:p>
          <a:p>
            <a:pPr marL="203200" indent="-203200">
              <a:spcAft>
                <a:spcPts val="500"/>
              </a:spcAft>
              <a:buSzPct val="100000"/>
              <a:buChar char="•"/>
            </a:pPr>
            <a:r>
              <a:rPr lang="en-US" sz="1500" dirty="0">
                <a:solidFill>
                  <a:schemeClr val="tx1"/>
                </a:solidFill>
              </a:rPr>
              <a:t>Backbone of FLUXNET/AsiaFlux; validates models and satellite products</a:t>
            </a:r>
            <a:endParaRPr lang="en-US" sz="1500" dirty="0"/>
          </a:p>
        </p:txBody>
      </p:sp>
      <p:sp>
        <p:nvSpPr>
          <p:cNvPr id="8" name="card-264"/>
          <p:cNvSpPr/>
          <p:nvPr/>
        </p:nvSpPr>
        <p:spPr>
          <a:xfrm>
            <a:off x="6217920" y="1188720"/>
            <a:ext cx="5440680" cy="5029200"/>
          </a:xfrm>
          <a:prstGeom prst="roundRect">
            <a:avLst>
              <a:gd name="adj" fmla="val 1455"/>
            </a:avLst>
          </a:prstGeom>
          <a:solidFill>
            <a:schemeClr val="bg2"/>
          </a:solidFill>
          <a:ln w="6350">
            <a:solidFill>
              <a:schemeClr val="bg2"/>
            </a:solidFill>
            <a:prstDash val="solid"/>
          </a:ln>
        </p:spPr>
      </p:sp>
      <p:sp>
        <p:nvSpPr>
          <p:cNvPr id="9" name="badge-265"/>
          <p:cNvSpPr/>
          <p:nvPr/>
        </p:nvSpPr>
        <p:spPr>
          <a:xfrm>
            <a:off x="6400800" y="1325880"/>
            <a:ext cx="548640" cy="548640"/>
          </a:xfrm>
          <a:prstGeom prst="ellipse">
            <a:avLst/>
          </a:prstGeom>
          <a:solidFill>
            <a:schemeClr val="accent5"/>
          </a:solidFill>
          <a:ln w="12700">
            <a:solidFill>
              <a:schemeClr val="accent5"/>
            </a:solidFill>
            <a:prstDash val="solid"/>
          </a:ln>
        </p:spPr>
      </p:sp>
      <p:sp>
        <p:nvSpPr>
          <p:cNvPr id="10" name="badge-t-266"/>
          <p:cNvSpPr txBox="1"/>
          <p:nvPr/>
        </p:nvSpPr>
        <p:spPr>
          <a:xfrm>
            <a:off x="6400800" y="13258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1" name="text-267"/>
          <p:cNvSpPr txBox="1"/>
          <p:nvPr/>
        </p:nvSpPr>
        <p:spPr>
          <a:xfrm>
            <a:off x="7086600" y="1371600"/>
            <a:ext cx="4389120" cy="457200"/>
          </a:xfrm>
          <a:prstGeom prst="rect">
            <a:avLst/>
          </a:prstGeom>
          <a:noFill/>
          <a:ln/>
        </p:spPr>
        <p:txBody>
          <a:bodyPr wrap="square" lIns="635" tIns="635" rIns="635" bIns="635" rtlCol="0" anchor="t"/>
          <a:lstStyle/>
          <a:p>
            <a:pPr indent="0" marL="0">
              <a:buNone/>
            </a:pPr>
            <a:r>
              <a:rPr lang="en-US" sz="1800" b="1" dirty="0">
                <a:solidFill>
                  <a:schemeClr val="accent5"/>
                </a:solidFill>
              </a:rPr>
              <a:t>Limitations</a:t>
            </a:r>
            <a:endParaRPr lang="en-US" sz="1800" dirty="0"/>
          </a:p>
        </p:txBody>
      </p:sp>
      <p:sp>
        <p:nvSpPr>
          <p:cNvPr id="12" name="list-268"/>
          <p:cNvSpPr txBox="1"/>
          <p:nvPr/>
        </p:nvSpPr>
        <p:spPr>
          <a:xfrm>
            <a:off x="6446520" y="1965960"/>
            <a:ext cx="5029200" cy="4114800"/>
          </a:xfrm>
          <a:prstGeom prst="rect">
            <a:avLst/>
          </a:prstGeom>
          <a:noFill/>
          <a:ln/>
        </p:spPr>
        <p:txBody>
          <a:bodyPr wrap="square" lIns="635" tIns="635" rIns="635" bIns="635" rtlCol="0" anchor="t"/>
          <a:lstStyle/>
          <a:p>
            <a:pPr marL="203200" indent="-203200">
              <a:spcAft>
                <a:spcPts val="500"/>
              </a:spcAft>
              <a:buSzPct val="100000"/>
              <a:buChar char="•"/>
            </a:pPr>
            <a:r>
              <a:rPr lang="en-US" sz="1500" dirty="0">
                <a:solidFill>
                  <a:schemeClr val="tx1"/>
                </a:solidFill>
              </a:rPr>
              <a:t>Point measurement: one ecosystem type; mixed fields are hard to interpret</a:t>
            </a:r>
            <a:endParaRPr lang="en-US" sz="1500" dirty="0"/>
          </a:p>
          <a:p>
            <a:pPr marL="203200" indent="-203200">
              <a:spcAft>
                <a:spcPts val="500"/>
              </a:spcAft>
              <a:buSzPct val="100000"/>
              <a:buChar char="•"/>
            </a:pPr>
            <a:r>
              <a:rPr lang="en-US" sz="1500" dirty="0">
                <a:solidFill>
                  <a:schemeClr val="tx1"/>
                </a:solidFill>
              </a:rPr>
              <a:t>Needs flat, homogeneous terrain with long fetch</a:t>
            </a:r>
            <a:endParaRPr lang="en-US" sz="1500" dirty="0"/>
          </a:p>
          <a:p>
            <a:pPr marL="203200" indent="-203200">
              <a:spcAft>
                <a:spcPts val="500"/>
              </a:spcAft>
              <a:buSzPct val="100000"/>
              <a:buChar char="•"/>
            </a:pPr>
            <a:r>
              <a:rPr lang="en-US" sz="1500" dirty="0">
                <a:solidFill>
                  <a:schemeClr val="tx1"/>
                </a:solidFill>
              </a:rPr>
              <a:t>Complex processing; many assumptions and corrections</a:t>
            </a:r>
            <a:endParaRPr lang="en-US" sz="1500" dirty="0"/>
          </a:p>
          <a:p>
            <a:pPr marL="203200" indent="-203200">
              <a:spcAft>
                <a:spcPts val="500"/>
              </a:spcAft>
              <a:buSzPct val="100000"/>
              <a:buChar char="•"/>
            </a:pPr>
            <a:r>
              <a:rPr lang="en-US" sz="1500" dirty="0">
                <a:solidFill>
                  <a:schemeClr val="tx1"/>
                </a:solidFill>
              </a:rPr>
              <a:t>Energy balance seldom closes (typically 10–30% gap)</a:t>
            </a:r>
            <a:endParaRPr lang="en-US" sz="1500" dirty="0"/>
          </a:p>
          <a:p>
            <a:pPr marL="203200" indent="-203200">
              <a:spcAft>
                <a:spcPts val="500"/>
              </a:spcAft>
              <a:buSzPct val="100000"/>
              <a:buChar char="•"/>
            </a:pPr>
            <a:r>
              <a:rPr lang="en-US" sz="1500" dirty="0">
                <a:solidFill>
                  <a:schemeClr val="tx1"/>
                </a:solidFill>
              </a:rPr>
              <a:t>Night-time low turbulence (u* filtering), rain on open-path sensors, insects/dirt</a:t>
            </a:r>
            <a:endParaRPr lang="en-US" sz="1500" dirty="0"/>
          </a:p>
          <a:p>
            <a:pPr marL="203200" indent="-203200">
              <a:spcAft>
                <a:spcPts val="500"/>
              </a:spcAft>
              <a:buSzPct val="100000"/>
              <a:buChar char="•"/>
            </a:pPr>
            <a:r>
              <a:rPr lang="en-US" sz="1500" dirty="0">
                <a:solidFill>
                  <a:schemeClr val="tx1"/>
                </a:solidFill>
              </a:rPr>
              <a:t>Expensive sensors (especially N₂O and CH₄ analysers)</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2103120" y="2103120"/>
            <a:ext cx="9326880" cy="118872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Part B — Large Aperture Scintillometer (LAS)</a:t>
            </a:r>
            <a:endParaRPr lang="en-US" sz="4000" dirty="0"/>
          </a:p>
        </p:txBody>
      </p:sp>
      <p:sp>
        <p:nvSpPr>
          <p:cNvPr id="3" name="Text 0"/>
          <p:cNvSpPr/>
          <p:nvPr>
            <p:ph idx="101" type="body" hasCustomPrompt="1"/>
          </p:nvPr>
        </p:nvSpPr>
        <p:spPr>
          <a:xfrm>
            <a:off x="2103120" y="3429000"/>
            <a:ext cx="9326880" cy="1280160"/>
          </a:xfrm>
          <a:prstGeom prst="rect">
            <a:avLst/>
          </a:prstGeom>
          <a:noFill/>
          <a:ln/>
        </p:spPr>
        <p:txBody>
          <a:bodyPr wrap="square" lIns="0" tIns="0" rIns="0" bIns="0" rtlCol="0" anchor="t"/>
          <a:lstStyle/>
          <a:p>
            <a:pPr indent="0" marL="0">
              <a:buNone/>
            </a:pPr>
            <a:r>
              <a:rPr lang="en-US" sz="1800" dirty="0">
                <a:solidFill>
                  <a:schemeClr val="bg1"/>
                </a:solidFill>
                <a:latin typeface="Calibri" pitchFamily="34" charset="0"/>
                <a:ea typeface="Calibri" pitchFamily="34" charset="-122"/>
                <a:cs typeface="Calibri" pitchFamily="34" charset="-120"/>
              </a:rPr>
              <a:t>Path-averaged sensible heat flux over 250 m – 4.5 km from the 'twinkling' of a light beam</a:t>
            </a:r>
            <a:endParaRPr lang="en-US" sz="1800" dirty="0"/>
          </a:p>
        </p:txBody>
      </p:sp>
      <p:sp>
        <p:nvSpPr>
          <p:cNvPr id="4" name="badge-269"/>
          <p:cNvSpPr/>
          <p:nvPr/>
        </p:nvSpPr>
        <p:spPr>
          <a:xfrm>
            <a:off x="731520" y="2286000"/>
            <a:ext cx="1097280" cy="1097280"/>
          </a:xfrm>
          <a:prstGeom prst="ellipse">
            <a:avLst/>
          </a:prstGeom>
          <a:solidFill>
            <a:schemeClr val="tx2"/>
          </a:solidFill>
          <a:ln w="12700">
            <a:solidFill>
              <a:schemeClr val="tx2"/>
            </a:solidFill>
            <a:prstDash val="solid"/>
          </a:ln>
        </p:spPr>
      </p:sp>
      <p:sp>
        <p:nvSpPr>
          <p:cNvPr id="5" name="badge-t-270"/>
          <p:cNvSpPr txBox="1"/>
          <p:nvPr/>
        </p:nvSpPr>
        <p:spPr>
          <a:xfrm>
            <a:off x="731520" y="2286000"/>
            <a:ext cx="1097280" cy="1097280"/>
          </a:xfrm>
          <a:prstGeom prst="rect">
            <a:avLst/>
          </a:prstGeom>
          <a:noFill/>
          <a:ln/>
        </p:spPr>
        <p:txBody>
          <a:bodyPr wrap="square" lIns="0" tIns="0" rIns="0" bIns="0" rtlCol="0" anchor="ctr"/>
          <a:lstStyle/>
          <a:p>
            <a:pPr algn="ctr" indent="0" marL="0">
              <a:buNone/>
            </a:pPr>
            <a:r>
              <a:rPr lang="en-US" sz="4000" b="1" dirty="0">
                <a:solidFill>
                  <a:schemeClr val="bg1"/>
                </a:solidFill>
              </a:rPr>
              <a:t>B</a:t>
            </a:r>
            <a:endParaRPr lang="en-US" sz="4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Scintillation principle</a:t>
            </a:r>
            <a:endParaRPr lang="en-US" sz="3000" dirty="0"/>
          </a:p>
        </p:txBody>
      </p:sp>
      <p:sp>
        <p:nvSpPr>
          <p:cNvPr id="3" name="tx-box"/>
          <p:cNvSpPr/>
          <p:nvPr/>
        </p:nvSpPr>
        <p:spPr>
          <a:xfrm>
            <a:off x="640080" y="2011680"/>
            <a:ext cx="1463040" cy="914400"/>
          </a:xfrm>
          <a:prstGeom prst="roundRect">
            <a:avLst>
              <a:gd name="adj" fmla="val 8000"/>
            </a:avLst>
          </a:prstGeom>
          <a:solidFill>
            <a:schemeClr val="tx2"/>
          </a:solidFill>
          <a:ln w="12700">
            <a:solidFill>
              <a:schemeClr val="tx2"/>
            </a:solidFill>
            <a:prstDash val="solid"/>
          </a:ln>
        </p:spPr>
      </p:sp>
      <p:sp>
        <p:nvSpPr>
          <p:cNvPr id="4" name="text-271"/>
          <p:cNvSpPr txBox="1"/>
          <p:nvPr/>
        </p:nvSpPr>
        <p:spPr>
          <a:xfrm>
            <a:off x="640080" y="2011680"/>
            <a:ext cx="1463040" cy="914400"/>
          </a:xfrm>
          <a:prstGeom prst="rect">
            <a:avLst/>
          </a:prstGeom>
          <a:noFill/>
          <a:ln/>
        </p:spPr>
        <p:txBody>
          <a:bodyPr wrap="square" lIns="635" tIns="635" rIns="635" bIns="635" rtlCol="0" anchor="ctr"/>
          <a:lstStyle/>
          <a:p>
            <a:pPr algn="ctr" indent="0" marL="0">
              <a:buNone/>
            </a:pPr>
            <a:r>
              <a:rPr lang="en-US" sz="1300" b="1" dirty="0">
                <a:solidFill>
                  <a:schemeClr val="bg1"/>
                </a:solidFill>
              </a:rPr>
              <a:t>Transmitter</a:t>
            </a:r>
            <a:endParaRPr lang="en-US" sz="1300" dirty="0"/>
          </a:p>
          <a:p>
            <a:pPr algn="ctr" indent="0" marL="0">
              <a:buNone/>
            </a:pPr>
            <a:r>
              <a:rPr lang="en-US" sz="1300" b="1" dirty="0">
                <a:solidFill>
                  <a:schemeClr val="bg1"/>
                </a:solidFill>
              </a:rPr>
              <a:t>880 nm LED</a:t>
            </a:r>
            <a:endParaRPr lang="en-US" sz="1300" dirty="0"/>
          </a:p>
        </p:txBody>
      </p:sp>
      <p:sp>
        <p:nvSpPr>
          <p:cNvPr id="5" name="rx-box"/>
          <p:cNvSpPr/>
          <p:nvPr/>
        </p:nvSpPr>
        <p:spPr>
          <a:xfrm>
            <a:off x="9966960" y="2011680"/>
            <a:ext cx="1463040" cy="914400"/>
          </a:xfrm>
          <a:prstGeom prst="roundRect">
            <a:avLst>
              <a:gd name="adj" fmla="val 8000"/>
            </a:avLst>
          </a:prstGeom>
          <a:solidFill>
            <a:schemeClr val="tx2"/>
          </a:solidFill>
          <a:ln w="12700">
            <a:solidFill>
              <a:schemeClr val="tx2"/>
            </a:solidFill>
            <a:prstDash val="solid"/>
          </a:ln>
        </p:spPr>
      </p:sp>
      <p:sp>
        <p:nvSpPr>
          <p:cNvPr id="6" name="text-272"/>
          <p:cNvSpPr txBox="1"/>
          <p:nvPr/>
        </p:nvSpPr>
        <p:spPr>
          <a:xfrm>
            <a:off x="9966960" y="2011680"/>
            <a:ext cx="1463040" cy="914400"/>
          </a:xfrm>
          <a:prstGeom prst="rect">
            <a:avLst/>
          </a:prstGeom>
          <a:noFill/>
          <a:ln/>
        </p:spPr>
        <p:txBody>
          <a:bodyPr wrap="square" lIns="635" tIns="635" rIns="635" bIns="635" rtlCol="0" anchor="ctr"/>
          <a:lstStyle/>
          <a:p>
            <a:pPr algn="ctr" indent="0" marL="0">
              <a:buNone/>
            </a:pPr>
            <a:r>
              <a:rPr lang="en-US" sz="1300" b="1" dirty="0">
                <a:solidFill>
                  <a:schemeClr val="bg1"/>
                </a:solidFill>
              </a:rPr>
              <a:t>Receiver</a:t>
            </a:r>
            <a:endParaRPr lang="en-US" sz="1300" dirty="0"/>
          </a:p>
          <a:p>
            <a:pPr algn="ctr" indent="0" marL="0">
              <a:buNone/>
            </a:pPr>
            <a:r>
              <a:rPr lang="en-US" sz="1300" b="1" dirty="0">
                <a:solidFill>
                  <a:schemeClr val="bg1"/>
                </a:solidFill>
              </a:rPr>
              <a:t>photodiode</a:t>
            </a:r>
            <a:endParaRPr lang="en-US" sz="1300" dirty="0"/>
          </a:p>
        </p:txBody>
      </p:sp>
      <p:sp>
        <p:nvSpPr>
          <p:cNvPr id="7" name="beam"/>
          <p:cNvSpPr/>
          <p:nvPr/>
        </p:nvSpPr>
        <p:spPr>
          <a:xfrm>
            <a:off x="2103120" y="2468880"/>
            <a:ext cx="7863840" cy="0"/>
          </a:xfrm>
          <a:prstGeom prst="line">
            <a:avLst/>
          </a:prstGeom>
          <a:noFill/>
          <a:ln w="38100">
            <a:solidFill>
              <a:schemeClr val="accent5"/>
            </a:solidFill>
            <a:prstDash val="dash"/>
            <a:tailEnd type="triangle"/>
          </a:ln>
        </p:spPr>
      </p:sp>
      <p:sp>
        <p:nvSpPr>
          <p:cNvPr id="8" name="eddy-273"/>
          <p:cNvSpPr/>
          <p:nvPr/>
        </p:nvSpPr>
        <p:spPr>
          <a:xfrm>
            <a:off x="2926080" y="2217420"/>
            <a:ext cx="502920" cy="502920"/>
          </a:xfrm>
          <a:prstGeom prst="ellipse">
            <a:avLst/>
          </a:prstGeom>
          <a:solidFill>
            <a:schemeClr val="accent3">
              <a:alpha val="40000"/>
            </a:schemeClr>
          </a:solidFill>
          <a:ln w="12700">
            <a:solidFill>
              <a:schemeClr val="accent3"/>
            </a:solidFill>
            <a:prstDash val="solid"/>
          </a:ln>
        </p:spPr>
      </p:sp>
      <p:sp>
        <p:nvSpPr>
          <p:cNvPr id="9" name="eddy-274"/>
          <p:cNvSpPr/>
          <p:nvPr/>
        </p:nvSpPr>
        <p:spPr>
          <a:xfrm>
            <a:off x="4206240" y="2103120"/>
            <a:ext cx="731520" cy="731520"/>
          </a:xfrm>
          <a:prstGeom prst="ellipse">
            <a:avLst/>
          </a:prstGeom>
          <a:solidFill>
            <a:schemeClr val="accent2">
              <a:alpha val="40000"/>
            </a:schemeClr>
          </a:solidFill>
          <a:ln w="12700">
            <a:solidFill>
              <a:schemeClr val="accent2"/>
            </a:solidFill>
            <a:prstDash val="solid"/>
          </a:ln>
        </p:spPr>
      </p:sp>
      <p:sp>
        <p:nvSpPr>
          <p:cNvPr id="10" name="eddy-275"/>
          <p:cNvSpPr/>
          <p:nvPr/>
        </p:nvSpPr>
        <p:spPr>
          <a:xfrm>
            <a:off x="5577840" y="2194560"/>
            <a:ext cx="548640" cy="548640"/>
          </a:xfrm>
          <a:prstGeom prst="ellipse">
            <a:avLst/>
          </a:prstGeom>
          <a:solidFill>
            <a:schemeClr val="accent3">
              <a:alpha val="40000"/>
            </a:schemeClr>
          </a:solidFill>
          <a:ln w="12700">
            <a:solidFill>
              <a:schemeClr val="accent3"/>
            </a:solidFill>
            <a:prstDash val="solid"/>
          </a:ln>
        </p:spPr>
      </p:sp>
      <p:sp>
        <p:nvSpPr>
          <p:cNvPr id="11" name="eddy-276"/>
          <p:cNvSpPr/>
          <p:nvPr/>
        </p:nvSpPr>
        <p:spPr>
          <a:xfrm>
            <a:off x="6858000" y="2080260"/>
            <a:ext cx="777240" cy="777240"/>
          </a:xfrm>
          <a:prstGeom prst="ellipse">
            <a:avLst/>
          </a:prstGeom>
          <a:solidFill>
            <a:schemeClr val="accent2">
              <a:alpha val="40000"/>
            </a:schemeClr>
          </a:solidFill>
          <a:ln w="12700">
            <a:solidFill>
              <a:schemeClr val="accent2"/>
            </a:solidFill>
            <a:prstDash val="solid"/>
          </a:ln>
        </p:spPr>
      </p:sp>
      <p:sp>
        <p:nvSpPr>
          <p:cNvPr id="12" name="eddy-277"/>
          <p:cNvSpPr/>
          <p:nvPr/>
        </p:nvSpPr>
        <p:spPr>
          <a:xfrm>
            <a:off x="8229600" y="2217420"/>
            <a:ext cx="502920" cy="502920"/>
          </a:xfrm>
          <a:prstGeom prst="ellipse">
            <a:avLst/>
          </a:prstGeom>
          <a:solidFill>
            <a:schemeClr val="accent3">
              <a:alpha val="40000"/>
            </a:schemeClr>
          </a:solidFill>
          <a:ln w="12700">
            <a:solidFill>
              <a:schemeClr val="accent3"/>
            </a:solidFill>
            <a:prstDash val="solid"/>
          </a:ln>
        </p:spPr>
      </p:sp>
      <p:sp>
        <p:nvSpPr>
          <p:cNvPr id="13" name="text-278"/>
          <p:cNvSpPr txBox="1"/>
          <p:nvPr/>
        </p:nvSpPr>
        <p:spPr>
          <a:xfrm>
            <a:off x="2194560" y="3017520"/>
            <a:ext cx="7680960" cy="457200"/>
          </a:xfrm>
          <a:prstGeom prst="rect">
            <a:avLst/>
          </a:prstGeom>
          <a:noFill/>
          <a:ln/>
        </p:spPr>
        <p:txBody>
          <a:bodyPr wrap="square" lIns="635" tIns="635" rIns="635" bIns="635" rtlCol="0" anchor="t"/>
          <a:lstStyle/>
          <a:p>
            <a:pPr algn="ctr" indent="0" marL="0">
              <a:buNone/>
            </a:pPr>
            <a:r>
              <a:rPr lang="en-US" sz="1300" i="1" dirty="0">
                <a:solidFill>
                  <a:schemeClr val="accent6"/>
                </a:solidFill>
              </a:rPr>
              <a:t>Turbulent eddies of warm and cool air → refractive index (n) fluctuations → intensity fluctuations (scintillation)</a:t>
            </a:r>
            <a:endParaRPr lang="en-US" sz="1300" dirty="0"/>
          </a:p>
        </p:txBody>
      </p:sp>
      <p:sp>
        <p:nvSpPr>
          <p:cNvPr id="14" name="text-279"/>
          <p:cNvSpPr txBox="1"/>
          <p:nvPr/>
        </p:nvSpPr>
        <p:spPr>
          <a:xfrm>
            <a:off x="640080" y="1234440"/>
            <a:ext cx="10789920" cy="457200"/>
          </a:xfrm>
          <a:prstGeom prst="rect">
            <a:avLst/>
          </a:prstGeom>
          <a:noFill/>
          <a:ln/>
        </p:spPr>
        <p:txBody>
          <a:bodyPr wrap="square" lIns="635" tIns="635" rIns="635" bIns="635" rtlCol="0" anchor="t"/>
          <a:lstStyle/>
          <a:p>
            <a:pPr algn="ctr" indent="0" marL="0">
              <a:buNone/>
            </a:pPr>
            <a:r>
              <a:rPr lang="en-US" sz="1500" b="1" dirty="0">
                <a:solidFill>
                  <a:schemeClr val="tx2"/>
                </a:solidFill>
              </a:rPr>
              <a:t>Path length L: 250 m – 4.5 km (LAS), 1 – 8 km (XLAS)    •    Aperture D = 0.15 m (LAS), 0.33 m (XLAS)</a:t>
            </a:r>
            <a:endParaRPr lang="en-US" sz="1500" dirty="0"/>
          </a:p>
        </p:txBody>
      </p:sp>
      <p:sp>
        <p:nvSpPr>
          <p:cNvPr id="15" name="card-280"/>
          <p:cNvSpPr/>
          <p:nvPr/>
        </p:nvSpPr>
        <p:spPr>
          <a:xfrm>
            <a:off x="502920" y="3657600"/>
            <a:ext cx="3611880" cy="2560320"/>
          </a:xfrm>
          <a:prstGeom prst="roundRect">
            <a:avLst>
              <a:gd name="adj" fmla="val 2857"/>
            </a:avLst>
          </a:prstGeom>
          <a:solidFill>
            <a:schemeClr val="bg2"/>
          </a:solidFill>
          <a:ln w="6350">
            <a:solidFill>
              <a:schemeClr val="bg2"/>
            </a:solidFill>
            <a:prstDash val="solid"/>
          </a:ln>
        </p:spPr>
      </p:sp>
      <p:sp>
        <p:nvSpPr>
          <p:cNvPr id="16" name="text-281"/>
          <p:cNvSpPr txBox="1"/>
          <p:nvPr/>
        </p:nvSpPr>
        <p:spPr>
          <a:xfrm>
            <a:off x="640080" y="3749040"/>
            <a:ext cx="3337560" cy="411480"/>
          </a:xfrm>
          <a:prstGeom prst="rect">
            <a:avLst/>
          </a:prstGeom>
          <a:noFill/>
          <a:ln/>
        </p:spPr>
        <p:txBody>
          <a:bodyPr wrap="square" lIns="635" tIns="635" rIns="635" bIns="635" rtlCol="0" anchor="t"/>
          <a:lstStyle/>
          <a:p>
            <a:pPr indent="0" marL="0">
              <a:buNone/>
            </a:pPr>
            <a:r>
              <a:rPr lang="en-US" sz="1600" b="1" dirty="0">
                <a:solidFill>
                  <a:schemeClr val="accent1"/>
                </a:solidFill>
              </a:rPr>
              <a:t>Why 880 nm?</a:t>
            </a:r>
            <a:endParaRPr lang="en-US" sz="1600" dirty="0"/>
          </a:p>
        </p:txBody>
      </p:sp>
      <p:sp>
        <p:nvSpPr>
          <p:cNvPr id="17" name="text-282"/>
          <p:cNvSpPr txBox="1"/>
          <p:nvPr/>
        </p:nvSpPr>
        <p:spPr>
          <a:xfrm>
            <a:off x="640080" y="4206240"/>
            <a:ext cx="3337560" cy="1920240"/>
          </a:xfrm>
          <a:prstGeom prst="rect">
            <a:avLst/>
          </a:prstGeom>
          <a:noFill/>
          <a:ln/>
        </p:spPr>
        <p:txBody>
          <a:bodyPr wrap="square" lIns="635" tIns="635" rIns="635" bIns="635" rtlCol="0" anchor="t"/>
          <a:lstStyle/>
          <a:p>
            <a:pPr indent="0" marL="0">
              <a:buNone/>
            </a:pPr>
            <a:r>
              <a:rPr lang="en-US" sz="1400" dirty="0">
                <a:solidFill>
                  <a:schemeClr val="tx1"/>
                </a:solidFill>
              </a:rPr>
              <a:t>In the near-infrared, refractive index fluctuations are caused mainly by temperature, so LAS signal ≈ heat flux (humidity effect is a small correction).</a:t>
            </a:r>
            <a:endParaRPr lang="en-US" sz="1400" dirty="0"/>
          </a:p>
        </p:txBody>
      </p:sp>
      <p:sp>
        <p:nvSpPr>
          <p:cNvPr id="18" name="card-283"/>
          <p:cNvSpPr/>
          <p:nvPr/>
        </p:nvSpPr>
        <p:spPr>
          <a:xfrm>
            <a:off x="4270248" y="3657600"/>
            <a:ext cx="3611880" cy="2560320"/>
          </a:xfrm>
          <a:prstGeom prst="roundRect">
            <a:avLst>
              <a:gd name="adj" fmla="val 2857"/>
            </a:avLst>
          </a:prstGeom>
          <a:solidFill>
            <a:schemeClr val="bg2"/>
          </a:solidFill>
          <a:ln w="6350">
            <a:solidFill>
              <a:schemeClr val="bg2"/>
            </a:solidFill>
            <a:prstDash val="solid"/>
          </a:ln>
        </p:spPr>
      </p:sp>
      <p:sp>
        <p:nvSpPr>
          <p:cNvPr id="19" name="text-284"/>
          <p:cNvSpPr txBox="1"/>
          <p:nvPr/>
        </p:nvSpPr>
        <p:spPr>
          <a:xfrm>
            <a:off x="4407408" y="3749040"/>
            <a:ext cx="3337560" cy="411480"/>
          </a:xfrm>
          <a:prstGeom prst="rect">
            <a:avLst/>
          </a:prstGeom>
          <a:noFill/>
          <a:ln/>
        </p:spPr>
        <p:txBody>
          <a:bodyPr wrap="square" lIns="635" tIns="635" rIns="635" bIns="635" rtlCol="0" anchor="t"/>
          <a:lstStyle/>
          <a:p>
            <a:pPr indent="0" marL="0">
              <a:buNone/>
            </a:pPr>
            <a:r>
              <a:rPr lang="en-US" sz="1600" b="1" dirty="0">
                <a:solidFill>
                  <a:schemeClr val="accent1"/>
                </a:solidFill>
              </a:rPr>
              <a:t>Why large aperture?</a:t>
            </a:r>
            <a:endParaRPr lang="en-US" sz="1600" dirty="0"/>
          </a:p>
        </p:txBody>
      </p:sp>
      <p:sp>
        <p:nvSpPr>
          <p:cNvPr id="20" name="text-285"/>
          <p:cNvSpPr txBox="1"/>
          <p:nvPr/>
        </p:nvSpPr>
        <p:spPr>
          <a:xfrm>
            <a:off x="4407408" y="4206240"/>
            <a:ext cx="3337560" cy="1920240"/>
          </a:xfrm>
          <a:prstGeom prst="rect">
            <a:avLst/>
          </a:prstGeom>
          <a:noFill/>
          <a:ln/>
        </p:spPr>
        <p:txBody>
          <a:bodyPr wrap="square" lIns="635" tIns="635" rIns="635" bIns="635" rtlCol="0" anchor="t"/>
          <a:lstStyle/>
          <a:p>
            <a:pPr indent="0" marL="0">
              <a:buNone/>
            </a:pPr>
            <a:r>
              <a:rPr lang="en-US" sz="1400" dirty="0">
                <a:solidFill>
                  <a:schemeClr val="tx1"/>
                </a:solidFill>
              </a:rPr>
              <a:t>Averages out eddies smaller than D (~0.15 m) → avoids saturation and responds to inertial-subrange eddies; allows km-long paths.</a:t>
            </a:r>
            <a:endParaRPr lang="en-US" sz="1400" dirty="0"/>
          </a:p>
        </p:txBody>
      </p:sp>
      <p:sp>
        <p:nvSpPr>
          <p:cNvPr id="21" name="card-286"/>
          <p:cNvSpPr/>
          <p:nvPr/>
        </p:nvSpPr>
        <p:spPr>
          <a:xfrm>
            <a:off x="8037576" y="3657600"/>
            <a:ext cx="3611880" cy="2560320"/>
          </a:xfrm>
          <a:prstGeom prst="roundRect">
            <a:avLst>
              <a:gd name="adj" fmla="val 2857"/>
            </a:avLst>
          </a:prstGeom>
          <a:solidFill>
            <a:schemeClr val="bg2"/>
          </a:solidFill>
          <a:ln w="6350">
            <a:solidFill>
              <a:schemeClr val="bg2"/>
            </a:solidFill>
            <a:prstDash val="solid"/>
          </a:ln>
        </p:spPr>
      </p:sp>
      <p:sp>
        <p:nvSpPr>
          <p:cNvPr id="22" name="text-287"/>
          <p:cNvSpPr txBox="1"/>
          <p:nvPr/>
        </p:nvSpPr>
        <p:spPr>
          <a:xfrm>
            <a:off x="8174736" y="3749040"/>
            <a:ext cx="3337560" cy="411480"/>
          </a:xfrm>
          <a:prstGeom prst="rect">
            <a:avLst/>
          </a:prstGeom>
          <a:noFill/>
          <a:ln/>
        </p:spPr>
        <p:txBody>
          <a:bodyPr wrap="square" lIns="635" tIns="635" rIns="635" bIns="635" rtlCol="0" anchor="t"/>
          <a:lstStyle/>
          <a:p>
            <a:pPr indent="0" marL="0">
              <a:buNone/>
            </a:pPr>
            <a:r>
              <a:rPr lang="en-US" sz="1600" b="1" dirty="0">
                <a:solidFill>
                  <a:schemeClr val="accent1"/>
                </a:solidFill>
              </a:rPr>
              <a:t>What is measured?</a:t>
            </a:r>
            <a:endParaRPr lang="en-US" sz="1600" dirty="0"/>
          </a:p>
        </p:txBody>
      </p:sp>
      <p:sp>
        <p:nvSpPr>
          <p:cNvPr id="23" name="text-288"/>
          <p:cNvSpPr txBox="1"/>
          <p:nvPr/>
        </p:nvSpPr>
        <p:spPr>
          <a:xfrm>
            <a:off x="8174736" y="4206240"/>
            <a:ext cx="3337560" cy="1920240"/>
          </a:xfrm>
          <a:prstGeom prst="rect">
            <a:avLst/>
          </a:prstGeom>
          <a:noFill/>
          <a:ln/>
        </p:spPr>
        <p:txBody>
          <a:bodyPr wrap="square" lIns="635" tIns="635" rIns="635" bIns="635" rtlCol="0" anchor="t"/>
          <a:lstStyle/>
          <a:p>
            <a:pPr indent="0" marL="0">
              <a:buNone/>
            </a:pPr>
            <a:r>
              <a:rPr lang="en-US" sz="1400" dirty="0">
                <a:solidFill>
                  <a:schemeClr val="tx1"/>
                </a:solidFill>
              </a:rPr>
              <a:t>Variance of log intensity σ²lnI → structure parameter of refractive index Cn² (typical 10⁻¹⁸ – 10⁻¹³ m⁻²ᐟ³).</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From Cn² to sensible heat flux: the equations</a:t>
            </a:r>
            <a:endParaRPr lang="en-US" sz="3000" dirty="0"/>
          </a:p>
        </p:txBody>
      </p:sp>
      <p:sp>
        <p:nvSpPr>
          <p:cNvPr id="3" name="badge-289"/>
          <p:cNvSpPr/>
          <p:nvPr/>
        </p:nvSpPr>
        <p:spPr>
          <a:xfrm>
            <a:off x="502920" y="1280160"/>
            <a:ext cx="457200" cy="457200"/>
          </a:xfrm>
          <a:prstGeom prst="ellipse">
            <a:avLst/>
          </a:prstGeom>
          <a:solidFill>
            <a:schemeClr val="accent1"/>
          </a:solidFill>
          <a:ln w="12700">
            <a:solidFill>
              <a:schemeClr val="accent1"/>
            </a:solidFill>
            <a:prstDash val="solid"/>
          </a:ln>
        </p:spPr>
      </p:sp>
      <p:sp>
        <p:nvSpPr>
          <p:cNvPr id="4" name="badge-t-290"/>
          <p:cNvSpPr txBox="1"/>
          <p:nvPr/>
        </p:nvSpPr>
        <p:spPr>
          <a:xfrm>
            <a:off x="502920" y="1280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291"/>
          <p:cNvSpPr txBox="1"/>
          <p:nvPr/>
        </p:nvSpPr>
        <p:spPr>
          <a:xfrm>
            <a:off x="1097280" y="1188720"/>
            <a:ext cx="3383280" cy="640080"/>
          </a:xfrm>
          <a:prstGeom prst="rect">
            <a:avLst/>
          </a:prstGeom>
          <a:noFill/>
          <a:ln/>
        </p:spPr>
        <p:txBody>
          <a:bodyPr wrap="square" lIns="635" tIns="635" rIns="635" bIns="635" rtlCol="0" anchor="ctr"/>
          <a:lstStyle/>
          <a:p>
            <a:pPr indent="0" marL="0">
              <a:buNone/>
            </a:pPr>
            <a:r>
              <a:rPr lang="en-US" sz="1300" b="1" dirty="0">
                <a:solidFill>
                  <a:schemeClr val="tx2"/>
                </a:solidFill>
              </a:rPr>
              <a:t>Cn² from scintillation</a:t>
            </a:r>
            <a:endParaRPr lang="en-US" sz="1300" dirty="0"/>
          </a:p>
        </p:txBody>
      </p:sp>
      <p:sp>
        <p:nvSpPr>
          <p:cNvPr id="6" name="card-292"/>
          <p:cNvSpPr/>
          <p:nvPr/>
        </p:nvSpPr>
        <p:spPr>
          <a:xfrm>
            <a:off x="4526280" y="1207008"/>
            <a:ext cx="7132320" cy="603504"/>
          </a:xfrm>
          <a:prstGeom prst="roundRect">
            <a:avLst>
              <a:gd name="adj" fmla="val 12121"/>
            </a:avLst>
          </a:prstGeom>
          <a:solidFill>
            <a:schemeClr val="bg2"/>
          </a:solidFill>
          <a:ln w="6350">
            <a:solidFill>
              <a:schemeClr val="bg2"/>
            </a:solidFill>
            <a:prstDash val="solid"/>
          </a:ln>
        </p:spPr>
      </p:sp>
      <p:sp>
        <p:nvSpPr>
          <p:cNvPr id="7" name="eq-293"/>
          <p:cNvSpPr txBox="1"/>
          <p:nvPr/>
        </p:nvSpPr>
        <p:spPr>
          <a:xfrm>
            <a:off x="4663440" y="1207008"/>
            <a:ext cx="6858000" cy="603504"/>
          </a:xfrm>
          <a:prstGeom prst="rect">
            <a:avLst/>
          </a:prstGeom>
          <a:noFill/>
          <a:ln/>
        </p:spPr>
        <p:txBody>
          <a:bodyPr wrap="square" lIns="0" tIns="0" rIns="0" bIns="0" rtlCol="0" anchor="ctr"/>
          <a:lstStyle/>
          <a:p>
            <a:pPr algn="ctr" indent="0" marL="0">
              <a:buNone/>
            </a:pPr>
            <a:r>
              <a:rPr lang="en-US" sz="1500" dirty="0">
                <a:solidFill>
                  <a:schemeClr val="tx2"/>
                </a:solidFill>
                <a:latin typeface="Cambria" pitchFamily="34" charset="0"/>
                <a:ea typeface="Cambria" pitchFamily="34" charset="-122"/>
                <a:cs typeface="Cambria" pitchFamily="34" charset="-120"/>
              </a:rPr>
              <a:t>Cn² = 1.12 σ²lnI D⁷ᐟ³ L⁻³</a:t>
            </a:r>
            <a:endParaRPr lang="en-US" sz="1500" dirty="0"/>
          </a:p>
        </p:txBody>
      </p:sp>
      <p:sp>
        <p:nvSpPr>
          <p:cNvPr id="8" name="badge-294"/>
          <p:cNvSpPr/>
          <p:nvPr/>
        </p:nvSpPr>
        <p:spPr>
          <a:xfrm>
            <a:off x="502920" y="1993392"/>
            <a:ext cx="457200" cy="457200"/>
          </a:xfrm>
          <a:prstGeom prst="ellipse">
            <a:avLst/>
          </a:prstGeom>
          <a:solidFill>
            <a:schemeClr val="accent1"/>
          </a:solidFill>
          <a:ln w="12700">
            <a:solidFill>
              <a:schemeClr val="accent1"/>
            </a:solidFill>
            <a:prstDash val="solid"/>
          </a:ln>
        </p:spPr>
      </p:sp>
      <p:sp>
        <p:nvSpPr>
          <p:cNvPr id="9" name="badge-t-295"/>
          <p:cNvSpPr txBox="1"/>
          <p:nvPr/>
        </p:nvSpPr>
        <p:spPr>
          <a:xfrm>
            <a:off x="502920" y="19933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296"/>
          <p:cNvSpPr txBox="1"/>
          <p:nvPr/>
        </p:nvSpPr>
        <p:spPr>
          <a:xfrm>
            <a:off x="1097280" y="1901952"/>
            <a:ext cx="3383280" cy="640080"/>
          </a:xfrm>
          <a:prstGeom prst="rect">
            <a:avLst/>
          </a:prstGeom>
          <a:noFill/>
          <a:ln/>
        </p:spPr>
        <p:txBody>
          <a:bodyPr wrap="square" lIns="635" tIns="635" rIns="635" bIns="635" rtlCol="0" anchor="ctr"/>
          <a:lstStyle/>
          <a:p>
            <a:pPr indent="0" marL="0">
              <a:buNone/>
            </a:pPr>
            <a:r>
              <a:rPr lang="en-US" sz="1300" b="1" dirty="0">
                <a:solidFill>
                  <a:schemeClr val="tx2"/>
                </a:solidFill>
              </a:rPr>
              <a:t>Remove humidity effect (β = Bowen ratio)</a:t>
            </a:r>
            <a:endParaRPr lang="en-US" sz="1300" dirty="0"/>
          </a:p>
        </p:txBody>
      </p:sp>
      <p:sp>
        <p:nvSpPr>
          <p:cNvPr id="11" name="card-297"/>
          <p:cNvSpPr/>
          <p:nvPr/>
        </p:nvSpPr>
        <p:spPr>
          <a:xfrm>
            <a:off x="4526280" y="1920240"/>
            <a:ext cx="7132320" cy="603504"/>
          </a:xfrm>
          <a:prstGeom prst="roundRect">
            <a:avLst>
              <a:gd name="adj" fmla="val 12121"/>
            </a:avLst>
          </a:prstGeom>
          <a:solidFill>
            <a:schemeClr val="bg2"/>
          </a:solidFill>
          <a:ln w="6350">
            <a:solidFill>
              <a:schemeClr val="bg2"/>
            </a:solidFill>
            <a:prstDash val="solid"/>
          </a:ln>
        </p:spPr>
      </p:sp>
      <p:sp>
        <p:nvSpPr>
          <p:cNvPr id="12" name="eq-298"/>
          <p:cNvSpPr txBox="1"/>
          <p:nvPr/>
        </p:nvSpPr>
        <p:spPr>
          <a:xfrm>
            <a:off x="4663440" y="1920240"/>
            <a:ext cx="6858000" cy="603504"/>
          </a:xfrm>
          <a:prstGeom prst="rect">
            <a:avLst/>
          </a:prstGeom>
          <a:noFill/>
          <a:ln/>
        </p:spPr>
        <p:txBody>
          <a:bodyPr wrap="square" lIns="0" tIns="0" rIns="0" bIns="0" rtlCol="0" anchor="ctr"/>
          <a:lstStyle/>
          <a:p>
            <a:pPr algn="ctr" indent="0" marL="0">
              <a:buNone/>
            </a:pPr>
            <a:r>
              <a:rPr lang="en-US" sz="1500" dirty="0">
                <a:solidFill>
                  <a:schemeClr val="tx2"/>
                </a:solidFill>
                <a:latin typeface="Cambria" pitchFamily="34" charset="0"/>
                <a:ea typeface="Cambria" pitchFamily="34" charset="-122"/>
                <a:cs typeface="Cambria" pitchFamily="34" charset="-120"/>
              </a:rPr>
              <a:t>Cn² ≈ (A_T² / T²) C_T² (1 + 0.03/β)²,  A_T ≈ −0.78×10⁻⁶ P/T</a:t>
            </a:r>
            <a:endParaRPr lang="en-US" sz="1500" dirty="0"/>
          </a:p>
        </p:txBody>
      </p:sp>
      <p:sp>
        <p:nvSpPr>
          <p:cNvPr id="13" name="badge-299"/>
          <p:cNvSpPr/>
          <p:nvPr/>
        </p:nvSpPr>
        <p:spPr>
          <a:xfrm>
            <a:off x="502920" y="2706624"/>
            <a:ext cx="457200" cy="457200"/>
          </a:xfrm>
          <a:prstGeom prst="ellipse">
            <a:avLst/>
          </a:prstGeom>
          <a:solidFill>
            <a:schemeClr val="accent1"/>
          </a:solidFill>
          <a:ln w="12700">
            <a:solidFill>
              <a:schemeClr val="accent1"/>
            </a:solidFill>
            <a:prstDash val="solid"/>
          </a:ln>
        </p:spPr>
      </p:sp>
      <p:sp>
        <p:nvSpPr>
          <p:cNvPr id="14" name="badge-t-300"/>
          <p:cNvSpPr txBox="1"/>
          <p:nvPr/>
        </p:nvSpPr>
        <p:spPr>
          <a:xfrm>
            <a:off x="502920" y="270662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301"/>
          <p:cNvSpPr txBox="1"/>
          <p:nvPr/>
        </p:nvSpPr>
        <p:spPr>
          <a:xfrm>
            <a:off x="1097280" y="2615184"/>
            <a:ext cx="3383280" cy="640080"/>
          </a:xfrm>
          <a:prstGeom prst="rect">
            <a:avLst/>
          </a:prstGeom>
          <a:noFill/>
          <a:ln/>
        </p:spPr>
        <p:txBody>
          <a:bodyPr wrap="square" lIns="635" tIns="635" rIns="635" bIns="635" rtlCol="0" anchor="ctr"/>
          <a:lstStyle/>
          <a:p>
            <a:pPr indent="0" marL="0">
              <a:buNone/>
            </a:pPr>
            <a:r>
              <a:rPr lang="en-US" sz="1300" b="1" dirty="0">
                <a:solidFill>
                  <a:schemeClr val="tx2"/>
                </a:solidFill>
              </a:rPr>
              <a:t>MOST similarity (unstable, L &lt; 0)</a:t>
            </a:r>
            <a:endParaRPr lang="en-US" sz="1300" dirty="0"/>
          </a:p>
        </p:txBody>
      </p:sp>
      <p:sp>
        <p:nvSpPr>
          <p:cNvPr id="16" name="card-302"/>
          <p:cNvSpPr/>
          <p:nvPr/>
        </p:nvSpPr>
        <p:spPr>
          <a:xfrm>
            <a:off x="4526280" y="2633472"/>
            <a:ext cx="7132320" cy="603504"/>
          </a:xfrm>
          <a:prstGeom prst="roundRect">
            <a:avLst>
              <a:gd name="adj" fmla="val 12121"/>
            </a:avLst>
          </a:prstGeom>
          <a:solidFill>
            <a:schemeClr val="bg2"/>
          </a:solidFill>
          <a:ln w="6350">
            <a:solidFill>
              <a:schemeClr val="bg2"/>
            </a:solidFill>
            <a:prstDash val="solid"/>
          </a:ln>
        </p:spPr>
      </p:sp>
      <p:sp>
        <p:nvSpPr>
          <p:cNvPr id="17" name="eq-303"/>
          <p:cNvSpPr txBox="1"/>
          <p:nvPr/>
        </p:nvSpPr>
        <p:spPr>
          <a:xfrm>
            <a:off x="4663440" y="2633472"/>
            <a:ext cx="6858000" cy="603504"/>
          </a:xfrm>
          <a:prstGeom prst="rect">
            <a:avLst/>
          </a:prstGeom>
          <a:noFill/>
          <a:ln/>
        </p:spPr>
        <p:txBody>
          <a:bodyPr wrap="square" lIns="0" tIns="0" rIns="0" bIns="0" rtlCol="0" anchor="ctr"/>
          <a:lstStyle/>
          <a:p>
            <a:pPr algn="ctr" indent="0" marL="0">
              <a:buNone/>
            </a:pPr>
            <a:r>
              <a:rPr lang="en-US" sz="1500" dirty="0">
                <a:solidFill>
                  <a:schemeClr val="tx2"/>
                </a:solidFill>
                <a:latin typeface="Cambria" pitchFamily="34" charset="0"/>
                <a:ea typeface="Cambria" pitchFamily="34" charset="-122"/>
                <a:cs typeface="Cambria" pitchFamily="34" charset="-120"/>
              </a:rPr>
              <a:t>C_T² (z − d)²ᐟ³ / T*² = 4.9 [1 − 6.1 (z − d)/L]⁻²ᐟ³</a:t>
            </a:r>
            <a:endParaRPr lang="en-US" sz="1500" dirty="0"/>
          </a:p>
        </p:txBody>
      </p:sp>
      <p:sp>
        <p:nvSpPr>
          <p:cNvPr id="18" name="badge-304"/>
          <p:cNvSpPr/>
          <p:nvPr/>
        </p:nvSpPr>
        <p:spPr>
          <a:xfrm>
            <a:off x="502920" y="3419856"/>
            <a:ext cx="457200" cy="457200"/>
          </a:xfrm>
          <a:prstGeom prst="ellipse">
            <a:avLst/>
          </a:prstGeom>
          <a:solidFill>
            <a:schemeClr val="accent1"/>
          </a:solidFill>
          <a:ln w="12700">
            <a:solidFill>
              <a:schemeClr val="accent1"/>
            </a:solidFill>
            <a:prstDash val="solid"/>
          </a:ln>
        </p:spPr>
      </p:sp>
      <p:sp>
        <p:nvSpPr>
          <p:cNvPr id="19" name="badge-t-305"/>
          <p:cNvSpPr txBox="1"/>
          <p:nvPr/>
        </p:nvSpPr>
        <p:spPr>
          <a:xfrm>
            <a:off x="502920" y="341985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0" name="text-306"/>
          <p:cNvSpPr txBox="1"/>
          <p:nvPr/>
        </p:nvSpPr>
        <p:spPr>
          <a:xfrm>
            <a:off x="1097280" y="3328416"/>
            <a:ext cx="3383280" cy="640080"/>
          </a:xfrm>
          <a:prstGeom prst="rect">
            <a:avLst/>
          </a:prstGeom>
          <a:noFill/>
          <a:ln/>
        </p:spPr>
        <p:txBody>
          <a:bodyPr wrap="square" lIns="635" tIns="635" rIns="635" bIns="635" rtlCol="0" anchor="ctr"/>
          <a:lstStyle/>
          <a:p>
            <a:pPr indent="0" marL="0">
              <a:buNone/>
            </a:pPr>
            <a:r>
              <a:rPr lang="en-US" sz="1300" b="1" dirty="0">
                <a:solidFill>
                  <a:schemeClr val="tx2"/>
                </a:solidFill>
              </a:rPr>
              <a:t>Scales</a:t>
            </a:r>
            <a:endParaRPr lang="en-US" sz="1300" dirty="0"/>
          </a:p>
        </p:txBody>
      </p:sp>
      <p:sp>
        <p:nvSpPr>
          <p:cNvPr id="21" name="card-307"/>
          <p:cNvSpPr/>
          <p:nvPr/>
        </p:nvSpPr>
        <p:spPr>
          <a:xfrm>
            <a:off x="4526280" y="3346704"/>
            <a:ext cx="7132320" cy="603504"/>
          </a:xfrm>
          <a:prstGeom prst="roundRect">
            <a:avLst>
              <a:gd name="adj" fmla="val 12121"/>
            </a:avLst>
          </a:prstGeom>
          <a:solidFill>
            <a:schemeClr val="bg2"/>
          </a:solidFill>
          <a:ln w="6350">
            <a:solidFill>
              <a:schemeClr val="bg2"/>
            </a:solidFill>
            <a:prstDash val="solid"/>
          </a:ln>
        </p:spPr>
      </p:sp>
      <p:sp>
        <p:nvSpPr>
          <p:cNvPr id="22" name="eq-308"/>
          <p:cNvSpPr txBox="1"/>
          <p:nvPr/>
        </p:nvSpPr>
        <p:spPr>
          <a:xfrm>
            <a:off x="4663440" y="3346704"/>
            <a:ext cx="6858000" cy="603504"/>
          </a:xfrm>
          <a:prstGeom prst="rect">
            <a:avLst/>
          </a:prstGeom>
          <a:noFill/>
          <a:ln/>
        </p:spPr>
        <p:txBody>
          <a:bodyPr wrap="square" lIns="0" tIns="0" rIns="0" bIns="0" rtlCol="0" anchor="ctr"/>
          <a:lstStyle/>
          <a:p>
            <a:pPr algn="ctr" indent="0" marL="0">
              <a:buNone/>
            </a:pPr>
            <a:r>
              <a:rPr lang="en-US" sz="1500" dirty="0">
                <a:solidFill>
                  <a:schemeClr val="tx2"/>
                </a:solidFill>
                <a:latin typeface="Cambria" pitchFamily="34" charset="0"/>
                <a:ea typeface="Cambria" pitchFamily="34" charset="-122"/>
                <a:cs typeface="Cambria" pitchFamily="34" charset="-120"/>
              </a:rPr>
              <a:t>T* = −H / (ρ cₚ u*),   L = u*² T / (k g T*)</a:t>
            </a:r>
            <a:endParaRPr lang="en-US" sz="1500" dirty="0"/>
          </a:p>
        </p:txBody>
      </p:sp>
      <p:sp>
        <p:nvSpPr>
          <p:cNvPr id="23" name="badge-309"/>
          <p:cNvSpPr/>
          <p:nvPr/>
        </p:nvSpPr>
        <p:spPr>
          <a:xfrm>
            <a:off x="502920" y="4133088"/>
            <a:ext cx="457200" cy="457200"/>
          </a:xfrm>
          <a:prstGeom prst="ellipse">
            <a:avLst/>
          </a:prstGeom>
          <a:solidFill>
            <a:schemeClr val="accent1"/>
          </a:solidFill>
          <a:ln w="12700">
            <a:solidFill>
              <a:schemeClr val="accent1"/>
            </a:solidFill>
            <a:prstDash val="solid"/>
          </a:ln>
        </p:spPr>
      </p:sp>
      <p:sp>
        <p:nvSpPr>
          <p:cNvPr id="24" name="badge-t-310"/>
          <p:cNvSpPr txBox="1"/>
          <p:nvPr/>
        </p:nvSpPr>
        <p:spPr>
          <a:xfrm>
            <a:off x="502920" y="413308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5" name="text-311"/>
          <p:cNvSpPr txBox="1"/>
          <p:nvPr/>
        </p:nvSpPr>
        <p:spPr>
          <a:xfrm>
            <a:off x="1097280" y="4041648"/>
            <a:ext cx="3383280" cy="640080"/>
          </a:xfrm>
          <a:prstGeom prst="rect">
            <a:avLst/>
          </a:prstGeom>
          <a:noFill/>
          <a:ln/>
        </p:spPr>
        <p:txBody>
          <a:bodyPr wrap="square" lIns="635" tIns="635" rIns="635" bIns="635" rtlCol="0" anchor="ctr"/>
          <a:lstStyle/>
          <a:p>
            <a:pPr indent="0" marL="0">
              <a:buNone/>
            </a:pPr>
            <a:r>
              <a:rPr lang="en-US" sz="1300" b="1" dirty="0">
                <a:solidFill>
                  <a:schemeClr val="tx2"/>
                </a:solidFill>
              </a:rPr>
              <a:t>Friction velocity from wind speed</a:t>
            </a:r>
            <a:endParaRPr lang="en-US" sz="1300" dirty="0"/>
          </a:p>
        </p:txBody>
      </p:sp>
      <p:sp>
        <p:nvSpPr>
          <p:cNvPr id="26" name="card-312"/>
          <p:cNvSpPr/>
          <p:nvPr/>
        </p:nvSpPr>
        <p:spPr>
          <a:xfrm>
            <a:off x="4526280" y="4059936"/>
            <a:ext cx="7132320" cy="603504"/>
          </a:xfrm>
          <a:prstGeom prst="roundRect">
            <a:avLst>
              <a:gd name="adj" fmla="val 12121"/>
            </a:avLst>
          </a:prstGeom>
          <a:solidFill>
            <a:schemeClr val="bg2"/>
          </a:solidFill>
          <a:ln w="6350">
            <a:solidFill>
              <a:schemeClr val="bg2"/>
            </a:solidFill>
            <a:prstDash val="solid"/>
          </a:ln>
        </p:spPr>
      </p:sp>
      <p:sp>
        <p:nvSpPr>
          <p:cNvPr id="27" name="eq-313"/>
          <p:cNvSpPr txBox="1"/>
          <p:nvPr/>
        </p:nvSpPr>
        <p:spPr>
          <a:xfrm>
            <a:off x="4663440" y="4059936"/>
            <a:ext cx="6858000" cy="603504"/>
          </a:xfrm>
          <a:prstGeom prst="rect">
            <a:avLst/>
          </a:prstGeom>
          <a:noFill/>
          <a:ln/>
        </p:spPr>
        <p:txBody>
          <a:bodyPr wrap="square" lIns="0" tIns="0" rIns="0" bIns="0" rtlCol="0" anchor="ctr"/>
          <a:lstStyle/>
          <a:p>
            <a:pPr algn="ctr" indent="0" marL="0">
              <a:buNone/>
            </a:pPr>
            <a:r>
              <a:rPr lang="en-US" sz="1500" dirty="0">
                <a:solidFill>
                  <a:schemeClr val="tx2"/>
                </a:solidFill>
                <a:latin typeface="Cambria" pitchFamily="34" charset="0"/>
                <a:ea typeface="Cambria" pitchFamily="34" charset="-122"/>
                <a:cs typeface="Cambria" pitchFamily="34" charset="-120"/>
              </a:rPr>
              <a:t>u* = k u / [ln((z_u − d)/z₀) − Ψm((z_u − d)/L) + Ψm(z₀/L)]</a:t>
            </a:r>
            <a:endParaRPr lang="en-US" sz="1500" dirty="0"/>
          </a:p>
        </p:txBody>
      </p:sp>
      <p:sp>
        <p:nvSpPr>
          <p:cNvPr id="28" name="badge-314"/>
          <p:cNvSpPr/>
          <p:nvPr/>
        </p:nvSpPr>
        <p:spPr>
          <a:xfrm>
            <a:off x="502920" y="4846320"/>
            <a:ext cx="457200" cy="457200"/>
          </a:xfrm>
          <a:prstGeom prst="ellipse">
            <a:avLst/>
          </a:prstGeom>
          <a:solidFill>
            <a:schemeClr val="accent1"/>
          </a:solidFill>
          <a:ln w="12700">
            <a:solidFill>
              <a:schemeClr val="accent1"/>
            </a:solidFill>
            <a:prstDash val="solid"/>
          </a:ln>
        </p:spPr>
      </p:sp>
      <p:sp>
        <p:nvSpPr>
          <p:cNvPr id="29" name="badge-t-315"/>
          <p:cNvSpPr txBox="1"/>
          <p:nvPr/>
        </p:nvSpPr>
        <p:spPr>
          <a:xfrm>
            <a:off x="502920" y="48463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0" name="text-316"/>
          <p:cNvSpPr txBox="1"/>
          <p:nvPr/>
        </p:nvSpPr>
        <p:spPr>
          <a:xfrm>
            <a:off x="1097280" y="4754880"/>
            <a:ext cx="3383280" cy="640080"/>
          </a:xfrm>
          <a:prstGeom prst="rect">
            <a:avLst/>
          </a:prstGeom>
          <a:noFill/>
          <a:ln/>
        </p:spPr>
        <p:txBody>
          <a:bodyPr wrap="square" lIns="635" tIns="635" rIns="635" bIns="635" rtlCol="0" anchor="ctr"/>
          <a:lstStyle/>
          <a:p>
            <a:pPr indent="0" marL="0">
              <a:buNone/>
            </a:pPr>
            <a:r>
              <a:rPr lang="en-US" sz="1300" b="1" dirty="0">
                <a:solidFill>
                  <a:schemeClr val="tx2"/>
                </a:solidFill>
              </a:rPr>
              <a:t>Iterate steps 3–5 until H converges; then</a:t>
            </a:r>
            <a:endParaRPr lang="en-US" sz="1300" dirty="0"/>
          </a:p>
        </p:txBody>
      </p:sp>
      <p:sp>
        <p:nvSpPr>
          <p:cNvPr id="31" name="card-317"/>
          <p:cNvSpPr/>
          <p:nvPr/>
        </p:nvSpPr>
        <p:spPr>
          <a:xfrm>
            <a:off x="4526280" y="4773168"/>
            <a:ext cx="7132320" cy="603504"/>
          </a:xfrm>
          <a:prstGeom prst="roundRect">
            <a:avLst>
              <a:gd name="adj" fmla="val 12121"/>
            </a:avLst>
          </a:prstGeom>
          <a:solidFill>
            <a:schemeClr val="bg2"/>
          </a:solidFill>
          <a:ln w="6350">
            <a:solidFill>
              <a:schemeClr val="bg2"/>
            </a:solidFill>
            <a:prstDash val="solid"/>
          </a:ln>
        </p:spPr>
      </p:sp>
      <p:sp>
        <p:nvSpPr>
          <p:cNvPr id="32" name="eq-318"/>
          <p:cNvSpPr txBox="1"/>
          <p:nvPr/>
        </p:nvSpPr>
        <p:spPr>
          <a:xfrm>
            <a:off x="4663440" y="4773168"/>
            <a:ext cx="6858000" cy="603504"/>
          </a:xfrm>
          <a:prstGeom prst="rect">
            <a:avLst/>
          </a:prstGeom>
          <a:noFill/>
          <a:ln/>
        </p:spPr>
        <p:txBody>
          <a:bodyPr wrap="square" lIns="0" tIns="0" rIns="0" bIns="0" rtlCol="0" anchor="ctr"/>
          <a:lstStyle/>
          <a:p>
            <a:pPr algn="ctr" indent="0" marL="0">
              <a:buNone/>
            </a:pPr>
            <a:r>
              <a:rPr lang="en-US" sz="1500" dirty="0">
                <a:solidFill>
                  <a:schemeClr val="tx2"/>
                </a:solidFill>
                <a:latin typeface="Cambria" pitchFamily="34" charset="0"/>
                <a:ea typeface="Cambria" pitchFamily="34" charset="-122"/>
                <a:cs typeface="Cambria" pitchFamily="34" charset="-120"/>
              </a:rPr>
              <a:t>LE = Rn − G − H   →   ET = LE / λ</a:t>
            </a:r>
            <a:endParaRPr lang="en-US" sz="1500" dirty="0"/>
          </a:p>
        </p:txBody>
      </p:sp>
      <p:sp>
        <p:nvSpPr>
          <p:cNvPr id="33" name="card-319"/>
          <p:cNvSpPr/>
          <p:nvPr/>
        </p:nvSpPr>
        <p:spPr>
          <a:xfrm>
            <a:off x="502920" y="5486400"/>
            <a:ext cx="11155680" cy="777240"/>
          </a:xfrm>
          <a:prstGeom prst="roundRect">
            <a:avLst>
              <a:gd name="adj" fmla="val 9412"/>
            </a:avLst>
          </a:prstGeom>
          <a:solidFill>
            <a:schemeClr val="tx2"/>
          </a:solidFill>
          <a:ln w="6350">
            <a:solidFill>
              <a:schemeClr val="tx2"/>
            </a:solidFill>
            <a:prstDash val="solid"/>
          </a:ln>
        </p:spPr>
      </p:sp>
      <p:sp>
        <p:nvSpPr>
          <p:cNvPr id="34" name="text-320"/>
          <p:cNvSpPr txBox="1"/>
          <p:nvPr/>
        </p:nvSpPr>
        <p:spPr>
          <a:xfrm>
            <a:off x="685800" y="5486400"/>
            <a:ext cx="10789920" cy="777240"/>
          </a:xfrm>
          <a:prstGeom prst="rect">
            <a:avLst/>
          </a:prstGeom>
          <a:noFill/>
          <a:ln/>
        </p:spPr>
        <p:txBody>
          <a:bodyPr wrap="square" lIns="635" tIns="635" rIns="635" bIns="635" rtlCol="0" anchor="ctr"/>
          <a:lstStyle/>
          <a:p>
            <a:pPr indent="0" marL="0">
              <a:buNone/>
            </a:pPr>
            <a:r>
              <a:rPr lang="en-US" sz="1400" dirty="0">
                <a:solidFill>
                  <a:schemeClr val="bg1"/>
                </a:solidFill>
                <a:latin typeface="Cambria" pitchFamily="34" charset="0"/>
                <a:ea typeface="Cambria" pitchFamily="34" charset="-122"/>
                <a:cs typeface="Cambria" pitchFamily="34" charset="-120"/>
              </a:rPr>
              <a:t>Free convection shortcut (daytime, high beam):  H = ρ cₚ b (z − d) (g/T)¹ᐟ² (C_T²)³ᐟ⁴    with b ≈ 0.48 (K&amp;Z manual) or 0.57 (used in IARI study)</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LAS data processing workflow</a:t>
            </a:r>
            <a:endParaRPr lang="en-US" sz="3000" dirty="0"/>
          </a:p>
        </p:txBody>
      </p:sp>
      <p:sp>
        <p:nvSpPr>
          <p:cNvPr id="3" name="flowbox-321"/>
          <p:cNvSpPr/>
          <p:nvPr/>
        </p:nvSpPr>
        <p:spPr>
          <a:xfrm>
            <a:off x="502920" y="1188720"/>
            <a:ext cx="6583680" cy="658368"/>
          </a:xfrm>
          <a:prstGeom prst="roundRect">
            <a:avLst>
              <a:gd name="adj" fmla="val 9722"/>
            </a:avLst>
          </a:prstGeom>
          <a:solidFill>
            <a:schemeClr val="tx2"/>
          </a:solidFill>
          <a:ln w="12700">
            <a:solidFill>
              <a:schemeClr val="tx2"/>
            </a:solidFill>
            <a:prstDash val="solid"/>
          </a:ln>
          <a:effectLst>
            <a:outerShdw sx="100000" sy="100000" kx="0" ky="0" algn="bl" rotWithShape="0" blurRad="76200" dist="25400" dir="5400000">
              <a:srgbClr val="000000">
                <a:alpha val="14000"/>
              </a:srgbClr>
            </a:outerShdw>
          </a:effectLst>
        </p:spPr>
      </p:sp>
      <p:sp>
        <p:nvSpPr>
          <p:cNvPr id="4" name="flowtext-322"/>
          <p:cNvSpPr txBox="1"/>
          <p:nvPr/>
        </p:nvSpPr>
        <p:spPr>
          <a:xfrm>
            <a:off x="594360" y="1188720"/>
            <a:ext cx="6400800" cy="658368"/>
          </a:xfrm>
          <a:prstGeom prst="rect">
            <a:avLst/>
          </a:prstGeom>
          <a:noFill/>
          <a:ln/>
        </p:spPr>
        <p:txBody>
          <a:bodyPr wrap="square" lIns="0" tIns="0" rIns="0" bIns="0" rtlCol="0" anchor="ctr"/>
          <a:lstStyle/>
          <a:p>
            <a:pPr algn="ctr" indent="0" marL="0">
              <a:buNone/>
            </a:pPr>
            <a:r>
              <a:rPr lang="en-US" sz="1300" dirty="0">
                <a:solidFill>
                  <a:schemeClr val="bg1"/>
                </a:solidFill>
              </a:rPr>
              <a:t>LAS receiver: U_CN2 (log Cn² signal), signal strength U_DEMOD, every 1 s → 5–10 min averages</a:t>
            </a:r>
            <a:endParaRPr lang="en-US" sz="1300" dirty="0"/>
          </a:p>
        </p:txBody>
      </p:sp>
      <p:sp>
        <p:nvSpPr>
          <p:cNvPr id="5" name="arrow-323"/>
          <p:cNvSpPr/>
          <p:nvPr/>
        </p:nvSpPr>
        <p:spPr>
          <a:xfrm>
            <a:off x="3794760" y="1847088"/>
            <a:ext cx="0" cy="182880"/>
          </a:xfrm>
          <a:prstGeom prst="line">
            <a:avLst/>
          </a:prstGeom>
          <a:noFill/>
          <a:ln w="19050">
            <a:solidFill>
              <a:schemeClr val="accent6"/>
            </a:solidFill>
            <a:prstDash val="solid"/>
            <a:tailEnd type="triangle"/>
          </a:ln>
        </p:spPr>
      </p:sp>
      <p:sp>
        <p:nvSpPr>
          <p:cNvPr id="6" name="flowbox-324"/>
          <p:cNvSpPr/>
          <p:nvPr/>
        </p:nvSpPr>
        <p:spPr>
          <a:xfrm>
            <a:off x="502920" y="2029968"/>
            <a:ext cx="6583680" cy="658368"/>
          </a:xfrm>
          <a:prstGeom prst="roundRect">
            <a:avLst>
              <a:gd name="adj" fmla="val 9722"/>
            </a:avLst>
          </a:prstGeom>
          <a:solidFill>
            <a:schemeClr val="accent1"/>
          </a:solidFill>
          <a:ln w="12700">
            <a:solidFill>
              <a:schemeClr val="accent1"/>
            </a:solidFill>
            <a:prstDash val="solid"/>
          </a:ln>
          <a:effectLst>
            <a:outerShdw sx="100000" sy="100000" kx="0" ky="0" algn="bl" rotWithShape="0" blurRad="76200" dist="25400" dir="5400000">
              <a:srgbClr val="000000">
                <a:alpha val="14000"/>
              </a:srgbClr>
            </a:outerShdw>
          </a:effectLst>
        </p:spPr>
      </p:sp>
      <p:sp>
        <p:nvSpPr>
          <p:cNvPr id="7" name="flowtext-325"/>
          <p:cNvSpPr txBox="1"/>
          <p:nvPr/>
        </p:nvSpPr>
        <p:spPr>
          <a:xfrm>
            <a:off x="594360" y="2029968"/>
            <a:ext cx="6400800" cy="658368"/>
          </a:xfrm>
          <a:prstGeom prst="rect">
            <a:avLst/>
          </a:prstGeom>
          <a:noFill/>
          <a:ln/>
        </p:spPr>
        <p:txBody>
          <a:bodyPr wrap="square" lIns="0" tIns="0" rIns="0" bIns="0" rtlCol="0" anchor="ctr"/>
          <a:lstStyle/>
          <a:p>
            <a:pPr algn="ctr" indent="0" marL="0">
              <a:buNone/>
            </a:pPr>
            <a:r>
              <a:rPr lang="en-US" sz="1300" dirty="0">
                <a:solidFill>
                  <a:schemeClr val="bg1"/>
                </a:solidFill>
              </a:rPr>
              <a:t>Cn² = 10^(U_CN2 − 12)  (average with variance correction 1.15 σ²)</a:t>
            </a:r>
            <a:endParaRPr lang="en-US" sz="1300" dirty="0"/>
          </a:p>
        </p:txBody>
      </p:sp>
      <p:sp>
        <p:nvSpPr>
          <p:cNvPr id="8" name="arrow-326"/>
          <p:cNvSpPr/>
          <p:nvPr/>
        </p:nvSpPr>
        <p:spPr>
          <a:xfrm>
            <a:off x="3794760" y="2688336"/>
            <a:ext cx="0" cy="182880"/>
          </a:xfrm>
          <a:prstGeom prst="line">
            <a:avLst/>
          </a:prstGeom>
          <a:noFill/>
          <a:ln w="19050">
            <a:solidFill>
              <a:schemeClr val="accent6"/>
            </a:solidFill>
            <a:prstDash val="solid"/>
            <a:tailEnd type="triangle"/>
          </a:ln>
        </p:spPr>
      </p:sp>
      <p:sp>
        <p:nvSpPr>
          <p:cNvPr id="9" name="flowbox-327"/>
          <p:cNvSpPr/>
          <p:nvPr/>
        </p:nvSpPr>
        <p:spPr>
          <a:xfrm>
            <a:off x="502920" y="2871216"/>
            <a:ext cx="6583680" cy="658368"/>
          </a:xfrm>
          <a:prstGeom prst="roundRect">
            <a:avLst>
              <a:gd name="adj" fmla="val 9722"/>
            </a:avLst>
          </a:prstGeom>
          <a:solidFill>
            <a:schemeClr val="accent1"/>
          </a:solidFill>
          <a:ln w="12700">
            <a:solidFill>
              <a:schemeClr val="accent1"/>
            </a:solidFill>
            <a:prstDash val="solid"/>
          </a:ln>
          <a:effectLst>
            <a:outerShdw sx="100000" sy="100000" kx="0" ky="0" algn="bl" rotWithShape="0" blurRad="76200" dist="25400" dir="5400000">
              <a:srgbClr val="000000">
                <a:alpha val="14000"/>
              </a:srgbClr>
            </a:outerShdw>
          </a:effectLst>
        </p:spPr>
      </p:sp>
      <p:sp>
        <p:nvSpPr>
          <p:cNvPr id="10" name="flowtext-328"/>
          <p:cNvSpPr txBox="1"/>
          <p:nvPr/>
        </p:nvSpPr>
        <p:spPr>
          <a:xfrm>
            <a:off x="594360" y="2871216"/>
            <a:ext cx="6400800" cy="658368"/>
          </a:xfrm>
          <a:prstGeom prst="rect">
            <a:avLst/>
          </a:prstGeom>
          <a:noFill/>
          <a:ln/>
        </p:spPr>
        <p:txBody>
          <a:bodyPr wrap="square" lIns="0" tIns="0" rIns="0" bIns="0" rtlCol="0" anchor="ctr"/>
          <a:lstStyle/>
          <a:p>
            <a:pPr algn="ctr" indent="0" marL="0">
              <a:buNone/>
            </a:pPr>
            <a:r>
              <a:rPr lang="en-US" sz="1300" dirty="0">
                <a:solidFill>
                  <a:schemeClr val="bg1"/>
                </a:solidFill>
              </a:rPr>
              <a:t>Cn² + T, P, Bowen ratio → C_T²</a:t>
            </a:r>
            <a:endParaRPr lang="en-US" sz="1300" dirty="0"/>
          </a:p>
        </p:txBody>
      </p:sp>
      <p:sp>
        <p:nvSpPr>
          <p:cNvPr id="11" name="arrow-329"/>
          <p:cNvSpPr/>
          <p:nvPr/>
        </p:nvSpPr>
        <p:spPr>
          <a:xfrm>
            <a:off x="3794760" y="3529584"/>
            <a:ext cx="0" cy="182880"/>
          </a:xfrm>
          <a:prstGeom prst="line">
            <a:avLst/>
          </a:prstGeom>
          <a:noFill/>
          <a:ln w="19050">
            <a:solidFill>
              <a:schemeClr val="accent6"/>
            </a:solidFill>
            <a:prstDash val="solid"/>
            <a:tailEnd type="triangle"/>
          </a:ln>
        </p:spPr>
      </p:sp>
      <p:sp>
        <p:nvSpPr>
          <p:cNvPr id="12" name="flowbox-330"/>
          <p:cNvSpPr/>
          <p:nvPr/>
        </p:nvSpPr>
        <p:spPr>
          <a:xfrm>
            <a:off x="502920" y="3712464"/>
            <a:ext cx="6583680" cy="658368"/>
          </a:xfrm>
          <a:prstGeom prst="roundRect">
            <a:avLst>
              <a:gd name="adj" fmla="val 9722"/>
            </a:avLst>
          </a:prstGeom>
          <a:solidFill>
            <a:schemeClr val="accent2"/>
          </a:solidFill>
          <a:ln w="12700">
            <a:solidFill>
              <a:schemeClr val="accent2"/>
            </a:solidFill>
            <a:prstDash val="solid"/>
          </a:ln>
          <a:effectLst>
            <a:outerShdw sx="100000" sy="100000" kx="0" ky="0" algn="bl" rotWithShape="0" blurRad="76200" dist="25400" dir="5400000">
              <a:srgbClr val="000000">
                <a:alpha val="14000"/>
              </a:srgbClr>
            </a:outerShdw>
          </a:effectLst>
        </p:spPr>
      </p:sp>
      <p:sp>
        <p:nvSpPr>
          <p:cNvPr id="13" name="flowtext-331"/>
          <p:cNvSpPr txBox="1"/>
          <p:nvPr/>
        </p:nvSpPr>
        <p:spPr>
          <a:xfrm>
            <a:off x="594360" y="3712464"/>
            <a:ext cx="6400800" cy="658368"/>
          </a:xfrm>
          <a:prstGeom prst="rect">
            <a:avLst/>
          </a:prstGeom>
          <a:noFill/>
          <a:ln/>
        </p:spPr>
        <p:txBody>
          <a:bodyPr wrap="square" lIns="0" tIns="0" rIns="0" bIns="0" rtlCol="0" anchor="ctr"/>
          <a:lstStyle/>
          <a:p>
            <a:pPr algn="ctr" indent="0" marL="0">
              <a:buNone/>
            </a:pPr>
            <a:r>
              <a:rPr lang="en-US" sz="1300" dirty="0">
                <a:solidFill>
                  <a:schemeClr val="bg1"/>
                </a:solidFill>
              </a:rPr>
              <a:t>C_T² + z_LAS, d, z₀, wind speed u → iterate MOST → H, u*, L, T*</a:t>
            </a:r>
            <a:endParaRPr lang="en-US" sz="1300" dirty="0"/>
          </a:p>
        </p:txBody>
      </p:sp>
      <p:sp>
        <p:nvSpPr>
          <p:cNvPr id="14" name="arrow-332"/>
          <p:cNvSpPr/>
          <p:nvPr/>
        </p:nvSpPr>
        <p:spPr>
          <a:xfrm>
            <a:off x="3794760" y="4370832"/>
            <a:ext cx="0" cy="182880"/>
          </a:xfrm>
          <a:prstGeom prst="line">
            <a:avLst/>
          </a:prstGeom>
          <a:noFill/>
          <a:ln w="19050">
            <a:solidFill>
              <a:schemeClr val="accent6"/>
            </a:solidFill>
            <a:prstDash val="solid"/>
            <a:tailEnd type="triangle"/>
          </a:ln>
        </p:spPr>
      </p:sp>
      <p:sp>
        <p:nvSpPr>
          <p:cNvPr id="15" name="flowbox-333"/>
          <p:cNvSpPr/>
          <p:nvPr/>
        </p:nvSpPr>
        <p:spPr>
          <a:xfrm>
            <a:off x="502920" y="4553712"/>
            <a:ext cx="6583680" cy="658368"/>
          </a:xfrm>
          <a:prstGeom prst="roundRect">
            <a:avLst>
              <a:gd name="adj" fmla="val 9722"/>
            </a:avLst>
          </a:prstGeom>
          <a:solidFill>
            <a:schemeClr val="accent3"/>
          </a:solidFill>
          <a:ln w="12700">
            <a:solidFill>
              <a:schemeClr val="accent3"/>
            </a:solidFill>
            <a:prstDash val="solid"/>
          </a:ln>
          <a:effectLst>
            <a:outerShdw sx="100000" sy="100000" kx="0" ky="0" algn="bl" rotWithShape="0" blurRad="76200" dist="25400" dir="5400000">
              <a:srgbClr val="000000">
                <a:alpha val="14000"/>
              </a:srgbClr>
            </a:outerShdw>
          </a:effectLst>
        </p:spPr>
      </p:sp>
      <p:sp>
        <p:nvSpPr>
          <p:cNvPr id="16" name="flowtext-334"/>
          <p:cNvSpPr txBox="1"/>
          <p:nvPr/>
        </p:nvSpPr>
        <p:spPr>
          <a:xfrm>
            <a:off x="594360" y="4553712"/>
            <a:ext cx="6400800" cy="658368"/>
          </a:xfrm>
          <a:prstGeom prst="rect">
            <a:avLst/>
          </a:prstGeom>
          <a:noFill/>
          <a:ln/>
        </p:spPr>
        <p:txBody>
          <a:bodyPr wrap="square" lIns="0" tIns="0" rIns="0" bIns="0" rtlCol="0" anchor="ctr"/>
          <a:lstStyle/>
          <a:p>
            <a:pPr algn="ctr" indent="0" marL="0">
              <a:buNone/>
            </a:pPr>
            <a:r>
              <a:rPr lang="en-US" sz="1300" dirty="0">
                <a:solidFill>
                  <a:schemeClr val="bg1"/>
                </a:solidFill>
              </a:rPr>
              <a:t>Rn and G from AWS → LE = Rn − G − H</a:t>
            </a:r>
            <a:endParaRPr lang="en-US" sz="1300" dirty="0"/>
          </a:p>
        </p:txBody>
      </p:sp>
      <p:sp>
        <p:nvSpPr>
          <p:cNvPr id="17" name="arrow-335"/>
          <p:cNvSpPr/>
          <p:nvPr/>
        </p:nvSpPr>
        <p:spPr>
          <a:xfrm>
            <a:off x="3794760" y="5212080"/>
            <a:ext cx="0" cy="182880"/>
          </a:xfrm>
          <a:prstGeom prst="line">
            <a:avLst/>
          </a:prstGeom>
          <a:noFill/>
          <a:ln w="19050">
            <a:solidFill>
              <a:schemeClr val="accent6"/>
            </a:solidFill>
            <a:prstDash val="solid"/>
            <a:tailEnd type="triangle"/>
          </a:ln>
        </p:spPr>
      </p:sp>
      <p:sp>
        <p:nvSpPr>
          <p:cNvPr id="18" name="flowbox-336"/>
          <p:cNvSpPr/>
          <p:nvPr/>
        </p:nvSpPr>
        <p:spPr>
          <a:xfrm>
            <a:off x="502920" y="5394960"/>
            <a:ext cx="6583680" cy="658368"/>
          </a:xfrm>
          <a:prstGeom prst="roundRect">
            <a:avLst>
              <a:gd name="adj" fmla="val 9722"/>
            </a:avLst>
          </a:prstGeom>
          <a:solidFill>
            <a:schemeClr val="tx2"/>
          </a:solidFill>
          <a:ln w="12700">
            <a:solidFill>
              <a:schemeClr val="tx2"/>
            </a:solidFill>
            <a:prstDash val="solid"/>
          </a:ln>
          <a:effectLst>
            <a:outerShdw sx="100000" sy="100000" kx="0" ky="0" algn="bl" rotWithShape="0" blurRad="76200" dist="25400" dir="5400000">
              <a:srgbClr val="000000">
                <a:alpha val="14000"/>
              </a:srgbClr>
            </a:outerShdw>
          </a:effectLst>
        </p:spPr>
      </p:sp>
      <p:sp>
        <p:nvSpPr>
          <p:cNvPr id="19" name="flowtext-337"/>
          <p:cNvSpPr txBox="1"/>
          <p:nvPr/>
        </p:nvSpPr>
        <p:spPr>
          <a:xfrm>
            <a:off x="594360" y="5394960"/>
            <a:ext cx="6400800" cy="658368"/>
          </a:xfrm>
          <a:prstGeom prst="rect">
            <a:avLst/>
          </a:prstGeom>
          <a:noFill/>
          <a:ln/>
        </p:spPr>
        <p:txBody>
          <a:bodyPr wrap="square" lIns="0" tIns="0" rIns="0" bIns="0" rtlCol="0" anchor="ctr"/>
          <a:lstStyle/>
          <a:p>
            <a:pPr algn="ctr" indent="0" marL="0">
              <a:buNone/>
            </a:pPr>
            <a:r>
              <a:rPr lang="en-US" sz="1300" dirty="0">
                <a:solidFill>
                  <a:schemeClr val="bg1"/>
                </a:solidFill>
              </a:rPr>
              <a:t>Daily ET, EF, Bowen ratio → validation of satellite ET</a:t>
            </a:r>
            <a:endParaRPr lang="en-US" sz="1300" dirty="0"/>
          </a:p>
        </p:txBody>
      </p:sp>
      <p:pic>
        <p:nvPicPr>
          <p:cNvPr id="20" name="img-338" descr="Steps to derive H (Kipp &amp; Zonen manual, Fig. 13)">    </p:cNvPr>
          <p:cNvPicPr>
            <a:picLocks noChangeAspect="1"/>
          </p:cNvPicPr>
          <p:nvPr/>
        </p:nvPicPr>
        <p:blipFill>
          <a:blip r:embed="rId1"/>
          <a:stretch>
            <a:fillRect/>
          </a:stretch>
        </p:blipFill>
        <p:spPr>
          <a:xfrm>
            <a:off x="7456923" y="1188720"/>
            <a:ext cx="4105674" cy="4736592"/>
          </a:xfrm>
          <a:prstGeom prst="rect">
            <a:avLst/>
          </a:prstGeom>
        </p:spPr>
      </p:pic>
      <p:sp>
        <p:nvSpPr>
          <p:cNvPr id="21" name="frame-339"/>
          <p:cNvSpPr/>
          <p:nvPr/>
        </p:nvSpPr>
        <p:spPr>
          <a:xfrm>
            <a:off x="7456923" y="1188720"/>
            <a:ext cx="4105674" cy="4736592"/>
          </a:xfrm>
          <a:prstGeom prst="rect">
            <a:avLst/>
          </a:prstGeom>
          <a:ln w="9525">
            <a:solidFill>
              <a:srgbClr val="C9D3CC"/>
            </a:solidFill>
            <a:prstDash val="solid"/>
          </a:ln>
        </p:spPr>
      </p:sp>
      <p:sp>
        <p:nvSpPr>
          <p:cNvPr id="22" name="text-340"/>
          <p:cNvSpPr txBox="1"/>
          <p:nvPr/>
        </p:nvSpPr>
        <p:spPr>
          <a:xfrm>
            <a:off x="7360920" y="5961888"/>
            <a:ext cx="429768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Steps to derive H (Kipp &amp; Zonen manual, Fig. 13)</a:t>
            </a:r>
            <a:endParaRPr lang="en-US" sz="1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Installing a LAS: height, saturation and alignment</a:t>
            </a:r>
            <a:endParaRPr lang="en-US" sz="3000" dirty="0"/>
          </a:p>
        </p:txBody>
      </p:sp>
      <p:pic>
        <p:nvPicPr>
          <p:cNvPr id="3" name="img-341" descr="Minimum LAS height vs path length for different H (K&amp;Z manual, Fig. 1a)">    </p:cNvPr>
          <p:cNvPicPr>
            <a:picLocks noChangeAspect="1"/>
          </p:cNvPicPr>
          <p:nvPr/>
        </p:nvPicPr>
        <p:blipFill>
          <a:blip r:embed="rId1"/>
          <a:stretch>
            <a:fillRect/>
          </a:stretch>
        </p:blipFill>
        <p:spPr>
          <a:xfrm>
            <a:off x="583630" y="1188720"/>
            <a:ext cx="5690740" cy="3913632"/>
          </a:xfrm>
          <a:prstGeom prst="rect">
            <a:avLst/>
          </a:prstGeom>
        </p:spPr>
      </p:pic>
      <p:sp>
        <p:nvSpPr>
          <p:cNvPr id="4" name="frame-342"/>
          <p:cNvSpPr/>
          <p:nvPr/>
        </p:nvSpPr>
        <p:spPr>
          <a:xfrm>
            <a:off x="583630" y="1188720"/>
            <a:ext cx="5690740" cy="3913632"/>
          </a:xfrm>
          <a:prstGeom prst="rect">
            <a:avLst/>
          </a:prstGeom>
          <a:ln w="9525">
            <a:solidFill>
              <a:srgbClr val="C9D3CC"/>
            </a:solidFill>
            <a:prstDash val="solid"/>
          </a:ln>
        </p:spPr>
      </p:sp>
      <p:sp>
        <p:nvSpPr>
          <p:cNvPr id="5" name="text-343"/>
          <p:cNvSpPr txBox="1"/>
          <p:nvPr/>
        </p:nvSpPr>
        <p:spPr>
          <a:xfrm>
            <a:off x="502920" y="5138928"/>
            <a:ext cx="585216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Minimum LAS height vs path length for different H (K&amp;Z manual, Fig. 1a)</a:t>
            </a:r>
            <a:endParaRPr lang="en-US" sz="1000" dirty="0"/>
          </a:p>
        </p:txBody>
      </p:sp>
      <p:sp>
        <p:nvSpPr>
          <p:cNvPr id="6" name="labeled-344"/>
          <p:cNvSpPr txBox="1"/>
          <p:nvPr/>
        </p:nvSpPr>
        <p:spPr>
          <a:xfrm>
            <a:off x="6583680" y="1188720"/>
            <a:ext cx="5074920" cy="5029200"/>
          </a:xfrm>
          <a:prstGeom prst="rect">
            <a:avLst/>
          </a:prstGeom>
          <a:noFill/>
          <a:ln/>
        </p:spPr>
        <p:txBody>
          <a:bodyPr wrap="square" lIns="635" tIns="635" rIns="635" bIns="635" rtlCol="0" anchor="t"/>
          <a:lstStyle/>
          <a:p>
            <a:pPr marL="203200" indent="-203200">
              <a:spcAft>
                <a:spcPts val="600"/>
              </a:spcAft>
              <a:buSzPct val="100000"/>
              <a:buChar char="•"/>
            </a:pPr>
            <a:r>
              <a:rPr lang="en-US" sz="1400" b="1" dirty="0">
                <a:solidFill>
                  <a:schemeClr val="tx2"/>
                </a:solidFill>
              </a:rPr>
              <a:t>Saturation: </a:t>
            </a:r>
            <a:pPr indent="0" marL="0">
              <a:buNone/>
            </a:pPr>
            <a:r>
              <a:rPr lang="en-US" sz="1400" dirty="0">
                <a:solidFill>
                  <a:schemeClr val="tx1"/>
                </a:solidFill>
              </a:rPr>
              <a:t>if scintillation is too strong, σ²lnI no longer relates to Cn². Avoid by raising the beam or shortening the path; worse over dry (high-H) surfaces</a:t>
            </a:r>
            <a:endParaRPr lang="en-US" sz="1400" dirty="0"/>
          </a:p>
          <a:p>
            <a:pPr marL="203200" indent="-203200">
              <a:spcAft>
                <a:spcPts val="600"/>
              </a:spcAft>
              <a:buSzPct val="100000"/>
              <a:buChar char="•"/>
            </a:pPr>
            <a:r>
              <a:rPr lang="en-US" sz="1400" b="1" dirty="0">
                <a:solidFill>
                  <a:schemeClr val="tx2"/>
                </a:solidFill>
              </a:rPr>
              <a:t>Example: </a:t>
            </a:r>
            <a:pPr indent="0" marL="0">
              <a:buNone/>
            </a:pPr>
            <a:r>
              <a:rPr lang="en-US" sz="1400" dirty="0">
                <a:solidFill>
                  <a:schemeClr val="tx1"/>
                </a:solidFill>
              </a:rPr>
              <a:t>wet area (H ≈ 100 W m⁻²), 3 km path → height ≥ 10–12 m (add d over dense crops)</a:t>
            </a:r>
            <a:endParaRPr lang="en-US" sz="1400" dirty="0"/>
          </a:p>
          <a:p>
            <a:pPr marL="203200" indent="-203200">
              <a:spcAft>
                <a:spcPts val="600"/>
              </a:spcAft>
              <a:buSzPct val="100000"/>
              <a:buChar char="•"/>
            </a:pPr>
            <a:r>
              <a:rPr lang="en-US" sz="1400" b="1" dirty="0">
                <a:solidFill>
                  <a:schemeClr val="tx2"/>
                </a:solidFill>
              </a:rPr>
              <a:t>Upper limit: </a:t>
            </a:r>
            <a:pPr indent="0" marL="0">
              <a:buNone/>
            </a:pPr>
            <a:r>
              <a:rPr lang="en-US" sz="1400" dirty="0">
                <a:solidFill>
                  <a:schemeClr val="tx1"/>
                </a:solidFill>
              </a:rPr>
              <a:t>beam must stay in constant-flux layer (≤ ~100 m) and above roughness sublayer (~3h)</a:t>
            </a:r>
            <a:endParaRPr lang="en-US" sz="1400" dirty="0"/>
          </a:p>
          <a:p>
            <a:pPr marL="203200" indent="-203200">
              <a:spcAft>
                <a:spcPts val="600"/>
              </a:spcAft>
              <a:buSzPct val="100000"/>
              <a:buChar char="•"/>
            </a:pPr>
            <a:r>
              <a:rPr lang="en-US" sz="1400" b="1" dirty="0">
                <a:solidFill>
                  <a:schemeClr val="tx2"/>
                </a:solidFill>
              </a:rPr>
              <a:t>Orientation: </a:t>
            </a:r>
            <a:pPr indent="0" marL="0">
              <a:buNone/>
            </a:pPr>
            <a:r>
              <a:rPr lang="en-US" sz="1400" dirty="0">
                <a:solidFill>
                  <a:schemeClr val="tx1"/>
                </a:solidFill>
              </a:rPr>
              <a:t>roughly N–S so low sun never shines into the optics; clear line of sight</a:t>
            </a:r>
            <a:endParaRPr lang="en-US" sz="1400" dirty="0"/>
          </a:p>
          <a:p>
            <a:pPr marL="203200" indent="-203200">
              <a:spcAft>
                <a:spcPts val="600"/>
              </a:spcAft>
              <a:buSzPct val="100000"/>
              <a:buChar char="•"/>
            </a:pPr>
            <a:r>
              <a:rPr lang="en-US" sz="1400" b="1" dirty="0">
                <a:solidFill>
                  <a:schemeClr val="tx2"/>
                </a:solidFill>
              </a:rPr>
              <a:t>Alignment &amp; care: </a:t>
            </a:r>
            <a:pPr indent="0" marL="0">
              <a:buNone/>
            </a:pPr>
            <a:r>
              <a:rPr lang="en-US" sz="1400" dirty="0">
                <a:solidFill>
                  <a:schemeClr val="tx1"/>
                </a:solidFill>
              </a:rPr>
              <a:t>pan/tilt using signal strength, vibration-free mounts, heated windows, silica gel, periodic cleaning</a:t>
            </a:r>
            <a:endParaRPr lang="en-US" sz="1400" dirty="0"/>
          </a:p>
        </p:txBody>
      </p:sp>
      <p:sp>
        <p:nvSpPr>
          <p:cNvPr id="7" name="text-345"/>
          <p:cNvSpPr txBox="1"/>
          <p:nvPr/>
        </p:nvSpPr>
        <p:spPr>
          <a:xfrm>
            <a:off x="502920" y="5532120"/>
            <a:ext cx="5852160" cy="685800"/>
          </a:xfrm>
          <a:prstGeom prst="rect">
            <a:avLst/>
          </a:prstGeom>
          <a:noFill/>
          <a:ln/>
        </p:spPr>
        <p:txBody>
          <a:bodyPr wrap="square" lIns="635" tIns="635" rIns="635" bIns="635" rtlCol="0" anchor="t"/>
          <a:lstStyle/>
          <a:p>
            <a:pPr indent="0" marL="0">
              <a:buNone/>
            </a:pPr>
            <a:r>
              <a:rPr lang="en-US" sz="1300" dirty="0">
                <a:solidFill>
                  <a:schemeClr val="accent6"/>
                </a:solidFill>
              </a:rPr>
              <a:t>LAS specs: 880 nm LED, 7 kHz modulation, Cn² range 10⁻¹⁷–10⁻¹² m⁻²ᐟ³, min height 1.5 m (LAS) / 3 m (XLAS)</a:t>
            </a:r>
            <a:endParaRPr lang="en-US" sz="13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Path-weighting function and effective height</a:t>
            </a:r>
            <a:endParaRPr lang="en-US" sz="3000" dirty="0"/>
          </a:p>
        </p:txBody>
      </p:sp>
      <p:pic>
        <p:nvPicPr>
          <p:cNvPr id="3" name="img-346" descr="Bell-shaped path weighting (K&amp;Z manual, Fig. 16)">    </p:cNvPr>
          <p:cNvPicPr>
            <a:picLocks noChangeAspect="1"/>
          </p:cNvPicPr>
          <p:nvPr/>
        </p:nvPicPr>
        <p:blipFill>
          <a:blip r:embed="rId1"/>
          <a:stretch>
            <a:fillRect/>
          </a:stretch>
        </p:blipFill>
        <p:spPr>
          <a:xfrm>
            <a:off x="966591" y="1188720"/>
            <a:ext cx="4193298" cy="3364992"/>
          </a:xfrm>
          <a:prstGeom prst="rect">
            <a:avLst/>
          </a:prstGeom>
        </p:spPr>
      </p:pic>
      <p:sp>
        <p:nvSpPr>
          <p:cNvPr id="4" name="frame-347"/>
          <p:cNvSpPr/>
          <p:nvPr/>
        </p:nvSpPr>
        <p:spPr>
          <a:xfrm>
            <a:off x="966591" y="1188720"/>
            <a:ext cx="4193298" cy="3364992"/>
          </a:xfrm>
          <a:prstGeom prst="rect">
            <a:avLst/>
          </a:prstGeom>
          <a:ln w="9525">
            <a:solidFill>
              <a:srgbClr val="C9D3CC"/>
            </a:solidFill>
            <a:prstDash val="solid"/>
          </a:ln>
        </p:spPr>
      </p:sp>
      <p:sp>
        <p:nvSpPr>
          <p:cNvPr id="5" name="text-348"/>
          <p:cNvSpPr txBox="1"/>
          <p:nvPr/>
        </p:nvSpPr>
        <p:spPr>
          <a:xfrm>
            <a:off x="502920" y="4590288"/>
            <a:ext cx="512064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Bell-shaped path weighting (K&amp;Z manual, Fig. 16)</a:t>
            </a:r>
            <a:endParaRPr lang="en-US" sz="1000" dirty="0"/>
          </a:p>
        </p:txBody>
      </p:sp>
      <p:pic>
        <p:nvPicPr>
          <p:cNvPr id="6" name="img-349" descr="Sloping path: effective height = 46 m (K&amp;Z manual, Fig. 17)">    </p:cNvPr>
          <p:cNvPicPr>
            <a:picLocks noChangeAspect="1"/>
          </p:cNvPicPr>
          <p:nvPr/>
        </p:nvPicPr>
        <p:blipFill>
          <a:blip r:embed="rId2"/>
          <a:stretch>
            <a:fillRect/>
          </a:stretch>
        </p:blipFill>
        <p:spPr>
          <a:xfrm>
            <a:off x="6638691" y="1188720"/>
            <a:ext cx="4233377" cy="3364992"/>
          </a:xfrm>
          <a:prstGeom prst="rect">
            <a:avLst/>
          </a:prstGeom>
        </p:spPr>
      </p:pic>
      <p:sp>
        <p:nvSpPr>
          <p:cNvPr id="7" name="frame-350"/>
          <p:cNvSpPr/>
          <p:nvPr/>
        </p:nvSpPr>
        <p:spPr>
          <a:xfrm>
            <a:off x="6638691" y="1188720"/>
            <a:ext cx="4233377" cy="3364992"/>
          </a:xfrm>
          <a:prstGeom prst="rect">
            <a:avLst/>
          </a:prstGeom>
          <a:ln w="9525">
            <a:solidFill>
              <a:srgbClr val="C9D3CC"/>
            </a:solidFill>
            <a:prstDash val="solid"/>
          </a:ln>
        </p:spPr>
      </p:sp>
      <p:sp>
        <p:nvSpPr>
          <p:cNvPr id="8" name="text-351"/>
          <p:cNvSpPr txBox="1"/>
          <p:nvPr/>
        </p:nvSpPr>
        <p:spPr>
          <a:xfrm>
            <a:off x="5852160" y="4590288"/>
            <a:ext cx="580644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Sloping path: effective height = 46 m (K&amp;Z manual, Fig. 17)</a:t>
            </a:r>
            <a:endParaRPr lang="en-US" sz="1000" dirty="0"/>
          </a:p>
        </p:txBody>
      </p:sp>
      <p:sp>
        <p:nvSpPr>
          <p:cNvPr id="9" name="card-352"/>
          <p:cNvSpPr/>
          <p:nvPr/>
        </p:nvSpPr>
        <p:spPr>
          <a:xfrm>
            <a:off x="502920" y="5029200"/>
            <a:ext cx="11155680" cy="1188720"/>
          </a:xfrm>
          <a:prstGeom prst="roundRect">
            <a:avLst>
              <a:gd name="adj" fmla="val 6154"/>
            </a:avLst>
          </a:prstGeom>
          <a:solidFill>
            <a:schemeClr val="bg2"/>
          </a:solidFill>
          <a:ln w="6350">
            <a:solidFill>
              <a:schemeClr val="bg2"/>
            </a:solidFill>
            <a:prstDash val="solid"/>
          </a:ln>
        </p:spPr>
      </p:sp>
      <p:sp>
        <p:nvSpPr>
          <p:cNvPr id="10" name="list-353"/>
          <p:cNvSpPr txBox="1"/>
          <p:nvPr/>
        </p:nvSpPr>
        <p:spPr>
          <a:xfrm>
            <a:off x="685800" y="5074920"/>
            <a:ext cx="10789920" cy="1097280"/>
          </a:xfrm>
          <a:prstGeom prst="rect">
            <a:avLst/>
          </a:prstGeom>
          <a:noFill/>
          <a:ln/>
        </p:spPr>
        <p:txBody>
          <a:bodyPr wrap="square" lIns="635" tIns="635" rIns="635" bIns="635" rtlCol="0" anchor="t"/>
          <a:lstStyle/>
          <a:p>
            <a:pPr marL="203200" indent="-203200">
              <a:spcAft>
                <a:spcPts val="500"/>
              </a:spcAft>
              <a:buSzPct val="100000"/>
              <a:buChar char="•"/>
            </a:pPr>
            <a:r>
              <a:rPr lang="en-US" sz="1400" dirty="0">
                <a:solidFill>
                  <a:schemeClr val="tx1"/>
                </a:solidFill>
              </a:rPr>
              <a:t>LAS is most sensitive at the centre of the path and insensitive near the ends → the centre of the path must cover the crop of interest (IARI: central zone was maize/wheat)</a:t>
            </a:r>
            <a:endParaRPr lang="en-US" sz="1400" dirty="0"/>
          </a:p>
          <a:p>
            <a:pPr marL="203200" indent="-203200">
              <a:spcAft>
                <a:spcPts val="500"/>
              </a:spcAft>
              <a:buSzPct val="100000"/>
              <a:buChar char="•"/>
            </a:pPr>
            <a:r>
              <a:rPr lang="en-US" sz="1400" dirty="0">
                <a:solidFill>
                  <a:schemeClr val="tx1"/>
                </a:solidFill>
              </a:rPr>
              <a:t>Footprint = path-weighting × upwind source area: an elongated area of several hectares to km², comparable to a satellite pixel</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What LAS data look like</a:t>
            </a:r>
            <a:endParaRPr lang="en-US" sz="3000" dirty="0"/>
          </a:p>
        </p:txBody>
      </p:sp>
      <p:pic>
        <p:nvPicPr>
          <p:cNvPr id="3" name="img-354" descr="Diurnal Cn²: drops at sunrise and sunset (K&amp;Z manual, Fig. 11)">    </p:cNvPr>
          <p:cNvPicPr>
            <a:picLocks noChangeAspect="1"/>
          </p:cNvPicPr>
          <p:nvPr/>
        </p:nvPicPr>
        <p:blipFill>
          <a:blip r:embed="rId1"/>
          <a:stretch>
            <a:fillRect/>
          </a:stretch>
        </p:blipFill>
        <p:spPr>
          <a:xfrm>
            <a:off x="652460" y="1188720"/>
            <a:ext cx="5187321" cy="3273552"/>
          </a:xfrm>
          <a:prstGeom prst="rect">
            <a:avLst/>
          </a:prstGeom>
        </p:spPr>
      </p:pic>
      <p:sp>
        <p:nvSpPr>
          <p:cNvPr id="4" name="frame-355"/>
          <p:cNvSpPr/>
          <p:nvPr/>
        </p:nvSpPr>
        <p:spPr>
          <a:xfrm>
            <a:off x="652460" y="1188720"/>
            <a:ext cx="5187321" cy="3273552"/>
          </a:xfrm>
          <a:prstGeom prst="rect">
            <a:avLst/>
          </a:prstGeom>
          <a:ln w="9525">
            <a:solidFill>
              <a:srgbClr val="C9D3CC"/>
            </a:solidFill>
            <a:prstDash val="solid"/>
          </a:ln>
        </p:spPr>
      </p:sp>
      <p:sp>
        <p:nvSpPr>
          <p:cNvPr id="5" name="text-356"/>
          <p:cNvSpPr txBox="1"/>
          <p:nvPr/>
        </p:nvSpPr>
        <p:spPr>
          <a:xfrm>
            <a:off x="502920" y="4498848"/>
            <a:ext cx="548640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Diurnal Cn²: drops at sunrise and sunset (K&amp;Z manual, Fig. 11)</a:t>
            </a:r>
            <a:endParaRPr lang="en-US" sz="1000" dirty="0"/>
          </a:p>
        </p:txBody>
      </p:sp>
      <p:pic>
        <p:nvPicPr>
          <p:cNvPr id="6" name="img-357" descr="Rn (Q*), G, H-LAS and LE from LAS + AWS (K&amp;Z manual, Fig. 15)">    </p:cNvPr>
          <p:cNvPicPr>
            <a:picLocks noChangeAspect="1"/>
          </p:cNvPicPr>
          <p:nvPr/>
        </p:nvPicPr>
        <p:blipFill>
          <a:blip r:embed="rId2"/>
          <a:stretch>
            <a:fillRect/>
          </a:stretch>
        </p:blipFill>
        <p:spPr>
          <a:xfrm>
            <a:off x="6187440" y="1188720"/>
            <a:ext cx="5455920" cy="3273552"/>
          </a:xfrm>
          <a:prstGeom prst="rect">
            <a:avLst/>
          </a:prstGeom>
        </p:spPr>
      </p:pic>
      <p:sp>
        <p:nvSpPr>
          <p:cNvPr id="7" name="frame-358"/>
          <p:cNvSpPr/>
          <p:nvPr/>
        </p:nvSpPr>
        <p:spPr>
          <a:xfrm>
            <a:off x="6187440" y="1188720"/>
            <a:ext cx="5455920" cy="3273552"/>
          </a:xfrm>
          <a:prstGeom prst="rect">
            <a:avLst/>
          </a:prstGeom>
          <a:ln w="9525">
            <a:solidFill>
              <a:srgbClr val="C9D3CC"/>
            </a:solidFill>
            <a:prstDash val="solid"/>
          </a:ln>
        </p:spPr>
      </p:sp>
      <p:sp>
        <p:nvSpPr>
          <p:cNvPr id="8" name="text-359"/>
          <p:cNvSpPr txBox="1"/>
          <p:nvPr/>
        </p:nvSpPr>
        <p:spPr>
          <a:xfrm>
            <a:off x="6172200" y="4498848"/>
            <a:ext cx="548640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Rn (Q*), G, H-LAS and LE from LAS + AWS (K&amp;Z manual, Fig. 15)</a:t>
            </a:r>
            <a:endParaRPr lang="en-US" sz="1000" dirty="0"/>
          </a:p>
        </p:txBody>
      </p:sp>
      <p:sp>
        <p:nvSpPr>
          <p:cNvPr id="9" name="card-360"/>
          <p:cNvSpPr/>
          <p:nvPr/>
        </p:nvSpPr>
        <p:spPr>
          <a:xfrm>
            <a:off x="502920" y="4937760"/>
            <a:ext cx="11155680" cy="1280160"/>
          </a:xfrm>
          <a:prstGeom prst="roundRect">
            <a:avLst>
              <a:gd name="adj" fmla="val 5714"/>
            </a:avLst>
          </a:prstGeom>
          <a:solidFill>
            <a:schemeClr val="bg2"/>
          </a:solidFill>
          <a:ln w="6350">
            <a:solidFill>
              <a:schemeClr val="bg2"/>
            </a:solidFill>
            <a:prstDash val="solid"/>
          </a:ln>
        </p:spPr>
      </p:sp>
      <p:sp>
        <p:nvSpPr>
          <p:cNvPr id="10" name="text-361"/>
          <p:cNvSpPr txBox="1"/>
          <p:nvPr/>
        </p:nvSpPr>
        <p:spPr>
          <a:xfrm>
            <a:off x="685800" y="4983480"/>
            <a:ext cx="10789920" cy="1188720"/>
          </a:xfrm>
          <a:prstGeom prst="rect">
            <a:avLst/>
          </a:prstGeom>
          <a:noFill/>
          <a:ln/>
        </p:spPr>
        <p:txBody>
          <a:bodyPr wrap="square" lIns="635" tIns="635" rIns="635" bIns="635" rtlCol="0" anchor="ctr"/>
          <a:lstStyle/>
          <a:p>
            <a:pPr indent="0" marL="0">
              <a:buNone/>
            </a:pPr>
            <a:r>
              <a:rPr lang="en-US" sz="1400" b="1" dirty="0">
                <a:solidFill>
                  <a:schemeClr val="accent1"/>
                </a:solidFill>
              </a:rPr>
              <a:t>Interpretation: </a:t>
            </a:r>
            <a:pPr indent="0" marL="0">
              <a:buNone/>
            </a:pPr>
            <a:r>
              <a:rPr lang="en-US" sz="1400" dirty="0">
                <a:solidFill>
                  <a:schemeClr val="tx1"/>
                </a:solidFill>
              </a:rPr>
              <a:t>Cn² is high in unstable daytime and lower at night; it dips to a minimum near sunrise and sunset when H changes sign (neutral, almost no temperature fluctuation). Because LAS cannot tell the sign of H from Cn², stability (day/night) must be decided from other data, such as the temperature gradient or Rn.</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Case study: LAS over maize–wheat at IARI, New Delhi</a:t>
            </a:r>
            <a:endParaRPr lang="en-US" sz="3000" dirty="0"/>
          </a:p>
        </p:txBody>
      </p:sp>
      <p:pic>
        <p:nvPicPr>
          <p:cNvPr id="3" name="img-362" descr="LAS path, transmitter and receiver at IARI (Danodia et al. 2017, Fig. 1)">    </p:cNvPr>
          <p:cNvPicPr>
            <a:picLocks noChangeAspect="1"/>
          </p:cNvPicPr>
          <p:nvPr/>
        </p:nvPicPr>
        <p:blipFill>
          <a:blip r:embed="rId1"/>
          <a:stretch>
            <a:fillRect/>
          </a:stretch>
        </p:blipFill>
        <p:spPr>
          <a:xfrm>
            <a:off x="652298" y="1188720"/>
            <a:ext cx="3907483" cy="4736592"/>
          </a:xfrm>
          <a:prstGeom prst="rect">
            <a:avLst/>
          </a:prstGeom>
        </p:spPr>
      </p:pic>
      <p:sp>
        <p:nvSpPr>
          <p:cNvPr id="4" name="frame-363"/>
          <p:cNvSpPr/>
          <p:nvPr/>
        </p:nvSpPr>
        <p:spPr>
          <a:xfrm>
            <a:off x="652298" y="1188720"/>
            <a:ext cx="3907483" cy="4736592"/>
          </a:xfrm>
          <a:prstGeom prst="rect">
            <a:avLst/>
          </a:prstGeom>
          <a:ln w="9525">
            <a:solidFill>
              <a:srgbClr val="C9D3CC"/>
            </a:solidFill>
            <a:prstDash val="solid"/>
          </a:ln>
        </p:spPr>
      </p:sp>
      <p:sp>
        <p:nvSpPr>
          <p:cNvPr id="5" name="text-364"/>
          <p:cNvSpPr txBox="1"/>
          <p:nvPr/>
        </p:nvSpPr>
        <p:spPr>
          <a:xfrm>
            <a:off x="502920" y="5961888"/>
            <a:ext cx="420624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LAS path, transmitter and receiver at IARI (Danodia et al. 2017, Fig. 1)</a:t>
            </a:r>
            <a:endParaRPr lang="en-US" sz="1000" dirty="0"/>
          </a:p>
        </p:txBody>
      </p:sp>
      <p:sp>
        <p:nvSpPr>
          <p:cNvPr id="6" name="text-365"/>
          <p:cNvSpPr txBox="1"/>
          <p:nvPr/>
        </p:nvSpPr>
        <p:spPr>
          <a:xfrm>
            <a:off x="4937760" y="1188720"/>
            <a:ext cx="6720840" cy="685800"/>
          </a:xfrm>
          <a:prstGeom prst="rect">
            <a:avLst/>
          </a:prstGeom>
          <a:noFill/>
          <a:ln/>
        </p:spPr>
        <p:txBody>
          <a:bodyPr wrap="square" lIns="635" tIns="635" rIns="635" bIns="635" rtlCol="0" anchor="t"/>
          <a:lstStyle/>
          <a:p>
            <a:pPr indent="0" marL="0">
              <a:buNone/>
            </a:pPr>
            <a:r>
              <a:rPr lang="en-US" sz="1300" i="1" dirty="0">
                <a:solidFill>
                  <a:schemeClr val="accent6"/>
                </a:solidFill>
              </a:rPr>
              <a:t>Danodia, Sehgal, Patel, Dhakar, Mukherjee, Saha &amp; Senthil Kumar (2017), J. Earth Syst. Sci. 126:69 — ICAR-IARI and IIRS-ISRO, Dehradun</a:t>
            </a:r>
            <a:endParaRPr lang="en-US" sz="1300" dirty="0"/>
          </a:p>
        </p:txBody>
      </p:sp>
      <p:graphicFrame>
        <p:nvGraphicFramePr>
          <p:cNvPr id="26" name="iari-table"/>
          <p:cNvGraphicFramePr>
            <a:graphicFrameLocks noGrp="1"/>
          </p:cNvGraphicFramePr>
          <p:nvPr>
            <p:extLst>
              <p:ext uri="{D42A27DB-BD31-4B8C-83A1-F6EECF244321}">
                <p14:modId xmlns:p14="http://schemas.microsoft.com/office/powerpoint/2010/main" val="1579011935"/>
              </p:ext>
            </p:extLst>
          </p:nvPr>
        </p:nvGraphicFramePr>
        <p:xfrm>
          <a:off x="4937760" y="1965960"/>
          <a:ext cx="6720840" cy="914400"/>
        </p:xfrm>
        <a:graphic>
          <a:graphicData uri="http://schemas.openxmlformats.org/drawingml/2006/table">
            <a:tbl>
              <a:tblPr/>
              <a:tblGrid>
                <a:gridCol w="1554480"/>
                <a:gridCol w="5166360"/>
              </a:tblGrid>
              <a:tr h="566928">
                <a:tc>
                  <a:txBody>
                    <a:bodyPr/>
                    <a:lstStyle/>
                    <a:p>
                      <a:pPr indent="0" marL="0">
                        <a:buNone/>
                      </a:pPr>
                      <a:r>
                        <a:rPr lang="en-US" sz="1300" b="1" dirty="0">
                          <a:solidFill>
                            <a:schemeClr val="bg1"/>
                          </a:solidFill>
                        </a:rPr>
                        <a:t>Item</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Set-up</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r>
              <a:tr h="566928">
                <a:tc>
                  <a:txBody>
                    <a:bodyPr/>
                    <a:lstStyle/>
                    <a:p>
                      <a:pPr indent="0" marL="0">
                        <a:buNone/>
                      </a:pPr>
                      <a:r>
                        <a:rPr lang="en-US" sz="1300" dirty="0">
                          <a:solidFill>
                            <a:schemeClr val="tx1"/>
                          </a:solidFill>
                        </a:rPr>
                        <a:t>Location</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300" dirty="0">
                          <a:solidFill>
                            <a:schemeClr val="tx1"/>
                          </a:solidFill>
                        </a:rPr>
                        <a:t>IARI farm, 28.63°N, 77.15°E, 220 m; semi-arid sub-tropical</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66928">
                <a:tc>
                  <a:txBody>
                    <a:bodyPr/>
                    <a:lstStyle/>
                    <a:p>
                      <a:pPr indent="0" marL="0">
                        <a:buNone/>
                      </a:pPr>
                      <a:r>
                        <a:rPr lang="en-US" sz="1300" dirty="0">
                          <a:solidFill>
                            <a:schemeClr val="tx1"/>
                          </a:solidFill>
                        </a:rPr>
                        <a:t>Instrument</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300" dirty="0">
                          <a:solidFill>
                            <a:schemeClr val="tx1"/>
                          </a:solidFill>
                        </a:rPr>
                        <a:t>Kipp &amp; Zonen LAS MkII, 990 m path, 4.5 m height, NE–SW</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66928">
                <a:tc>
                  <a:txBody>
                    <a:bodyPr/>
                    <a:lstStyle/>
                    <a:p>
                      <a:pPr indent="0" marL="0">
                        <a:buNone/>
                      </a:pPr>
                      <a:r>
                        <a:rPr lang="en-US" sz="1300" dirty="0">
                          <a:solidFill>
                            <a:schemeClr val="tx1"/>
                          </a:solidFill>
                        </a:rPr>
                        <a:t>Crops</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300" dirty="0">
                          <a:solidFill>
                            <a:schemeClr val="tx1"/>
                          </a:solidFill>
                        </a:rPr>
                        <a:t>Maize (kharif) and wheat (rabi), June 2014 – May 2015</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66928">
                <a:tc>
                  <a:txBody>
                    <a:bodyPr/>
                    <a:lstStyle/>
                    <a:p>
                      <a:pPr indent="0" marL="0">
                        <a:buNone/>
                      </a:pPr>
                      <a:r>
                        <a:rPr lang="en-US" sz="1300" dirty="0">
                          <a:solidFill>
                            <a:schemeClr val="tx1"/>
                          </a:solidFill>
                        </a:rPr>
                        <a:t>Support data</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300" dirty="0">
                          <a:solidFill>
                            <a:schemeClr val="tx1"/>
                          </a:solidFill>
                        </a:rPr>
                        <a:t>AWS at 5 min: NR-LITE net radiometer, CMP3 pyranometer, 2-level wind/T/RH, soil heat flux plate at 10 cm</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66928">
                <a:tc>
                  <a:txBody>
                    <a:bodyPr/>
                    <a:lstStyle/>
                    <a:p>
                      <a:pPr indent="0" marL="0">
                        <a:buNone/>
                      </a:pPr>
                      <a:r>
                        <a:rPr lang="en-US" sz="1300" dirty="0">
                          <a:solidFill>
                            <a:schemeClr val="tx1"/>
                          </a:solidFill>
                        </a:rPr>
                        <a:t>Field data</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300" dirty="0">
                          <a:solidFill>
                            <a:schemeClr val="tx1"/>
                          </a:solidFill>
                        </a:rPr>
                        <a:t>LAI (LAI-2000), crop height, soil moisture (TDR, 12.5 cm) every fortnight, &gt;70 points along path</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66928">
                <a:tc>
                  <a:txBody>
                    <a:bodyPr/>
                    <a:lstStyle/>
                    <a:p>
                      <a:pPr indent="0" marL="0">
                        <a:buNone/>
                      </a:pPr>
                      <a:r>
                        <a:rPr lang="en-US" sz="1300" dirty="0">
                          <a:solidFill>
                            <a:schemeClr val="tx1"/>
                          </a:solidFill>
                        </a:rPr>
                        <a:t>Processing</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300" dirty="0">
                          <a:solidFill>
                            <a:schemeClr val="tx1"/>
                          </a:solidFill>
                        </a:rPr>
                        <a:t>EVATION software; β ≈ 0.5 for C_T²; d = 0.67h, z₀ = 0.1h; free-convection H with b = 0.57</a:t>
                      </a:r>
                      <a:endParaRPr lang="en-US" sz="13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IARI results: fluxes follow the crop calendar</a:t>
            </a:r>
            <a:endParaRPr lang="en-US" sz="3000" dirty="0"/>
          </a:p>
        </p:txBody>
      </p:sp>
      <p:pic>
        <p:nvPicPr>
          <p:cNvPr id="3" name="img-366" descr="Daily Rn, H, G, LE over the year (Fig. 5)">    </p:cNvPr>
          <p:cNvPicPr>
            <a:picLocks noChangeAspect="1"/>
          </p:cNvPicPr>
          <p:nvPr/>
        </p:nvPicPr>
        <p:blipFill>
          <a:blip r:embed="rId1"/>
          <a:stretch>
            <a:fillRect/>
          </a:stretch>
        </p:blipFill>
        <p:spPr>
          <a:xfrm>
            <a:off x="1076947" y="1188720"/>
            <a:ext cx="4338346" cy="2542032"/>
          </a:xfrm>
          <a:prstGeom prst="rect">
            <a:avLst/>
          </a:prstGeom>
        </p:spPr>
      </p:pic>
      <p:sp>
        <p:nvSpPr>
          <p:cNvPr id="4" name="frame-367"/>
          <p:cNvSpPr/>
          <p:nvPr/>
        </p:nvSpPr>
        <p:spPr>
          <a:xfrm>
            <a:off x="1076947" y="1188720"/>
            <a:ext cx="4338346" cy="2542032"/>
          </a:xfrm>
          <a:prstGeom prst="rect">
            <a:avLst/>
          </a:prstGeom>
          <a:ln w="9525">
            <a:solidFill>
              <a:srgbClr val="C9D3CC"/>
            </a:solidFill>
            <a:prstDash val="solid"/>
          </a:ln>
        </p:spPr>
      </p:sp>
      <p:sp>
        <p:nvSpPr>
          <p:cNvPr id="5" name="text-368"/>
          <p:cNvSpPr txBox="1"/>
          <p:nvPr/>
        </p:nvSpPr>
        <p:spPr>
          <a:xfrm>
            <a:off x="502920" y="3767328"/>
            <a:ext cx="548640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Daily Rn, H, G, LE over the year (Fig. 5)</a:t>
            </a:r>
            <a:endParaRPr lang="en-US" sz="1000" dirty="0"/>
          </a:p>
        </p:txBody>
      </p:sp>
      <p:pic>
        <p:nvPicPr>
          <p:cNvPr id="6" name="img-369" descr="Monthly Bowen ratio and EF (Fig. 6)">    </p:cNvPr>
          <p:cNvPicPr>
            <a:picLocks noChangeAspect="1"/>
          </p:cNvPicPr>
          <p:nvPr/>
        </p:nvPicPr>
        <p:blipFill>
          <a:blip r:embed="rId2"/>
          <a:stretch>
            <a:fillRect/>
          </a:stretch>
        </p:blipFill>
        <p:spPr>
          <a:xfrm>
            <a:off x="1651569" y="4069080"/>
            <a:ext cx="3189101" cy="1901952"/>
          </a:xfrm>
          <a:prstGeom prst="rect">
            <a:avLst/>
          </a:prstGeom>
        </p:spPr>
      </p:pic>
      <p:sp>
        <p:nvSpPr>
          <p:cNvPr id="7" name="frame-370"/>
          <p:cNvSpPr/>
          <p:nvPr/>
        </p:nvSpPr>
        <p:spPr>
          <a:xfrm>
            <a:off x="1651569" y="4069080"/>
            <a:ext cx="3189101" cy="1901952"/>
          </a:xfrm>
          <a:prstGeom prst="rect">
            <a:avLst/>
          </a:prstGeom>
          <a:ln w="9525">
            <a:solidFill>
              <a:srgbClr val="C9D3CC"/>
            </a:solidFill>
            <a:prstDash val="solid"/>
          </a:ln>
        </p:spPr>
      </p:sp>
      <p:sp>
        <p:nvSpPr>
          <p:cNvPr id="8" name="text-371"/>
          <p:cNvSpPr txBox="1"/>
          <p:nvPr/>
        </p:nvSpPr>
        <p:spPr>
          <a:xfrm>
            <a:off x="502920" y="6007608"/>
            <a:ext cx="548640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Monthly Bowen ratio and EF (Fig. 6)</a:t>
            </a:r>
            <a:endParaRPr lang="en-US" sz="1000" dirty="0"/>
          </a:p>
        </p:txBody>
      </p:sp>
      <p:sp>
        <p:nvSpPr>
          <p:cNvPr id="9" name="card-372"/>
          <p:cNvSpPr/>
          <p:nvPr/>
        </p:nvSpPr>
        <p:spPr>
          <a:xfrm>
            <a:off x="6263640" y="1188720"/>
            <a:ext cx="2606040" cy="1261872"/>
          </a:xfrm>
          <a:prstGeom prst="roundRect">
            <a:avLst>
              <a:gd name="adj" fmla="val 5797"/>
            </a:avLst>
          </a:prstGeom>
          <a:solidFill>
            <a:schemeClr val="bg2"/>
          </a:solidFill>
          <a:ln w="6350">
            <a:solidFill>
              <a:schemeClr val="bg2"/>
            </a:solidFill>
            <a:prstDash val="solid"/>
          </a:ln>
        </p:spPr>
      </p:sp>
      <p:sp>
        <p:nvSpPr>
          <p:cNvPr id="10" name="text-373"/>
          <p:cNvSpPr txBox="1"/>
          <p:nvPr/>
        </p:nvSpPr>
        <p:spPr>
          <a:xfrm>
            <a:off x="6355080" y="1261872"/>
            <a:ext cx="2423160" cy="594360"/>
          </a:xfrm>
          <a:prstGeom prst="rect">
            <a:avLst/>
          </a:prstGeom>
          <a:noFill/>
          <a:ln/>
        </p:spPr>
        <p:txBody>
          <a:bodyPr wrap="square" lIns="635" tIns="635" rIns="635" bIns="635"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0.76 / 0.88</a:t>
            </a:r>
            <a:endParaRPr lang="en-US" sz="2600" dirty="0"/>
          </a:p>
        </p:txBody>
      </p:sp>
      <p:sp>
        <p:nvSpPr>
          <p:cNvPr id="11" name="text-374"/>
          <p:cNvSpPr txBox="1"/>
          <p:nvPr/>
        </p:nvSpPr>
        <p:spPr>
          <a:xfrm>
            <a:off x="6355080" y="1874520"/>
            <a:ext cx="2423160" cy="530352"/>
          </a:xfrm>
          <a:prstGeom prst="rect">
            <a:avLst/>
          </a:prstGeom>
          <a:noFill/>
          <a:ln/>
        </p:spPr>
        <p:txBody>
          <a:bodyPr wrap="square" lIns="635" tIns="635" rIns="635" bIns="635" rtlCol="0" anchor="t"/>
          <a:lstStyle/>
          <a:p>
            <a:pPr algn="ctr" indent="0" marL="0">
              <a:buNone/>
            </a:pPr>
            <a:r>
              <a:rPr lang="en-US" sz="1200" dirty="0">
                <a:solidFill>
                  <a:schemeClr val="tx1"/>
                </a:solidFill>
              </a:rPr>
              <a:t>Bowen ratio, kharif / rabi</a:t>
            </a:r>
            <a:endParaRPr lang="en-US" sz="1200" dirty="0"/>
          </a:p>
        </p:txBody>
      </p:sp>
      <p:sp>
        <p:nvSpPr>
          <p:cNvPr id="12" name="card-375"/>
          <p:cNvSpPr/>
          <p:nvPr/>
        </p:nvSpPr>
        <p:spPr>
          <a:xfrm>
            <a:off x="8988552" y="1188720"/>
            <a:ext cx="2606040" cy="1261872"/>
          </a:xfrm>
          <a:prstGeom prst="roundRect">
            <a:avLst>
              <a:gd name="adj" fmla="val 5797"/>
            </a:avLst>
          </a:prstGeom>
          <a:solidFill>
            <a:schemeClr val="bg2"/>
          </a:solidFill>
          <a:ln w="6350">
            <a:solidFill>
              <a:schemeClr val="bg2"/>
            </a:solidFill>
            <a:prstDash val="solid"/>
          </a:ln>
        </p:spPr>
      </p:sp>
      <p:sp>
        <p:nvSpPr>
          <p:cNvPr id="13" name="text-376"/>
          <p:cNvSpPr txBox="1"/>
          <p:nvPr/>
        </p:nvSpPr>
        <p:spPr>
          <a:xfrm>
            <a:off x="9079992" y="1261872"/>
            <a:ext cx="2423160" cy="594360"/>
          </a:xfrm>
          <a:prstGeom prst="rect">
            <a:avLst/>
          </a:prstGeom>
          <a:noFill/>
          <a:ln/>
        </p:spPr>
        <p:txBody>
          <a:bodyPr wrap="square" lIns="635" tIns="635" rIns="635" bIns="635"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543 mm</a:t>
            </a:r>
            <a:endParaRPr lang="en-US" sz="2600" dirty="0"/>
          </a:p>
        </p:txBody>
      </p:sp>
      <p:sp>
        <p:nvSpPr>
          <p:cNvPr id="14" name="text-377"/>
          <p:cNvSpPr txBox="1"/>
          <p:nvPr/>
        </p:nvSpPr>
        <p:spPr>
          <a:xfrm>
            <a:off x="9079992" y="1874520"/>
            <a:ext cx="2423160" cy="530352"/>
          </a:xfrm>
          <a:prstGeom prst="rect">
            <a:avLst/>
          </a:prstGeom>
          <a:noFill/>
          <a:ln/>
        </p:spPr>
        <p:txBody>
          <a:bodyPr wrap="square" lIns="635" tIns="635" rIns="635" bIns="635" rtlCol="0" anchor="t"/>
          <a:lstStyle/>
          <a:p>
            <a:pPr algn="ctr" indent="0" marL="0">
              <a:buNone/>
            </a:pPr>
            <a:r>
              <a:rPr lang="en-US" sz="1200" dirty="0">
                <a:solidFill>
                  <a:schemeClr val="tx1"/>
                </a:solidFill>
              </a:rPr>
              <a:t>Annual ET (mean 1.58 mm d⁻¹)</a:t>
            </a:r>
            <a:endParaRPr lang="en-US" sz="1200" dirty="0"/>
          </a:p>
        </p:txBody>
      </p:sp>
      <p:sp>
        <p:nvSpPr>
          <p:cNvPr id="15" name="card-378"/>
          <p:cNvSpPr/>
          <p:nvPr/>
        </p:nvSpPr>
        <p:spPr>
          <a:xfrm>
            <a:off x="6263640" y="2560320"/>
            <a:ext cx="2606040" cy="1261872"/>
          </a:xfrm>
          <a:prstGeom prst="roundRect">
            <a:avLst>
              <a:gd name="adj" fmla="val 5797"/>
            </a:avLst>
          </a:prstGeom>
          <a:solidFill>
            <a:schemeClr val="bg2"/>
          </a:solidFill>
          <a:ln w="6350">
            <a:solidFill>
              <a:schemeClr val="bg2"/>
            </a:solidFill>
            <a:prstDash val="solid"/>
          </a:ln>
        </p:spPr>
      </p:sp>
      <p:sp>
        <p:nvSpPr>
          <p:cNvPr id="16" name="text-379"/>
          <p:cNvSpPr txBox="1"/>
          <p:nvPr/>
        </p:nvSpPr>
        <p:spPr>
          <a:xfrm>
            <a:off x="6355080" y="2633472"/>
            <a:ext cx="2423160" cy="594360"/>
          </a:xfrm>
          <a:prstGeom prst="rect">
            <a:avLst/>
          </a:prstGeom>
          <a:noFill/>
          <a:ln/>
        </p:spPr>
        <p:txBody>
          <a:bodyPr wrap="square" lIns="635" tIns="635" rIns="635" bIns="635"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R² 0.80</a:t>
            </a:r>
            <a:endParaRPr lang="en-US" sz="2600" dirty="0"/>
          </a:p>
        </p:txBody>
      </p:sp>
      <p:sp>
        <p:nvSpPr>
          <p:cNvPr id="17" name="text-380"/>
          <p:cNvSpPr txBox="1"/>
          <p:nvPr/>
        </p:nvSpPr>
        <p:spPr>
          <a:xfrm>
            <a:off x="6355080" y="3246120"/>
            <a:ext cx="2423160" cy="530352"/>
          </a:xfrm>
          <a:prstGeom prst="rect">
            <a:avLst/>
          </a:prstGeom>
          <a:noFill/>
          <a:ln/>
        </p:spPr>
        <p:txBody>
          <a:bodyPr wrap="square" lIns="635" tIns="635" rIns="635" bIns="635" rtlCol="0" anchor="t"/>
          <a:lstStyle/>
          <a:p>
            <a:pPr algn="ctr" indent="0" marL="0">
              <a:buNone/>
            </a:pPr>
            <a:r>
              <a:rPr lang="en-US" sz="1200" dirty="0">
                <a:solidFill>
                  <a:schemeClr val="tx1"/>
                </a:solidFill>
              </a:rPr>
              <a:t>LAI vs LE (positive)</a:t>
            </a:r>
            <a:endParaRPr lang="en-US" sz="1200" dirty="0"/>
          </a:p>
        </p:txBody>
      </p:sp>
      <p:sp>
        <p:nvSpPr>
          <p:cNvPr id="18" name="card-381"/>
          <p:cNvSpPr/>
          <p:nvPr/>
        </p:nvSpPr>
        <p:spPr>
          <a:xfrm>
            <a:off x="8988552" y="2560320"/>
            <a:ext cx="2606040" cy="1261872"/>
          </a:xfrm>
          <a:prstGeom prst="roundRect">
            <a:avLst>
              <a:gd name="adj" fmla="val 5797"/>
            </a:avLst>
          </a:prstGeom>
          <a:solidFill>
            <a:schemeClr val="bg2"/>
          </a:solidFill>
          <a:ln w="6350">
            <a:solidFill>
              <a:schemeClr val="bg2"/>
            </a:solidFill>
            <a:prstDash val="solid"/>
          </a:ln>
        </p:spPr>
      </p:sp>
      <p:sp>
        <p:nvSpPr>
          <p:cNvPr id="19" name="text-382"/>
          <p:cNvSpPr txBox="1"/>
          <p:nvPr/>
        </p:nvSpPr>
        <p:spPr>
          <a:xfrm>
            <a:off x="9079992" y="2633472"/>
            <a:ext cx="2423160" cy="594360"/>
          </a:xfrm>
          <a:prstGeom prst="rect">
            <a:avLst/>
          </a:prstGeom>
          <a:noFill/>
          <a:ln/>
        </p:spPr>
        <p:txBody>
          <a:bodyPr wrap="square" lIns="635" tIns="635" rIns="635" bIns="635"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R² 0.83</a:t>
            </a:r>
            <a:endParaRPr lang="en-US" sz="2600" dirty="0"/>
          </a:p>
        </p:txBody>
      </p:sp>
      <p:sp>
        <p:nvSpPr>
          <p:cNvPr id="20" name="text-383"/>
          <p:cNvSpPr txBox="1"/>
          <p:nvPr/>
        </p:nvSpPr>
        <p:spPr>
          <a:xfrm>
            <a:off x="9079992" y="3246120"/>
            <a:ext cx="2423160" cy="530352"/>
          </a:xfrm>
          <a:prstGeom prst="rect">
            <a:avLst/>
          </a:prstGeom>
          <a:noFill/>
          <a:ln/>
        </p:spPr>
        <p:txBody>
          <a:bodyPr wrap="square" lIns="635" tIns="635" rIns="635" bIns="635" rtlCol="0" anchor="t"/>
          <a:lstStyle/>
          <a:p>
            <a:pPr algn="ctr" indent="0" marL="0">
              <a:buNone/>
            </a:pPr>
            <a:r>
              <a:rPr lang="en-US" sz="1200" dirty="0">
                <a:solidFill>
                  <a:schemeClr val="tx1"/>
                </a:solidFill>
              </a:rPr>
              <a:t>LAI vs Bowen ratio (negative)</a:t>
            </a:r>
            <a:endParaRPr lang="en-US" sz="1200" dirty="0"/>
          </a:p>
        </p:txBody>
      </p:sp>
      <p:sp>
        <p:nvSpPr>
          <p:cNvPr id="21" name="card-384"/>
          <p:cNvSpPr/>
          <p:nvPr/>
        </p:nvSpPr>
        <p:spPr>
          <a:xfrm>
            <a:off x="6263640" y="3931920"/>
            <a:ext cx="2606040" cy="1261872"/>
          </a:xfrm>
          <a:prstGeom prst="roundRect">
            <a:avLst>
              <a:gd name="adj" fmla="val 5797"/>
            </a:avLst>
          </a:prstGeom>
          <a:solidFill>
            <a:schemeClr val="bg2"/>
          </a:solidFill>
          <a:ln w="6350">
            <a:solidFill>
              <a:schemeClr val="bg2"/>
            </a:solidFill>
            <a:prstDash val="solid"/>
          </a:ln>
        </p:spPr>
      </p:sp>
      <p:sp>
        <p:nvSpPr>
          <p:cNvPr id="22" name="text-385"/>
          <p:cNvSpPr txBox="1"/>
          <p:nvPr/>
        </p:nvSpPr>
        <p:spPr>
          <a:xfrm>
            <a:off x="6355080" y="4005072"/>
            <a:ext cx="2423160" cy="594360"/>
          </a:xfrm>
          <a:prstGeom prst="rect">
            <a:avLst/>
          </a:prstGeom>
          <a:noFill/>
          <a:ln/>
        </p:spPr>
        <p:txBody>
          <a:bodyPr wrap="square" lIns="635" tIns="635" rIns="635" bIns="635"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0.16–0.87</a:t>
            </a:r>
            <a:endParaRPr lang="en-US" sz="2600" dirty="0"/>
          </a:p>
        </p:txBody>
      </p:sp>
      <p:sp>
        <p:nvSpPr>
          <p:cNvPr id="23" name="text-386"/>
          <p:cNvSpPr txBox="1"/>
          <p:nvPr/>
        </p:nvSpPr>
        <p:spPr>
          <a:xfrm>
            <a:off x="6355080" y="4617720"/>
            <a:ext cx="2423160" cy="530352"/>
          </a:xfrm>
          <a:prstGeom prst="rect">
            <a:avLst/>
          </a:prstGeom>
          <a:noFill/>
          <a:ln/>
        </p:spPr>
        <p:txBody>
          <a:bodyPr wrap="square" lIns="635" tIns="635" rIns="635" bIns="635" rtlCol="0" anchor="t"/>
          <a:lstStyle/>
          <a:p>
            <a:pPr algn="ctr" indent="0" marL="0">
              <a:buNone/>
            </a:pPr>
            <a:r>
              <a:rPr lang="en-US" sz="1200" dirty="0">
                <a:solidFill>
                  <a:schemeClr val="tx1"/>
                </a:solidFill>
              </a:rPr>
              <a:t>Evaporative fraction range</a:t>
            </a:r>
            <a:endParaRPr lang="en-US" sz="1200" dirty="0"/>
          </a:p>
        </p:txBody>
      </p:sp>
      <p:sp>
        <p:nvSpPr>
          <p:cNvPr id="24" name="card-387"/>
          <p:cNvSpPr/>
          <p:nvPr/>
        </p:nvSpPr>
        <p:spPr>
          <a:xfrm>
            <a:off x="8988552" y="3931920"/>
            <a:ext cx="2606040" cy="1261872"/>
          </a:xfrm>
          <a:prstGeom prst="roundRect">
            <a:avLst>
              <a:gd name="adj" fmla="val 5797"/>
            </a:avLst>
          </a:prstGeom>
          <a:solidFill>
            <a:schemeClr val="bg2"/>
          </a:solidFill>
          <a:ln w="6350">
            <a:solidFill>
              <a:schemeClr val="bg2"/>
            </a:solidFill>
            <a:prstDash val="solid"/>
          </a:ln>
        </p:spPr>
      </p:sp>
      <p:sp>
        <p:nvSpPr>
          <p:cNvPr id="25" name="text-388"/>
          <p:cNvSpPr txBox="1"/>
          <p:nvPr/>
        </p:nvSpPr>
        <p:spPr>
          <a:xfrm>
            <a:off x="9079992" y="4005072"/>
            <a:ext cx="2423160" cy="594360"/>
          </a:xfrm>
          <a:prstGeom prst="rect">
            <a:avLst/>
          </a:prstGeom>
          <a:noFill/>
          <a:ln/>
        </p:spPr>
        <p:txBody>
          <a:bodyPr wrap="square" lIns="635" tIns="635" rIns="635" bIns="635"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 7%</a:t>
            </a:r>
            <a:endParaRPr lang="en-US" sz="2600" dirty="0"/>
          </a:p>
        </p:txBody>
      </p:sp>
      <p:sp>
        <p:nvSpPr>
          <p:cNvPr id="26" name="text-389"/>
          <p:cNvSpPr txBox="1"/>
          <p:nvPr/>
        </p:nvSpPr>
        <p:spPr>
          <a:xfrm>
            <a:off x="9079992" y="4617720"/>
            <a:ext cx="2423160" cy="530352"/>
          </a:xfrm>
          <a:prstGeom prst="rect">
            <a:avLst/>
          </a:prstGeom>
          <a:noFill/>
          <a:ln/>
        </p:spPr>
        <p:txBody>
          <a:bodyPr wrap="square" lIns="635" tIns="635" rIns="635" bIns="635" rtlCol="0" anchor="t"/>
          <a:lstStyle/>
          <a:p>
            <a:pPr algn="ctr" indent="0" marL="0">
              <a:buNone/>
            </a:pPr>
            <a:r>
              <a:rPr lang="en-US" sz="1200" dirty="0">
                <a:solidFill>
                  <a:schemeClr val="tx1"/>
                </a:solidFill>
              </a:rPr>
              <a:t>Annual G/Rn (soil is an energy source in winter)</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Diurnal and seasonal behaviour across crops</a:t>
            </a:r>
            <a:endParaRPr lang="en-US" sz="3000" dirty="0"/>
          </a:p>
        </p:txBody>
      </p:sp>
      <p:pic>
        <p:nvPicPr>
          <p:cNvPr id="3" name="img-390" descr="Monthly diurnal Rn, H, G, LE at IARI (Fig. 4)">    </p:cNvPr>
          <p:cNvPicPr>
            <a:picLocks noChangeAspect="1"/>
          </p:cNvPicPr>
          <p:nvPr/>
        </p:nvPicPr>
        <p:blipFill>
          <a:blip r:embed="rId1"/>
          <a:stretch>
            <a:fillRect/>
          </a:stretch>
        </p:blipFill>
        <p:spPr>
          <a:xfrm>
            <a:off x="766068" y="1188720"/>
            <a:ext cx="2399785" cy="4736592"/>
          </a:xfrm>
          <a:prstGeom prst="rect">
            <a:avLst/>
          </a:prstGeom>
        </p:spPr>
      </p:pic>
      <p:sp>
        <p:nvSpPr>
          <p:cNvPr id="4" name="frame-391"/>
          <p:cNvSpPr/>
          <p:nvPr/>
        </p:nvSpPr>
        <p:spPr>
          <a:xfrm>
            <a:off x="766068" y="1188720"/>
            <a:ext cx="2399785" cy="4736592"/>
          </a:xfrm>
          <a:prstGeom prst="rect">
            <a:avLst/>
          </a:prstGeom>
          <a:ln w="9525">
            <a:solidFill>
              <a:srgbClr val="C9D3CC"/>
            </a:solidFill>
            <a:prstDash val="solid"/>
          </a:ln>
        </p:spPr>
      </p:sp>
      <p:sp>
        <p:nvSpPr>
          <p:cNvPr id="5" name="text-392"/>
          <p:cNvSpPr txBox="1"/>
          <p:nvPr/>
        </p:nvSpPr>
        <p:spPr>
          <a:xfrm>
            <a:off x="502920" y="5961888"/>
            <a:ext cx="2926080" cy="256032"/>
          </a:xfrm>
          <a:prstGeom prst="rect">
            <a:avLst/>
          </a:prstGeom>
          <a:noFill/>
          <a:ln/>
        </p:spPr>
        <p:txBody>
          <a:bodyPr wrap="square" lIns="635" tIns="635" rIns="635" bIns="635" rtlCol="0" anchor="t"/>
          <a:lstStyle/>
          <a:p>
            <a:pPr algn="ctr" indent="0" marL="0">
              <a:buNone/>
            </a:pPr>
            <a:r>
              <a:rPr lang="en-US" sz="1000" i="1" dirty="0">
                <a:solidFill>
                  <a:schemeClr val="accent6"/>
                </a:solidFill>
              </a:rPr>
              <a:t>Monthly diurnal Rn, H, G, LE at IARI (Fig. 4)</a:t>
            </a:r>
            <a:endParaRPr lang="en-US" sz="1000" dirty="0"/>
          </a:p>
        </p:txBody>
      </p:sp>
      <p:sp>
        <p:nvSpPr>
          <p:cNvPr id="6" name="card-393"/>
          <p:cNvSpPr/>
          <p:nvPr/>
        </p:nvSpPr>
        <p:spPr>
          <a:xfrm>
            <a:off x="3657600" y="1188720"/>
            <a:ext cx="3886200" cy="5029200"/>
          </a:xfrm>
          <a:prstGeom prst="roundRect">
            <a:avLst>
              <a:gd name="adj" fmla="val 1882"/>
            </a:avLst>
          </a:prstGeom>
          <a:solidFill>
            <a:schemeClr val="bg2"/>
          </a:solidFill>
          <a:ln w="6350">
            <a:solidFill>
              <a:schemeClr val="bg2"/>
            </a:solidFill>
            <a:prstDash val="solid"/>
          </a:ln>
        </p:spPr>
      </p:sp>
      <p:sp>
        <p:nvSpPr>
          <p:cNvPr id="7" name="text-394"/>
          <p:cNvSpPr txBox="1"/>
          <p:nvPr/>
        </p:nvSpPr>
        <p:spPr>
          <a:xfrm>
            <a:off x="3840480" y="1280160"/>
            <a:ext cx="3566160" cy="411480"/>
          </a:xfrm>
          <a:prstGeom prst="rect">
            <a:avLst/>
          </a:prstGeom>
          <a:noFill/>
          <a:ln/>
        </p:spPr>
        <p:txBody>
          <a:bodyPr wrap="square" lIns="635" tIns="635" rIns="635" bIns="635" rtlCol="0" anchor="t"/>
          <a:lstStyle/>
          <a:p>
            <a:pPr indent="0" marL="0">
              <a:buNone/>
            </a:pPr>
            <a:r>
              <a:rPr lang="en-US" sz="1700" b="1" dirty="0">
                <a:solidFill>
                  <a:schemeClr val="accent1"/>
                </a:solidFill>
              </a:rPr>
              <a:t>Maize–wheat, IARI (LAS)</a:t>
            </a:r>
            <a:endParaRPr lang="en-US" sz="1700" dirty="0"/>
          </a:p>
        </p:txBody>
      </p:sp>
      <p:sp>
        <p:nvSpPr>
          <p:cNvPr id="8" name="list-395"/>
          <p:cNvSpPr txBox="1"/>
          <p:nvPr/>
        </p:nvSpPr>
        <p:spPr>
          <a:xfrm>
            <a:off x="3840480" y="1737360"/>
            <a:ext cx="3566160" cy="4389120"/>
          </a:xfrm>
          <a:prstGeom prst="rect">
            <a:avLst/>
          </a:prstGeom>
          <a:noFill/>
          <a:ln/>
        </p:spPr>
        <p:txBody>
          <a:bodyPr wrap="square" lIns="635" tIns="635" rIns="635" bIns="635" rtlCol="0" anchor="t"/>
          <a:lstStyle/>
          <a:p>
            <a:pPr marL="203200" indent="-203200">
              <a:spcAft>
                <a:spcPts val="500"/>
              </a:spcAft>
              <a:buSzPct val="100000"/>
              <a:buChar char="•"/>
            </a:pPr>
            <a:r>
              <a:rPr lang="en-US" sz="1400" dirty="0">
                <a:solidFill>
                  <a:schemeClr val="tx1"/>
                </a:solidFill>
              </a:rPr>
              <a:t>Rn, H, LE, G all follow the diurnal Rn curve</a:t>
            </a:r>
            <a:endParaRPr lang="en-US" sz="1400" dirty="0"/>
          </a:p>
          <a:p>
            <a:pPr marL="203200" indent="-203200">
              <a:spcAft>
                <a:spcPts val="500"/>
              </a:spcAft>
              <a:buSzPct val="100000"/>
              <a:buChar char="•"/>
            </a:pPr>
            <a:r>
              <a:rPr lang="en-US" sz="1400" dirty="0">
                <a:solidFill>
                  <a:schemeClr val="tx1"/>
                </a:solidFill>
              </a:rPr>
              <a:t>G peaks 1.5–2 h before/after Rn due to soil thermal inertia</a:t>
            </a:r>
            <a:endParaRPr lang="en-US" sz="1400" dirty="0"/>
          </a:p>
          <a:p>
            <a:pPr marL="203200" indent="-203200">
              <a:spcAft>
                <a:spcPts val="500"/>
              </a:spcAft>
              <a:buSzPct val="100000"/>
              <a:buChar char="•"/>
            </a:pPr>
            <a:r>
              <a:rPr lang="en-US" sz="1400" dirty="0">
                <a:solidFill>
                  <a:schemeClr val="tx1"/>
                </a:solidFill>
              </a:rPr>
              <a:t>Minimum β at maximum LAI; β &gt; 1 in fallow</a:t>
            </a:r>
            <a:endParaRPr lang="en-US" sz="1400" dirty="0"/>
          </a:p>
          <a:p>
            <a:pPr marL="203200" indent="-203200">
              <a:spcAft>
                <a:spcPts val="500"/>
              </a:spcAft>
              <a:buSzPct val="100000"/>
              <a:buChar char="•"/>
            </a:pPr>
            <a:r>
              <a:rPr lang="en-US" sz="1400" dirty="0">
                <a:solidFill>
                  <a:schemeClr val="tx1"/>
                </a:solidFill>
              </a:rPr>
              <a:t>Monsoon: LE about 4 × H; fallow: H about 5 × LE</a:t>
            </a:r>
            <a:endParaRPr lang="en-US" sz="1400" dirty="0"/>
          </a:p>
          <a:p>
            <a:pPr marL="203200" indent="-203200">
              <a:spcAft>
                <a:spcPts val="500"/>
              </a:spcAft>
              <a:buSzPct val="100000"/>
              <a:buChar char="•"/>
            </a:pPr>
            <a:r>
              <a:rPr lang="en-US" sz="1400" dirty="0">
                <a:solidFill>
                  <a:schemeClr val="tx1"/>
                </a:solidFill>
              </a:rPr>
              <a:t>Errors in fog and heavy monsoon rain</a:t>
            </a:r>
            <a:endParaRPr lang="en-US" sz="1400" dirty="0"/>
          </a:p>
        </p:txBody>
      </p:sp>
      <p:sp>
        <p:nvSpPr>
          <p:cNvPr id="9" name="card-396"/>
          <p:cNvSpPr/>
          <p:nvPr/>
        </p:nvSpPr>
        <p:spPr>
          <a:xfrm>
            <a:off x="7772400" y="1188720"/>
            <a:ext cx="3886200" cy="5029200"/>
          </a:xfrm>
          <a:prstGeom prst="roundRect">
            <a:avLst>
              <a:gd name="adj" fmla="val 1882"/>
            </a:avLst>
          </a:prstGeom>
          <a:solidFill>
            <a:schemeClr val="bg2"/>
          </a:solidFill>
          <a:ln w="6350">
            <a:solidFill>
              <a:schemeClr val="bg2"/>
            </a:solidFill>
            <a:prstDash val="solid"/>
          </a:ln>
        </p:spPr>
      </p:sp>
      <p:sp>
        <p:nvSpPr>
          <p:cNvPr id="10" name="text-397"/>
          <p:cNvSpPr txBox="1"/>
          <p:nvPr/>
        </p:nvSpPr>
        <p:spPr>
          <a:xfrm>
            <a:off x="7955280" y="1280160"/>
            <a:ext cx="3566160" cy="411480"/>
          </a:xfrm>
          <a:prstGeom prst="rect">
            <a:avLst/>
          </a:prstGeom>
          <a:noFill/>
          <a:ln/>
        </p:spPr>
        <p:txBody>
          <a:bodyPr wrap="square" lIns="635" tIns="635" rIns="635" bIns="635" rtlCol="0" anchor="t"/>
          <a:lstStyle/>
          <a:p>
            <a:pPr indent="0" marL="0">
              <a:buNone/>
            </a:pPr>
            <a:r>
              <a:rPr lang="en-US" sz="1700" b="1" dirty="0">
                <a:solidFill>
                  <a:schemeClr val="accent3"/>
                </a:solidFill>
              </a:rPr>
              <a:t>Lowland rice, Cuttack (EC)</a:t>
            </a:r>
            <a:endParaRPr lang="en-US" sz="1700" dirty="0"/>
          </a:p>
        </p:txBody>
      </p:sp>
      <p:sp>
        <p:nvSpPr>
          <p:cNvPr id="11" name="list-398"/>
          <p:cNvSpPr txBox="1"/>
          <p:nvPr/>
        </p:nvSpPr>
        <p:spPr>
          <a:xfrm>
            <a:off x="7955280" y="1737360"/>
            <a:ext cx="3566160" cy="4389120"/>
          </a:xfrm>
          <a:prstGeom prst="rect">
            <a:avLst/>
          </a:prstGeom>
          <a:noFill/>
          <a:ln/>
        </p:spPr>
        <p:txBody>
          <a:bodyPr wrap="square" lIns="635" tIns="635" rIns="635" bIns="635" rtlCol="0" anchor="t"/>
          <a:lstStyle/>
          <a:p>
            <a:pPr marL="203200" indent="-203200">
              <a:spcAft>
                <a:spcPts val="500"/>
              </a:spcAft>
              <a:buSzPct val="100000"/>
              <a:buChar char="•"/>
            </a:pPr>
            <a:r>
              <a:rPr lang="en-US" sz="1400" dirty="0">
                <a:solidFill>
                  <a:schemeClr val="tx1"/>
                </a:solidFill>
              </a:rPr>
              <a:t>H peaks 11:00–12:30; LE 12:30–13:30; G 09:00–10:00</a:t>
            </a:r>
            <a:endParaRPr lang="en-US" sz="1400" dirty="0"/>
          </a:p>
          <a:p>
            <a:pPr marL="203200" indent="-203200">
              <a:spcAft>
                <a:spcPts val="500"/>
              </a:spcAft>
              <a:buSzPct val="100000"/>
              <a:buChar char="•"/>
            </a:pPr>
            <a:r>
              <a:rPr lang="en-US" sz="1400" dirty="0">
                <a:solidFill>
                  <a:schemeClr val="tx1"/>
                </a:solidFill>
              </a:rPr>
              <a:t>LE dominates tillering → grain filling; H matters early</a:t>
            </a:r>
            <a:endParaRPr lang="en-US" sz="1400" dirty="0"/>
          </a:p>
          <a:p>
            <a:pPr marL="203200" indent="-203200">
              <a:spcAft>
                <a:spcPts val="500"/>
              </a:spcAft>
              <a:buSzPct val="100000"/>
              <a:buChar char="•"/>
            </a:pPr>
            <a:r>
              <a:rPr lang="en-US" sz="1400" dirty="0">
                <a:solidFill>
                  <a:schemeClr val="tx1"/>
                </a:solidFill>
              </a:rPr>
              <a:t>Water vapour flux peaks 13:30–14:00 (no midday stomatal closure under flooding)</a:t>
            </a:r>
            <a:endParaRPr lang="en-US" sz="1400" dirty="0"/>
          </a:p>
          <a:p>
            <a:pPr marL="203200" indent="-203200">
              <a:spcAft>
                <a:spcPts val="500"/>
              </a:spcAft>
              <a:buSzPct val="100000"/>
              <a:buChar char="•"/>
            </a:pPr>
            <a:r>
              <a:rPr lang="en-US" sz="1400" dirty="0">
                <a:solidFill>
                  <a:schemeClr val="tx1"/>
                </a:solidFill>
              </a:rPr>
              <a:t>Net radiation higher in dry season; albedo 0.09–0.24</a:t>
            </a:r>
            <a:endParaRPr lang="en-US" sz="1400" dirty="0"/>
          </a:p>
          <a:p>
            <a:pPr marL="203200" indent="-203200">
              <a:spcAft>
                <a:spcPts val="500"/>
              </a:spcAft>
              <a:buSzPct val="100000"/>
              <a:buChar char="•"/>
            </a:pPr>
            <a:r>
              <a:rPr lang="en-US" sz="1400" dirty="0">
                <a:solidFill>
                  <a:schemeClr val="tx1"/>
                </a:solidFill>
              </a:rPr>
              <a:t>Standing water stores heat and changes the microclimate</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EC tower vs LAS: side-by-side</a:t>
            </a:r>
            <a:endParaRPr lang="en-US" sz="3000" dirty="0"/>
          </a:p>
        </p:txBody>
      </p:sp>
      <p:graphicFrame>
        <p:nvGraphicFramePr>
          <p:cNvPr id="29" name="compare-table"/>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2194560"/>
                <a:gridCol w="4480560"/>
                <a:gridCol w="4480560"/>
              </a:tblGrid>
              <a:tr h="548640">
                <a:tc>
                  <a:txBody>
                    <a:bodyPr/>
                    <a:lstStyle/>
                    <a:p>
                      <a:pPr indent="0" marL="0">
                        <a:buNone/>
                      </a:pPr>
                      <a:r>
                        <a:rPr lang="en-US" sz="1400" b="1" dirty="0">
                          <a:solidFill>
                            <a:schemeClr val="bg1"/>
                          </a:solidFill>
                        </a:rPr>
                        <a:t>Aspect</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Eddy covariance tower</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Large aperture scintillometer</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tx2"/>
                    </a:solidFill>
                  </a:tcPr>
                </a:tc>
              </a:tr>
              <a:tr h="548640">
                <a:tc>
                  <a:txBody>
                    <a:bodyPr/>
                    <a:lstStyle/>
                    <a:p>
                      <a:pPr indent="0" marL="0">
                        <a:buNone/>
                      </a:pPr>
                      <a:r>
                        <a:rPr lang="en-US" sz="1400" b="1" dirty="0">
                          <a:solidFill>
                            <a:schemeClr val="tx2"/>
                          </a:solidFill>
                        </a:rPr>
                        <a:t>Measures directly</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 LE, CO₂, CH₄, momentum</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400" dirty="0">
                          <a:solidFill>
                            <a:schemeClr val="tx1"/>
                          </a:solidFill>
                        </a:rPr>
                        <a:t>Cn² → H only (LE as residual)</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48640">
                <a:tc>
                  <a:txBody>
                    <a:bodyPr/>
                    <a:lstStyle/>
                    <a:p>
                      <a:pPr indent="0" marL="0">
                        <a:buNone/>
                      </a:pPr>
                      <a:r>
                        <a:rPr lang="en-US" sz="1400" b="1" dirty="0">
                          <a:solidFill>
                            <a:schemeClr val="tx2"/>
                          </a:solidFill>
                        </a:rPr>
                        <a:t>Physical basis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Covariance w′s′ (Reynolds averaging)</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400" dirty="0">
                          <a:solidFill>
                            <a:schemeClr val="tx1"/>
                          </a:solidFill>
                        </a:rPr>
                        <a:t>Optical scintillation + MOST</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48640">
                <a:tc>
                  <a:txBody>
                    <a:bodyPr/>
                    <a:lstStyle/>
                    <a:p>
                      <a:pPr indent="0" marL="0">
                        <a:buNone/>
                      </a:pPr>
                      <a:r>
                        <a:rPr lang="en-US" sz="1400" b="1" dirty="0">
                          <a:solidFill>
                            <a:schemeClr val="tx2"/>
                          </a:solidFill>
                        </a:rPr>
                        <a:t>Spatial scale</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Point; footprint ~100 × height (ha)</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400" dirty="0">
                          <a:solidFill>
                            <a:schemeClr val="tx1"/>
                          </a:solidFill>
                        </a:rPr>
                        <a:t>Path 0.25–4.5 km; km² footprint</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48640">
                <a:tc>
                  <a:txBody>
                    <a:bodyPr/>
                    <a:lstStyle/>
                    <a:p>
                      <a:pPr indent="0" marL="0">
                        <a:buNone/>
                      </a:pPr>
                      <a:r>
                        <a:rPr lang="en-US" sz="1400" b="1" dirty="0">
                          <a:solidFill>
                            <a:schemeClr val="tx2"/>
                          </a:solidFill>
                        </a:rPr>
                        <a:t>Sensor frequency</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10–20 Hz sonic + gas analysers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400" dirty="0">
                          <a:solidFill>
                            <a:schemeClr val="tx1"/>
                          </a:solidFill>
                        </a:rPr>
                        <a:t>Low-rate log Cn² signal (1 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48640">
                <a:tc>
                  <a:txBody>
                    <a:bodyPr/>
                    <a:lstStyle/>
                    <a:p>
                      <a:pPr indent="0" marL="0">
                        <a:buNone/>
                      </a:pPr>
                      <a:r>
                        <a:rPr lang="en-US" sz="1400" b="1" dirty="0">
                          <a:solidFill>
                            <a:schemeClr val="tx2"/>
                          </a:solidFill>
                        </a:rPr>
                        <a:t>Terrain needs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Flat, homogeneous, long fetch</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400" dirty="0">
                          <a:solidFill>
                            <a:schemeClr val="tx1"/>
                          </a:solidFill>
                        </a:rPr>
                        <a:t>Tolerates heterogeneous landscapes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48640">
                <a:tc>
                  <a:txBody>
                    <a:bodyPr/>
                    <a:lstStyle/>
                    <a:p>
                      <a:pPr indent="0" marL="0">
                        <a:buNone/>
                      </a:pPr>
                      <a:r>
                        <a:rPr lang="en-US" sz="1400" b="1" dirty="0">
                          <a:solidFill>
                            <a:schemeClr val="tx2"/>
                          </a:solidFill>
                        </a:rPr>
                        <a:t>Corrections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Many (rotation, WPL, spectral, lag …)</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400" dirty="0">
                          <a:solidFill>
                            <a:schemeClr val="tx1"/>
                          </a:solidFill>
                        </a:rPr>
                        <a:t>Few; needs z_LAS, d, z₀, β, u</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48640">
                <a:tc>
                  <a:txBody>
                    <a:bodyPr/>
                    <a:lstStyle/>
                    <a:p>
                      <a:pPr indent="0" marL="0">
                        <a:buNone/>
                      </a:pPr>
                      <a:r>
                        <a:rPr lang="en-US" sz="1400" b="1" dirty="0">
                          <a:solidFill>
                            <a:schemeClr val="tx2"/>
                          </a:solidFill>
                        </a:rPr>
                        <a:t>Main weaknesses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Closure gap, complexity, small area</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400" dirty="0">
                          <a:solidFill>
                            <a:schemeClr val="tx1"/>
                          </a:solidFill>
                        </a:rPr>
                        <a:t>Saturation, MOST assumptions, sign of H, no gases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r h="548640">
                <a:tc>
                  <a:txBody>
                    <a:bodyPr/>
                    <a:lstStyle/>
                    <a:p>
                      <a:pPr indent="0" marL="0">
                        <a:buNone/>
                      </a:pPr>
                      <a:r>
                        <a:rPr lang="en-US" sz="1400" b="1" dirty="0">
                          <a:solidFill>
                            <a:schemeClr val="tx2"/>
                          </a:solidFill>
                        </a:rPr>
                        <a:t>Best use in RS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Carbon/water flux site validation, GPP/ET models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c>
                  <a:txBody>
                    <a:bodyPr/>
                    <a:lstStyle/>
                    <a:p>
                      <a:pPr indent="0" marL="0">
                        <a:buNone/>
                      </a:pPr>
                      <a:r>
                        <a:rPr lang="en-US" sz="1400" dirty="0">
                          <a:solidFill>
                            <a:schemeClr val="tx1"/>
                          </a:solidFill>
                        </a:rPr>
                        <a:t>Validating pixel-scale ET (MODIS/INSAT, SEBAL/METRIC)</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How these measurements feed ISRO remote sensing</a:t>
            </a:r>
            <a:endParaRPr lang="en-US" sz="3000" dirty="0"/>
          </a:p>
        </p:txBody>
      </p:sp>
      <p:sp>
        <p:nvSpPr>
          <p:cNvPr id="3" name="hbox-399"/>
          <p:cNvSpPr/>
          <p:nvPr/>
        </p:nvSpPr>
        <p:spPr>
          <a:xfrm>
            <a:off x="502920" y="1280160"/>
            <a:ext cx="2057400" cy="1371600"/>
          </a:xfrm>
          <a:prstGeom prst="roundRect">
            <a:avLst>
              <a:gd name="adj" fmla="val 4667"/>
            </a:avLst>
          </a:prstGeom>
          <a:solidFill>
            <a:schemeClr val="tx2"/>
          </a:solidFill>
          <a:ln w="12700">
            <a:solidFill>
              <a:schemeClr val="tx2"/>
            </a:solidFill>
            <a:prstDash val="solid"/>
          </a:ln>
          <a:effectLst>
            <a:outerShdw sx="100000" sy="100000" kx="0" ky="0" algn="bl" rotWithShape="0" blurRad="76200" dist="25400" dir="5400000">
              <a:srgbClr val="000000">
                <a:alpha val="14000"/>
              </a:srgbClr>
            </a:outerShdw>
          </a:effectLst>
        </p:spPr>
      </p:sp>
      <p:sp>
        <p:nvSpPr>
          <p:cNvPr id="4" name="htext-400"/>
          <p:cNvSpPr txBox="1"/>
          <p:nvPr/>
        </p:nvSpPr>
        <p:spPr>
          <a:xfrm>
            <a:off x="576072" y="1280160"/>
            <a:ext cx="1911096" cy="1371600"/>
          </a:xfrm>
          <a:prstGeom prst="rect">
            <a:avLst/>
          </a:prstGeom>
          <a:noFill/>
          <a:ln/>
        </p:spPr>
        <p:txBody>
          <a:bodyPr wrap="square" lIns="0" tIns="0" rIns="0" bIns="0" rtlCol="0" anchor="ctr"/>
          <a:lstStyle/>
          <a:p>
            <a:pPr algn="ctr" indent="0" marL="0">
              <a:buNone/>
            </a:pPr>
            <a:r>
              <a:rPr lang="en-US" sz="1300" dirty="0">
                <a:solidFill>
                  <a:schemeClr val="bg1"/>
                </a:solidFill>
              </a:rPr>
              <a:t>EC tower and LAS fluxes (H, LE, NEE)</a:t>
            </a:r>
            <a:endParaRPr lang="en-US" sz="1300" dirty="0"/>
          </a:p>
        </p:txBody>
      </p:sp>
      <p:sp>
        <p:nvSpPr>
          <p:cNvPr id="5" name="harrow-401"/>
          <p:cNvSpPr/>
          <p:nvPr/>
        </p:nvSpPr>
        <p:spPr>
          <a:xfrm>
            <a:off x="2560320" y="1965960"/>
            <a:ext cx="219456" cy="0"/>
          </a:xfrm>
          <a:prstGeom prst="line">
            <a:avLst/>
          </a:prstGeom>
          <a:noFill/>
          <a:ln w="19050">
            <a:solidFill>
              <a:schemeClr val="accent6"/>
            </a:solidFill>
            <a:prstDash val="solid"/>
            <a:tailEnd type="triangle"/>
          </a:ln>
        </p:spPr>
      </p:sp>
      <p:sp>
        <p:nvSpPr>
          <p:cNvPr id="6" name="hbox-402"/>
          <p:cNvSpPr/>
          <p:nvPr/>
        </p:nvSpPr>
        <p:spPr>
          <a:xfrm>
            <a:off x="2779776" y="1280160"/>
            <a:ext cx="2057400" cy="1371600"/>
          </a:xfrm>
          <a:prstGeom prst="roundRect">
            <a:avLst>
              <a:gd name="adj" fmla="val 4667"/>
            </a:avLst>
          </a:prstGeom>
          <a:solidFill>
            <a:schemeClr val="accent1"/>
          </a:solidFill>
          <a:ln w="12700">
            <a:solidFill>
              <a:schemeClr val="accent1"/>
            </a:solidFill>
            <a:prstDash val="solid"/>
          </a:ln>
          <a:effectLst>
            <a:outerShdw sx="100000" sy="100000" kx="0" ky="0" algn="bl" rotWithShape="0" blurRad="76200" dist="25400" dir="5400000">
              <a:srgbClr val="000000">
                <a:alpha val="14000"/>
              </a:srgbClr>
            </a:outerShdw>
          </a:effectLst>
        </p:spPr>
      </p:sp>
      <p:sp>
        <p:nvSpPr>
          <p:cNvPr id="7" name="htext-403"/>
          <p:cNvSpPr txBox="1"/>
          <p:nvPr/>
        </p:nvSpPr>
        <p:spPr>
          <a:xfrm>
            <a:off x="2852928" y="1280160"/>
            <a:ext cx="1911096" cy="1371600"/>
          </a:xfrm>
          <a:prstGeom prst="rect">
            <a:avLst/>
          </a:prstGeom>
          <a:noFill/>
          <a:ln/>
        </p:spPr>
        <p:txBody>
          <a:bodyPr wrap="square" lIns="0" tIns="0" rIns="0" bIns="0" rtlCol="0" anchor="ctr"/>
          <a:lstStyle/>
          <a:p>
            <a:pPr algn="ctr" indent="0" marL="0">
              <a:buNone/>
            </a:pPr>
            <a:r>
              <a:rPr lang="en-US" sz="1300" dirty="0">
                <a:solidFill>
                  <a:schemeClr val="bg1"/>
                </a:solidFill>
              </a:rPr>
              <a:t>Footprint matching with satellite pixels</a:t>
            </a:r>
            <a:endParaRPr lang="en-US" sz="1300" dirty="0"/>
          </a:p>
        </p:txBody>
      </p:sp>
      <p:sp>
        <p:nvSpPr>
          <p:cNvPr id="8" name="harrow-404"/>
          <p:cNvSpPr/>
          <p:nvPr/>
        </p:nvSpPr>
        <p:spPr>
          <a:xfrm>
            <a:off x="4837176" y="1965960"/>
            <a:ext cx="219456" cy="0"/>
          </a:xfrm>
          <a:prstGeom prst="line">
            <a:avLst/>
          </a:prstGeom>
          <a:noFill/>
          <a:ln w="19050">
            <a:solidFill>
              <a:schemeClr val="accent6"/>
            </a:solidFill>
            <a:prstDash val="solid"/>
            <a:tailEnd type="triangle"/>
          </a:ln>
        </p:spPr>
      </p:sp>
      <p:sp>
        <p:nvSpPr>
          <p:cNvPr id="9" name="hbox-405"/>
          <p:cNvSpPr/>
          <p:nvPr/>
        </p:nvSpPr>
        <p:spPr>
          <a:xfrm>
            <a:off x="5056632" y="1280160"/>
            <a:ext cx="2057400" cy="1371600"/>
          </a:xfrm>
          <a:prstGeom prst="roundRect">
            <a:avLst>
              <a:gd name="adj" fmla="val 4667"/>
            </a:avLst>
          </a:prstGeom>
          <a:solidFill>
            <a:schemeClr val="accent1"/>
          </a:solidFill>
          <a:ln w="12700">
            <a:solidFill>
              <a:schemeClr val="accent1"/>
            </a:solidFill>
            <a:prstDash val="solid"/>
          </a:ln>
          <a:effectLst>
            <a:outerShdw sx="100000" sy="100000" kx="0" ky="0" algn="bl" rotWithShape="0" blurRad="76200" dist="25400" dir="5400000">
              <a:srgbClr val="000000">
                <a:alpha val="14000"/>
              </a:srgbClr>
            </a:outerShdw>
          </a:effectLst>
        </p:spPr>
      </p:sp>
      <p:sp>
        <p:nvSpPr>
          <p:cNvPr id="10" name="htext-406"/>
          <p:cNvSpPr txBox="1"/>
          <p:nvPr/>
        </p:nvSpPr>
        <p:spPr>
          <a:xfrm>
            <a:off x="5129784" y="1280160"/>
            <a:ext cx="1911096" cy="1371600"/>
          </a:xfrm>
          <a:prstGeom prst="rect">
            <a:avLst/>
          </a:prstGeom>
          <a:noFill/>
          <a:ln/>
        </p:spPr>
        <p:txBody>
          <a:bodyPr wrap="square" lIns="0" tIns="0" rIns="0" bIns="0" rtlCol="0" anchor="ctr"/>
          <a:lstStyle/>
          <a:p>
            <a:pPr algn="ctr" indent="0" marL="0">
              <a:buNone/>
            </a:pPr>
            <a:r>
              <a:rPr lang="en-US" sz="1300" dirty="0">
                <a:solidFill>
                  <a:schemeClr val="bg1"/>
                </a:solidFill>
              </a:rPr>
              <a:t>Calibrate / validate RS models (SEBAL, METRIC, SEBS, VPM, LUE)</a:t>
            </a:r>
            <a:endParaRPr lang="en-US" sz="1300" dirty="0"/>
          </a:p>
        </p:txBody>
      </p:sp>
      <p:sp>
        <p:nvSpPr>
          <p:cNvPr id="11" name="harrow-407"/>
          <p:cNvSpPr/>
          <p:nvPr/>
        </p:nvSpPr>
        <p:spPr>
          <a:xfrm>
            <a:off x="7114032" y="1965960"/>
            <a:ext cx="219456" cy="0"/>
          </a:xfrm>
          <a:prstGeom prst="line">
            <a:avLst/>
          </a:prstGeom>
          <a:noFill/>
          <a:ln w="19050">
            <a:solidFill>
              <a:schemeClr val="accent6"/>
            </a:solidFill>
            <a:prstDash val="solid"/>
            <a:tailEnd type="triangle"/>
          </a:ln>
        </p:spPr>
      </p:sp>
      <p:sp>
        <p:nvSpPr>
          <p:cNvPr id="12" name="hbox-408"/>
          <p:cNvSpPr/>
          <p:nvPr/>
        </p:nvSpPr>
        <p:spPr>
          <a:xfrm>
            <a:off x="7333488" y="1280160"/>
            <a:ext cx="2057400" cy="1371600"/>
          </a:xfrm>
          <a:prstGeom prst="roundRect">
            <a:avLst>
              <a:gd name="adj" fmla="val 4667"/>
            </a:avLst>
          </a:prstGeom>
          <a:solidFill>
            <a:schemeClr val="accent3"/>
          </a:solidFill>
          <a:ln w="12700">
            <a:solidFill>
              <a:schemeClr val="accent3"/>
            </a:solidFill>
            <a:prstDash val="solid"/>
          </a:ln>
          <a:effectLst>
            <a:outerShdw sx="100000" sy="100000" kx="0" ky="0" algn="bl" rotWithShape="0" blurRad="76200" dist="25400" dir="5400000">
              <a:srgbClr val="000000">
                <a:alpha val="14000"/>
              </a:srgbClr>
            </a:outerShdw>
          </a:effectLst>
        </p:spPr>
      </p:sp>
      <p:sp>
        <p:nvSpPr>
          <p:cNvPr id="13" name="htext-409"/>
          <p:cNvSpPr txBox="1"/>
          <p:nvPr/>
        </p:nvSpPr>
        <p:spPr>
          <a:xfrm>
            <a:off x="7406640" y="1280160"/>
            <a:ext cx="1911096" cy="1371600"/>
          </a:xfrm>
          <a:prstGeom prst="rect">
            <a:avLst/>
          </a:prstGeom>
          <a:noFill/>
          <a:ln/>
        </p:spPr>
        <p:txBody>
          <a:bodyPr wrap="square" lIns="0" tIns="0" rIns="0" bIns="0" rtlCol="0" anchor="ctr"/>
          <a:lstStyle/>
          <a:p>
            <a:pPr algn="ctr" indent="0" marL="0">
              <a:buNone/>
            </a:pPr>
            <a:r>
              <a:rPr lang="en-US" sz="1300" dirty="0">
                <a:solidFill>
                  <a:schemeClr val="bg1"/>
                </a:solidFill>
              </a:rPr>
              <a:t>ET, GPP and crop-water stress maps</a:t>
            </a:r>
            <a:endParaRPr lang="en-US" sz="1300" dirty="0"/>
          </a:p>
        </p:txBody>
      </p:sp>
      <p:sp>
        <p:nvSpPr>
          <p:cNvPr id="14" name="harrow-410"/>
          <p:cNvSpPr/>
          <p:nvPr/>
        </p:nvSpPr>
        <p:spPr>
          <a:xfrm>
            <a:off x="9390888" y="1965960"/>
            <a:ext cx="219456" cy="0"/>
          </a:xfrm>
          <a:prstGeom prst="line">
            <a:avLst/>
          </a:prstGeom>
          <a:noFill/>
          <a:ln w="19050">
            <a:solidFill>
              <a:schemeClr val="accent6"/>
            </a:solidFill>
            <a:prstDash val="solid"/>
            <a:tailEnd type="triangle"/>
          </a:ln>
        </p:spPr>
      </p:sp>
      <p:sp>
        <p:nvSpPr>
          <p:cNvPr id="15" name="hbox-411"/>
          <p:cNvSpPr/>
          <p:nvPr/>
        </p:nvSpPr>
        <p:spPr>
          <a:xfrm>
            <a:off x="9610344" y="1280160"/>
            <a:ext cx="2057400" cy="1371600"/>
          </a:xfrm>
          <a:prstGeom prst="roundRect">
            <a:avLst>
              <a:gd name="adj" fmla="val 4667"/>
            </a:avLst>
          </a:prstGeom>
          <a:solidFill>
            <a:schemeClr val="accent2"/>
          </a:solidFill>
          <a:ln w="12700">
            <a:solidFill>
              <a:schemeClr val="accent2"/>
            </a:solidFill>
            <a:prstDash val="solid"/>
          </a:ln>
          <a:effectLst>
            <a:outerShdw sx="100000" sy="100000" kx="0" ky="0" algn="bl" rotWithShape="0" blurRad="76200" dist="25400" dir="5400000">
              <a:srgbClr val="000000">
                <a:alpha val="14000"/>
              </a:srgbClr>
            </a:outerShdw>
          </a:effectLst>
        </p:spPr>
      </p:sp>
      <p:sp>
        <p:nvSpPr>
          <p:cNvPr id="16" name="htext-412"/>
          <p:cNvSpPr txBox="1"/>
          <p:nvPr/>
        </p:nvSpPr>
        <p:spPr>
          <a:xfrm>
            <a:off x="9683496" y="1280160"/>
            <a:ext cx="1911096" cy="1371600"/>
          </a:xfrm>
          <a:prstGeom prst="rect">
            <a:avLst/>
          </a:prstGeom>
          <a:noFill/>
          <a:ln/>
        </p:spPr>
        <p:txBody>
          <a:bodyPr wrap="square" lIns="0" tIns="0" rIns="0" bIns="0" rtlCol="0" anchor="ctr"/>
          <a:lstStyle/>
          <a:p>
            <a:pPr algn="ctr" indent="0" marL="0">
              <a:buNone/>
            </a:pPr>
            <a:r>
              <a:rPr lang="en-US" sz="1300" dirty="0">
                <a:solidFill>
                  <a:schemeClr val="bg1"/>
                </a:solidFill>
              </a:rPr>
              <a:t>Irrigation advisories, crop models, carbon budgets</a:t>
            </a:r>
            <a:endParaRPr lang="en-US" sz="1300" dirty="0"/>
          </a:p>
        </p:txBody>
      </p:sp>
      <p:sp>
        <p:nvSpPr>
          <p:cNvPr id="17" name="card-413"/>
          <p:cNvSpPr/>
          <p:nvPr/>
        </p:nvSpPr>
        <p:spPr>
          <a:xfrm>
            <a:off x="502920" y="3017520"/>
            <a:ext cx="5486400" cy="1508760"/>
          </a:xfrm>
          <a:prstGeom prst="roundRect">
            <a:avLst>
              <a:gd name="adj" fmla="val 4848"/>
            </a:avLst>
          </a:prstGeom>
          <a:solidFill>
            <a:schemeClr val="bg2"/>
          </a:solidFill>
          <a:ln w="6350">
            <a:solidFill>
              <a:schemeClr val="bg2"/>
            </a:solidFill>
            <a:prstDash val="solid"/>
          </a:ln>
        </p:spPr>
      </p:sp>
      <p:sp>
        <p:nvSpPr>
          <p:cNvPr id="18" name="text-414"/>
          <p:cNvSpPr txBox="1"/>
          <p:nvPr/>
        </p:nvSpPr>
        <p:spPr>
          <a:xfrm>
            <a:off x="640080" y="3090672"/>
            <a:ext cx="5212080" cy="384048"/>
          </a:xfrm>
          <a:prstGeom prst="rect">
            <a:avLst/>
          </a:prstGeom>
          <a:noFill/>
          <a:ln/>
        </p:spPr>
        <p:txBody>
          <a:bodyPr wrap="square" lIns="635" tIns="635" rIns="635" bIns="635" rtlCol="0" anchor="t"/>
          <a:lstStyle/>
          <a:p>
            <a:pPr indent="0" marL="0">
              <a:buNone/>
            </a:pPr>
            <a:r>
              <a:rPr lang="en-US" sz="1600" b="1" dirty="0">
                <a:solidFill>
                  <a:schemeClr val="accent1"/>
                </a:solidFill>
              </a:rPr>
              <a:t>Satellite inputs</a:t>
            </a:r>
            <a:endParaRPr lang="en-US" sz="1600" dirty="0"/>
          </a:p>
        </p:txBody>
      </p:sp>
      <p:sp>
        <p:nvSpPr>
          <p:cNvPr id="19" name="text-415"/>
          <p:cNvSpPr txBox="1"/>
          <p:nvPr/>
        </p:nvSpPr>
        <p:spPr>
          <a:xfrm>
            <a:off x="640080" y="3474720"/>
            <a:ext cx="5212080" cy="1005840"/>
          </a:xfrm>
          <a:prstGeom prst="rect">
            <a:avLst/>
          </a:prstGeom>
          <a:noFill/>
          <a:ln/>
        </p:spPr>
        <p:txBody>
          <a:bodyPr wrap="square" lIns="635" tIns="635" rIns="635" bIns="635" rtlCol="0" anchor="t"/>
          <a:lstStyle/>
          <a:p>
            <a:pPr indent="0" marL="0">
              <a:buNone/>
            </a:pPr>
            <a:r>
              <a:rPr lang="en-US" sz="1400" dirty="0">
                <a:solidFill>
                  <a:schemeClr val="tx1"/>
                </a:solidFill>
              </a:rPr>
              <a:t>LST (Landsat TIRS, MODIS, INSAT-3D/3DR/3DS, ECOSTRESS), albedo, NDVI/LAI, Rn; future ISRO–CNES TRISHNA thermal mission</a:t>
            </a:r>
            <a:endParaRPr lang="en-US" sz="1400" dirty="0"/>
          </a:p>
        </p:txBody>
      </p:sp>
      <p:sp>
        <p:nvSpPr>
          <p:cNvPr id="20" name="card-416"/>
          <p:cNvSpPr/>
          <p:nvPr/>
        </p:nvSpPr>
        <p:spPr>
          <a:xfrm>
            <a:off x="6126480" y="3017520"/>
            <a:ext cx="5486400" cy="1508760"/>
          </a:xfrm>
          <a:prstGeom prst="roundRect">
            <a:avLst>
              <a:gd name="adj" fmla="val 4848"/>
            </a:avLst>
          </a:prstGeom>
          <a:solidFill>
            <a:schemeClr val="bg2"/>
          </a:solidFill>
          <a:ln w="6350">
            <a:solidFill>
              <a:schemeClr val="bg2"/>
            </a:solidFill>
            <a:prstDash val="solid"/>
          </a:ln>
        </p:spPr>
      </p:sp>
      <p:sp>
        <p:nvSpPr>
          <p:cNvPr id="21" name="text-417"/>
          <p:cNvSpPr txBox="1"/>
          <p:nvPr/>
        </p:nvSpPr>
        <p:spPr>
          <a:xfrm>
            <a:off x="6263640" y="3090672"/>
            <a:ext cx="5212080" cy="384048"/>
          </a:xfrm>
          <a:prstGeom prst="rect">
            <a:avLst/>
          </a:prstGeom>
          <a:noFill/>
          <a:ln/>
        </p:spPr>
        <p:txBody>
          <a:bodyPr wrap="square" lIns="635" tIns="635" rIns="635" bIns="635" rtlCol="0" anchor="t"/>
          <a:lstStyle/>
          <a:p>
            <a:pPr indent="0" marL="0">
              <a:buNone/>
            </a:pPr>
            <a:r>
              <a:rPr lang="en-US" sz="1600" b="1" dirty="0">
                <a:solidFill>
                  <a:schemeClr val="accent1"/>
                </a:solidFill>
              </a:rPr>
              <a:t>Why LAS suits validation</a:t>
            </a:r>
            <a:endParaRPr lang="en-US" sz="1600" dirty="0"/>
          </a:p>
        </p:txBody>
      </p:sp>
      <p:sp>
        <p:nvSpPr>
          <p:cNvPr id="22" name="text-418"/>
          <p:cNvSpPr txBox="1"/>
          <p:nvPr/>
        </p:nvSpPr>
        <p:spPr>
          <a:xfrm>
            <a:off x="6263640" y="3474720"/>
            <a:ext cx="5212080" cy="1005840"/>
          </a:xfrm>
          <a:prstGeom prst="rect">
            <a:avLst/>
          </a:prstGeom>
          <a:noFill/>
          <a:ln/>
        </p:spPr>
        <p:txBody>
          <a:bodyPr wrap="square" lIns="635" tIns="635" rIns="635" bIns="635" rtlCol="0" anchor="t"/>
          <a:lstStyle/>
          <a:p>
            <a:pPr indent="0" marL="0">
              <a:buNone/>
            </a:pPr>
            <a:r>
              <a:rPr lang="en-US" sz="1400" dirty="0">
                <a:solidFill>
                  <a:schemeClr val="tx1"/>
                </a:solidFill>
              </a:rPr>
              <a:t>LAS path (~1–5 km) matches MODIS/INSAT pixels; EC suits Landsat/Sentinel-scale fields</a:t>
            </a:r>
            <a:endParaRPr lang="en-US" sz="1400" dirty="0"/>
          </a:p>
        </p:txBody>
      </p:sp>
      <p:sp>
        <p:nvSpPr>
          <p:cNvPr id="23" name="card-419"/>
          <p:cNvSpPr/>
          <p:nvPr/>
        </p:nvSpPr>
        <p:spPr>
          <a:xfrm>
            <a:off x="502920" y="4663440"/>
            <a:ext cx="5486400" cy="1508760"/>
          </a:xfrm>
          <a:prstGeom prst="roundRect">
            <a:avLst>
              <a:gd name="adj" fmla="val 4848"/>
            </a:avLst>
          </a:prstGeom>
          <a:solidFill>
            <a:schemeClr val="bg2"/>
          </a:solidFill>
          <a:ln w="6350">
            <a:solidFill>
              <a:schemeClr val="bg2"/>
            </a:solidFill>
            <a:prstDash val="solid"/>
          </a:ln>
        </p:spPr>
      </p:sp>
      <p:sp>
        <p:nvSpPr>
          <p:cNvPr id="24" name="text-420"/>
          <p:cNvSpPr txBox="1"/>
          <p:nvPr/>
        </p:nvSpPr>
        <p:spPr>
          <a:xfrm>
            <a:off x="640080" y="4736592"/>
            <a:ext cx="5212080" cy="384048"/>
          </a:xfrm>
          <a:prstGeom prst="rect">
            <a:avLst/>
          </a:prstGeom>
          <a:noFill/>
          <a:ln/>
        </p:spPr>
        <p:txBody>
          <a:bodyPr wrap="square" lIns="635" tIns="635" rIns="635" bIns="635" rtlCol="0" anchor="t"/>
          <a:lstStyle/>
          <a:p>
            <a:pPr indent="0" marL="0">
              <a:buNone/>
            </a:pPr>
            <a:r>
              <a:rPr lang="en-US" sz="1600" b="1" dirty="0">
                <a:solidFill>
                  <a:schemeClr val="accent1"/>
                </a:solidFill>
              </a:rPr>
              <a:t>Carbon applications</a:t>
            </a:r>
            <a:endParaRPr lang="en-US" sz="1600" dirty="0"/>
          </a:p>
        </p:txBody>
      </p:sp>
      <p:sp>
        <p:nvSpPr>
          <p:cNvPr id="25" name="text-421"/>
          <p:cNvSpPr txBox="1"/>
          <p:nvPr/>
        </p:nvSpPr>
        <p:spPr>
          <a:xfrm>
            <a:off x="640080" y="5120640"/>
            <a:ext cx="5212080" cy="1005840"/>
          </a:xfrm>
          <a:prstGeom prst="rect">
            <a:avLst/>
          </a:prstGeom>
          <a:noFill/>
          <a:ln/>
        </p:spPr>
        <p:txBody>
          <a:bodyPr wrap="square" lIns="635" tIns="635" rIns="635" bIns="635" rtlCol="0" anchor="t"/>
          <a:lstStyle/>
          <a:p>
            <a:pPr indent="0" marL="0">
              <a:buNone/>
            </a:pPr>
            <a:r>
              <a:rPr lang="en-US" sz="1400" dirty="0">
                <a:solidFill>
                  <a:schemeClr val="tx1"/>
                </a:solidFill>
              </a:rPr>
              <a:t>Tower NEE/GPP calibrate light-use-efficiency models (εmax) and validate MODIS GPP over Indian croplands and forests</a:t>
            </a:r>
            <a:endParaRPr lang="en-US" sz="1400" dirty="0"/>
          </a:p>
        </p:txBody>
      </p:sp>
      <p:sp>
        <p:nvSpPr>
          <p:cNvPr id="26" name="card-422"/>
          <p:cNvSpPr/>
          <p:nvPr/>
        </p:nvSpPr>
        <p:spPr>
          <a:xfrm>
            <a:off x="6126480" y="4663440"/>
            <a:ext cx="5486400" cy="1508760"/>
          </a:xfrm>
          <a:prstGeom prst="roundRect">
            <a:avLst>
              <a:gd name="adj" fmla="val 4848"/>
            </a:avLst>
          </a:prstGeom>
          <a:solidFill>
            <a:schemeClr val="bg2"/>
          </a:solidFill>
          <a:ln w="6350">
            <a:solidFill>
              <a:schemeClr val="bg2"/>
            </a:solidFill>
            <a:prstDash val="solid"/>
          </a:ln>
        </p:spPr>
      </p:sp>
      <p:sp>
        <p:nvSpPr>
          <p:cNvPr id="27" name="text-423"/>
          <p:cNvSpPr txBox="1"/>
          <p:nvPr/>
        </p:nvSpPr>
        <p:spPr>
          <a:xfrm>
            <a:off x="6263640" y="4736592"/>
            <a:ext cx="5212080" cy="384048"/>
          </a:xfrm>
          <a:prstGeom prst="rect">
            <a:avLst/>
          </a:prstGeom>
          <a:noFill/>
          <a:ln/>
        </p:spPr>
        <p:txBody>
          <a:bodyPr wrap="square" lIns="635" tIns="635" rIns="635" bIns="635" rtlCol="0" anchor="t"/>
          <a:lstStyle/>
          <a:p>
            <a:pPr indent="0" marL="0">
              <a:buNone/>
            </a:pPr>
            <a:r>
              <a:rPr lang="en-US" sz="1600" b="1" dirty="0">
                <a:solidFill>
                  <a:schemeClr val="accent1"/>
                </a:solidFill>
              </a:rPr>
              <a:t>Water applications</a:t>
            </a:r>
            <a:endParaRPr lang="en-US" sz="1600" dirty="0"/>
          </a:p>
        </p:txBody>
      </p:sp>
      <p:sp>
        <p:nvSpPr>
          <p:cNvPr id="28" name="text-424"/>
          <p:cNvSpPr txBox="1"/>
          <p:nvPr/>
        </p:nvSpPr>
        <p:spPr>
          <a:xfrm>
            <a:off x="6263640" y="5120640"/>
            <a:ext cx="5212080" cy="1005840"/>
          </a:xfrm>
          <a:prstGeom prst="rect">
            <a:avLst/>
          </a:prstGeom>
          <a:noFill/>
          <a:ln/>
        </p:spPr>
        <p:txBody>
          <a:bodyPr wrap="square" lIns="635" tIns="635" rIns="635" bIns="635" rtlCol="0" anchor="t"/>
          <a:lstStyle/>
          <a:p>
            <a:pPr indent="0" marL="0">
              <a:buNone/>
            </a:pPr>
            <a:r>
              <a:rPr lang="en-US" sz="1400" dirty="0">
                <a:solidFill>
                  <a:schemeClr val="tx1"/>
                </a:solidFill>
              </a:rPr>
              <a:t>Crop coefficients (Kc = ETa/ET₀), irrigation scheduling, water productivity, drought/stress indices (EF, β)</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Likely interview questions</a:t>
            </a:r>
            <a:endParaRPr lang="en-US" sz="3000" dirty="0"/>
          </a:p>
        </p:txBody>
      </p:sp>
      <p:sp>
        <p:nvSpPr>
          <p:cNvPr id="3" name="card-425"/>
          <p:cNvSpPr/>
          <p:nvPr/>
        </p:nvSpPr>
        <p:spPr>
          <a:xfrm>
            <a:off x="502920" y="1188720"/>
            <a:ext cx="5486400" cy="1572768"/>
          </a:xfrm>
          <a:prstGeom prst="roundRect">
            <a:avLst>
              <a:gd name="adj" fmla="val 4651"/>
            </a:avLst>
          </a:prstGeom>
          <a:solidFill>
            <a:schemeClr val="bg2"/>
          </a:solidFill>
          <a:ln w="6350">
            <a:solidFill>
              <a:schemeClr val="bg2"/>
            </a:solidFill>
            <a:prstDash val="solid"/>
          </a:ln>
        </p:spPr>
      </p:sp>
      <p:sp>
        <p:nvSpPr>
          <p:cNvPr id="4" name="text-426"/>
          <p:cNvSpPr txBox="1"/>
          <p:nvPr/>
        </p:nvSpPr>
        <p:spPr>
          <a:xfrm>
            <a:off x="640080" y="1261872"/>
            <a:ext cx="5212080" cy="548640"/>
          </a:xfrm>
          <a:prstGeom prst="rect">
            <a:avLst/>
          </a:prstGeom>
          <a:noFill/>
          <a:ln/>
        </p:spPr>
        <p:txBody>
          <a:bodyPr wrap="square" lIns="635" tIns="635" rIns="635" bIns="635" rtlCol="0" anchor="t"/>
          <a:lstStyle/>
          <a:p>
            <a:pPr indent="0" marL="0">
              <a:buNone/>
            </a:pPr>
            <a:r>
              <a:rPr lang="en-US" sz="1500" b="1" dirty="0">
                <a:solidFill>
                  <a:schemeClr val="tx2"/>
                </a:solidFill>
              </a:rPr>
              <a:t>Q. Why is the EC flux written as ρ·mean(w′s′)?</a:t>
            </a:r>
            <a:endParaRPr lang="en-US" sz="1500" dirty="0"/>
          </a:p>
        </p:txBody>
      </p:sp>
      <p:sp>
        <p:nvSpPr>
          <p:cNvPr id="5" name="text-427"/>
          <p:cNvSpPr txBox="1"/>
          <p:nvPr/>
        </p:nvSpPr>
        <p:spPr>
          <a:xfrm>
            <a:off x="640080" y="1828800"/>
            <a:ext cx="5212080" cy="896112"/>
          </a:xfrm>
          <a:prstGeom prst="rect">
            <a:avLst/>
          </a:prstGeom>
          <a:noFill/>
          <a:ln/>
        </p:spPr>
        <p:txBody>
          <a:bodyPr wrap="square" lIns="635" tIns="635" rIns="635" bIns="635" rtlCol="0" anchor="t"/>
          <a:lstStyle/>
          <a:p>
            <a:pPr indent="0" marL="0">
              <a:buNone/>
            </a:pPr>
            <a:r>
              <a:rPr lang="en-US" sz="1400" dirty="0">
                <a:solidFill>
                  <a:schemeClr val="tx1"/>
                </a:solidFill>
              </a:rPr>
              <a:t>Reynolds decomposition: mean of deviations is zero and w̄ ≈ 0 over flat terrain, so only the covariance term carries net transport.</a:t>
            </a:r>
            <a:endParaRPr lang="en-US" sz="1400" dirty="0"/>
          </a:p>
        </p:txBody>
      </p:sp>
      <p:sp>
        <p:nvSpPr>
          <p:cNvPr id="6" name="card-428"/>
          <p:cNvSpPr/>
          <p:nvPr/>
        </p:nvSpPr>
        <p:spPr>
          <a:xfrm>
            <a:off x="6126480" y="1188720"/>
            <a:ext cx="5486400" cy="1572768"/>
          </a:xfrm>
          <a:prstGeom prst="roundRect">
            <a:avLst>
              <a:gd name="adj" fmla="val 4651"/>
            </a:avLst>
          </a:prstGeom>
          <a:solidFill>
            <a:schemeClr val="bg2"/>
          </a:solidFill>
          <a:ln w="6350">
            <a:solidFill>
              <a:schemeClr val="bg2"/>
            </a:solidFill>
            <a:prstDash val="solid"/>
          </a:ln>
        </p:spPr>
      </p:sp>
      <p:sp>
        <p:nvSpPr>
          <p:cNvPr id="7" name="text-429"/>
          <p:cNvSpPr txBox="1"/>
          <p:nvPr/>
        </p:nvSpPr>
        <p:spPr>
          <a:xfrm>
            <a:off x="6263640" y="1261872"/>
            <a:ext cx="5212080" cy="548640"/>
          </a:xfrm>
          <a:prstGeom prst="rect">
            <a:avLst/>
          </a:prstGeom>
          <a:noFill/>
          <a:ln/>
        </p:spPr>
        <p:txBody>
          <a:bodyPr wrap="square" lIns="635" tIns="635" rIns="635" bIns="635" rtlCol="0" anchor="t"/>
          <a:lstStyle/>
          <a:p>
            <a:pPr indent="0" marL="0">
              <a:buNone/>
            </a:pPr>
            <a:r>
              <a:rPr lang="en-US" sz="1500" b="1" dirty="0">
                <a:solidFill>
                  <a:schemeClr val="tx2"/>
                </a:solidFill>
              </a:rPr>
              <a:t>Q. What is the WPL correction?</a:t>
            </a:r>
            <a:endParaRPr lang="en-US" sz="1500" dirty="0"/>
          </a:p>
        </p:txBody>
      </p:sp>
      <p:sp>
        <p:nvSpPr>
          <p:cNvPr id="8" name="text-430"/>
          <p:cNvSpPr txBox="1"/>
          <p:nvPr/>
        </p:nvSpPr>
        <p:spPr>
          <a:xfrm>
            <a:off x="6263640" y="1828800"/>
            <a:ext cx="5212080" cy="896112"/>
          </a:xfrm>
          <a:prstGeom prst="rect">
            <a:avLst/>
          </a:prstGeom>
          <a:noFill/>
          <a:ln/>
        </p:spPr>
        <p:txBody>
          <a:bodyPr wrap="square" lIns="635" tIns="635" rIns="635" bIns="635" rtlCol="0" anchor="t"/>
          <a:lstStyle/>
          <a:p>
            <a:pPr indent="0" marL="0">
              <a:buNone/>
            </a:pPr>
            <a:r>
              <a:rPr lang="en-US" sz="1400" dirty="0">
                <a:solidFill>
                  <a:schemeClr val="tx1"/>
                </a:solidFill>
              </a:rPr>
              <a:t>Corrects gas density fluctuations caused by heat and water vapour changing air density (open-path sensors).</a:t>
            </a:r>
            <a:endParaRPr lang="en-US" sz="1400" dirty="0"/>
          </a:p>
        </p:txBody>
      </p:sp>
      <p:sp>
        <p:nvSpPr>
          <p:cNvPr id="9" name="card-431"/>
          <p:cNvSpPr/>
          <p:nvPr/>
        </p:nvSpPr>
        <p:spPr>
          <a:xfrm>
            <a:off x="502920" y="2880360"/>
            <a:ext cx="5486400" cy="1572768"/>
          </a:xfrm>
          <a:prstGeom prst="roundRect">
            <a:avLst>
              <a:gd name="adj" fmla="val 4651"/>
            </a:avLst>
          </a:prstGeom>
          <a:solidFill>
            <a:schemeClr val="bg2"/>
          </a:solidFill>
          <a:ln w="6350">
            <a:solidFill>
              <a:schemeClr val="bg2"/>
            </a:solidFill>
            <a:prstDash val="solid"/>
          </a:ln>
        </p:spPr>
      </p:sp>
      <p:sp>
        <p:nvSpPr>
          <p:cNvPr id="10" name="text-432"/>
          <p:cNvSpPr txBox="1"/>
          <p:nvPr/>
        </p:nvSpPr>
        <p:spPr>
          <a:xfrm>
            <a:off x="640080" y="2953512"/>
            <a:ext cx="5212080" cy="548640"/>
          </a:xfrm>
          <a:prstGeom prst="rect">
            <a:avLst/>
          </a:prstGeom>
          <a:noFill/>
          <a:ln/>
        </p:spPr>
        <p:txBody>
          <a:bodyPr wrap="square" lIns="635" tIns="635" rIns="635" bIns="635" rtlCol="0" anchor="t"/>
          <a:lstStyle/>
          <a:p>
            <a:pPr indent="0" marL="0">
              <a:buNone/>
            </a:pPr>
            <a:r>
              <a:rPr lang="en-US" sz="1500" b="1" dirty="0">
                <a:solidFill>
                  <a:schemeClr val="tx2"/>
                </a:solidFill>
              </a:rPr>
              <a:t>Q. Why does the energy balance not close?</a:t>
            </a:r>
            <a:endParaRPr lang="en-US" sz="1500" dirty="0"/>
          </a:p>
        </p:txBody>
      </p:sp>
      <p:sp>
        <p:nvSpPr>
          <p:cNvPr id="11" name="text-433"/>
          <p:cNvSpPr txBox="1"/>
          <p:nvPr/>
        </p:nvSpPr>
        <p:spPr>
          <a:xfrm>
            <a:off x="640080" y="3520440"/>
            <a:ext cx="5212080" cy="896112"/>
          </a:xfrm>
          <a:prstGeom prst="rect">
            <a:avLst/>
          </a:prstGeom>
          <a:noFill/>
          <a:ln/>
        </p:spPr>
        <p:txBody>
          <a:bodyPr wrap="square" lIns="635" tIns="635" rIns="635" bIns="635" rtlCol="0" anchor="t"/>
          <a:lstStyle/>
          <a:p>
            <a:pPr indent="0" marL="0">
              <a:buNone/>
            </a:pPr>
            <a:r>
              <a:rPr lang="en-US" sz="1400" dirty="0">
                <a:solidFill>
                  <a:schemeClr val="tx1"/>
                </a:solidFill>
              </a:rPr>
              <a:t>Storage terms, large eddies/advection, footprint mismatch, instrument errors; EBR typically 0.7–0.9.</a:t>
            </a:r>
            <a:endParaRPr lang="en-US" sz="1400" dirty="0"/>
          </a:p>
        </p:txBody>
      </p:sp>
      <p:sp>
        <p:nvSpPr>
          <p:cNvPr id="12" name="card-434"/>
          <p:cNvSpPr/>
          <p:nvPr/>
        </p:nvSpPr>
        <p:spPr>
          <a:xfrm>
            <a:off x="6126480" y="2880360"/>
            <a:ext cx="5486400" cy="1572768"/>
          </a:xfrm>
          <a:prstGeom prst="roundRect">
            <a:avLst>
              <a:gd name="adj" fmla="val 4651"/>
            </a:avLst>
          </a:prstGeom>
          <a:solidFill>
            <a:schemeClr val="bg2"/>
          </a:solidFill>
          <a:ln w="6350">
            <a:solidFill>
              <a:schemeClr val="bg2"/>
            </a:solidFill>
            <a:prstDash val="solid"/>
          </a:ln>
        </p:spPr>
      </p:sp>
      <p:sp>
        <p:nvSpPr>
          <p:cNvPr id="13" name="text-435"/>
          <p:cNvSpPr txBox="1"/>
          <p:nvPr/>
        </p:nvSpPr>
        <p:spPr>
          <a:xfrm>
            <a:off x="6263640" y="2953512"/>
            <a:ext cx="5212080" cy="548640"/>
          </a:xfrm>
          <a:prstGeom prst="rect">
            <a:avLst/>
          </a:prstGeom>
          <a:noFill/>
          <a:ln/>
        </p:spPr>
        <p:txBody>
          <a:bodyPr wrap="square" lIns="635" tIns="635" rIns="635" bIns="635" rtlCol="0" anchor="t"/>
          <a:lstStyle/>
          <a:p>
            <a:pPr indent="0" marL="0">
              <a:buNone/>
            </a:pPr>
            <a:r>
              <a:rPr lang="en-US" sz="1500" b="1" dirty="0">
                <a:solidFill>
                  <a:schemeClr val="tx2"/>
                </a:solidFill>
              </a:rPr>
              <a:t>Q. Why does LAS use 880 nm?</a:t>
            </a:r>
            <a:endParaRPr lang="en-US" sz="1500" dirty="0"/>
          </a:p>
        </p:txBody>
      </p:sp>
      <p:sp>
        <p:nvSpPr>
          <p:cNvPr id="14" name="text-436"/>
          <p:cNvSpPr txBox="1"/>
          <p:nvPr/>
        </p:nvSpPr>
        <p:spPr>
          <a:xfrm>
            <a:off x="6263640" y="3520440"/>
            <a:ext cx="5212080" cy="896112"/>
          </a:xfrm>
          <a:prstGeom prst="rect">
            <a:avLst/>
          </a:prstGeom>
          <a:noFill/>
          <a:ln/>
        </p:spPr>
        <p:txBody>
          <a:bodyPr wrap="square" lIns="635" tIns="635" rIns="635" bIns="635" rtlCol="0" anchor="t"/>
          <a:lstStyle/>
          <a:p>
            <a:pPr indent="0" marL="0">
              <a:buNone/>
            </a:pPr>
            <a:r>
              <a:rPr lang="en-US" sz="1400" dirty="0">
                <a:solidFill>
                  <a:schemeClr val="tx1"/>
                </a:solidFill>
              </a:rPr>
              <a:t>Near-IR refractive index fluctuations are dominated by temperature, so Cn² relates to H.</a:t>
            </a:r>
            <a:endParaRPr lang="en-US" sz="1400" dirty="0"/>
          </a:p>
        </p:txBody>
      </p:sp>
      <p:sp>
        <p:nvSpPr>
          <p:cNvPr id="15" name="card-437"/>
          <p:cNvSpPr/>
          <p:nvPr/>
        </p:nvSpPr>
        <p:spPr>
          <a:xfrm>
            <a:off x="502920" y="4572000"/>
            <a:ext cx="5486400" cy="1572768"/>
          </a:xfrm>
          <a:prstGeom prst="roundRect">
            <a:avLst>
              <a:gd name="adj" fmla="val 4651"/>
            </a:avLst>
          </a:prstGeom>
          <a:solidFill>
            <a:schemeClr val="bg2"/>
          </a:solidFill>
          <a:ln w="6350">
            <a:solidFill>
              <a:schemeClr val="bg2"/>
            </a:solidFill>
            <a:prstDash val="solid"/>
          </a:ln>
        </p:spPr>
      </p:sp>
      <p:sp>
        <p:nvSpPr>
          <p:cNvPr id="16" name="text-438"/>
          <p:cNvSpPr txBox="1"/>
          <p:nvPr/>
        </p:nvSpPr>
        <p:spPr>
          <a:xfrm>
            <a:off x="640080" y="4645152"/>
            <a:ext cx="5212080" cy="548640"/>
          </a:xfrm>
          <a:prstGeom prst="rect">
            <a:avLst/>
          </a:prstGeom>
          <a:noFill/>
          <a:ln/>
        </p:spPr>
        <p:txBody>
          <a:bodyPr wrap="square" lIns="635" tIns="635" rIns="635" bIns="635" rtlCol="0" anchor="t"/>
          <a:lstStyle/>
          <a:p>
            <a:pPr indent="0" marL="0">
              <a:buNone/>
            </a:pPr>
            <a:r>
              <a:rPr lang="en-US" sz="1500" b="1" dirty="0">
                <a:solidFill>
                  <a:schemeClr val="tx2"/>
                </a:solidFill>
              </a:rPr>
              <a:t>Q. What is saturation in LAS?</a:t>
            </a:r>
            <a:endParaRPr lang="en-US" sz="1500" dirty="0"/>
          </a:p>
        </p:txBody>
      </p:sp>
      <p:sp>
        <p:nvSpPr>
          <p:cNvPr id="17" name="text-439"/>
          <p:cNvSpPr txBox="1"/>
          <p:nvPr/>
        </p:nvSpPr>
        <p:spPr>
          <a:xfrm>
            <a:off x="640080" y="5212080"/>
            <a:ext cx="5212080" cy="896112"/>
          </a:xfrm>
          <a:prstGeom prst="rect">
            <a:avLst/>
          </a:prstGeom>
          <a:noFill/>
          <a:ln/>
        </p:spPr>
        <p:txBody>
          <a:bodyPr wrap="square" lIns="635" tIns="635" rIns="635" bIns="635" rtlCol="0" anchor="t"/>
          <a:lstStyle/>
          <a:p>
            <a:pPr indent="0" marL="0">
              <a:buNone/>
            </a:pPr>
            <a:r>
              <a:rPr lang="en-US" sz="1400" dirty="0">
                <a:solidFill>
                  <a:schemeClr val="tx1"/>
                </a:solidFill>
              </a:rPr>
              <a:t>Scintillation too strong for weak-scattering theory; raise the beam or shorten the path.</a:t>
            </a:r>
            <a:endParaRPr lang="en-US" sz="1400" dirty="0"/>
          </a:p>
        </p:txBody>
      </p:sp>
      <p:sp>
        <p:nvSpPr>
          <p:cNvPr id="18" name="card-440"/>
          <p:cNvSpPr/>
          <p:nvPr/>
        </p:nvSpPr>
        <p:spPr>
          <a:xfrm>
            <a:off x="6126480" y="4572000"/>
            <a:ext cx="5486400" cy="1572768"/>
          </a:xfrm>
          <a:prstGeom prst="roundRect">
            <a:avLst>
              <a:gd name="adj" fmla="val 4651"/>
            </a:avLst>
          </a:prstGeom>
          <a:solidFill>
            <a:schemeClr val="bg2"/>
          </a:solidFill>
          <a:ln w="6350">
            <a:solidFill>
              <a:schemeClr val="bg2"/>
            </a:solidFill>
            <a:prstDash val="solid"/>
          </a:ln>
        </p:spPr>
      </p:sp>
      <p:sp>
        <p:nvSpPr>
          <p:cNvPr id="19" name="text-441"/>
          <p:cNvSpPr txBox="1"/>
          <p:nvPr/>
        </p:nvSpPr>
        <p:spPr>
          <a:xfrm>
            <a:off x="6263640" y="4645152"/>
            <a:ext cx="5212080" cy="548640"/>
          </a:xfrm>
          <a:prstGeom prst="rect">
            <a:avLst/>
          </a:prstGeom>
          <a:noFill/>
          <a:ln/>
        </p:spPr>
        <p:txBody>
          <a:bodyPr wrap="square" lIns="635" tIns="635" rIns="635" bIns="635" rtlCol="0" anchor="t"/>
          <a:lstStyle/>
          <a:p>
            <a:pPr indent="0" marL="0">
              <a:buNone/>
            </a:pPr>
            <a:r>
              <a:rPr lang="en-US" sz="1500" b="1" dirty="0">
                <a:solidFill>
                  <a:schemeClr val="tx2"/>
                </a:solidFill>
              </a:rPr>
              <a:t>Q. How is LE obtained with LAS?</a:t>
            </a:r>
            <a:endParaRPr lang="en-US" sz="1500" dirty="0"/>
          </a:p>
        </p:txBody>
      </p:sp>
      <p:sp>
        <p:nvSpPr>
          <p:cNvPr id="20" name="text-442"/>
          <p:cNvSpPr txBox="1"/>
          <p:nvPr/>
        </p:nvSpPr>
        <p:spPr>
          <a:xfrm>
            <a:off x="6263640" y="5212080"/>
            <a:ext cx="5212080" cy="896112"/>
          </a:xfrm>
          <a:prstGeom prst="rect">
            <a:avLst/>
          </a:prstGeom>
          <a:noFill/>
          <a:ln/>
        </p:spPr>
        <p:txBody>
          <a:bodyPr wrap="square" lIns="635" tIns="635" rIns="635" bIns="635" rtlCol="0" anchor="t"/>
          <a:lstStyle/>
          <a:p>
            <a:pPr indent="0" marL="0">
              <a:buNone/>
            </a:pPr>
            <a:r>
              <a:rPr lang="en-US" sz="1400" dirty="0">
                <a:solidFill>
                  <a:schemeClr val="tx1"/>
                </a:solidFill>
              </a:rPr>
              <a:t>As the residual LE = Rn − G − H using an AWS net radiometer and soil heat flux plates.</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Key numbers to remember</a:t>
            </a:r>
            <a:endParaRPr lang="en-US" sz="4000" dirty="0"/>
          </a:p>
        </p:txBody>
      </p:sp>
      <p:sp>
        <p:nvSpPr>
          <p:cNvPr id="3" name="text-443"/>
          <p:cNvSpPr txBox="1"/>
          <p:nvPr/>
        </p:nvSpPr>
        <p:spPr>
          <a:xfrm>
            <a:off x="731520" y="3657600"/>
            <a:ext cx="2560320" cy="594360"/>
          </a:xfrm>
          <a:prstGeom prst="rect">
            <a:avLst/>
          </a:prstGeom>
          <a:noFill/>
          <a:ln/>
        </p:spPr>
        <p:txBody>
          <a:bodyPr wrap="square" lIns="635" tIns="635" rIns="635" bIns="635"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10 Hz</a:t>
            </a:r>
            <a:endParaRPr lang="en-US" sz="2600" dirty="0"/>
          </a:p>
        </p:txBody>
      </p:sp>
      <p:sp>
        <p:nvSpPr>
          <p:cNvPr id="4" name="text-444"/>
          <p:cNvSpPr txBox="1"/>
          <p:nvPr/>
        </p:nvSpPr>
        <p:spPr>
          <a:xfrm>
            <a:off x="731520" y="4251960"/>
            <a:ext cx="2560320" cy="457200"/>
          </a:xfrm>
          <a:prstGeom prst="rect">
            <a:avLst/>
          </a:prstGeom>
          <a:noFill/>
          <a:ln/>
        </p:spPr>
        <p:txBody>
          <a:bodyPr wrap="square" lIns="635" tIns="635" rIns="635" bIns="635" rtlCol="0" anchor="t"/>
          <a:lstStyle/>
          <a:p>
            <a:pPr indent="0" marL="0">
              <a:buNone/>
            </a:pPr>
            <a:r>
              <a:rPr lang="en-US" sz="1400" dirty="0">
                <a:solidFill>
                  <a:schemeClr val="bg2"/>
                </a:solidFill>
              </a:rPr>
              <a:t>EC sampling; 30-min averaging</a:t>
            </a:r>
            <a:endParaRPr lang="en-US" sz="1400" dirty="0"/>
          </a:p>
        </p:txBody>
      </p:sp>
      <p:sp>
        <p:nvSpPr>
          <p:cNvPr id="5" name="text-445"/>
          <p:cNvSpPr txBox="1"/>
          <p:nvPr/>
        </p:nvSpPr>
        <p:spPr>
          <a:xfrm>
            <a:off x="3474720" y="3657600"/>
            <a:ext cx="2560320" cy="594360"/>
          </a:xfrm>
          <a:prstGeom prst="rect">
            <a:avLst/>
          </a:prstGeom>
          <a:noFill/>
          <a:ln/>
        </p:spPr>
        <p:txBody>
          <a:bodyPr wrap="square" lIns="635" tIns="635" rIns="635" bIns="635"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100 × z</a:t>
            </a:r>
            <a:endParaRPr lang="en-US" sz="2600" dirty="0"/>
          </a:p>
        </p:txBody>
      </p:sp>
      <p:sp>
        <p:nvSpPr>
          <p:cNvPr id="6" name="text-446"/>
          <p:cNvSpPr txBox="1"/>
          <p:nvPr/>
        </p:nvSpPr>
        <p:spPr>
          <a:xfrm>
            <a:off x="3474720" y="4251960"/>
            <a:ext cx="2560320" cy="457200"/>
          </a:xfrm>
          <a:prstGeom prst="rect">
            <a:avLst/>
          </a:prstGeom>
          <a:noFill/>
          <a:ln/>
        </p:spPr>
        <p:txBody>
          <a:bodyPr wrap="square" lIns="635" tIns="635" rIns="635" bIns="635" rtlCol="0" anchor="t"/>
          <a:lstStyle/>
          <a:p>
            <a:pPr indent="0" marL="0">
              <a:buNone/>
            </a:pPr>
            <a:r>
              <a:rPr lang="en-US" sz="1400" dirty="0">
                <a:solidFill>
                  <a:schemeClr val="bg2"/>
                </a:solidFill>
              </a:rPr>
              <a:t>EC fetch rule of thumb</a:t>
            </a:r>
            <a:endParaRPr lang="en-US" sz="1400" dirty="0"/>
          </a:p>
        </p:txBody>
      </p:sp>
      <p:sp>
        <p:nvSpPr>
          <p:cNvPr id="7" name="text-447"/>
          <p:cNvSpPr txBox="1"/>
          <p:nvPr/>
        </p:nvSpPr>
        <p:spPr>
          <a:xfrm>
            <a:off x="6217920" y="3657600"/>
            <a:ext cx="2560320" cy="594360"/>
          </a:xfrm>
          <a:prstGeom prst="rect">
            <a:avLst/>
          </a:prstGeom>
          <a:noFill/>
          <a:ln/>
        </p:spPr>
        <p:txBody>
          <a:bodyPr wrap="square" lIns="635" tIns="635" rIns="635" bIns="635"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0.67–0.7 h</a:t>
            </a:r>
            <a:endParaRPr lang="en-US" sz="2600" dirty="0"/>
          </a:p>
        </p:txBody>
      </p:sp>
      <p:sp>
        <p:nvSpPr>
          <p:cNvPr id="8" name="text-448"/>
          <p:cNvSpPr txBox="1"/>
          <p:nvPr/>
        </p:nvSpPr>
        <p:spPr>
          <a:xfrm>
            <a:off x="6217920" y="4251960"/>
            <a:ext cx="2560320" cy="457200"/>
          </a:xfrm>
          <a:prstGeom prst="rect">
            <a:avLst/>
          </a:prstGeom>
          <a:noFill/>
          <a:ln/>
        </p:spPr>
        <p:txBody>
          <a:bodyPr wrap="square" lIns="635" tIns="635" rIns="635" bIns="635" rtlCol="0" anchor="t"/>
          <a:lstStyle/>
          <a:p>
            <a:pPr indent="0" marL="0">
              <a:buNone/>
            </a:pPr>
            <a:r>
              <a:rPr lang="en-US" sz="1400" dirty="0">
                <a:solidFill>
                  <a:schemeClr val="bg2"/>
                </a:solidFill>
              </a:rPr>
              <a:t>Zero-plane displacement d</a:t>
            </a:r>
            <a:endParaRPr lang="en-US" sz="1400" dirty="0"/>
          </a:p>
        </p:txBody>
      </p:sp>
      <p:sp>
        <p:nvSpPr>
          <p:cNvPr id="9" name="text-449"/>
          <p:cNvSpPr txBox="1"/>
          <p:nvPr/>
        </p:nvSpPr>
        <p:spPr>
          <a:xfrm>
            <a:off x="8961120" y="3657600"/>
            <a:ext cx="2560320" cy="594360"/>
          </a:xfrm>
          <a:prstGeom prst="rect">
            <a:avLst/>
          </a:prstGeom>
          <a:noFill/>
          <a:ln/>
        </p:spPr>
        <p:txBody>
          <a:bodyPr wrap="square" lIns="635" tIns="635" rIns="635" bIns="635"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0.1 h</a:t>
            </a:r>
            <a:endParaRPr lang="en-US" sz="2600" dirty="0"/>
          </a:p>
        </p:txBody>
      </p:sp>
      <p:sp>
        <p:nvSpPr>
          <p:cNvPr id="10" name="text-450"/>
          <p:cNvSpPr txBox="1"/>
          <p:nvPr/>
        </p:nvSpPr>
        <p:spPr>
          <a:xfrm>
            <a:off x="8961120" y="4251960"/>
            <a:ext cx="2560320" cy="457200"/>
          </a:xfrm>
          <a:prstGeom prst="rect">
            <a:avLst/>
          </a:prstGeom>
          <a:noFill/>
          <a:ln/>
        </p:spPr>
        <p:txBody>
          <a:bodyPr wrap="square" lIns="635" tIns="635" rIns="635" bIns="635" rtlCol="0" anchor="t"/>
          <a:lstStyle/>
          <a:p>
            <a:pPr indent="0" marL="0">
              <a:buNone/>
            </a:pPr>
            <a:r>
              <a:rPr lang="en-US" sz="1400" dirty="0">
                <a:solidFill>
                  <a:schemeClr val="bg2"/>
                </a:solidFill>
              </a:rPr>
              <a:t>Roughness length z₀</a:t>
            </a:r>
            <a:endParaRPr lang="en-US" sz="1400" dirty="0"/>
          </a:p>
        </p:txBody>
      </p:sp>
      <p:sp>
        <p:nvSpPr>
          <p:cNvPr id="11" name="text-451"/>
          <p:cNvSpPr txBox="1"/>
          <p:nvPr/>
        </p:nvSpPr>
        <p:spPr>
          <a:xfrm>
            <a:off x="731520" y="4983480"/>
            <a:ext cx="2560320" cy="594360"/>
          </a:xfrm>
          <a:prstGeom prst="rect">
            <a:avLst/>
          </a:prstGeom>
          <a:noFill/>
          <a:ln/>
        </p:spPr>
        <p:txBody>
          <a:bodyPr wrap="square" lIns="635" tIns="635" rIns="635" bIns="635"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880 nm</a:t>
            </a:r>
            <a:endParaRPr lang="en-US" sz="2600" dirty="0"/>
          </a:p>
        </p:txBody>
      </p:sp>
      <p:sp>
        <p:nvSpPr>
          <p:cNvPr id="12" name="text-452"/>
          <p:cNvSpPr txBox="1"/>
          <p:nvPr/>
        </p:nvSpPr>
        <p:spPr>
          <a:xfrm>
            <a:off x="731520" y="5577840"/>
            <a:ext cx="2560320" cy="457200"/>
          </a:xfrm>
          <a:prstGeom prst="rect">
            <a:avLst/>
          </a:prstGeom>
          <a:noFill/>
          <a:ln/>
        </p:spPr>
        <p:txBody>
          <a:bodyPr wrap="square" lIns="635" tIns="635" rIns="635" bIns="635" rtlCol="0" anchor="t"/>
          <a:lstStyle/>
          <a:p>
            <a:pPr indent="0" marL="0">
              <a:buNone/>
            </a:pPr>
            <a:r>
              <a:rPr lang="en-US" sz="1400" dirty="0">
                <a:solidFill>
                  <a:schemeClr val="bg2"/>
                </a:solidFill>
              </a:rPr>
              <a:t>LAS LED wavelength</a:t>
            </a:r>
            <a:endParaRPr lang="en-US" sz="1400" dirty="0"/>
          </a:p>
        </p:txBody>
      </p:sp>
      <p:sp>
        <p:nvSpPr>
          <p:cNvPr id="13" name="text-453"/>
          <p:cNvSpPr txBox="1"/>
          <p:nvPr/>
        </p:nvSpPr>
        <p:spPr>
          <a:xfrm>
            <a:off x="3474720" y="4983480"/>
            <a:ext cx="2560320" cy="594360"/>
          </a:xfrm>
          <a:prstGeom prst="rect">
            <a:avLst/>
          </a:prstGeom>
          <a:noFill/>
          <a:ln/>
        </p:spPr>
        <p:txBody>
          <a:bodyPr wrap="square" lIns="635" tIns="635" rIns="635" bIns="635"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0.25–4.5 km</a:t>
            </a:r>
            <a:endParaRPr lang="en-US" sz="2600" dirty="0"/>
          </a:p>
        </p:txBody>
      </p:sp>
      <p:sp>
        <p:nvSpPr>
          <p:cNvPr id="14" name="text-454"/>
          <p:cNvSpPr txBox="1"/>
          <p:nvPr/>
        </p:nvSpPr>
        <p:spPr>
          <a:xfrm>
            <a:off x="3474720" y="5577840"/>
            <a:ext cx="2560320" cy="457200"/>
          </a:xfrm>
          <a:prstGeom prst="rect">
            <a:avLst/>
          </a:prstGeom>
          <a:noFill/>
          <a:ln/>
        </p:spPr>
        <p:txBody>
          <a:bodyPr wrap="square" lIns="635" tIns="635" rIns="635" bIns="635" rtlCol="0" anchor="t"/>
          <a:lstStyle/>
          <a:p>
            <a:pPr indent="0" marL="0">
              <a:buNone/>
            </a:pPr>
            <a:r>
              <a:rPr lang="en-US" sz="1400" dirty="0">
                <a:solidFill>
                  <a:schemeClr val="bg2"/>
                </a:solidFill>
              </a:rPr>
              <a:t>LAS path (XLAS to 8 km)</a:t>
            </a:r>
            <a:endParaRPr lang="en-US" sz="1400" dirty="0"/>
          </a:p>
        </p:txBody>
      </p:sp>
      <p:sp>
        <p:nvSpPr>
          <p:cNvPr id="15" name="text-455"/>
          <p:cNvSpPr txBox="1"/>
          <p:nvPr/>
        </p:nvSpPr>
        <p:spPr>
          <a:xfrm>
            <a:off x="6217920" y="4983480"/>
            <a:ext cx="2560320" cy="594360"/>
          </a:xfrm>
          <a:prstGeom prst="rect">
            <a:avLst/>
          </a:prstGeom>
          <a:noFill/>
          <a:ln/>
        </p:spPr>
        <p:txBody>
          <a:bodyPr wrap="square" lIns="635" tIns="635" rIns="635" bIns="635"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~0.1 m s⁻¹</a:t>
            </a:r>
            <a:endParaRPr lang="en-US" sz="2600" dirty="0"/>
          </a:p>
        </p:txBody>
      </p:sp>
      <p:sp>
        <p:nvSpPr>
          <p:cNvPr id="16" name="text-456"/>
          <p:cNvSpPr txBox="1"/>
          <p:nvPr/>
        </p:nvSpPr>
        <p:spPr>
          <a:xfrm>
            <a:off x="6217920" y="5577840"/>
            <a:ext cx="2560320" cy="457200"/>
          </a:xfrm>
          <a:prstGeom prst="rect">
            <a:avLst/>
          </a:prstGeom>
          <a:noFill/>
          <a:ln/>
        </p:spPr>
        <p:txBody>
          <a:bodyPr wrap="square" lIns="635" tIns="635" rIns="635" bIns="635" rtlCol="0" anchor="t"/>
          <a:lstStyle/>
          <a:p>
            <a:pPr indent="0" marL="0">
              <a:buNone/>
            </a:pPr>
            <a:r>
              <a:rPr lang="en-US" sz="1400" dirty="0">
                <a:solidFill>
                  <a:schemeClr val="bg2"/>
                </a:solidFill>
              </a:rPr>
              <a:t>u* threshold for night data</a:t>
            </a:r>
            <a:endParaRPr lang="en-US" sz="1400" dirty="0"/>
          </a:p>
        </p:txBody>
      </p:sp>
      <p:sp>
        <p:nvSpPr>
          <p:cNvPr id="17" name="text-457"/>
          <p:cNvSpPr txBox="1"/>
          <p:nvPr/>
        </p:nvSpPr>
        <p:spPr>
          <a:xfrm>
            <a:off x="8961120" y="4983480"/>
            <a:ext cx="2560320" cy="594360"/>
          </a:xfrm>
          <a:prstGeom prst="rect">
            <a:avLst/>
          </a:prstGeom>
          <a:noFill/>
          <a:ln/>
        </p:spPr>
        <p:txBody>
          <a:bodyPr wrap="square" lIns="635" tIns="635" rIns="635" bIns="635"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0.7–0.9</a:t>
            </a:r>
            <a:endParaRPr lang="en-US" sz="2600" dirty="0"/>
          </a:p>
        </p:txBody>
      </p:sp>
      <p:sp>
        <p:nvSpPr>
          <p:cNvPr id="18" name="text-458"/>
          <p:cNvSpPr txBox="1"/>
          <p:nvPr/>
        </p:nvSpPr>
        <p:spPr>
          <a:xfrm>
            <a:off x="8961120" y="5577840"/>
            <a:ext cx="2560320" cy="457200"/>
          </a:xfrm>
          <a:prstGeom prst="rect">
            <a:avLst/>
          </a:prstGeom>
          <a:noFill/>
          <a:ln/>
        </p:spPr>
        <p:txBody>
          <a:bodyPr wrap="square" lIns="635" tIns="635" rIns="635" bIns="635" rtlCol="0" anchor="t"/>
          <a:lstStyle/>
          <a:p>
            <a:pPr indent="0" marL="0">
              <a:buNone/>
            </a:pPr>
            <a:r>
              <a:rPr lang="en-US" sz="1400" dirty="0">
                <a:solidFill>
                  <a:schemeClr val="bg2"/>
                </a:solidFill>
              </a:rPr>
              <a:t>Typical energy balance ratio</a:t>
            </a:r>
            <a:endParaRPr lang="en-US" sz="1400" dirty="0"/>
          </a:p>
        </p:txBody>
      </p:sp>
      <p:sp>
        <p:nvSpPr>
          <p:cNvPr id="20" name="Text 0"/>
          <p:cNvSpPr/>
          <p:nvPr>
            <p:ph idx="101" type="body" hasCustomPrompt="1"/>
          </p:nvPr>
        </p:nvSpPr>
        <p:spPr>
          <a:xfrm>
            <a:off x="731520" y="3566160"/>
            <a:ext cx="10698480" cy="128016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theme/theme1.xml><?xml version="1.0" encoding="utf-8"?>
<a:theme xmlns:a="http://schemas.openxmlformats.org/drawingml/2006/main" name="Field Flux">
  <a:themeElements>
    <a:clrScheme name="Field Flux">
      <a:dk1>
        <a:srgbClr val="1B1F1C"/>
      </a:dk1>
      <a:lt1>
        <a:srgbClr val="FFFFFF"/>
      </a:lt1>
      <a:dk2>
        <a:srgbClr val="17352B"/>
      </a:dk2>
      <a:lt2>
        <a:srgbClr val="EEF3EF"/>
      </a:lt2>
      <a:accent1>
        <a:srgbClr val="2E7D4F"/>
      </a:accent1>
      <a:accent2>
        <a:srgbClr val="D9961A"/>
      </a:accent2>
      <a:accent3>
        <a:srgbClr val="2A78AE"/>
      </a:accent3>
      <a:accent4>
        <a:srgbClr val="8A5A3B"/>
      </a:accent4>
      <a:accent5>
        <a:srgbClr val="C9471E"/>
      </a:accent5>
      <a:accent6>
        <a:srgbClr val="5E6E7A"/>
      </a:accent6>
      <a:hlink>
        <a:srgbClr val="2A78AE"/>
      </a:hlink>
      <a:folHlink>
        <a:srgbClr val="5E6E7A"/>
      </a:folHlink>
    </a:clrScheme>
    <a:fontScheme name="Field Flu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Eddy Covariance and Large Aperture Scintillometer in Agriculture</dc:title>
  <dc:subject>PptxGenJS Presentation</dc:subject>
  <dc:creator>ISRO interview preparation</dc:creator>
  <cp:lastModifiedBy>ISRO interview preparation</cp:lastModifiedBy>
  <cp:revision>1</cp:revision>
  <dcterms:created xsi:type="dcterms:W3CDTF">2026-10-28T21:15:51Z</dcterms:created>
  <dcterms:modified xsi:type="dcterms:W3CDTF">2026-10-28T21:15:51Z</dcterms:modified>
</cp:coreProperties>
</file>