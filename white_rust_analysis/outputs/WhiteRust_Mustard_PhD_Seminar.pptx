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5.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8.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2.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3.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charts/chart14.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15.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16.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17.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18.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9.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20.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21.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22.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23.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4.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25.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26.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27.xml" ContentType="application/vnd.openxmlformats-officedocument.drawingml.chart+xml"/>
  <Override PartName="/ppt/charts/chart28.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7f7f1ba-8d00-c84c-871f-aa6b87f592df}">
          <p14:sldIdLst>
            <p14:sldId id="256"/>
            <p14:sldId id="257"/>
          </p14:sldIdLst>
        </p14:section>
        <p14:section name="1. Introduction" id="{ffb1b9b9-e86a-0796-3f7d-c1b3f8993622}">
          <p14:sldIdLst>
            <p14:sldId id="258"/>
            <p14:sldId id="259"/>
            <p14:sldId id="260"/>
          </p14:sldIdLst>
        </p14:section>
        <p14:section name="2. Review of literature" id="{569a73d4-7114-9e96-1393-2a728aac0ba0}">
          <p14:sldIdLst>
            <p14:sldId id="261"/>
            <p14:sldId id="262"/>
            <p14:sldId id="263"/>
          </p14:sldIdLst>
        </p14:section>
        <p14:section name="3. Objectives" id="{58d1ef1c-48f6-6536-21b7-c5cf0483c417}">
          <p14:sldIdLst>
            <p14:sldId id="264"/>
            <p14:sldId id="265"/>
          </p14:sldIdLst>
        </p14:section>
        <p14:section name="4. Materials and methods" id="{d4dd885a-02dc-262b-eba3-691f3b7832f8}">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 name="5. Results" id="{97749710-dedd-f33c-f444-afab9a5bd205}">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6. Discussion and conclusions" id="{2f4c0f3b-a298-e905-c67b-7f8a2d705ef9}">
          <p14:sldIdLst>
            <p14:sldId id="312"/>
            <p14:sldId id="313"/>
            <p14:sldId id="314"/>
            <p14:sldId id="315"/>
            <p14:sldId id="316"/>
            <p14:sldId id="317"/>
            <p14:sldId id="318"/>
            <p14:sldId id="319"/>
          </p14:sldIdLst>
        </p14:section>
        <p14:section name="References" id="{59c68f81-0021-ccf9-9d86-bdbcee9e089b}">
          <p14:sldIdLst>
            <p14:sldId id="320"/>
            <p14:sldId id="321"/>
            <p14:sldId id="322"/>
            <p14:sldId id="323"/>
            <p14:sldId id="324"/>
            <p14:sldId id="325"/>
            <p14:sldId id="326"/>
            <p14:sldId id="327"/>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Spectra by growth stage</a:t>
            </a:r>
          </a:p>
        </c:rich>
      </c:tx>
      <c:layout/>
      <c:overlay val="0"/>
    </c:title>
    <c:autoTitleDeleted val="0"/>
    <c:plotArea>
      <c:layout/>
      <c:barChart>
        <c:barDir val="col"/>
        <c:grouping val="clustered"/>
        <c:varyColors val="0"/>
        <c:ser>
          <c:idx val="0"/>
          <c:order val="0"/>
          <c:tx>
            <c:strRef>
              <c:f>Sheet1!$B$1</c:f>
              <c:strCache>
                <c:ptCount val="1"/>
                <c:pt idx="0">
                  <c:v>Healthy</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Vegetative</c:v>
                  </c:pt>
                  <c:pt idx="1">
                    <c:v>Flowering</c:v>
                  </c:pt>
                  <c:pt idx="2">
                    <c:v>Pod formation</c:v>
                  </c:pt>
                </c:lvl>
              </c:multiLvlStrCache>
            </c:multiLvlStrRef>
          </c:cat>
          <c:val>
            <c:numRef>
              <c:f>Sheet1!$B$2:$B$4</c:f>
              <c:numCache>
                <c:formatCode>General</c:formatCode>
                <c:ptCount val="3"/>
                <c:pt idx="0">
                  <c:v>93</c:v>
                </c:pt>
                <c:pt idx="1">
                  <c:v>195</c:v>
                </c:pt>
                <c:pt idx="2">
                  <c:v>90</c:v>
                </c:pt>
              </c:numCache>
            </c:numRef>
          </c:val>
        </c:ser>
        <c:ser>
          <c:idx val="1"/>
          <c:order val="1"/>
          <c:tx>
            <c:strRef>
              <c:f>Sheet1!$C$1</c:f>
              <c:strCache>
                <c:ptCount val="1"/>
                <c:pt idx="0">
                  <c:v>Diseased</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Vegetative</c:v>
                  </c:pt>
                  <c:pt idx="1">
                    <c:v>Flowering</c:v>
                  </c:pt>
                  <c:pt idx="2">
                    <c:v>Pod formation</c:v>
                  </c:pt>
                </c:lvl>
              </c:multiLvlStrCache>
            </c:multiLvlStrRef>
          </c:cat>
          <c:val>
            <c:numRef>
              <c:f>Sheet1!$C$2:$C$4</c:f>
              <c:numCache>
                <c:formatCode>General</c:formatCode>
                <c:ptCount val="3"/>
                <c:pt idx="0">
                  <c:v>471</c:v>
                </c:pt>
                <c:pt idx="1">
                  <c:v>965</c:v>
                </c:pt>
                <c:pt idx="2">
                  <c:v>525</c:v>
                </c:pt>
              </c:numCache>
            </c:numRef>
          </c:val>
        </c:ser>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Signal-to-noise ratio by region (raw spectra)</a:t>
            </a:r>
          </a:p>
        </c:rich>
      </c:tx>
      <c:layout/>
      <c:overlay val="0"/>
    </c:title>
    <c:autoTitleDeleted val="0"/>
    <c:plotArea>
      <c:layout/>
      <c:barChart>
        <c:barDir val="col"/>
        <c:grouping val="clustered"/>
        <c:varyColors val="0"/>
        <c:ser>
          <c:idx val="0"/>
          <c:order val="0"/>
          <c:tx>
            <c:strRef>
              <c:f>Sheet1!$B$1</c:f>
              <c:strCache>
                <c:ptCount val="1"/>
                <c:pt idx="0">
                  <c:v>SNR</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Sheet1!$A$2:$A$12</c:f>
              <c:multiLvlStrCache>
                <c:ptCount val="11"/>
                <c:lvl>
                  <c:pt idx="0">
                    <c:v>350-400</c:v>
                  </c:pt>
                  <c:pt idx="1">
                    <c:v>400-500</c:v>
                  </c:pt>
                  <c:pt idx="2">
                    <c:v>500-700</c:v>
                  </c:pt>
                  <c:pt idx="3">
                    <c:v>700-1000</c:v>
                  </c:pt>
                  <c:pt idx="4">
                    <c:v>1000-1350</c:v>
                  </c:pt>
                  <c:pt idx="5">
                    <c:v>1350-1450</c:v>
                  </c:pt>
                  <c:pt idx="6">
                    <c:v>1450-1800</c:v>
                  </c:pt>
                  <c:pt idx="7">
                    <c:v>1800-1950</c:v>
                  </c:pt>
                  <c:pt idx="8">
                    <c:v>1950-2350</c:v>
                  </c:pt>
                  <c:pt idx="9">
                    <c:v>2350-2400</c:v>
                  </c:pt>
                  <c:pt idx="10">
                    <c:v>2400-2500</c:v>
                  </c:pt>
                </c:lvl>
              </c:multiLvlStrCache>
            </c:multiLvlStrRef>
          </c:cat>
          <c:val>
            <c:numRef>
              <c:f>Sheet1!$B$2:$B$12</c:f>
              <c:numCache>
                <c:formatCode>General</c:formatCode>
                <c:ptCount val="11"/>
                <c:pt idx="0">
                  <c:v>40</c:v>
                </c:pt>
                <c:pt idx="1">
                  <c:v>234</c:v>
                </c:pt>
                <c:pt idx="2">
                  <c:v>252</c:v>
                </c:pt>
                <c:pt idx="3">
                  <c:v>1584</c:v>
                </c:pt>
                <c:pt idx="4">
                  <c:v>4156</c:v>
                </c:pt>
                <c:pt idx="5">
                  <c:v>386</c:v>
                </c:pt>
                <c:pt idx="6">
                  <c:v>1847</c:v>
                </c:pt>
                <c:pt idx="7">
                  <c:v>469</c:v>
                </c:pt>
                <c:pt idx="8">
                  <c:v>631</c:v>
                </c:pt>
                <c:pt idx="9">
                  <c:v>779</c:v>
                </c:pt>
                <c:pt idx="10">
                  <c:v>698</c:v>
                </c:pt>
              </c:numCache>
            </c:numRef>
          </c:val>
        </c:ser>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3E3"/>
              </a:solidFill>
              <a:prstDash val="solid"/>
              <a:round/>
            </a:ln>
          </c:spPr>
        </c:majorGridlines>
        <c:title>
          <c:tx>
            <c:rich>
              <a:bodyPr/>
              <a:lstStyle/>
              <a:p>
                <a:pPr>
                  <a:defRPr sz="1000" b="0" i="0" u="none" strike="noStrike">
                    <a:solidFill>
                      <a:srgbClr val="555555"/>
                    </a:solidFill>
                    <a:latin typeface="+mn-lt"/>
                  </a:defRPr>
                </a:pPr>
                <a:r>
                  <a:rPr sz="1000" b="0" i="0" u="none" strike="noStrike">
                    <a:solidFill>
                      <a:srgbClr val="555555"/>
                    </a:solidFill>
                    <a:latin typeface="+mn-lt"/>
                  </a:rPr>
                  <a:t>Mean reflectance / noise SD</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Mean reflectance (n = 378 healthy, 1912 diseased)</a:t>
            </a:r>
          </a:p>
        </c:rich>
      </c:tx>
      <c:layout/>
      <c:overlay val="0"/>
    </c:title>
    <c:autoTitleDeleted val="0"/>
    <c:plotArea>
      <c:layout/>
      <c:lineChart>
        <c:varyColors val="0"/>
        <c:ser>
          <c:idx val="0"/>
          <c:order val="0"/>
          <c:tx>
            <c:strRef>
              <c:f>Sheet1!$B$1</c:f>
              <c:strCache>
                <c:ptCount val="1"/>
                <c:pt idx="0">
                  <c:v>Healthy</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0.228208</c:v>
                </c:pt>
                <c:pt idx="1">
                  <c:v>0.222691</c:v>
                </c:pt>
                <c:pt idx="2">
                  <c:v>0.213636</c:v>
                </c:pt>
                <c:pt idx="3">
                  <c:v>0.201597</c:v>
                </c:pt>
                <c:pt idx="4">
                  <c:v>0.188967</c:v>
                </c:pt>
                <c:pt idx="5">
                  <c:v>0.179051</c:v>
                </c:pt>
                <c:pt idx="6">
                  <c:v>0.169419</c:v>
                </c:pt>
                <c:pt idx="7">
                  <c:v>0.159519</c:v>
                </c:pt>
                <c:pt idx="8">
                  <c:v>0.151205</c:v>
                </c:pt>
                <c:pt idx="9">
                  <c:v>0.145433</c:v>
                </c:pt>
                <c:pt idx="10">
                  <c:v>0.145626</c:v>
                </c:pt>
                <c:pt idx="11">
                  <c:v>0.157697</c:v>
                </c:pt>
                <c:pt idx="12">
                  <c:v>0.189444</c:v>
                </c:pt>
                <c:pt idx="13">
                  <c:v>0.227231</c:v>
                </c:pt>
                <c:pt idx="14">
                  <c:v>0.243287</c:v>
                </c:pt>
                <c:pt idx="15">
                  <c:v>0.245484</c:v>
                </c:pt>
                <c:pt idx="16">
                  <c:v>0.234246</c:v>
                </c:pt>
                <c:pt idx="17">
                  <c:v>0.207184</c:v>
                </c:pt>
                <c:pt idx="18">
                  <c:v>0.179607</c:v>
                </c:pt>
                <c:pt idx="19">
                  <c:v>0.163618</c:v>
                </c:pt>
                <c:pt idx="20">
                  <c:v>0.155289</c:v>
                </c:pt>
                <c:pt idx="21">
                  <c:v>0.144056</c:v>
                </c:pt>
                <c:pt idx="22">
                  <c:v>0.131779</c:v>
                </c:pt>
                <c:pt idx="23">
                  <c:v>0.126584</c:v>
                </c:pt>
                <c:pt idx="24">
                  <c:v>0.120535</c:v>
                </c:pt>
                <c:pt idx="25">
                  <c:v>0.110046</c:v>
                </c:pt>
                <c:pt idx="26">
                  <c:v>0.101393</c:v>
                </c:pt>
                <c:pt idx="27">
                  <c:v>0.095279</c:v>
                </c:pt>
                <c:pt idx="28">
                  <c:v>0.097473</c:v>
                </c:pt>
                <c:pt idx="29">
                  <c:v>0.11572</c:v>
                </c:pt>
                <c:pt idx="30">
                  <c:v>0.191823</c:v>
                </c:pt>
                <c:pt idx="31">
                  <c:v>0.310339</c:v>
                </c:pt>
                <c:pt idx="32">
                  <c:v>0.426278</c:v>
                </c:pt>
                <c:pt idx="33">
                  <c:v>0.516122</c:v>
                </c:pt>
                <c:pt idx="34">
                  <c:v>0.567045</c:v>
                </c:pt>
                <c:pt idx="35">
                  <c:v>0.588534</c:v>
                </c:pt>
                <c:pt idx="36">
                  <c:v>0.594638</c:v>
                </c:pt>
                <c:pt idx="37">
                  <c:v>0.595112</c:v>
                </c:pt>
                <c:pt idx="38">
                  <c:v>0.59429</c:v>
                </c:pt>
                <c:pt idx="39">
                  <c:v>0.593667</c:v>
                </c:pt>
                <c:pt idx="40">
                  <c:v>0.593257</c:v>
                </c:pt>
                <c:pt idx="41">
                  <c:v>0.592872</c:v>
                </c:pt>
                <c:pt idx="42">
                  <c:v>0.59237</c:v>
                </c:pt>
                <c:pt idx="43">
                  <c:v>0.591568</c:v>
                </c:pt>
                <c:pt idx="44">
                  <c:v>0.59087</c:v>
                </c:pt>
                <c:pt idx="45">
                  <c:v>0.590557</c:v>
                </c:pt>
                <c:pt idx="46">
                  <c:v>0.590284</c:v>
                </c:pt>
                <c:pt idx="47">
                  <c:v>0.589962</c:v>
                </c:pt>
                <c:pt idx="48">
                  <c:v>0.589508</c:v>
                </c:pt>
                <c:pt idx="49">
                  <c:v>0.589047</c:v>
                </c:pt>
                <c:pt idx="50">
                  <c:v>0.588646</c:v>
                </c:pt>
                <c:pt idx="51">
                  <c:v>0.588344</c:v>
                </c:pt>
                <c:pt idx="52">
                  <c:v>0.587512</c:v>
                </c:pt>
                <c:pt idx="53">
                  <c:v>0.584977</c:v>
                </c:pt>
                <c:pt idx="54">
                  <c:v>0.580017</c:v>
                </c:pt>
                <c:pt idx="55">
                  <c:v>0.572075</c:v>
                </c:pt>
                <c:pt idx="56">
                  <c:v>0.562889</c:v>
                </c:pt>
                <c:pt idx="57">
                  <c:v>0.559595</c:v>
                </c:pt>
                <c:pt idx="58">
                  <c:v>0.559978</c:v>
                </c:pt>
                <c:pt idx="59">
                  <c:v>0.562489</c:v>
                </c:pt>
                <c:pt idx="60">
                  <c:v>0.566246</c:v>
                </c:pt>
                <c:pt idx="61">
                  <c:v>0.570386</c:v>
                </c:pt>
                <c:pt idx="62">
                  <c:v>0.5746</c:v>
                </c:pt>
                <c:pt idx="63">
                  <c:v>0.578228</c:v>
                </c:pt>
                <c:pt idx="64">
                  <c:v>0.580741</c:v>
                </c:pt>
                <c:pt idx="65">
                  <c:v>0.582266</c:v>
                </c:pt>
                <c:pt idx="66">
                  <c:v>0.583094</c:v>
                </c:pt>
                <c:pt idx="67">
                  <c:v>0.58332</c:v>
                </c:pt>
                <c:pt idx="68">
                  <c:v>0.582885</c:v>
                </c:pt>
                <c:pt idx="69">
                  <c:v>0.581646</c:v>
                </c:pt>
                <c:pt idx="70">
                  <c:v>0.57988</c:v>
                </c:pt>
                <c:pt idx="71">
                  <c:v>0.577525</c:v>
                </c:pt>
                <c:pt idx="72">
                  <c:v>0.57385</c:v>
                </c:pt>
                <c:pt idx="73">
                  <c:v>0.564788</c:v>
                </c:pt>
                <c:pt idx="74">
                  <c:v>0.545839</c:v>
                </c:pt>
                <c:pt idx="75">
                  <c:v>0.525638</c:v>
                </c:pt>
                <c:pt idx="76">
                  <c:v>0.515964</c:v>
                </c:pt>
                <c:pt idx="77">
                  <c:v>0.513925</c:v>
                </c:pt>
                <c:pt idx="78">
                  <c:v>0.514143</c:v>
                </c:pt>
                <c:pt idx="79">
                  <c:v>0.514997</c:v>
                </c:pt>
                <c:pt idx="80">
                  <c:v>0.517162</c:v>
                </c:pt>
                <c:pt idx="81">
                  <c:v>0.520209</c:v>
                </c:pt>
                <c:pt idx="82">
                  <c:v>0.520677</c:v>
                </c:pt>
                <c:pt idx="83">
                  <c:v>0.520126</c:v>
                </c:pt>
                <c:pt idx="84">
                  <c:v>0.520918</c:v>
                </c:pt>
                <c:pt idx="85">
                  <c:v>0.522247</c:v>
                </c:pt>
                <c:pt idx="86">
                  <c:v>0.522803</c:v>
                </c:pt>
                <c:pt idx="87">
                  <c:v>0.521714</c:v>
                </c:pt>
                <c:pt idx="88">
                  <c:v>0.518863</c:v>
                </c:pt>
                <c:pt idx="89">
                  <c:v>0.513787</c:v>
                </c:pt>
                <c:pt idx="90">
                  <c:v>0.505729</c:v>
                </c:pt>
                <c:pt idx="91">
                  <c:v>0.493797</c:v>
                </c:pt>
                <c:pt idx="92">
                  <c:v>0.477284</c:v>
                </c:pt>
                <c:pt idx="93">
                  <c:v>0.456744</c:v>
                </c:pt>
                <c:pt idx="94">
                  <c:v>0.435207</c:v>
                </c:pt>
                <c:pt idx="95">
                  <c:v>0.415619</c:v>
                </c:pt>
                <c:pt idx="96">
                  <c:v>0.396476</c:v>
                </c:pt>
                <c:pt idx="97">
                  <c:v>0.368381</c:v>
                </c:pt>
                <c:pt idx="98">
                  <c:v>0.316558</c:v>
                </c:pt>
                <c:pt idx="99">
                  <c:v>0.242736</c:v>
                </c:pt>
                <c:pt idx="100">
                  <c:v>0.177128</c:v>
                </c:pt>
                <c:pt idx="101">
                  <c:v>0.140072</c:v>
                </c:pt>
                <c:pt idx="102">
                  <c:v>0.123323</c:v>
                </c:pt>
                <c:pt idx="103">
                  <c:v>0.115939</c:v>
                </c:pt>
                <c:pt idx="104">
                  <c:v>0.113016</c:v>
                </c:pt>
                <c:pt idx="105">
                  <c:v>0.112573</c:v>
                </c:pt>
                <c:pt idx="106">
                  <c:v>0.114493</c:v>
                </c:pt>
                <c:pt idx="107">
                  <c:v>0.120234</c:v>
                </c:pt>
                <c:pt idx="108">
                  <c:v>0.129668</c:v>
                </c:pt>
                <c:pt idx="109">
                  <c:v>0.141645</c:v>
                </c:pt>
                <c:pt idx="110">
                  <c:v>0.155471</c:v>
                </c:pt>
                <c:pt idx="111">
                  <c:v>0.170614</c:v>
                </c:pt>
                <c:pt idx="112">
                  <c:v>0.186537</c:v>
                </c:pt>
                <c:pt idx="113">
                  <c:v>0.202781</c:v>
                </c:pt>
                <c:pt idx="114">
                  <c:v>0.218917</c:v>
                </c:pt>
                <c:pt idx="115">
                  <c:v>0.234549</c:v>
                </c:pt>
                <c:pt idx="116">
                  <c:v>0.249341</c:v>
                </c:pt>
                <c:pt idx="117">
                  <c:v>0.262959</c:v>
                </c:pt>
                <c:pt idx="118">
                  <c:v>0.275346</c:v>
                </c:pt>
                <c:pt idx="119">
                  <c:v>0.286513</c:v>
                </c:pt>
                <c:pt idx="120">
                  <c:v>0.296495</c:v>
                </c:pt>
                <c:pt idx="121">
                  <c:v>0.305309</c:v>
                </c:pt>
                <c:pt idx="122">
                  <c:v>0.313039</c:v>
                </c:pt>
                <c:pt idx="123">
                  <c:v>0.319835</c:v>
                </c:pt>
                <c:pt idx="124">
                  <c:v>0.325664</c:v>
                </c:pt>
                <c:pt idx="125">
                  <c:v>0.330487</c:v>
                </c:pt>
                <c:pt idx="126">
                  <c:v>0.334177</c:v>
                </c:pt>
                <c:pt idx="127">
                  <c:v>0.336743</c:v>
                </c:pt>
                <c:pt idx="128">
                  <c:v>0.338819</c:v>
                </c:pt>
                <c:pt idx="129">
                  <c:v>0.341802</c:v>
                </c:pt>
                <c:pt idx="130">
                  <c:v>0.34482</c:v>
                </c:pt>
                <c:pt idx="131">
                  <c:v>0.346346</c:v>
                </c:pt>
                <c:pt idx="132">
                  <c:v>0.346882</c:v>
                </c:pt>
                <c:pt idx="133">
                  <c:v>0.339349</c:v>
                </c:pt>
                <c:pt idx="134">
                  <c:v>0.321775</c:v>
                </c:pt>
                <c:pt idx="135">
                  <c:v>0.308856</c:v>
                </c:pt>
                <c:pt idx="136">
                  <c:v>0.298074</c:v>
                </c:pt>
                <c:pt idx="137">
                  <c:v>0.28435</c:v>
                </c:pt>
                <c:pt idx="138">
                  <c:v>0.273894</c:v>
                </c:pt>
                <c:pt idx="139">
                  <c:v>0.26956</c:v>
                </c:pt>
                <c:pt idx="140">
                  <c:v>0.268728</c:v>
                </c:pt>
                <c:pt idx="141">
                  <c:v>0.269448</c:v>
                </c:pt>
                <c:pt idx="142">
                  <c:v>0.269097</c:v>
                </c:pt>
                <c:pt idx="143">
                  <c:v>0.265199</c:v>
                </c:pt>
                <c:pt idx="144">
                  <c:v>0.255929</c:v>
                </c:pt>
                <c:pt idx="145">
                  <c:v>0.237436</c:v>
                </c:pt>
                <c:pt idx="146">
                  <c:v>0.204929</c:v>
                </c:pt>
                <c:pt idx="147">
                  <c:v>0.158051</c:v>
                </c:pt>
                <c:pt idx="148">
                  <c:v>0.109381</c:v>
                </c:pt>
                <c:pt idx="149">
                  <c:v>0.077533</c:v>
                </c:pt>
                <c:pt idx="150">
                  <c:v>0.064799</c:v>
                </c:pt>
                <c:pt idx="151">
                  <c:v>0.061654</c:v>
                </c:pt>
                <c:pt idx="152">
                  <c:v>0.061119</c:v>
                </c:pt>
                <c:pt idx="153">
                  <c:v>0.061208</c:v>
                </c:pt>
                <c:pt idx="154">
                  <c:v>0.061532</c:v>
                </c:pt>
                <c:pt idx="155">
                  <c:v>0.062042</c:v>
                </c:pt>
                <c:pt idx="156">
                  <c:v>0.062858</c:v>
                </c:pt>
                <c:pt idx="157">
                  <c:v>0.064079</c:v>
                </c:pt>
                <c:pt idx="158">
                  <c:v>0.06568</c:v>
                </c:pt>
                <c:pt idx="159">
                  <c:v>0.067742</c:v>
                </c:pt>
                <c:pt idx="160">
                  <c:v>0.07033</c:v>
                </c:pt>
                <c:pt idx="161">
                  <c:v>0.073424</c:v>
                </c:pt>
                <c:pt idx="162">
                  <c:v>0.076979</c:v>
                </c:pt>
                <c:pt idx="163">
                  <c:v>0.081021</c:v>
                </c:pt>
                <c:pt idx="164">
                  <c:v>0.085464</c:v>
                </c:pt>
                <c:pt idx="165">
                  <c:v>0.090219</c:v>
                </c:pt>
                <c:pt idx="166">
                  <c:v>0.095373</c:v>
                </c:pt>
                <c:pt idx="167">
                  <c:v>0.101049</c:v>
                </c:pt>
                <c:pt idx="168">
                  <c:v>0.107185</c:v>
                </c:pt>
                <c:pt idx="169">
                  <c:v>0.113638</c:v>
                </c:pt>
                <c:pt idx="170">
                  <c:v>0.120284</c:v>
                </c:pt>
                <c:pt idx="171">
                  <c:v>0.127094</c:v>
                </c:pt>
                <c:pt idx="172">
                  <c:v>0.133907</c:v>
                </c:pt>
                <c:pt idx="173">
                  <c:v>0.140203</c:v>
                </c:pt>
                <c:pt idx="174">
                  <c:v>0.14548</c:v>
                </c:pt>
                <c:pt idx="175">
                  <c:v>0.149552</c:v>
                </c:pt>
                <c:pt idx="176">
                  <c:v>0.152626</c:v>
                </c:pt>
                <c:pt idx="177">
                  <c:v>0.155142</c:v>
                </c:pt>
                <c:pt idx="178">
                  <c:v>0.157463</c:v>
                </c:pt>
                <c:pt idx="179">
                  <c:v>0.159576</c:v>
                </c:pt>
                <c:pt idx="180">
                  <c:v>0.161205</c:v>
                </c:pt>
                <c:pt idx="181">
                  <c:v>0.162247</c:v>
                </c:pt>
                <c:pt idx="182">
                  <c:v>0.162642</c:v>
                </c:pt>
                <c:pt idx="183">
                  <c:v>0.162371</c:v>
                </c:pt>
                <c:pt idx="184">
                  <c:v>0.161789</c:v>
                </c:pt>
                <c:pt idx="185">
                  <c:v>0.161776</c:v>
                </c:pt>
                <c:pt idx="186">
                  <c:v>0.162988</c:v>
                </c:pt>
                <c:pt idx="187">
                  <c:v>0.165123</c:v>
                </c:pt>
                <c:pt idx="188">
                  <c:v>0.166214</c:v>
                </c:pt>
                <c:pt idx="189">
                  <c:v>0.167813</c:v>
                </c:pt>
                <c:pt idx="190">
                  <c:v>0.173293</c:v>
                </c:pt>
                <c:pt idx="191">
                  <c:v>0.170078</c:v>
                </c:pt>
                <c:pt idx="192">
                  <c:v>0.151704</c:v>
                </c:pt>
                <c:pt idx="193">
                  <c:v>0.141148</c:v>
                </c:pt>
                <c:pt idx="194">
                  <c:v>0.140318</c:v>
                </c:pt>
                <c:pt idx="195">
                  <c:v>0.13675</c:v>
                </c:pt>
                <c:pt idx="196">
                  <c:v>0.12529</c:v>
                </c:pt>
                <c:pt idx="197">
                  <c:v>0.118667</c:v>
                </c:pt>
                <c:pt idx="198">
                  <c:v>0.113718</c:v>
                </c:pt>
                <c:pt idx="199">
                  <c:v>0.108822</c:v>
                </c:pt>
                <c:pt idx="200">
                  <c:v>0.105043</c:v>
                </c:pt>
              </c:numCache>
            </c:numRef>
          </c:val>
          <c:smooth val="0"/>
        </c:ser>
        <c:ser>
          <c:idx val="1"/>
          <c:order val="1"/>
          <c:tx>
            <c:strRef>
              <c:f>Sheet1!$C$1</c:f>
              <c:strCache>
                <c:ptCount val="1"/>
                <c:pt idx="0">
                  <c:v>Diseased</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D08A00"/>
              </a:solidFill>
              <a:ln w="9525" cap="flat">
                <a:solidFill>
                  <a:srgbClr val="D08A00"/>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Sheet1!$C$2:$C$202</c:f>
              <c:numCache>
                <c:formatCode>General</c:formatCode>
                <c:ptCount val="201"/>
                <c:pt idx="0">
                  <c:v>0.228281</c:v>
                </c:pt>
                <c:pt idx="1">
                  <c:v>0.223299</c:v>
                </c:pt>
                <c:pt idx="2">
                  <c:v>0.215299</c:v>
                </c:pt>
                <c:pt idx="3">
                  <c:v>0.204062</c:v>
                </c:pt>
                <c:pt idx="4">
                  <c:v>0.192461</c:v>
                </c:pt>
                <c:pt idx="5">
                  <c:v>0.183596</c:v>
                </c:pt>
                <c:pt idx="6">
                  <c:v>0.17463</c:v>
                </c:pt>
                <c:pt idx="7">
                  <c:v>0.165349</c:v>
                </c:pt>
                <c:pt idx="8">
                  <c:v>0.157563</c:v>
                </c:pt>
                <c:pt idx="9">
                  <c:v>0.152414</c:v>
                </c:pt>
                <c:pt idx="10">
                  <c:v>0.153675</c:v>
                </c:pt>
                <c:pt idx="11">
                  <c:v>0.166733</c:v>
                </c:pt>
                <c:pt idx="12">
                  <c:v>0.197666</c:v>
                </c:pt>
                <c:pt idx="13">
                  <c:v>0.232605</c:v>
                </c:pt>
                <c:pt idx="14">
                  <c:v>0.247413</c:v>
                </c:pt>
                <c:pt idx="15">
                  <c:v>0.249797</c:v>
                </c:pt>
                <c:pt idx="16">
                  <c:v>0.24014</c:v>
                </c:pt>
                <c:pt idx="17">
                  <c:v>0.216507</c:v>
                </c:pt>
                <c:pt idx="18">
                  <c:v>0.191852</c:v>
                </c:pt>
                <c:pt idx="19">
                  <c:v>0.177273</c:v>
                </c:pt>
                <c:pt idx="20">
                  <c:v>0.169635</c:v>
                </c:pt>
                <c:pt idx="21">
                  <c:v>0.159339</c:v>
                </c:pt>
                <c:pt idx="22">
                  <c:v>0.147944</c:v>
                </c:pt>
                <c:pt idx="23">
                  <c:v>0.143355</c:v>
                </c:pt>
                <c:pt idx="24">
                  <c:v>0.136975</c:v>
                </c:pt>
                <c:pt idx="25">
                  <c:v>0.125265</c:v>
                </c:pt>
                <c:pt idx="26">
                  <c:v>0.115645</c:v>
                </c:pt>
                <c:pt idx="27">
                  <c:v>0.107927</c:v>
                </c:pt>
                <c:pt idx="28">
                  <c:v>0.110004</c:v>
                </c:pt>
                <c:pt idx="29">
                  <c:v>0.13313</c:v>
                </c:pt>
                <c:pt idx="30">
                  <c:v>0.214243</c:v>
                </c:pt>
                <c:pt idx="31">
                  <c:v>0.3268</c:v>
                </c:pt>
                <c:pt idx="32">
                  <c:v>0.430386</c:v>
                </c:pt>
                <c:pt idx="33">
                  <c:v>0.508077</c:v>
                </c:pt>
                <c:pt idx="34">
                  <c:v>0.551635</c:v>
                </c:pt>
                <c:pt idx="35">
                  <c:v>0.57025</c:v>
                </c:pt>
                <c:pt idx="36">
                  <c:v>0.575934</c:v>
                </c:pt>
                <c:pt idx="37">
                  <c:v>0.576982</c:v>
                </c:pt>
                <c:pt idx="38">
                  <c:v>0.57697</c:v>
                </c:pt>
                <c:pt idx="39">
                  <c:v>0.577176</c:v>
                </c:pt>
                <c:pt idx="40">
                  <c:v>0.577569</c:v>
                </c:pt>
                <c:pt idx="41">
                  <c:v>0.577936</c:v>
                </c:pt>
                <c:pt idx="42">
                  <c:v>0.57816</c:v>
                </c:pt>
                <c:pt idx="43">
                  <c:v>0.578063</c:v>
                </c:pt>
                <c:pt idx="44">
                  <c:v>0.578037</c:v>
                </c:pt>
                <c:pt idx="45">
                  <c:v>0.578328</c:v>
                </c:pt>
                <c:pt idx="46">
                  <c:v>0.578601</c:v>
                </c:pt>
                <c:pt idx="47">
                  <c:v>0.578787</c:v>
                </c:pt>
                <c:pt idx="48">
                  <c:v>0.578832</c:v>
                </c:pt>
                <c:pt idx="49">
                  <c:v>0.578866</c:v>
                </c:pt>
                <c:pt idx="50">
                  <c:v>0.578945</c:v>
                </c:pt>
                <c:pt idx="51">
                  <c:v>0.579133</c:v>
                </c:pt>
                <c:pt idx="52">
                  <c:v>0.578812</c:v>
                </c:pt>
                <c:pt idx="53">
                  <c:v>0.576884</c:v>
                </c:pt>
                <c:pt idx="54">
                  <c:v>0.572668</c:v>
                </c:pt>
                <c:pt idx="55">
                  <c:v>0.565701</c:v>
                </c:pt>
                <c:pt idx="56">
                  <c:v>0.557554</c:v>
                </c:pt>
                <c:pt idx="57">
                  <c:v>0.554886</c:v>
                </c:pt>
                <c:pt idx="58">
                  <c:v>0.555635</c:v>
                </c:pt>
                <c:pt idx="59">
                  <c:v>0.558429</c:v>
                </c:pt>
                <c:pt idx="60">
                  <c:v>0.562396</c:v>
                </c:pt>
                <c:pt idx="61">
                  <c:v>0.566474</c:v>
                </c:pt>
                <c:pt idx="62">
                  <c:v>0.570552</c:v>
                </c:pt>
                <c:pt idx="63">
                  <c:v>0.574037</c:v>
                </c:pt>
                <c:pt idx="64">
                  <c:v>0.576347</c:v>
                </c:pt>
                <c:pt idx="65">
                  <c:v>0.577642</c:v>
                </c:pt>
                <c:pt idx="66">
                  <c:v>0.578304</c:v>
                </c:pt>
                <c:pt idx="67">
                  <c:v>0.5785</c:v>
                </c:pt>
                <c:pt idx="68">
                  <c:v>0.578161</c:v>
                </c:pt>
                <c:pt idx="69">
                  <c:v>0.577115</c:v>
                </c:pt>
                <c:pt idx="70">
                  <c:v>0.575593</c:v>
                </c:pt>
                <c:pt idx="71">
                  <c:v>0.573517</c:v>
                </c:pt>
                <c:pt idx="72">
                  <c:v>0.570229</c:v>
                </c:pt>
                <c:pt idx="73">
                  <c:v>0.561868</c:v>
                </c:pt>
                <c:pt idx="74">
                  <c:v>0.544229</c:v>
                </c:pt>
                <c:pt idx="75">
                  <c:v>0.525277</c:v>
                </c:pt>
                <c:pt idx="76">
                  <c:v>0.516107</c:v>
                </c:pt>
                <c:pt idx="77">
                  <c:v>0.514152</c:v>
                </c:pt>
                <c:pt idx="78">
                  <c:v>0.514328</c:v>
                </c:pt>
                <c:pt idx="79">
                  <c:v>0.515191</c:v>
                </c:pt>
                <c:pt idx="80">
                  <c:v>0.517241</c:v>
                </c:pt>
                <c:pt idx="81">
                  <c:v>0.520103</c:v>
                </c:pt>
                <c:pt idx="82">
                  <c:v>0.520608</c:v>
                </c:pt>
                <c:pt idx="83">
                  <c:v>0.520136</c:v>
                </c:pt>
                <c:pt idx="84">
                  <c:v>0.520916</c:v>
                </c:pt>
                <c:pt idx="85">
                  <c:v>0.522245</c:v>
                </c:pt>
                <c:pt idx="86">
                  <c:v>0.522785</c:v>
                </c:pt>
                <c:pt idx="87">
                  <c:v>0.521696</c:v>
                </c:pt>
                <c:pt idx="88">
                  <c:v>0.518957</c:v>
                </c:pt>
                <c:pt idx="89">
                  <c:v>0.514179</c:v>
                </c:pt>
                <c:pt idx="90">
                  <c:v>0.506692</c:v>
                </c:pt>
                <c:pt idx="91">
                  <c:v>0.495629</c:v>
                </c:pt>
                <c:pt idx="92">
                  <c:v>0.480182</c:v>
                </c:pt>
                <c:pt idx="93">
                  <c:v>0.460871</c:v>
                </c:pt>
                <c:pt idx="94">
                  <c:v>0.440568</c:v>
                </c:pt>
                <c:pt idx="95">
                  <c:v>0.422123</c:v>
                </c:pt>
                <c:pt idx="96">
                  <c:v>0.404095</c:v>
                </c:pt>
                <c:pt idx="97">
                  <c:v>0.377466</c:v>
                </c:pt>
                <c:pt idx="98">
                  <c:v>0.328142</c:v>
                </c:pt>
                <c:pt idx="99">
                  <c:v>0.257221</c:v>
                </c:pt>
                <c:pt idx="100">
                  <c:v>0.19333</c:v>
                </c:pt>
                <c:pt idx="101">
                  <c:v>0.156506</c:v>
                </c:pt>
                <c:pt idx="102">
                  <c:v>0.139482</c:v>
                </c:pt>
                <c:pt idx="103">
                  <c:v>0.131884</c:v>
                </c:pt>
                <c:pt idx="104">
                  <c:v>0.128899</c:v>
                </c:pt>
                <c:pt idx="105">
                  <c:v>0.128478</c:v>
                </c:pt>
                <c:pt idx="106">
                  <c:v>0.130458</c:v>
                </c:pt>
                <c:pt idx="107">
                  <c:v>0.136291</c:v>
                </c:pt>
                <c:pt idx="108">
                  <c:v>0.145815</c:v>
                </c:pt>
                <c:pt idx="109">
                  <c:v>0.157805</c:v>
                </c:pt>
                <c:pt idx="110">
                  <c:v>0.171516</c:v>
                </c:pt>
                <c:pt idx="111">
                  <c:v>0.186369</c:v>
                </c:pt>
                <c:pt idx="112">
                  <c:v>0.201837</c:v>
                </c:pt>
                <c:pt idx="113">
                  <c:v>0.217503</c:v>
                </c:pt>
                <c:pt idx="114">
                  <c:v>0.232963</c:v>
                </c:pt>
                <c:pt idx="115">
                  <c:v>0.247853</c:v>
                </c:pt>
                <c:pt idx="116">
                  <c:v>0.261878</c:v>
                </c:pt>
                <c:pt idx="117">
                  <c:v>0.274778</c:v>
                </c:pt>
                <c:pt idx="118">
                  <c:v>0.286539</c:v>
                </c:pt>
                <c:pt idx="119">
                  <c:v>0.297144</c:v>
                </c:pt>
                <c:pt idx="120">
                  <c:v>0.306611</c:v>
                </c:pt>
                <c:pt idx="121">
                  <c:v>0.31498</c:v>
                </c:pt>
                <c:pt idx="122">
                  <c:v>0.322336</c:v>
                </c:pt>
                <c:pt idx="123">
                  <c:v>0.328812</c:v>
                </c:pt>
                <c:pt idx="124">
                  <c:v>0.334358</c:v>
                </c:pt>
                <c:pt idx="125">
                  <c:v>0.338914</c:v>
                </c:pt>
                <c:pt idx="126">
                  <c:v>0.342361</c:v>
                </c:pt>
                <c:pt idx="127">
                  <c:v>0.344763</c:v>
                </c:pt>
                <c:pt idx="128">
                  <c:v>0.346755</c:v>
                </c:pt>
                <c:pt idx="129">
                  <c:v>0.349708</c:v>
                </c:pt>
                <c:pt idx="130">
                  <c:v>0.352792</c:v>
                </c:pt>
                <c:pt idx="131">
                  <c:v>0.354382</c:v>
                </c:pt>
                <c:pt idx="132">
                  <c:v>0.354754</c:v>
                </c:pt>
                <c:pt idx="133">
                  <c:v>0.347202</c:v>
                </c:pt>
                <c:pt idx="134">
                  <c:v>0.330447</c:v>
                </c:pt>
                <c:pt idx="135">
                  <c:v>0.31835</c:v>
                </c:pt>
                <c:pt idx="136">
                  <c:v>0.308085</c:v>
                </c:pt>
                <c:pt idx="137">
                  <c:v>0.294888</c:v>
                </c:pt>
                <c:pt idx="138">
                  <c:v>0.284881</c:v>
                </c:pt>
                <c:pt idx="139">
                  <c:v>0.280767</c:v>
                </c:pt>
                <c:pt idx="140">
                  <c:v>0.279971</c:v>
                </c:pt>
                <c:pt idx="141">
                  <c:v>0.28061</c:v>
                </c:pt>
                <c:pt idx="142">
                  <c:v>0.281499</c:v>
                </c:pt>
                <c:pt idx="143">
                  <c:v>0.278568</c:v>
                </c:pt>
                <c:pt idx="144">
                  <c:v>0.270028</c:v>
                </c:pt>
                <c:pt idx="145">
                  <c:v>0.252457</c:v>
                </c:pt>
                <c:pt idx="146">
                  <c:v>0.221148</c:v>
                </c:pt>
                <c:pt idx="147">
                  <c:v>0.175198</c:v>
                </c:pt>
                <c:pt idx="148">
                  <c:v>0.125897</c:v>
                </c:pt>
                <c:pt idx="149">
                  <c:v>0.091679</c:v>
                </c:pt>
                <c:pt idx="150">
                  <c:v>0.076309</c:v>
                </c:pt>
                <c:pt idx="151">
                  <c:v>0.071482</c:v>
                </c:pt>
                <c:pt idx="152">
                  <c:v>0.070186</c:v>
                </c:pt>
                <c:pt idx="153">
                  <c:v>0.070103</c:v>
                </c:pt>
                <c:pt idx="154">
                  <c:v>0.070649</c:v>
                </c:pt>
                <c:pt idx="155">
                  <c:v>0.07162</c:v>
                </c:pt>
                <c:pt idx="156">
                  <c:v>0.073006</c:v>
                </c:pt>
                <c:pt idx="157">
                  <c:v>0.074892</c:v>
                </c:pt>
                <c:pt idx="158">
                  <c:v>0.077277</c:v>
                </c:pt>
                <c:pt idx="159">
                  <c:v>0.080105</c:v>
                </c:pt>
                <c:pt idx="160">
                  <c:v>0.083437</c:v>
                </c:pt>
                <c:pt idx="161">
                  <c:v>0.087209</c:v>
                </c:pt>
                <c:pt idx="162">
                  <c:v>0.091356</c:v>
                </c:pt>
                <c:pt idx="163">
                  <c:v>0.095893</c:v>
                </c:pt>
                <c:pt idx="164">
                  <c:v>0.100716</c:v>
                </c:pt>
                <c:pt idx="165">
                  <c:v>0.105746</c:v>
                </c:pt>
                <c:pt idx="166">
                  <c:v>0.11112</c:v>
                </c:pt>
                <c:pt idx="167">
                  <c:v>0.116988</c:v>
                </c:pt>
                <c:pt idx="168">
                  <c:v>0.123258</c:v>
                </c:pt>
                <c:pt idx="169">
                  <c:v>0.129772</c:v>
                </c:pt>
                <c:pt idx="170">
                  <c:v>0.136448</c:v>
                </c:pt>
                <c:pt idx="171">
                  <c:v>0.143289</c:v>
                </c:pt>
                <c:pt idx="172">
                  <c:v>0.150142</c:v>
                </c:pt>
                <c:pt idx="173">
                  <c:v>0.156464</c:v>
                </c:pt>
                <c:pt idx="174">
                  <c:v>0.161701</c:v>
                </c:pt>
                <c:pt idx="175">
                  <c:v>0.165708</c:v>
                </c:pt>
                <c:pt idx="176">
                  <c:v>0.168691</c:v>
                </c:pt>
                <c:pt idx="177">
                  <c:v>0.171057</c:v>
                </c:pt>
                <c:pt idx="178">
                  <c:v>0.173263</c:v>
                </c:pt>
                <c:pt idx="179">
                  <c:v>0.175301</c:v>
                </c:pt>
                <c:pt idx="180">
                  <c:v>0.176924</c:v>
                </c:pt>
                <c:pt idx="181">
                  <c:v>0.178057</c:v>
                </c:pt>
                <c:pt idx="182">
                  <c:v>0.178585</c:v>
                </c:pt>
                <c:pt idx="183">
                  <c:v>0.17842</c:v>
                </c:pt>
                <c:pt idx="184">
                  <c:v>0.177889</c:v>
                </c:pt>
                <c:pt idx="185">
                  <c:v>0.17795</c:v>
                </c:pt>
                <c:pt idx="186">
                  <c:v>0.179382</c:v>
                </c:pt>
                <c:pt idx="187">
                  <c:v>0.181878</c:v>
                </c:pt>
                <c:pt idx="188">
                  <c:v>0.183373</c:v>
                </c:pt>
                <c:pt idx="189">
                  <c:v>0.185574</c:v>
                </c:pt>
                <c:pt idx="190">
                  <c:v>0.191799</c:v>
                </c:pt>
                <c:pt idx="191">
                  <c:v>0.188424</c:v>
                </c:pt>
                <c:pt idx="192">
                  <c:v>0.16945</c:v>
                </c:pt>
                <c:pt idx="193">
                  <c:v>0.158974</c:v>
                </c:pt>
                <c:pt idx="194">
                  <c:v>0.158677</c:v>
                </c:pt>
                <c:pt idx="195">
                  <c:v>0.155091</c:v>
                </c:pt>
                <c:pt idx="196">
                  <c:v>0.1431</c:v>
                </c:pt>
                <c:pt idx="197">
                  <c:v>0.136317</c:v>
                </c:pt>
                <c:pt idx="198">
                  <c:v>0.13114</c:v>
                </c:pt>
                <c:pt idx="199">
                  <c:v>0.12589</c:v>
                </c:pt>
                <c:pt idx="200">
                  <c:v>0.121811</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Wavelength (nm)</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title>
          <c:tx>
            <c:rich>
              <a:bodyPr/>
              <a:lstStyle/>
              <a:p>
                <a:pPr>
                  <a:defRPr sz="1000" b="0" i="0" u="none" strike="noStrike">
                    <a:solidFill>
                      <a:srgbClr val="555555"/>
                    </a:solidFill>
                    <a:latin typeface="+mn-lt"/>
                  </a:defRPr>
                </a:pPr>
                <a:r>
                  <a:rPr sz="1000" b="0" i="0" u="none" strike="noStrike">
                    <a:solidFill>
                      <a:srgbClr val="555555"/>
                    </a:solidFill>
                    <a:latin typeface="+mn-lt"/>
                  </a:rPr>
                  <a:t>Reflectance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Difference spectrum (D - H)</a:t>
            </a:r>
          </a:p>
        </c:rich>
      </c:tx>
      <c:layout/>
      <c:overlay val="0"/>
    </c:title>
    <c:autoTitleDeleted val="0"/>
    <c:plotArea>
      <c:layout/>
      <c:lineChart>
        <c:varyColors val="0"/>
        <c:ser>
          <c:idx val="0"/>
          <c:order val="0"/>
          <c:tx>
            <c:strRef>
              <c:f>Sheet1!$B$1</c:f>
              <c:strCache>
                <c:ptCount val="1"/>
                <c:pt idx="0">
                  <c:v>Diseased - Healthy</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B03A2E"/>
              </a:solidFill>
              <a:ln w="9525" cap="flat">
                <a:solidFill>
                  <a:srgbClr val="B03A2E"/>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0.000073</c:v>
                </c:pt>
                <c:pt idx="1">
                  <c:v>0.000608</c:v>
                </c:pt>
                <c:pt idx="2">
                  <c:v>0.001663</c:v>
                </c:pt>
                <c:pt idx="3">
                  <c:v>0.002466</c:v>
                </c:pt>
                <c:pt idx="4">
                  <c:v>0.003494</c:v>
                </c:pt>
                <c:pt idx="5">
                  <c:v>0.004546</c:v>
                </c:pt>
                <c:pt idx="6">
                  <c:v>0.005211</c:v>
                </c:pt>
                <c:pt idx="7">
                  <c:v>0.00583</c:v>
                </c:pt>
                <c:pt idx="8">
                  <c:v>0.006358</c:v>
                </c:pt>
                <c:pt idx="9">
                  <c:v>0.006981</c:v>
                </c:pt>
                <c:pt idx="10">
                  <c:v>0.008049</c:v>
                </c:pt>
                <c:pt idx="11">
                  <c:v>0.009036</c:v>
                </c:pt>
                <c:pt idx="12">
                  <c:v>0.008222</c:v>
                </c:pt>
                <c:pt idx="13">
                  <c:v>0.005374</c:v>
                </c:pt>
                <c:pt idx="14">
                  <c:v>0.004126</c:v>
                </c:pt>
                <c:pt idx="15">
                  <c:v>0.004313</c:v>
                </c:pt>
                <c:pt idx="16">
                  <c:v>0.005894</c:v>
                </c:pt>
                <c:pt idx="17">
                  <c:v>0.009323</c:v>
                </c:pt>
                <c:pt idx="18">
                  <c:v>0.012245</c:v>
                </c:pt>
                <c:pt idx="19">
                  <c:v>0.013655</c:v>
                </c:pt>
                <c:pt idx="20">
                  <c:v>0.014346</c:v>
                </c:pt>
                <c:pt idx="21">
                  <c:v>0.015283</c:v>
                </c:pt>
                <c:pt idx="22">
                  <c:v>0.016165</c:v>
                </c:pt>
                <c:pt idx="23">
                  <c:v>0.016771</c:v>
                </c:pt>
                <c:pt idx="24">
                  <c:v>0.01644</c:v>
                </c:pt>
                <c:pt idx="25">
                  <c:v>0.015219</c:v>
                </c:pt>
                <c:pt idx="26">
                  <c:v>0.014252</c:v>
                </c:pt>
                <c:pt idx="27">
                  <c:v>0.012648</c:v>
                </c:pt>
                <c:pt idx="28">
                  <c:v>0.012531</c:v>
                </c:pt>
                <c:pt idx="29">
                  <c:v>0.01741</c:v>
                </c:pt>
                <c:pt idx="30">
                  <c:v>0.02242</c:v>
                </c:pt>
                <c:pt idx="31">
                  <c:v>0.016461</c:v>
                </c:pt>
                <c:pt idx="32">
                  <c:v>0.004108</c:v>
                </c:pt>
                <c:pt idx="33">
                  <c:v>-0.008045</c:v>
                </c:pt>
                <c:pt idx="34">
                  <c:v>-0.01541</c:v>
                </c:pt>
                <c:pt idx="35">
                  <c:v>-0.018285</c:v>
                </c:pt>
                <c:pt idx="36">
                  <c:v>-0.018703</c:v>
                </c:pt>
                <c:pt idx="37">
                  <c:v>-0.01813</c:v>
                </c:pt>
                <c:pt idx="38">
                  <c:v>-0.01732</c:v>
                </c:pt>
                <c:pt idx="39">
                  <c:v>-0.016492</c:v>
                </c:pt>
                <c:pt idx="40">
                  <c:v>-0.015688</c:v>
                </c:pt>
                <c:pt idx="41">
                  <c:v>-0.014936</c:v>
                </c:pt>
                <c:pt idx="42">
                  <c:v>-0.01421</c:v>
                </c:pt>
                <c:pt idx="43">
                  <c:v>-0.013505</c:v>
                </c:pt>
                <c:pt idx="44">
                  <c:v>-0.012833</c:v>
                </c:pt>
                <c:pt idx="45">
                  <c:v>-0.012229</c:v>
                </c:pt>
                <c:pt idx="46">
                  <c:v>-0.011683</c:v>
                </c:pt>
                <c:pt idx="47">
                  <c:v>-0.011175</c:v>
                </c:pt>
                <c:pt idx="48">
                  <c:v>-0.010676</c:v>
                </c:pt>
                <c:pt idx="49">
                  <c:v>-0.010181</c:v>
                </c:pt>
                <c:pt idx="50">
                  <c:v>-0.009701</c:v>
                </c:pt>
                <c:pt idx="51">
                  <c:v>-0.009212</c:v>
                </c:pt>
                <c:pt idx="52">
                  <c:v>-0.008701</c:v>
                </c:pt>
                <c:pt idx="53">
                  <c:v>-0.008093</c:v>
                </c:pt>
                <c:pt idx="54">
                  <c:v>-0.007349</c:v>
                </c:pt>
                <c:pt idx="55">
                  <c:v>-0.006374</c:v>
                </c:pt>
                <c:pt idx="56">
                  <c:v>-0.005335</c:v>
                </c:pt>
                <c:pt idx="57">
                  <c:v>-0.004709</c:v>
                </c:pt>
                <c:pt idx="58">
                  <c:v>-0.004343</c:v>
                </c:pt>
                <c:pt idx="59">
                  <c:v>-0.00406</c:v>
                </c:pt>
                <c:pt idx="60">
                  <c:v>-0.00385</c:v>
                </c:pt>
                <c:pt idx="61">
                  <c:v>-0.003911</c:v>
                </c:pt>
                <c:pt idx="62">
                  <c:v>-0.004048</c:v>
                </c:pt>
                <c:pt idx="63">
                  <c:v>-0.004191</c:v>
                </c:pt>
                <c:pt idx="64">
                  <c:v>-0.004394</c:v>
                </c:pt>
                <c:pt idx="65">
                  <c:v>-0.004623</c:v>
                </c:pt>
                <c:pt idx="66">
                  <c:v>-0.00479</c:v>
                </c:pt>
                <c:pt idx="67">
                  <c:v>-0.00482</c:v>
                </c:pt>
                <c:pt idx="68">
                  <c:v>-0.004725</c:v>
                </c:pt>
                <c:pt idx="69">
                  <c:v>-0.004531</c:v>
                </c:pt>
                <c:pt idx="70">
                  <c:v>-0.004288</c:v>
                </c:pt>
                <c:pt idx="71">
                  <c:v>-0.004008</c:v>
                </c:pt>
                <c:pt idx="72">
                  <c:v>-0.00362</c:v>
                </c:pt>
                <c:pt idx="73">
                  <c:v>-0.002921</c:v>
                </c:pt>
                <c:pt idx="74">
                  <c:v>-0.00161</c:v>
                </c:pt>
                <c:pt idx="75">
                  <c:v>-0.000361</c:v>
                </c:pt>
                <c:pt idx="76">
                  <c:v>0.000144</c:v>
                </c:pt>
                <c:pt idx="77">
                  <c:v>0.000227</c:v>
                </c:pt>
                <c:pt idx="78">
                  <c:v>0.000185</c:v>
                </c:pt>
                <c:pt idx="79">
                  <c:v>0.000194</c:v>
                </c:pt>
                <c:pt idx="80">
                  <c:v>0.000079</c:v>
                </c:pt>
                <c:pt idx="81">
                  <c:v>-0.000106</c:v>
                </c:pt>
                <c:pt idx="82">
                  <c:v>-0.000068</c:v>
                </c:pt>
                <c:pt idx="83">
                  <c:v>0.00001</c:v>
                </c:pt>
                <c:pt idx="84">
                  <c:v>-0.000001</c:v>
                </c:pt>
                <c:pt idx="85">
                  <c:v>-0.000002</c:v>
                </c:pt>
                <c:pt idx="86">
                  <c:v>-0.000018</c:v>
                </c:pt>
                <c:pt idx="87">
                  <c:v>-0.000018</c:v>
                </c:pt>
                <c:pt idx="88">
                  <c:v>0.000093</c:v>
                </c:pt>
                <c:pt idx="89">
                  <c:v>0.000393</c:v>
                </c:pt>
                <c:pt idx="90">
                  <c:v>0.000963</c:v>
                </c:pt>
                <c:pt idx="91">
                  <c:v>0.001833</c:v>
                </c:pt>
                <c:pt idx="92">
                  <c:v>0.002898</c:v>
                </c:pt>
                <c:pt idx="93">
                  <c:v>0.004127</c:v>
                </c:pt>
                <c:pt idx="94">
                  <c:v>0.005361</c:v>
                </c:pt>
                <c:pt idx="95">
                  <c:v>0.006504</c:v>
                </c:pt>
                <c:pt idx="96">
                  <c:v>0.007618</c:v>
                </c:pt>
                <c:pt idx="97">
                  <c:v>0.009085</c:v>
                </c:pt>
                <c:pt idx="98">
                  <c:v>0.011584</c:v>
                </c:pt>
                <c:pt idx="99">
                  <c:v>0.014485</c:v>
                </c:pt>
                <c:pt idx="100">
                  <c:v>0.016203</c:v>
                </c:pt>
                <c:pt idx="101">
                  <c:v>0.016434</c:v>
                </c:pt>
                <c:pt idx="102">
                  <c:v>0.016159</c:v>
                </c:pt>
                <c:pt idx="103">
                  <c:v>0.015945</c:v>
                </c:pt>
                <c:pt idx="104">
                  <c:v>0.015883</c:v>
                </c:pt>
                <c:pt idx="105">
                  <c:v>0.015905</c:v>
                </c:pt>
                <c:pt idx="106">
                  <c:v>0.015965</c:v>
                </c:pt>
                <c:pt idx="107">
                  <c:v>0.016057</c:v>
                </c:pt>
                <c:pt idx="108">
                  <c:v>0.016147</c:v>
                </c:pt>
                <c:pt idx="109">
                  <c:v>0.016161</c:v>
                </c:pt>
                <c:pt idx="110">
                  <c:v>0.016045</c:v>
                </c:pt>
                <c:pt idx="111">
                  <c:v>0.015755</c:v>
                </c:pt>
                <c:pt idx="112">
                  <c:v>0.0153</c:v>
                </c:pt>
                <c:pt idx="113">
                  <c:v>0.014722</c:v>
                </c:pt>
                <c:pt idx="114">
                  <c:v>0.014045</c:v>
                </c:pt>
                <c:pt idx="115">
                  <c:v>0.013304</c:v>
                </c:pt>
                <c:pt idx="116">
                  <c:v>0.012537</c:v>
                </c:pt>
                <c:pt idx="117">
                  <c:v>0.011819</c:v>
                </c:pt>
                <c:pt idx="118">
                  <c:v>0.011193</c:v>
                </c:pt>
                <c:pt idx="119">
                  <c:v>0.010631</c:v>
                </c:pt>
                <c:pt idx="120">
                  <c:v>0.010117</c:v>
                </c:pt>
                <c:pt idx="121">
                  <c:v>0.009672</c:v>
                </c:pt>
                <c:pt idx="122">
                  <c:v>0.009298</c:v>
                </c:pt>
                <c:pt idx="123">
                  <c:v>0.008976</c:v>
                </c:pt>
                <c:pt idx="124">
                  <c:v>0.008694</c:v>
                </c:pt>
                <c:pt idx="125">
                  <c:v>0.008426</c:v>
                </c:pt>
                <c:pt idx="126">
                  <c:v>0.008184</c:v>
                </c:pt>
                <c:pt idx="127">
                  <c:v>0.00802</c:v>
                </c:pt>
                <c:pt idx="128">
                  <c:v>0.007937</c:v>
                </c:pt>
                <c:pt idx="129">
                  <c:v>0.007906</c:v>
                </c:pt>
                <c:pt idx="130">
                  <c:v>0.007972</c:v>
                </c:pt>
                <c:pt idx="131">
                  <c:v>0.008036</c:v>
                </c:pt>
                <c:pt idx="132">
                  <c:v>0.007872</c:v>
                </c:pt>
                <c:pt idx="133">
                  <c:v>0.007853</c:v>
                </c:pt>
                <c:pt idx="134">
                  <c:v>0.008672</c:v>
                </c:pt>
                <c:pt idx="135">
                  <c:v>0.009494</c:v>
                </c:pt>
                <c:pt idx="136">
                  <c:v>0.010011</c:v>
                </c:pt>
                <c:pt idx="137">
                  <c:v>0.010537</c:v>
                </c:pt>
                <c:pt idx="138">
                  <c:v>0.010987</c:v>
                </c:pt>
                <c:pt idx="139">
                  <c:v>0.011207</c:v>
                </c:pt>
                <c:pt idx="140">
                  <c:v>0.011243</c:v>
                </c:pt>
                <c:pt idx="141">
                  <c:v>0.011162</c:v>
                </c:pt>
                <c:pt idx="142">
                  <c:v>0.012402</c:v>
                </c:pt>
                <c:pt idx="143">
                  <c:v>0.013369</c:v>
                </c:pt>
                <c:pt idx="144">
                  <c:v>0.014098</c:v>
                </c:pt>
                <c:pt idx="145">
                  <c:v>0.015022</c:v>
                </c:pt>
                <c:pt idx="146">
                  <c:v>0.016219</c:v>
                </c:pt>
                <c:pt idx="147">
                  <c:v>0.017147</c:v>
                </c:pt>
                <c:pt idx="148">
                  <c:v>0.016517</c:v>
                </c:pt>
                <c:pt idx="149">
                  <c:v>0.014146</c:v>
                </c:pt>
                <c:pt idx="150">
                  <c:v>0.011511</c:v>
                </c:pt>
                <c:pt idx="151">
                  <c:v>0.009828</c:v>
                </c:pt>
                <c:pt idx="152">
                  <c:v>0.009067</c:v>
                </c:pt>
                <c:pt idx="153">
                  <c:v>0.008895</c:v>
                </c:pt>
                <c:pt idx="154">
                  <c:v>0.009117</c:v>
                </c:pt>
                <c:pt idx="155">
                  <c:v>0.009578</c:v>
                </c:pt>
                <c:pt idx="156">
                  <c:v>0.010147</c:v>
                </c:pt>
                <c:pt idx="157">
                  <c:v>0.010813</c:v>
                </c:pt>
                <c:pt idx="158">
                  <c:v>0.011597</c:v>
                </c:pt>
                <c:pt idx="159">
                  <c:v>0.012363</c:v>
                </c:pt>
                <c:pt idx="160">
                  <c:v>0.013107</c:v>
                </c:pt>
                <c:pt idx="161">
                  <c:v>0.013785</c:v>
                </c:pt>
                <c:pt idx="162">
                  <c:v>0.014377</c:v>
                </c:pt>
                <c:pt idx="163">
                  <c:v>0.014872</c:v>
                </c:pt>
                <c:pt idx="164">
                  <c:v>0.015252</c:v>
                </c:pt>
                <c:pt idx="165">
                  <c:v>0.015527</c:v>
                </c:pt>
                <c:pt idx="166">
                  <c:v>0.015748</c:v>
                </c:pt>
                <c:pt idx="167">
                  <c:v>0.01594</c:v>
                </c:pt>
                <c:pt idx="168">
                  <c:v>0.016073</c:v>
                </c:pt>
                <c:pt idx="169">
                  <c:v>0.016134</c:v>
                </c:pt>
                <c:pt idx="170">
                  <c:v>0.016163</c:v>
                </c:pt>
                <c:pt idx="171">
                  <c:v>0.016195</c:v>
                </c:pt>
                <c:pt idx="172">
                  <c:v>0.016234</c:v>
                </c:pt>
                <c:pt idx="173">
                  <c:v>0.016261</c:v>
                </c:pt>
                <c:pt idx="174">
                  <c:v>0.016221</c:v>
                </c:pt>
                <c:pt idx="175">
                  <c:v>0.016156</c:v>
                </c:pt>
                <c:pt idx="176">
                  <c:v>0.016065</c:v>
                </c:pt>
                <c:pt idx="177">
                  <c:v>0.015915</c:v>
                </c:pt>
                <c:pt idx="178">
                  <c:v>0.0158</c:v>
                </c:pt>
                <c:pt idx="179">
                  <c:v>0.015724</c:v>
                </c:pt>
                <c:pt idx="180">
                  <c:v>0.015719</c:v>
                </c:pt>
                <c:pt idx="181">
                  <c:v>0.01581</c:v>
                </c:pt>
                <c:pt idx="182">
                  <c:v>0.015943</c:v>
                </c:pt>
                <c:pt idx="183">
                  <c:v>0.01605</c:v>
                </c:pt>
                <c:pt idx="184">
                  <c:v>0.0161</c:v>
                </c:pt>
                <c:pt idx="185">
                  <c:v>0.016174</c:v>
                </c:pt>
                <c:pt idx="186">
                  <c:v>0.016394</c:v>
                </c:pt>
                <c:pt idx="187">
                  <c:v>0.016756</c:v>
                </c:pt>
                <c:pt idx="188">
                  <c:v>0.017159</c:v>
                </c:pt>
                <c:pt idx="189">
                  <c:v>0.017761</c:v>
                </c:pt>
                <c:pt idx="190">
                  <c:v>0.018506</c:v>
                </c:pt>
                <c:pt idx="191">
                  <c:v>0.018346</c:v>
                </c:pt>
                <c:pt idx="192">
                  <c:v>0.017746</c:v>
                </c:pt>
                <c:pt idx="193">
                  <c:v>0.017826</c:v>
                </c:pt>
                <c:pt idx="194">
                  <c:v>0.018358</c:v>
                </c:pt>
                <c:pt idx="195">
                  <c:v>0.018341</c:v>
                </c:pt>
                <c:pt idx="196">
                  <c:v>0.01781</c:v>
                </c:pt>
                <c:pt idx="197">
                  <c:v>0.01765</c:v>
                </c:pt>
                <c:pt idx="198">
                  <c:v>0.017422</c:v>
                </c:pt>
                <c:pt idx="199">
                  <c:v>0.017068</c:v>
                </c:pt>
                <c:pt idx="200">
                  <c:v>0.016768</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Wavelength (nm)</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title>
          <c:tx>
            <c:rich>
              <a:bodyPr/>
              <a:lstStyle/>
              <a:p>
                <a:pPr>
                  <a:defRPr sz="1000" b="0" i="0" u="none" strike="noStrike">
                    <a:solidFill>
                      <a:srgbClr val="555555"/>
                    </a:solidFill>
                    <a:latin typeface="+mn-lt"/>
                  </a:defRPr>
                </a:pPr>
                <a:r>
                  <a:rPr sz="1000" b="0" i="0" u="none" strike="noStrike">
                    <a:solidFill>
                      <a:srgbClr val="555555"/>
                    </a:solidFill>
                    <a:latin typeface="+mn-lt"/>
                  </a:rPr>
                  <a:t>Reflectance difference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Difference spectra (D - H) by date</a:t>
            </a:r>
          </a:p>
        </c:rich>
      </c:tx>
      <c:layout/>
      <c:overlay val="0"/>
    </c:title>
    <c:autoTitleDeleted val="0"/>
    <c:plotArea>
      <c:layout/>
      <c:lineChart>
        <c:varyColors val="0"/>
        <c:ser>
          <c:idx val="0"/>
          <c:order val="0"/>
          <c:tx>
            <c:strRef>
              <c:f>Sheet1!$B$1</c:f>
              <c:strCache>
                <c:ptCount val="1"/>
                <c:pt idx="0">
                  <c:v>11 Feb</c:v>
                </c:pt>
              </c:strCache>
            </c:strRef>
          </c:tx>
          <c:spPr>
            <a:solidFill>
              <a:srgbClr val="2A6FB0"/>
            </a:solidFill>
            <a:ln w="25400" cap="flat">
              <a:solidFill>
                <a:srgbClr val="2A6FB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2A6FB0"/>
              </a:solidFill>
              <a:ln w="9525" cap="flat">
                <a:solidFill>
                  <a:srgbClr val="2A6FB0"/>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-0.008145</c:v>
                </c:pt>
                <c:pt idx="1">
                  <c:v>-0.008566</c:v>
                </c:pt>
                <c:pt idx="2">
                  <c:v>-0.008767</c:v>
                </c:pt>
                <c:pt idx="3">
                  <c:v>-0.008871</c:v>
                </c:pt>
                <c:pt idx="4">
                  <c:v>-0.008762</c:v>
                </c:pt>
                <c:pt idx="5">
                  <c:v>-0.008437</c:v>
                </c:pt>
                <c:pt idx="6">
                  <c:v>-0.00813</c:v>
                </c:pt>
                <c:pt idx="7">
                  <c:v>-0.007821</c:v>
                </c:pt>
                <c:pt idx="8">
                  <c:v>-0.007436</c:v>
                </c:pt>
                <c:pt idx="9">
                  <c:v>-0.007026</c:v>
                </c:pt>
                <c:pt idx="10">
                  <c:v>-0.006672</c:v>
                </c:pt>
                <c:pt idx="11">
                  <c:v>-0.006733</c:v>
                </c:pt>
                <c:pt idx="12">
                  <c:v>-0.007639</c:v>
                </c:pt>
                <c:pt idx="13">
                  <c:v>-0.009433</c:v>
                </c:pt>
                <c:pt idx="14">
                  <c:v>-0.010528</c:v>
                </c:pt>
                <c:pt idx="15">
                  <c:v>-0.010628</c:v>
                </c:pt>
                <c:pt idx="16">
                  <c:v>-0.010097</c:v>
                </c:pt>
                <c:pt idx="17">
                  <c:v>-0.008819</c:v>
                </c:pt>
                <c:pt idx="18">
                  <c:v>-0.007292</c:v>
                </c:pt>
                <c:pt idx="19">
                  <c:v>-0.006378</c:v>
                </c:pt>
                <c:pt idx="20">
                  <c:v>-0.005948</c:v>
                </c:pt>
                <c:pt idx="21">
                  <c:v>-0.005327</c:v>
                </c:pt>
                <c:pt idx="22">
                  <c:v>-0.004558</c:v>
                </c:pt>
                <c:pt idx="23">
                  <c:v>-0.00421</c:v>
                </c:pt>
                <c:pt idx="24">
                  <c:v>-0.004183</c:v>
                </c:pt>
                <c:pt idx="25">
                  <c:v>-0.003871</c:v>
                </c:pt>
                <c:pt idx="26">
                  <c:v>-0.003315</c:v>
                </c:pt>
                <c:pt idx="27">
                  <c:v>-0.002902</c:v>
                </c:pt>
                <c:pt idx="28">
                  <c:v>-0.002655</c:v>
                </c:pt>
                <c:pt idx="29">
                  <c:v>-0.002518</c:v>
                </c:pt>
                <c:pt idx="30">
                  <c:v>-0.003901</c:v>
                </c:pt>
                <c:pt idx="31">
                  <c:v>-0.006436</c:v>
                </c:pt>
                <c:pt idx="32">
                  <c:v>-0.008392</c:v>
                </c:pt>
                <c:pt idx="33">
                  <c:v>-0.009602</c:v>
                </c:pt>
                <c:pt idx="34">
                  <c:v>-0.009976</c:v>
                </c:pt>
                <c:pt idx="35">
                  <c:v>-0.009993</c:v>
                </c:pt>
                <c:pt idx="36">
                  <c:v>-0.009928</c:v>
                </c:pt>
                <c:pt idx="37">
                  <c:v>-0.009769</c:v>
                </c:pt>
                <c:pt idx="38">
                  <c:v>-0.009639</c:v>
                </c:pt>
                <c:pt idx="39">
                  <c:v>-0.009462</c:v>
                </c:pt>
                <c:pt idx="40">
                  <c:v>-0.009242</c:v>
                </c:pt>
                <c:pt idx="41">
                  <c:v>-0.009055</c:v>
                </c:pt>
                <c:pt idx="42">
                  <c:v>-0.008819</c:v>
                </c:pt>
                <c:pt idx="43">
                  <c:v>-0.008563</c:v>
                </c:pt>
                <c:pt idx="44">
                  <c:v>-0.008249</c:v>
                </c:pt>
                <c:pt idx="45">
                  <c:v>-0.007938</c:v>
                </c:pt>
                <c:pt idx="46">
                  <c:v>-0.00759</c:v>
                </c:pt>
                <c:pt idx="47">
                  <c:v>-0.007275</c:v>
                </c:pt>
                <c:pt idx="48">
                  <c:v>-0.006909</c:v>
                </c:pt>
                <c:pt idx="49">
                  <c:v>-0.006533</c:v>
                </c:pt>
                <c:pt idx="50">
                  <c:v>-0.006213</c:v>
                </c:pt>
                <c:pt idx="51">
                  <c:v>-0.005844</c:v>
                </c:pt>
                <c:pt idx="52">
                  <c:v>-0.005528</c:v>
                </c:pt>
                <c:pt idx="53">
                  <c:v>-0.005071</c:v>
                </c:pt>
                <c:pt idx="54">
                  <c:v>-0.00462</c:v>
                </c:pt>
                <c:pt idx="55">
                  <c:v>-0.004036</c:v>
                </c:pt>
                <c:pt idx="56">
                  <c:v>-0.003374</c:v>
                </c:pt>
                <c:pt idx="57">
                  <c:v>-0.002879</c:v>
                </c:pt>
                <c:pt idx="58">
                  <c:v>-0.002532</c:v>
                </c:pt>
                <c:pt idx="59">
                  <c:v>-0.002192</c:v>
                </c:pt>
                <c:pt idx="60">
                  <c:v>-0.00191</c:v>
                </c:pt>
                <c:pt idx="61">
                  <c:v>-0.001831</c:v>
                </c:pt>
                <c:pt idx="62">
                  <c:v>-0.001781</c:v>
                </c:pt>
                <c:pt idx="63">
                  <c:v>-0.001823</c:v>
                </c:pt>
                <c:pt idx="64">
                  <c:v>-0.00196</c:v>
                </c:pt>
                <c:pt idx="65">
                  <c:v>-0.002149</c:v>
                </c:pt>
                <c:pt idx="66">
                  <c:v>-0.002235</c:v>
                </c:pt>
                <c:pt idx="67">
                  <c:v>-0.002215</c:v>
                </c:pt>
                <c:pt idx="68">
                  <c:v>-0.002096</c:v>
                </c:pt>
                <c:pt idx="69">
                  <c:v>-0.001885</c:v>
                </c:pt>
                <c:pt idx="70">
                  <c:v>-0.001604</c:v>
                </c:pt>
                <c:pt idx="71">
                  <c:v>-0.001313</c:v>
                </c:pt>
                <c:pt idx="72">
                  <c:v>-0.000932</c:v>
                </c:pt>
                <c:pt idx="73">
                  <c:v>-0.000518</c:v>
                </c:pt>
                <c:pt idx="74">
                  <c:v>0.00013</c:v>
                </c:pt>
                <c:pt idx="75">
                  <c:v>0.000796</c:v>
                </c:pt>
                <c:pt idx="76">
                  <c:v>0.001264</c:v>
                </c:pt>
                <c:pt idx="77">
                  <c:v>0.001535</c:v>
                </c:pt>
                <c:pt idx="78">
                  <c:v>0.0018</c:v>
                </c:pt>
                <c:pt idx="79">
                  <c:v>0.002216</c:v>
                </c:pt>
                <c:pt idx="80">
                  <c:v>0.002462</c:v>
                </c:pt>
                <c:pt idx="81">
                  <c:v>0.002545</c:v>
                </c:pt>
                <c:pt idx="82">
                  <c:v>0.002555</c:v>
                </c:pt>
                <c:pt idx="83">
                  <c:v>0.002397</c:v>
                </c:pt>
                <c:pt idx="84">
                  <c:v>0.002331</c:v>
                </c:pt>
                <c:pt idx="85">
                  <c:v>0.002338</c:v>
                </c:pt>
                <c:pt idx="86">
                  <c:v>0.002271</c:v>
                </c:pt>
                <c:pt idx="87">
                  <c:v>0.002192</c:v>
                </c:pt>
                <c:pt idx="88">
                  <c:v>0.002208</c:v>
                </c:pt>
                <c:pt idx="89">
                  <c:v>0.002429</c:v>
                </c:pt>
                <c:pt idx="90">
                  <c:v>0.002733</c:v>
                </c:pt>
                <c:pt idx="91">
                  <c:v>0.003317</c:v>
                </c:pt>
                <c:pt idx="92">
                  <c:v>0.003826</c:v>
                </c:pt>
                <c:pt idx="93">
                  <c:v>0.004252</c:v>
                </c:pt>
                <c:pt idx="94">
                  <c:v>0.004702</c:v>
                </c:pt>
                <c:pt idx="95">
                  <c:v>0.005633</c:v>
                </c:pt>
                <c:pt idx="96">
                  <c:v>0.006514</c:v>
                </c:pt>
                <c:pt idx="97">
                  <c:v>0.006158</c:v>
                </c:pt>
                <c:pt idx="98">
                  <c:v>0.005917</c:v>
                </c:pt>
                <c:pt idx="99">
                  <c:v>0.005092</c:v>
                </c:pt>
                <c:pt idx="100">
                  <c:v>0.004073</c:v>
                </c:pt>
                <c:pt idx="101">
                  <c:v>0.003217</c:v>
                </c:pt>
                <c:pt idx="102">
                  <c:v>0.002673</c:v>
                </c:pt>
                <c:pt idx="103">
                  <c:v>0.002466</c:v>
                </c:pt>
                <c:pt idx="104">
                  <c:v>0.002489</c:v>
                </c:pt>
                <c:pt idx="105">
                  <c:v>0.002597</c:v>
                </c:pt>
                <c:pt idx="106">
                  <c:v>0.002785</c:v>
                </c:pt>
                <c:pt idx="107">
                  <c:v>0.00316</c:v>
                </c:pt>
                <c:pt idx="108">
                  <c:v>0.003684</c:v>
                </c:pt>
                <c:pt idx="109">
                  <c:v>0.00427</c:v>
                </c:pt>
                <c:pt idx="110">
                  <c:v>0.004856</c:v>
                </c:pt>
                <c:pt idx="111">
                  <c:v>0.005387</c:v>
                </c:pt>
                <c:pt idx="112">
                  <c:v>0.005824</c:v>
                </c:pt>
                <c:pt idx="113">
                  <c:v>0.006195</c:v>
                </c:pt>
                <c:pt idx="114">
                  <c:v>0.006488</c:v>
                </c:pt>
                <c:pt idx="115">
                  <c:v>0.006687</c:v>
                </c:pt>
                <c:pt idx="116">
                  <c:v>0.00674</c:v>
                </c:pt>
                <c:pt idx="117">
                  <c:v>0.006783</c:v>
                </c:pt>
                <c:pt idx="118">
                  <c:v>0.006859</c:v>
                </c:pt>
                <c:pt idx="119">
                  <c:v>0.006889</c:v>
                </c:pt>
                <c:pt idx="120">
                  <c:v>0.006888</c:v>
                </c:pt>
                <c:pt idx="121">
                  <c:v>0.006919</c:v>
                </c:pt>
                <c:pt idx="122">
                  <c:v>0.006991</c:v>
                </c:pt>
                <c:pt idx="123">
                  <c:v>0.007108</c:v>
                </c:pt>
                <c:pt idx="124">
                  <c:v>0.007173</c:v>
                </c:pt>
                <c:pt idx="125">
                  <c:v>0.007213</c:v>
                </c:pt>
                <c:pt idx="126">
                  <c:v>0.007239</c:v>
                </c:pt>
                <c:pt idx="127">
                  <c:v>0.007361</c:v>
                </c:pt>
                <c:pt idx="128">
                  <c:v>0.007586</c:v>
                </c:pt>
                <c:pt idx="129">
                  <c:v>0.008007</c:v>
                </c:pt>
                <c:pt idx="130">
                  <c:v>0.008527</c:v>
                </c:pt>
                <c:pt idx="131">
                  <c:v>0.008989</c:v>
                </c:pt>
                <c:pt idx="132">
                  <c:v>0.009236</c:v>
                </c:pt>
                <c:pt idx="133">
                  <c:v>0.008722</c:v>
                </c:pt>
                <c:pt idx="134">
                  <c:v>0.008143</c:v>
                </c:pt>
                <c:pt idx="135">
                  <c:v>0.008273</c:v>
                </c:pt>
                <c:pt idx="136">
                  <c:v>0.008173</c:v>
                </c:pt>
                <c:pt idx="137">
                  <c:v>0.00761</c:v>
                </c:pt>
                <c:pt idx="138">
                  <c:v>0.007232</c:v>
                </c:pt>
                <c:pt idx="139">
                  <c:v>0.007126</c:v>
                </c:pt>
                <c:pt idx="140">
                  <c:v>0.007162</c:v>
                </c:pt>
                <c:pt idx="141">
                  <c:v>0.007252</c:v>
                </c:pt>
                <c:pt idx="142">
                  <c:v>0.0085</c:v>
                </c:pt>
                <c:pt idx="143">
                  <c:v>0.009135</c:v>
                </c:pt>
                <c:pt idx="144">
                  <c:v>0.009295</c:v>
                </c:pt>
                <c:pt idx="145">
                  <c:v>0.00868</c:v>
                </c:pt>
                <c:pt idx="146">
                  <c:v>0.007664</c:v>
                </c:pt>
                <c:pt idx="147">
                  <c:v>0.006234</c:v>
                </c:pt>
                <c:pt idx="148">
                  <c:v>0.003567</c:v>
                </c:pt>
                <c:pt idx="149">
                  <c:v>0.001171</c:v>
                </c:pt>
                <c:pt idx="150">
                  <c:v>-0.000338</c:v>
                </c:pt>
                <c:pt idx="151">
                  <c:v>-0.001353</c:v>
                </c:pt>
                <c:pt idx="152">
                  <c:v>-0.001897</c:v>
                </c:pt>
                <c:pt idx="153">
                  <c:v>-0.002059</c:v>
                </c:pt>
                <c:pt idx="154">
                  <c:v>-0.001925</c:v>
                </c:pt>
                <c:pt idx="155">
                  <c:v>-0.001638</c:v>
                </c:pt>
                <c:pt idx="156">
                  <c:v>-0.001296</c:v>
                </c:pt>
                <c:pt idx="157">
                  <c:v>-0.000885</c:v>
                </c:pt>
                <c:pt idx="158">
                  <c:v>-0.000386</c:v>
                </c:pt>
                <c:pt idx="159">
                  <c:v>0.000113</c:v>
                </c:pt>
                <c:pt idx="160">
                  <c:v>0.000622</c:v>
                </c:pt>
                <c:pt idx="161">
                  <c:v>0.001112</c:v>
                </c:pt>
                <c:pt idx="162">
                  <c:v>0.001609</c:v>
                </c:pt>
                <c:pt idx="163">
                  <c:v>0.002075</c:v>
                </c:pt>
                <c:pt idx="164">
                  <c:v>0.00249</c:v>
                </c:pt>
                <c:pt idx="165">
                  <c:v>0.00288</c:v>
                </c:pt>
                <c:pt idx="166">
                  <c:v>0.003301</c:v>
                </c:pt>
                <c:pt idx="167">
                  <c:v>0.00374</c:v>
                </c:pt>
                <c:pt idx="168">
                  <c:v>0.004153</c:v>
                </c:pt>
                <c:pt idx="169">
                  <c:v>0.004494</c:v>
                </c:pt>
                <c:pt idx="170">
                  <c:v>0.004826</c:v>
                </c:pt>
                <c:pt idx="171">
                  <c:v>0.005162</c:v>
                </c:pt>
                <c:pt idx="172">
                  <c:v>0.005502</c:v>
                </c:pt>
                <c:pt idx="173">
                  <c:v>0.005836</c:v>
                </c:pt>
                <c:pt idx="174">
                  <c:v>0.006094</c:v>
                </c:pt>
                <c:pt idx="175">
                  <c:v>0.00628</c:v>
                </c:pt>
                <c:pt idx="176">
                  <c:v>0.006417</c:v>
                </c:pt>
                <c:pt idx="177">
                  <c:v>0.006492</c:v>
                </c:pt>
                <c:pt idx="178">
                  <c:v>0.006565</c:v>
                </c:pt>
                <c:pt idx="179">
                  <c:v>0.006667</c:v>
                </c:pt>
                <c:pt idx="180">
                  <c:v>0.006813</c:v>
                </c:pt>
                <c:pt idx="181">
                  <c:v>0.006997</c:v>
                </c:pt>
                <c:pt idx="182">
                  <c:v>0.007147</c:v>
                </c:pt>
                <c:pt idx="183">
                  <c:v>0.007285</c:v>
                </c:pt>
                <c:pt idx="184">
                  <c:v>0.007444</c:v>
                </c:pt>
                <c:pt idx="185">
                  <c:v>0.007786</c:v>
                </c:pt>
                <c:pt idx="186">
                  <c:v>0.008377</c:v>
                </c:pt>
                <c:pt idx="187">
                  <c:v>0.009134</c:v>
                </c:pt>
                <c:pt idx="188">
                  <c:v>0.009767</c:v>
                </c:pt>
                <c:pt idx="189">
                  <c:v>0.010548</c:v>
                </c:pt>
                <c:pt idx="190">
                  <c:v>0.011647</c:v>
                </c:pt>
                <c:pt idx="191">
                  <c:v>0.011115</c:v>
                </c:pt>
                <c:pt idx="192">
                  <c:v>0.009403</c:v>
                </c:pt>
                <c:pt idx="193">
                  <c:v>0.008881</c:v>
                </c:pt>
                <c:pt idx="194">
                  <c:v>0.00925</c:v>
                </c:pt>
                <c:pt idx="195">
                  <c:v>0.008922</c:v>
                </c:pt>
                <c:pt idx="196">
                  <c:v>0.007798</c:v>
                </c:pt>
                <c:pt idx="197">
                  <c:v>0.00722</c:v>
                </c:pt>
                <c:pt idx="198">
                  <c:v>0.006718</c:v>
                </c:pt>
                <c:pt idx="199">
                  <c:v>0.006162</c:v>
                </c:pt>
                <c:pt idx="200">
                  <c:v>0.005731</c:v>
                </c:pt>
              </c:numCache>
            </c:numRef>
          </c:val>
          <c:smooth val="0"/>
        </c:ser>
        <c:ser>
          <c:idx val="1"/>
          <c:order val="1"/>
          <c:tx>
            <c:strRef>
              <c:f>Sheet1!$C$1</c:f>
              <c:strCache>
                <c:ptCount val="1"/>
                <c:pt idx="0">
                  <c:v>24 Feb</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Sheet1!$C$2:$C$202</c:f>
              <c:numCache>
                <c:formatCode>General</c:formatCode>
                <c:ptCount val="201"/>
                <c:pt idx="0">
                  <c:v>-0.000399</c:v>
                </c:pt>
                <c:pt idx="1">
                  <c:v>0.001866</c:v>
                </c:pt>
                <c:pt idx="2">
                  <c:v>0.004911</c:v>
                </c:pt>
                <c:pt idx="3">
                  <c:v>0.006604</c:v>
                </c:pt>
                <c:pt idx="4">
                  <c:v>0.008012</c:v>
                </c:pt>
                <c:pt idx="5">
                  <c:v>0.009209</c:v>
                </c:pt>
                <c:pt idx="6">
                  <c:v>0.00961</c:v>
                </c:pt>
                <c:pt idx="7">
                  <c:v>0.009835</c:v>
                </c:pt>
                <c:pt idx="8">
                  <c:v>0.009983</c:v>
                </c:pt>
                <c:pt idx="9">
                  <c:v>0.010269</c:v>
                </c:pt>
                <c:pt idx="10">
                  <c:v>0.011469</c:v>
                </c:pt>
                <c:pt idx="11">
                  <c:v>0.013469</c:v>
                </c:pt>
                <c:pt idx="12">
                  <c:v>0.015085</c:v>
                </c:pt>
                <c:pt idx="13">
                  <c:v>0.015145</c:v>
                </c:pt>
                <c:pt idx="14">
                  <c:v>0.01533</c:v>
                </c:pt>
                <c:pt idx="15">
                  <c:v>0.015643</c:v>
                </c:pt>
                <c:pt idx="16">
                  <c:v>0.016223</c:v>
                </c:pt>
                <c:pt idx="17">
                  <c:v>0.017778</c:v>
                </c:pt>
                <c:pt idx="18">
                  <c:v>0.018733</c:v>
                </c:pt>
                <c:pt idx="19">
                  <c:v>0.018687</c:v>
                </c:pt>
                <c:pt idx="20">
                  <c:v>0.018342</c:v>
                </c:pt>
                <c:pt idx="21">
                  <c:v>0.018098</c:v>
                </c:pt>
                <c:pt idx="22">
                  <c:v>0.017701</c:v>
                </c:pt>
                <c:pt idx="23">
                  <c:v>0.017522</c:v>
                </c:pt>
                <c:pt idx="24">
                  <c:v>0.016292</c:v>
                </c:pt>
                <c:pt idx="25">
                  <c:v>0.014191</c:v>
                </c:pt>
                <c:pt idx="26">
                  <c:v>0.012624</c:v>
                </c:pt>
                <c:pt idx="27">
                  <c:v>0.01039</c:v>
                </c:pt>
                <c:pt idx="28">
                  <c:v>0.01014</c:v>
                </c:pt>
                <c:pt idx="29">
                  <c:v>0.016341</c:v>
                </c:pt>
                <c:pt idx="30">
                  <c:v>0.026334</c:v>
                </c:pt>
                <c:pt idx="31">
                  <c:v>0.023646</c:v>
                </c:pt>
                <c:pt idx="32">
                  <c:v>0.011926</c:v>
                </c:pt>
                <c:pt idx="33">
                  <c:v>-0.00083</c:v>
                </c:pt>
                <c:pt idx="34">
                  <c:v>-0.009323</c:v>
                </c:pt>
                <c:pt idx="35">
                  <c:v>-0.01327</c:v>
                </c:pt>
                <c:pt idx="36">
                  <c:v>-0.014529</c:v>
                </c:pt>
                <c:pt idx="37">
                  <c:v>-0.01442</c:v>
                </c:pt>
                <c:pt idx="38">
                  <c:v>-0.013954</c:v>
                </c:pt>
                <c:pt idx="39">
                  <c:v>-0.013415</c:v>
                </c:pt>
                <c:pt idx="40">
                  <c:v>-0.012847</c:v>
                </c:pt>
                <c:pt idx="41">
                  <c:v>-0.01233</c:v>
                </c:pt>
                <c:pt idx="42">
                  <c:v>-0.011779</c:v>
                </c:pt>
                <c:pt idx="43">
                  <c:v>-0.011202</c:v>
                </c:pt>
                <c:pt idx="44">
                  <c:v>-0.010606</c:v>
                </c:pt>
                <c:pt idx="45">
                  <c:v>-0.010043</c:v>
                </c:pt>
                <c:pt idx="46">
                  <c:v>-0.009566</c:v>
                </c:pt>
                <c:pt idx="47">
                  <c:v>-0.009096</c:v>
                </c:pt>
                <c:pt idx="48">
                  <c:v>-0.008686</c:v>
                </c:pt>
                <c:pt idx="49">
                  <c:v>-0.008325</c:v>
                </c:pt>
                <c:pt idx="50">
                  <c:v>-0.007985</c:v>
                </c:pt>
                <c:pt idx="51">
                  <c:v>-0.007707</c:v>
                </c:pt>
                <c:pt idx="52">
                  <c:v>-0.007425</c:v>
                </c:pt>
                <c:pt idx="53">
                  <c:v>-0.007123</c:v>
                </c:pt>
                <c:pt idx="54">
                  <c:v>-0.006806</c:v>
                </c:pt>
                <c:pt idx="55">
                  <c:v>-0.006522</c:v>
                </c:pt>
                <c:pt idx="56">
                  <c:v>-0.006217</c:v>
                </c:pt>
                <c:pt idx="57">
                  <c:v>-0.006224</c:v>
                </c:pt>
                <c:pt idx="58">
                  <c:v>-0.006342</c:v>
                </c:pt>
                <c:pt idx="59">
                  <c:v>-0.00658</c:v>
                </c:pt>
                <c:pt idx="60">
                  <c:v>-0.006668</c:v>
                </c:pt>
                <c:pt idx="61">
                  <c:v>-0.006707</c:v>
                </c:pt>
                <c:pt idx="62">
                  <c:v>-0.006693</c:v>
                </c:pt>
                <c:pt idx="63">
                  <c:v>-0.006683</c:v>
                </c:pt>
                <c:pt idx="64">
                  <c:v>-0.006703</c:v>
                </c:pt>
                <c:pt idx="65">
                  <c:v>-0.006865</c:v>
                </c:pt>
                <c:pt idx="66">
                  <c:v>-0.007013</c:v>
                </c:pt>
                <c:pt idx="67">
                  <c:v>-0.007027</c:v>
                </c:pt>
                <c:pt idx="68">
                  <c:v>-0.006961</c:v>
                </c:pt>
                <c:pt idx="69">
                  <c:v>-0.00688</c:v>
                </c:pt>
                <c:pt idx="70">
                  <c:v>-0.006858</c:v>
                </c:pt>
                <c:pt idx="71">
                  <c:v>-0.00672</c:v>
                </c:pt>
                <c:pt idx="72">
                  <c:v>-0.00646</c:v>
                </c:pt>
                <c:pt idx="73">
                  <c:v>-0.006063</c:v>
                </c:pt>
                <c:pt idx="74">
                  <c:v>-0.005403</c:v>
                </c:pt>
                <c:pt idx="75">
                  <c:v>-0.0049</c:v>
                </c:pt>
                <c:pt idx="76">
                  <c:v>-0.005158</c:v>
                </c:pt>
                <c:pt idx="77">
                  <c:v>-0.005583</c:v>
                </c:pt>
                <c:pt idx="78">
                  <c:v>-0.005989</c:v>
                </c:pt>
                <c:pt idx="79">
                  <c:v>-0.006301</c:v>
                </c:pt>
                <c:pt idx="80">
                  <c:v>-0.006667</c:v>
                </c:pt>
                <c:pt idx="81">
                  <c:v>-0.007043</c:v>
                </c:pt>
                <c:pt idx="82">
                  <c:v>-0.007222</c:v>
                </c:pt>
                <c:pt idx="83">
                  <c:v>-0.007245</c:v>
                </c:pt>
                <c:pt idx="84">
                  <c:v>-0.007264</c:v>
                </c:pt>
                <c:pt idx="85">
                  <c:v>-0.007223</c:v>
                </c:pt>
                <c:pt idx="86">
                  <c:v>-0.007122</c:v>
                </c:pt>
                <c:pt idx="87">
                  <c:v>-0.007005</c:v>
                </c:pt>
                <c:pt idx="88">
                  <c:v>-0.006906</c:v>
                </c:pt>
                <c:pt idx="89">
                  <c:v>-0.006772</c:v>
                </c:pt>
                <c:pt idx="90">
                  <c:v>-0.006474</c:v>
                </c:pt>
                <c:pt idx="91">
                  <c:v>-0.005972</c:v>
                </c:pt>
                <c:pt idx="92">
                  <c:v>-0.005364</c:v>
                </c:pt>
                <c:pt idx="93">
                  <c:v>-0.004539</c:v>
                </c:pt>
                <c:pt idx="94">
                  <c:v>-0.003523</c:v>
                </c:pt>
                <c:pt idx="95">
                  <c:v>-0.001917</c:v>
                </c:pt>
                <c:pt idx="96">
                  <c:v>-0.000115</c:v>
                </c:pt>
                <c:pt idx="97">
                  <c:v>0.00119</c:v>
                </c:pt>
                <c:pt idx="98">
                  <c:v>0.003829</c:v>
                </c:pt>
                <c:pt idx="99">
                  <c:v>0.006639</c:v>
                </c:pt>
                <c:pt idx="100">
                  <c:v>0.008381</c:v>
                </c:pt>
                <c:pt idx="101">
                  <c:v>0.008472</c:v>
                </c:pt>
                <c:pt idx="102">
                  <c:v>0.007744</c:v>
                </c:pt>
                <c:pt idx="103">
                  <c:v>0.006999</c:v>
                </c:pt>
                <c:pt idx="104">
                  <c:v>0.006444</c:v>
                </c:pt>
                <c:pt idx="105">
                  <c:v>0.006044</c:v>
                </c:pt>
                <c:pt idx="106">
                  <c:v>0.00571</c:v>
                </c:pt>
                <c:pt idx="107">
                  <c:v>0.005281</c:v>
                </c:pt>
                <c:pt idx="108">
                  <c:v>0.004706</c:v>
                </c:pt>
                <c:pt idx="109">
                  <c:v>0.00402</c:v>
                </c:pt>
                <c:pt idx="110">
                  <c:v>0.003221</c:v>
                </c:pt>
                <c:pt idx="111">
                  <c:v>0.002269</c:v>
                </c:pt>
                <c:pt idx="112">
                  <c:v>0.001244</c:v>
                </c:pt>
                <c:pt idx="113">
                  <c:v>0.000165</c:v>
                </c:pt>
                <c:pt idx="114">
                  <c:v>-0.000989</c:v>
                </c:pt>
                <c:pt idx="115">
                  <c:v>-0.002127</c:v>
                </c:pt>
                <c:pt idx="116">
                  <c:v>-0.003176</c:v>
                </c:pt>
                <c:pt idx="117">
                  <c:v>-0.004109</c:v>
                </c:pt>
                <c:pt idx="118">
                  <c:v>-0.004892</c:v>
                </c:pt>
                <c:pt idx="119">
                  <c:v>-0.005535</c:v>
                </c:pt>
                <c:pt idx="120">
                  <c:v>-0.00611</c:v>
                </c:pt>
                <c:pt idx="121">
                  <c:v>-0.006598</c:v>
                </c:pt>
                <c:pt idx="122">
                  <c:v>-0.006911</c:v>
                </c:pt>
                <c:pt idx="123">
                  <c:v>-0.007163</c:v>
                </c:pt>
                <c:pt idx="124">
                  <c:v>-0.007376</c:v>
                </c:pt>
                <c:pt idx="125">
                  <c:v>-0.007557</c:v>
                </c:pt>
                <c:pt idx="126">
                  <c:v>-0.007658</c:v>
                </c:pt>
                <c:pt idx="127">
                  <c:v>-0.007607</c:v>
                </c:pt>
                <c:pt idx="128">
                  <c:v>-0.007378</c:v>
                </c:pt>
                <c:pt idx="129">
                  <c:v>-0.006972</c:v>
                </c:pt>
                <c:pt idx="130">
                  <c:v>-0.00638</c:v>
                </c:pt>
                <c:pt idx="131">
                  <c:v>-0.005745</c:v>
                </c:pt>
                <c:pt idx="132">
                  <c:v>-0.005813</c:v>
                </c:pt>
                <c:pt idx="133">
                  <c:v>-0.006152</c:v>
                </c:pt>
                <c:pt idx="134">
                  <c:v>-0.005249</c:v>
                </c:pt>
                <c:pt idx="135">
                  <c:v>-0.004106</c:v>
                </c:pt>
                <c:pt idx="136">
                  <c:v>-0.003514</c:v>
                </c:pt>
                <c:pt idx="137">
                  <c:v>-0.002954</c:v>
                </c:pt>
                <c:pt idx="138">
                  <c:v>-0.002313</c:v>
                </c:pt>
                <c:pt idx="139">
                  <c:v>-0.001834</c:v>
                </c:pt>
                <c:pt idx="140">
                  <c:v>-0.001514</c:v>
                </c:pt>
                <c:pt idx="141">
                  <c:v>-0.001909</c:v>
                </c:pt>
                <c:pt idx="142">
                  <c:v>-0.00098</c:v>
                </c:pt>
                <c:pt idx="143">
                  <c:v>0.000124</c:v>
                </c:pt>
                <c:pt idx="144">
                  <c:v>0.001163</c:v>
                </c:pt>
                <c:pt idx="145">
                  <c:v>0.002262</c:v>
                </c:pt>
                <c:pt idx="146">
                  <c:v>0.004149</c:v>
                </c:pt>
                <c:pt idx="147">
                  <c:v>0.006495</c:v>
                </c:pt>
                <c:pt idx="148">
                  <c:v>0.007002</c:v>
                </c:pt>
                <c:pt idx="149">
                  <c:v>0.00542</c:v>
                </c:pt>
                <c:pt idx="150">
                  <c:v>0.003111</c:v>
                </c:pt>
                <c:pt idx="151">
                  <c:v>0.001243</c:v>
                </c:pt>
                <c:pt idx="152">
                  <c:v>0.000208</c:v>
                </c:pt>
                <c:pt idx="153">
                  <c:v>-0.000147</c:v>
                </c:pt>
                <c:pt idx="154">
                  <c:v>-0.000016</c:v>
                </c:pt>
                <c:pt idx="155">
                  <c:v>0.000385</c:v>
                </c:pt>
                <c:pt idx="156">
                  <c:v>0.000884</c:v>
                </c:pt>
                <c:pt idx="157">
                  <c:v>0.001414</c:v>
                </c:pt>
                <c:pt idx="158">
                  <c:v>0.002017</c:v>
                </c:pt>
                <c:pt idx="159">
                  <c:v>0.002569</c:v>
                </c:pt>
                <c:pt idx="160">
                  <c:v>0.003056</c:v>
                </c:pt>
                <c:pt idx="161">
                  <c:v>0.003434</c:v>
                </c:pt>
                <c:pt idx="162">
                  <c:v>0.003684</c:v>
                </c:pt>
                <c:pt idx="163">
                  <c:v>0.003831</c:v>
                </c:pt>
                <c:pt idx="164">
                  <c:v>0.003815</c:v>
                </c:pt>
                <c:pt idx="165">
                  <c:v>0.003687</c:v>
                </c:pt>
                <c:pt idx="166">
                  <c:v>0.00349</c:v>
                </c:pt>
                <c:pt idx="167">
                  <c:v>0.003221</c:v>
                </c:pt>
                <c:pt idx="168">
                  <c:v>0.0029</c:v>
                </c:pt>
                <c:pt idx="169">
                  <c:v>0.002546</c:v>
                </c:pt>
                <c:pt idx="170">
                  <c:v>0.002194</c:v>
                </c:pt>
                <c:pt idx="171">
                  <c:v>0.001879</c:v>
                </c:pt>
                <c:pt idx="172">
                  <c:v>0.001611</c:v>
                </c:pt>
                <c:pt idx="173">
                  <c:v>0.001386</c:v>
                </c:pt>
                <c:pt idx="174">
                  <c:v>0.001232</c:v>
                </c:pt>
                <c:pt idx="175">
                  <c:v>0.001158</c:v>
                </c:pt>
                <c:pt idx="176">
                  <c:v>0.001141</c:v>
                </c:pt>
                <c:pt idx="177">
                  <c:v>0.001134</c:v>
                </c:pt>
                <c:pt idx="178">
                  <c:v>0.001189</c:v>
                </c:pt>
                <c:pt idx="179">
                  <c:v>0.001282</c:v>
                </c:pt>
                <c:pt idx="180">
                  <c:v>0.001436</c:v>
                </c:pt>
                <c:pt idx="181">
                  <c:v>0.00166</c:v>
                </c:pt>
                <c:pt idx="182">
                  <c:v>0.001977</c:v>
                </c:pt>
                <c:pt idx="183">
                  <c:v>0.002303</c:v>
                </c:pt>
                <c:pt idx="184">
                  <c:v>0.002615</c:v>
                </c:pt>
                <c:pt idx="185">
                  <c:v>0.002982</c:v>
                </c:pt>
                <c:pt idx="186">
                  <c:v>0.003486</c:v>
                </c:pt>
                <c:pt idx="187">
                  <c:v>0.004077</c:v>
                </c:pt>
                <c:pt idx="188">
                  <c:v>0.004676</c:v>
                </c:pt>
                <c:pt idx="189">
                  <c:v>0.00557</c:v>
                </c:pt>
                <c:pt idx="190">
                  <c:v>0.006442</c:v>
                </c:pt>
                <c:pt idx="191">
                  <c:v>0.006048</c:v>
                </c:pt>
                <c:pt idx="192">
                  <c:v>0.005884</c:v>
                </c:pt>
                <c:pt idx="193">
                  <c:v>0.006523</c:v>
                </c:pt>
                <c:pt idx="194">
                  <c:v>0.007312</c:v>
                </c:pt>
                <c:pt idx="195">
                  <c:v>0.00724</c:v>
                </c:pt>
                <c:pt idx="196">
                  <c:v>0.006996</c:v>
                </c:pt>
                <c:pt idx="197">
                  <c:v>0.00714</c:v>
                </c:pt>
                <c:pt idx="198">
                  <c:v>0.00711</c:v>
                </c:pt>
                <c:pt idx="199">
                  <c:v>0.006937</c:v>
                </c:pt>
                <c:pt idx="200">
                  <c:v>0.006829</c:v>
                </c:pt>
              </c:numCache>
            </c:numRef>
          </c:val>
          <c:smooth val="0"/>
        </c:ser>
        <c:ser>
          <c:idx val="2"/>
          <c:order val="2"/>
          <c:tx>
            <c:strRef>
              <c:f>Sheet1!$D$1</c:f>
              <c:strCache>
                <c:ptCount val="1"/>
                <c:pt idx="0">
                  <c:v>03 Mar</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D08A00"/>
              </a:solidFill>
              <a:ln w="9525" cap="flat">
                <a:solidFill>
                  <a:srgbClr val="D08A00"/>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Sheet1!$D$2:$D$202</c:f>
              <c:numCache>
                <c:formatCode>General</c:formatCode>
                <c:ptCount val="201"/>
                <c:pt idx="0">
                  <c:v>0.0194</c:v>
                </c:pt>
                <c:pt idx="1">
                  <c:v>0.018901</c:v>
                </c:pt>
                <c:pt idx="2">
                  <c:v>0.018616</c:v>
                </c:pt>
                <c:pt idx="3">
                  <c:v>0.018233</c:v>
                </c:pt>
                <c:pt idx="4">
                  <c:v>0.018576</c:v>
                </c:pt>
                <c:pt idx="5">
                  <c:v>0.019245</c:v>
                </c:pt>
                <c:pt idx="6">
                  <c:v>0.019247</c:v>
                </c:pt>
                <c:pt idx="7">
                  <c:v>0.019032</c:v>
                </c:pt>
                <c:pt idx="8">
                  <c:v>0.018937</c:v>
                </c:pt>
                <c:pt idx="9">
                  <c:v>0.019269</c:v>
                </c:pt>
                <c:pt idx="10">
                  <c:v>0.020831</c:v>
                </c:pt>
                <c:pt idx="11">
                  <c:v>0.023138</c:v>
                </c:pt>
                <c:pt idx="12">
                  <c:v>0.02298</c:v>
                </c:pt>
                <c:pt idx="13">
                  <c:v>0.019001</c:v>
                </c:pt>
                <c:pt idx="14">
                  <c:v>0.017185</c:v>
                </c:pt>
                <c:pt idx="15">
                  <c:v>0.017467</c:v>
                </c:pt>
                <c:pt idx="16">
                  <c:v>0.019349</c:v>
                </c:pt>
                <c:pt idx="17">
                  <c:v>0.02342</c:v>
                </c:pt>
                <c:pt idx="18">
                  <c:v>0.026458</c:v>
                </c:pt>
                <c:pt idx="19">
                  <c:v>0.027455</c:v>
                </c:pt>
                <c:pt idx="20">
                  <c:v>0.027594</c:v>
                </c:pt>
                <c:pt idx="21">
                  <c:v>0.027856</c:v>
                </c:pt>
                <c:pt idx="22">
                  <c:v>0.027948</c:v>
                </c:pt>
                <c:pt idx="23">
                  <c:v>0.028026</c:v>
                </c:pt>
                <c:pt idx="24">
                  <c:v>0.026797</c:v>
                </c:pt>
                <c:pt idx="25">
                  <c:v>0.02406</c:v>
                </c:pt>
                <c:pt idx="26">
                  <c:v>0.021728</c:v>
                </c:pt>
                <c:pt idx="27">
                  <c:v>0.01842</c:v>
                </c:pt>
                <c:pt idx="28">
                  <c:v>0.017338</c:v>
                </c:pt>
                <c:pt idx="29">
                  <c:v>0.024866</c:v>
                </c:pt>
                <c:pt idx="30">
                  <c:v>0.033216</c:v>
                </c:pt>
                <c:pt idx="31">
                  <c:v>0.022541</c:v>
                </c:pt>
                <c:pt idx="32">
                  <c:v>-0.000618</c:v>
                </c:pt>
                <c:pt idx="33">
                  <c:v>-0.024307</c:v>
                </c:pt>
                <c:pt idx="34">
                  <c:v>-0.039034</c:v>
                </c:pt>
                <c:pt idx="35">
                  <c:v>-0.044864</c:v>
                </c:pt>
                <c:pt idx="36">
                  <c:v>-0.045778</c:v>
                </c:pt>
                <c:pt idx="37">
                  <c:v>-0.044851</c:v>
                </c:pt>
                <c:pt idx="38">
                  <c:v>-0.043447</c:v>
                </c:pt>
                <c:pt idx="39">
                  <c:v>-0.042041</c:v>
                </c:pt>
                <c:pt idx="40">
                  <c:v>-0.040701</c:v>
                </c:pt>
                <c:pt idx="41">
                  <c:v>-0.039425</c:v>
                </c:pt>
                <c:pt idx="42">
                  <c:v>-0.03823</c:v>
                </c:pt>
                <c:pt idx="43">
                  <c:v>-0.037098</c:v>
                </c:pt>
                <c:pt idx="44">
                  <c:v>-0.036057</c:v>
                </c:pt>
                <c:pt idx="45">
                  <c:v>-0.035108</c:v>
                </c:pt>
                <c:pt idx="46">
                  <c:v>-0.034245</c:v>
                </c:pt>
                <c:pt idx="47">
                  <c:v>-0.033442</c:v>
                </c:pt>
                <c:pt idx="48">
                  <c:v>-0.032634</c:v>
                </c:pt>
                <c:pt idx="49">
                  <c:v>-0.031785</c:v>
                </c:pt>
                <c:pt idx="50">
                  <c:v>-0.030945</c:v>
                </c:pt>
                <c:pt idx="51">
                  <c:v>-0.030033</c:v>
                </c:pt>
                <c:pt idx="52">
                  <c:v>-0.029054</c:v>
                </c:pt>
                <c:pt idx="53">
                  <c:v>-0.027996</c:v>
                </c:pt>
                <c:pt idx="54">
                  <c:v>-0.026628</c:v>
                </c:pt>
                <c:pt idx="55">
                  <c:v>-0.024812</c:v>
                </c:pt>
                <c:pt idx="56">
                  <c:v>-0.022849</c:v>
                </c:pt>
                <c:pt idx="57">
                  <c:v>-0.021427</c:v>
                </c:pt>
                <c:pt idx="58">
                  <c:v>-0.020422</c:v>
                </c:pt>
                <c:pt idx="59">
                  <c:v>-0.0195</c:v>
                </c:pt>
                <c:pt idx="60">
                  <c:v>-0.018751</c:v>
                </c:pt>
                <c:pt idx="61">
                  <c:v>-0.018769</c:v>
                </c:pt>
                <c:pt idx="62">
                  <c:v>-0.019068</c:v>
                </c:pt>
                <c:pt idx="63">
                  <c:v>-0.019308</c:v>
                </c:pt>
                <c:pt idx="64">
                  <c:v>-0.019643</c:v>
                </c:pt>
                <c:pt idx="65">
                  <c:v>-0.019968</c:v>
                </c:pt>
                <c:pt idx="66">
                  <c:v>-0.020205</c:v>
                </c:pt>
                <c:pt idx="67">
                  <c:v>-0.020326</c:v>
                </c:pt>
                <c:pt idx="68">
                  <c:v>-0.020261</c:v>
                </c:pt>
                <c:pt idx="69">
                  <c:v>-0.019998</c:v>
                </c:pt>
                <c:pt idx="70">
                  <c:v>-0.019636</c:v>
                </c:pt>
                <c:pt idx="71">
                  <c:v>-0.019233</c:v>
                </c:pt>
                <c:pt idx="72">
                  <c:v>-0.018689</c:v>
                </c:pt>
                <c:pt idx="73">
                  <c:v>-0.017608</c:v>
                </c:pt>
                <c:pt idx="74">
                  <c:v>-0.015452</c:v>
                </c:pt>
                <c:pt idx="75">
                  <c:v>-0.013299</c:v>
                </c:pt>
                <c:pt idx="76">
                  <c:v>-0.012069</c:v>
                </c:pt>
                <c:pt idx="77">
                  <c:v>-0.011459</c:v>
                </c:pt>
                <c:pt idx="78">
                  <c:v>-0.011174</c:v>
                </c:pt>
                <c:pt idx="79">
                  <c:v>-0.010847</c:v>
                </c:pt>
                <c:pt idx="80">
                  <c:v>-0.010775</c:v>
                </c:pt>
                <c:pt idx="81">
                  <c:v>-0.010902</c:v>
                </c:pt>
                <c:pt idx="82">
                  <c:v>-0.010834</c:v>
                </c:pt>
                <c:pt idx="83">
                  <c:v>-0.010793</c:v>
                </c:pt>
                <c:pt idx="84">
                  <c:v>-0.010946</c:v>
                </c:pt>
                <c:pt idx="85">
                  <c:v>-0.011056</c:v>
                </c:pt>
                <c:pt idx="86">
                  <c:v>-0.011133</c:v>
                </c:pt>
                <c:pt idx="87">
                  <c:v>-0.011179</c:v>
                </c:pt>
                <c:pt idx="88">
                  <c:v>-0.011032</c:v>
                </c:pt>
                <c:pt idx="89">
                  <c:v>-0.010608</c:v>
                </c:pt>
                <c:pt idx="90">
                  <c:v>-0.009741</c:v>
                </c:pt>
                <c:pt idx="91">
                  <c:v>-0.008462</c:v>
                </c:pt>
                <c:pt idx="92">
                  <c:v>-0.00678</c:v>
                </c:pt>
                <c:pt idx="93">
                  <c:v>-0.004729</c:v>
                </c:pt>
                <c:pt idx="94">
                  <c:v>-0.002661</c:v>
                </c:pt>
                <c:pt idx="95">
                  <c:v>-0.001182</c:v>
                </c:pt>
                <c:pt idx="96">
                  <c:v>0.000206</c:v>
                </c:pt>
                <c:pt idx="97">
                  <c:v>0.003056</c:v>
                </c:pt>
                <c:pt idx="98">
                  <c:v>0.007787</c:v>
                </c:pt>
                <c:pt idx="99">
                  <c:v>0.014223</c:v>
                </c:pt>
                <c:pt idx="100">
                  <c:v>0.019196</c:v>
                </c:pt>
                <c:pt idx="101">
                  <c:v>0.021525</c:v>
                </c:pt>
                <c:pt idx="102">
                  <c:v>0.022513</c:v>
                </c:pt>
                <c:pt idx="103">
                  <c:v>0.023094</c:v>
                </c:pt>
                <c:pt idx="104">
                  <c:v>0.023548</c:v>
                </c:pt>
                <c:pt idx="105">
                  <c:v>0.023888</c:v>
                </c:pt>
                <c:pt idx="106">
                  <c:v>0.024123</c:v>
                </c:pt>
                <c:pt idx="107">
                  <c:v>0.024278</c:v>
                </c:pt>
                <c:pt idx="108">
                  <c:v>0.024329</c:v>
                </c:pt>
                <c:pt idx="109">
                  <c:v>0.024194</c:v>
                </c:pt>
                <c:pt idx="110">
                  <c:v>0.02381</c:v>
                </c:pt>
                <c:pt idx="111">
                  <c:v>0.023132</c:v>
                </c:pt>
                <c:pt idx="112">
                  <c:v>0.022171</c:v>
                </c:pt>
                <c:pt idx="113">
                  <c:v>0.021022</c:v>
                </c:pt>
                <c:pt idx="114">
                  <c:v>0.019754</c:v>
                </c:pt>
                <c:pt idx="115">
                  <c:v>0.018406</c:v>
                </c:pt>
                <c:pt idx="116">
                  <c:v>0.017048</c:v>
                </c:pt>
                <c:pt idx="117">
                  <c:v>0.015776</c:v>
                </c:pt>
                <c:pt idx="118">
                  <c:v>0.014638</c:v>
                </c:pt>
                <c:pt idx="119">
                  <c:v>0.01361</c:v>
                </c:pt>
                <c:pt idx="120">
                  <c:v>0.012666</c:v>
                </c:pt>
                <c:pt idx="121">
                  <c:v>0.011848</c:v>
                </c:pt>
                <c:pt idx="122">
                  <c:v>0.011121</c:v>
                </c:pt>
                <c:pt idx="123">
                  <c:v>0.010473</c:v>
                </c:pt>
                <c:pt idx="124">
                  <c:v>0.009917</c:v>
                </c:pt>
                <c:pt idx="125">
                  <c:v>0.009431</c:v>
                </c:pt>
                <c:pt idx="126">
                  <c:v>0.009022</c:v>
                </c:pt>
                <c:pt idx="127">
                  <c:v>0.008763</c:v>
                </c:pt>
                <c:pt idx="128">
                  <c:v>0.008757</c:v>
                </c:pt>
                <c:pt idx="129">
                  <c:v>0.00892</c:v>
                </c:pt>
                <c:pt idx="130">
                  <c:v>0.009238</c:v>
                </c:pt>
                <c:pt idx="131">
                  <c:v>0.009502</c:v>
                </c:pt>
                <c:pt idx="132">
                  <c:v>0.00969</c:v>
                </c:pt>
                <c:pt idx="133">
                  <c:v>0.010006</c:v>
                </c:pt>
                <c:pt idx="134">
                  <c:v>0.010876</c:v>
                </c:pt>
                <c:pt idx="135">
                  <c:v>0.011952</c:v>
                </c:pt>
                <c:pt idx="136">
                  <c:v>0.012887</c:v>
                </c:pt>
                <c:pt idx="137">
                  <c:v>0.013563</c:v>
                </c:pt>
                <c:pt idx="138">
                  <c:v>0.013989</c:v>
                </c:pt>
                <c:pt idx="139">
                  <c:v>0.014112</c:v>
                </c:pt>
                <c:pt idx="140">
                  <c:v>0.013918</c:v>
                </c:pt>
                <c:pt idx="141">
                  <c:v>0.013727</c:v>
                </c:pt>
                <c:pt idx="142">
                  <c:v>0.016131</c:v>
                </c:pt>
                <c:pt idx="143">
                  <c:v>0.017921</c:v>
                </c:pt>
                <c:pt idx="144">
                  <c:v>0.019017</c:v>
                </c:pt>
                <c:pt idx="145">
                  <c:v>0.020792</c:v>
                </c:pt>
                <c:pt idx="146">
                  <c:v>0.02315</c:v>
                </c:pt>
                <c:pt idx="147">
                  <c:v>0.025356</c:v>
                </c:pt>
                <c:pt idx="148">
                  <c:v>0.026063</c:v>
                </c:pt>
                <c:pt idx="149">
                  <c:v>0.024199</c:v>
                </c:pt>
                <c:pt idx="150">
                  <c:v>0.02137</c:v>
                </c:pt>
                <c:pt idx="151">
                  <c:v>0.019662</c:v>
                </c:pt>
                <c:pt idx="152">
                  <c:v>0.019067</c:v>
                </c:pt>
                <c:pt idx="153">
                  <c:v>0.019079</c:v>
                </c:pt>
                <c:pt idx="154">
                  <c:v>0.019459</c:v>
                </c:pt>
                <c:pt idx="155">
                  <c:v>0.020065</c:v>
                </c:pt>
                <c:pt idx="156">
                  <c:v>0.02078</c:v>
                </c:pt>
                <c:pt idx="157">
                  <c:v>0.021638</c:v>
                </c:pt>
                <c:pt idx="158">
                  <c:v>0.02272</c:v>
                </c:pt>
                <c:pt idx="159">
                  <c:v>0.02375</c:v>
                </c:pt>
                <c:pt idx="160">
                  <c:v>0.024742</c:v>
                </c:pt>
                <c:pt idx="161">
                  <c:v>0.025651</c:v>
                </c:pt>
                <c:pt idx="162">
                  <c:v>0.02645</c:v>
                </c:pt>
                <c:pt idx="163">
                  <c:v>0.027146</c:v>
                </c:pt>
                <c:pt idx="164">
                  <c:v>0.027733</c:v>
                </c:pt>
                <c:pt idx="165">
                  <c:v>0.028154</c:v>
                </c:pt>
                <c:pt idx="166">
                  <c:v>0.028442</c:v>
                </c:pt>
                <c:pt idx="167">
                  <c:v>0.02869</c:v>
                </c:pt>
                <c:pt idx="168">
                  <c:v>0.028853</c:v>
                </c:pt>
                <c:pt idx="169">
                  <c:v>0.028923</c:v>
                </c:pt>
                <c:pt idx="170">
                  <c:v>0.028926</c:v>
                </c:pt>
                <c:pt idx="171">
                  <c:v>0.028904</c:v>
                </c:pt>
                <c:pt idx="172">
                  <c:v>0.028901</c:v>
                </c:pt>
                <c:pt idx="173">
                  <c:v>0.028895</c:v>
                </c:pt>
                <c:pt idx="174">
                  <c:v>0.028741</c:v>
                </c:pt>
                <c:pt idx="175">
                  <c:v>0.028528</c:v>
                </c:pt>
                <c:pt idx="176">
                  <c:v>0.028299</c:v>
                </c:pt>
                <c:pt idx="177">
                  <c:v>0.028002</c:v>
                </c:pt>
                <c:pt idx="178">
                  <c:v>0.027713</c:v>
                </c:pt>
                <c:pt idx="179">
                  <c:v>0.027469</c:v>
                </c:pt>
                <c:pt idx="180">
                  <c:v>0.027328</c:v>
                </c:pt>
                <c:pt idx="181">
                  <c:v>0.02737</c:v>
                </c:pt>
                <c:pt idx="182">
                  <c:v>0.027509</c:v>
                </c:pt>
                <c:pt idx="183">
                  <c:v>0.027704</c:v>
                </c:pt>
                <c:pt idx="184">
                  <c:v>0.028014</c:v>
                </c:pt>
                <c:pt idx="185">
                  <c:v>0.02868</c:v>
                </c:pt>
                <c:pt idx="186">
                  <c:v>0.029962</c:v>
                </c:pt>
                <c:pt idx="187">
                  <c:v>0.031683</c:v>
                </c:pt>
                <c:pt idx="188">
                  <c:v>0.033352</c:v>
                </c:pt>
                <c:pt idx="189">
                  <c:v>0.035456</c:v>
                </c:pt>
                <c:pt idx="190">
                  <c:v>0.038598</c:v>
                </c:pt>
                <c:pt idx="191">
                  <c:v>0.039231</c:v>
                </c:pt>
                <c:pt idx="192">
                  <c:v>0.036199</c:v>
                </c:pt>
                <c:pt idx="193">
                  <c:v>0.035443</c:v>
                </c:pt>
                <c:pt idx="194">
                  <c:v>0.037299</c:v>
                </c:pt>
                <c:pt idx="195">
                  <c:v>0.037984</c:v>
                </c:pt>
                <c:pt idx="196">
                  <c:v>0.036161</c:v>
                </c:pt>
                <c:pt idx="197">
                  <c:v>0.035779</c:v>
                </c:pt>
                <c:pt idx="198">
                  <c:v>0.035576</c:v>
                </c:pt>
                <c:pt idx="199">
                  <c:v>0.035091</c:v>
                </c:pt>
                <c:pt idx="200">
                  <c:v>0.03463</c:v>
                </c:pt>
              </c:numCache>
            </c:numRef>
          </c:val>
          <c:smooth val="0"/>
        </c:ser>
        <c:ser>
          <c:idx val="3"/>
          <c:order val="3"/>
          <c:tx>
            <c:strRef>
              <c:f>Sheet1!$E$1</c:f>
              <c:strCache>
                <c:ptCount val="1"/>
                <c:pt idx="0">
                  <c:v>13 Mar</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B03A2E"/>
              </a:solidFill>
              <a:ln w="9525" cap="flat">
                <a:solidFill>
                  <a:srgbClr val="B03A2E"/>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Sheet1!$E$2:$E$202</c:f>
              <c:numCache>
                <c:formatCode>General</c:formatCode>
                <c:ptCount val="201"/>
                <c:pt idx="0">
                  <c:v>0.006375</c:v>
                </c:pt>
                <c:pt idx="1">
                  <c:v>0.006031</c:v>
                </c:pt>
                <c:pt idx="2">
                  <c:v>0.006112</c:v>
                </c:pt>
                <c:pt idx="3">
                  <c:v>0.006136</c:v>
                </c:pt>
                <c:pt idx="4">
                  <c:v>0.006364</c:v>
                </c:pt>
                <c:pt idx="5">
                  <c:v>0.006666</c:v>
                </c:pt>
                <c:pt idx="6">
                  <c:v>0.006945</c:v>
                </c:pt>
                <c:pt idx="7">
                  <c:v>0.007473</c:v>
                </c:pt>
                <c:pt idx="8">
                  <c:v>0.007827</c:v>
                </c:pt>
                <c:pt idx="9">
                  <c:v>0.008169</c:v>
                </c:pt>
                <c:pt idx="10">
                  <c:v>0.008509</c:v>
                </c:pt>
                <c:pt idx="11">
                  <c:v>0.008093</c:v>
                </c:pt>
                <c:pt idx="12">
                  <c:v>0.005726</c:v>
                </c:pt>
                <c:pt idx="13">
                  <c:v>0.002169</c:v>
                </c:pt>
                <c:pt idx="14">
                  <c:v>0.000349</c:v>
                </c:pt>
                <c:pt idx="15">
                  <c:v>0.000034</c:v>
                </c:pt>
                <c:pt idx="16">
                  <c:v>0.001701</c:v>
                </c:pt>
                <c:pt idx="17">
                  <c:v>0.005759</c:v>
                </c:pt>
                <c:pt idx="18">
                  <c:v>0.009527</c:v>
                </c:pt>
                <c:pt idx="19">
                  <c:v>0.011886</c:v>
                </c:pt>
                <c:pt idx="20">
                  <c:v>0.013518</c:v>
                </c:pt>
                <c:pt idx="21">
                  <c:v>0.015556</c:v>
                </c:pt>
                <c:pt idx="22">
                  <c:v>0.017632</c:v>
                </c:pt>
                <c:pt idx="23">
                  <c:v>0.019158</c:v>
                </c:pt>
                <c:pt idx="24">
                  <c:v>0.019939</c:v>
                </c:pt>
                <c:pt idx="25">
                  <c:v>0.019674</c:v>
                </c:pt>
                <c:pt idx="26">
                  <c:v>0.019259</c:v>
                </c:pt>
                <c:pt idx="27">
                  <c:v>0.018366</c:v>
                </c:pt>
                <c:pt idx="28">
                  <c:v>0.018987</c:v>
                </c:pt>
                <c:pt idx="29">
                  <c:v>0.023157</c:v>
                </c:pt>
                <c:pt idx="30">
                  <c:v>0.025873</c:v>
                </c:pt>
                <c:pt idx="31">
                  <c:v>0.022028</c:v>
                </c:pt>
                <c:pt idx="32">
                  <c:v>0.01584</c:v>
                </c:pt>
                <c:pt idx="33">
                  <c:v>0.010785</c:v>
                </c:pt>
                <c:pt idx="34">
                  <c:v>0.008356</c:v>
                </c:pt>
                <c:pt idx="35">
                  <c:v>0.007884</c:v>
                </c:pt>
                <c:pt idx="36">
                  <c:v>0.008363</c:v>
                </c:pt>
                <c:pt idx="37">
                  <c:v>0.009136</c:v>
                </c:pt>
                <c:pt idx="38">
                  <c:v>0.009952</c:v>
                </c:pt>
                <c:pt idx="39">
                  <c:v>0.010752</c:v>
                </c:pt>
                <c:pt idx="40">
                  <c:v>0.011509</c:v>
                </c:pt>
                <c:pt idx="41">
                  <c:v>0.012226</c:v>
                </c:pt>
                <c:pt idx="42">
                  <c:v>0.01289</c:v>
                </c:pt>
                <c:pt idx="43">
                  <c:v>0.013525</c:v>
                </c:pt>
                <c:pt idx="44">
                  <c:v>0.014103</c:v>
                </c:pt>
                <c:pt idx="45">
                  <c:v>0.014585</c:v>
                </c:pt>
                <c:pt idx="46">
                  <c:v>0.01501</c:v>
                </c:pt>
                <c:pt idx="47">
                  <c:v>0.015399</c:v>
                </c:pt>
                <c:pt idx="48">
                  <c:v>0.015769</c:v>
                </c:pt>
                <c:pt idx="49">
                  <c:v>0.01613</c:v>
                </c:pt>
                <c:pt idx="50">
                  <c:v>0.01651</c:v>
                </c:pt>
                <c:pt idx="51">
                  <c:v>0.016899</c:v>
                </c:pt>
                <c:pt idx="52">
                  <c:v>0.01732</c:v>
                </c:pt>
                <c:pt idx="53">
                  <c:v>0.017815</c:v>
                </c:pt>
                <c:pt idx="54">
                  <c:v>0.018371</c:v>
                </c:pt>
                <c:pt idx="55">
                  <c:v>0.019137</c:v>
                </c:pt>
                <c:pt idx="56">
                  <c:v>0.019918</c:v>
                </c:pt>
                <c:pt idx="57">
                  <c:v>0.020354</c:v>
                </c:pt>
                <c:pt idx="58">
                  <c:v>0.020583</c:v>
                </c:pt>
                <c:pt idx="59">
                  <c:v>0.020795</c:v>
                </c:pt>
                <c:pt idx="60">
                  <c:v>0.020875</c:v>
                </c:pt>
                <c:pt idx="61">
                  <c:v>0.020838</c:v>
                </c:pt>
                <c:pt idx="62">
                  <c:v>0.020778</c:v>
                </c:pt>
                <c:pt idx="63">
                  <c:v>0.020665</c:v>
                </c:pt>
                <c:pt idx="64">
                  <c:v>0.020478</c:v>
                </c:pt>
                <c:pt idx="65">
                  <c:v>0.020317</c:v>
                </c:pt>
                <c:pt idx="66">
                  <c:v>0.020197</c:v>
                </c:pt>
                <c:pt idx="67">
                  <c:v>0.020249</c:v>
                </c:pt>
                <c:pt idx="68">
                  <c:v>0.0204</c:v>
                </c:pt>
                <c:pt idx="69">
                  <c:v>0.020604</c:v>
                </c:pt>
                <c:pt idx="70">
                  <c:v>0.020874</c:v>
                </c:pt>
                <c:pt idx="71">
                  <c:v>0.021114</c:v>
                </c:pt>
                <c:pt idx="72">
                  <c:v>0.0214</c:v>
                </c:pt>
                <c:pt idx="73">
                  <c:v>0.021958</c:v>
                </c:pt>
                <c:pt idx="74">
                  <c:v>0.022941</c:v>
                </c:pt>
                <c:pt idx="75">
                  <c:v>0.023825</c:v>
                </c:pt>
                <c:pt idx="76">
                  <c:v>0.024103</c:v>
                </c:pt>
                <c:pt idx="77">
                  <c:v>0.024036</c:v>
                </c:pt>
                <c:pt idx="78">
                  <c:v>0.023981</c:v>
                </c:pt>
                <c:pt idx="79">
                  <c:v>0.023957</c:v>
                </c:pt>
                <c:pt idx="80">
                  <c:v>0.023908</c:v>
                </c:pt>
                <c:pt idx="81">
                  <c:v>0.023863</c:v>
                </c:pt>
                <c:pt idx="82">
                  <c:v>0.023868</c:v>
                </c:pt>
                <c:pt idx="83">
                  <c:v>0.023873</c:v>
                </c:pt>
                <c:pt idx="84">
                  <c:v>0.023895</c:v>
                </c:pt>
                <c:pt idx="85">
                  <c:v>0.023944</c:v>
                </c:pt>
                <c:pt idx="86">
                  <c:v>0.02392</c:v>
                </c:pt>
                <c:pt idx="87">
                  <c:v>0.023876</c:v>
                </c:pt>
                <c:pt idx="88">
                  <c:v>0.023948</c:v>
                </c:pt>
                <c:pt idx="89">
                  <c:v>0.02419</c:v>
                </c:pt>
                <c:pt idx="90">
                  <c:v>0.024667</c:v>
                </c:pt>
                <c:pt idx="91">
                  <c:v>0.025312</c:v>
                </c:pt>
                <c:pt idx="92">
                  <c:v>0.026068</c:v>
                </c:pt>
                <c:pt idx="93">
                  <c:v>0.0268</c:v>
                </c:pt>
                <c:pt idx="94">
                  <c:v>0.027363</c:v>
                </c:pt>
                <c:pt idx="95">
                  <c:v>0.027514</c:v>
                </c:pt>
                <c:pt idx="96">
                  <c:v>0.027597</c:v>
                </c:pt>
                <c:pt idx="97">
                  <c:v>0.028411</c:v>
                </c:pt>
                <c:pt idx="98">
                  <c:v>0.029233</c:v>
                </c:pt>
                <c:pt idx="99">
                  <c:v>0.029538</c:v>
                </c:pt>
                <c:pt idx="100">
                  <c:v>0.028486</c:v>
                </c:pt>
                <c:pt idx="101">
                  <c:v>0.026904</c:v>
                </c:pt>
                <c:pt idx="102">
                  <c:v>0.02571</c:v>
                </c:pt>
                <c:pt idx="103">
                  <c:v>0.025033</c:v>
                </c:pt>
                <c:pt idx="104">
                  <c:v>0.024747</c:v>
                </c:pt>
                <c:pt idx="105">
                  <c:v>0.024698</c:v>
                </c:pt>
                <c:pt idx="106">
                  <c:v>0.024815</c:v>
                </c:pt>
                <c:pt idx="107">
                  <c:v>0.025135</c:v>
                </c:pt>
                <c:pt idx="108">
                  <c:v>0.025628</c:v>
                </c:pt>
                <c:pt idx="109">
                  <c:v>0.026143</c:v>
                </c:pt>
                <c:pt idx="110">
                  <c:v>0.026598</c:v>
                </c:pt>
                <c:pt idx="111">
                  <c:v>0.026948</c:v>
                </c:pt>
                <c:pt idx="112">
                  <c:v>0.02717</c:v>
                </c:pt>
                <c:pt idx="113">
                  <c:v>0.027278</c:v>
                </c:pt>
                <c:pt idx="114">
                  <c:v>0.027294</c:v>
                </c:pt>
                <c:pt idx="115">
                  <c:v>0.027222</c:v>
                </c:pt>
                <c:pt idx="116">
                  <c:v>0.027097</c:v>
                </c:pt>
                <c:pt idx="117">
                  <c:v>0.026949</c:v>
                </c:pt>
                <c:pt idx="118">
                  <c:v>0.026831</c:v>
                </c:pt>
                <c:pt idx="119">
                  <c:v>0.026717</c:v>
                </c:pt>
                <c:pt idx="120">
                  <c:v>0.026632</c:v>
                </c:pt>
                <c:pt idx="121">
                  <c:v>0.02655</c:v>
                </c:pt>
                <c:pt idx="122">
                  <c:v>0.026449</c:v>
                </c:pt>
                <c:pt idx="123">
                  <c:v>0.026356</c:v>
                </c:pt>
                <c:pt idx="124">
                  <c:v>0.026279</c:v>
                </c:pt>
                <c:pt idx="125">
                  <c:v>0.026176</c:v>
                </c:pt>
                <c:pt idx="126">
                  <c:v>0.026042</c:v>
                </c:pt>
                <c:pt idx="127">
                  <c:v>0.025873</c:v>
                </c:pt>
                <c:pt idx="128">
                  <c:v>0.025678</c:v>
                </c:pt>
                <c:pt idx="129">
                  <c:v>0.025557</c:v>
                </c:pt>
                <c:pt idx="130">
                  <c:v>0.025534</c:v>
                </c:pt>
                <c:pt idx="131">
                  <c:v>0.02549</c:v>
                </c:pt>
                <c:pt idx="132">
                  <c:v>0.025446</c:v>
                </c:pt>
                <c:pt idx="133">
                  <c:v>0.025495</c:v>
                </c:pt>
                <c:pt idx="134">
                  <c:v>0.025704</c:v>
                </c:pt>
                <c:pt idx="135">
                  <c:v>0.025951</c:v>
                </c:pt>
                <c:pt idx="136">
                  <c:v>0.026192</c:v>
                </c:pt>
                <c:pt idx="137">
                  <c:v>0.026415</c:v>
                </c:pt>
                <c:pt idx="138">
                  <c:v>0.026552</c:v>
                </c:pt>
                <c:pt idx="139">
                  <c:v>0.026632</c:v>
                </c:pt>
                <c:pt idx="140">
                  <c:v>0.026639</c:v>
                </c:pt>
                <c:pt idx="141">
                  <c:v>0.026861</c:v>
                </c:pt>
                <c:pt idx="142">
                  <c:v>0.027357</c:v>
                </c:pt>
                <c:pt idx="143">
                  <c:v>0.027563</c:v>
                </c:pt>
                <c:pt idx="144">
                  <c:v>0.027743</c:v>
                </c:pt>
                <c:pt idx="145">
                  <c:v>0.028069</c:v>
                </c:pt>
                <c:pt idx="146">
                  <c:v>0.028031</c:v>
                </c:pt>
                <c:pt idx="147">
                  <c:v>0.026871</c:v>
                </c:pt>
                <c:pt idx="148">
                  <c:v>0.024258</c:v>
                </c:pt>
                <c:pt idx="149">
                  <c:v>0.020315</c:v>
                </c:pt>
                <c:pt idx="150">
                  <c:v>0.016889</c:v>
                </c:pt>
                <c:pt idx="151">
                  <c:v>0.015079</c:v>
                </c:pt>
                <c:pt idx="152">
                  <c:v>0.014341</c:v>
                </c:pt>
                <c:pt idx="153">
                  <c:v>0.014186</c:v>
                </c:pt>
                <c:pt idx="154">
                  <c:v>0.014394</c:v>
                </c:pt>
                <c:pt idx="155">
                  <c:v>0.014844</c:v>
                </c:pt>
                <c:pt idx="156">
                  <c:v>0.015438</c:v>
                </c:pt>
                <c:pt idx="157">
                  <c:v>0.016154</c:v>
                </c:pt>
                <c:pt idx="158">
                  <c:v>0.016952</c:v>
                </c:pt>
                <c:pt idx="159">
                  <c:v>0.017783</c:v>
                </c:pt>
                <c:pt idx="160">
                  <c:v>0.018634</c:v>
                </c:pt>
                <c:pt idx="161">
                  <c:v>0.019455</c:v>
                </c:pt>
                <c:pt idx="162">
                  <c:v>0.020207</c:v>
                </c:pt>
                <c:pt idx="163">
                  <c:v>0.020862</c:v>
                </c:pt>
                <c:pt idx="164">
                  <c:v>0.021426</c:v>
                </c:pt>
                <c:pt idx="165">
                  <c:v>0.021909</c:v>
                </c:pt>
                <c:pt idx="166">
                  <c:v>0.022382</c:v>
                </c:pt>
                <c:pt idx="167">
                  <c:v>0.022867</c:v>
                </c:pt>
                <c:pt idx="168">
                  <c:v>0.023314</c:v>
                </c:pt>
                <c:pt idx="169">
                  <c:v>0.023692</c:v>
                </c:pt>
                <c:pt idx="170">
                  <c:v>0.024043</c:v>
                </c:pt>
                <c:pt idx="171">
                  <c:v>0.024412</c:v>
                </c:pt>
                <c:pt idx="172">
                  <c:v>0.024764</c:v>
                </c:pt>
                <c:pt idx="173">
                  <c:v>0.025037</c:v>
                </c:pt>
                <c:pt idx="174">
                  <c:v>0.025196</c:v>
                </c:pt>
                <c:pt idx="175">
                  <c:v>0.02527</c:v>
                </c:pt>
                <c:pt idx="176">
                  <c:v>0.025247</c:v>
                </c:pt>
                <c:pt idx="177">
                  <c:v>0.025128</c:v>
                </c:pt>
                <c:pt idx="178">
                  <c:v>0.02508</c:v>
                </c:pt>
                <c:pt idx="179">
                  <c:v>0.025086</c:v>
                </c:pt>
                <c:pt idx="180">
                  <c:v>0.025136</c:v>
                </c:pt>
                <c:pt idx="181">
                  <c:v>0.025237</c:v>
                </c:pt>
                <c:pt idx="182">
                  <c:v>0.025328</c:v>
                </c:pt>
                <c:pt idx="183">
                  <c:v>0.025304</c:v>
                </c:pt>
                <c:pt idx="184">
                  <c:v>0.025087</c:v>
                </c:pt>
                <c:pt idx="185">
                  <c:v>0.024696</c:v>
                </c:pt>
                <c:pt idx="186">
                  <c:v>0.024254</c:v>
                </c:pt>
                <c:pt idx="187">
                  <c:v>0.02389</c:v>
                </c:pt>
                <c:pt idx="188">
                  <c:v>0.023623</c:v>
                </c:pt>
                <c:pt idx="189">
                  <c:v>0.023388</c:v>
                </c:pt>
                <c:pt idx="190">
                  <c:v>0.023106</c:v>
                </c:pt>
                <c:pt idx="191">
                  <c:v>0.022788</c:v>
                </c:pt>
                <c:pt idx="192">
                  <c:v>0.022622</c:v>
                </c:pt>
                <c:pt idx="193">
                  <c:v>0.022458</c:v>
                </c:pt>
                <c:pt idx="194">
                  <c:v>0.022199</c:v>
                </c:pt>
                <c:pt idx="195">
                  <c:v>0.021852</c:v>
                </c:pt>
                <c:pt idx="196">
                  <c:v>0.021503</c:v>
                </c:pt>
                <c:pt idx="197">
                  <c:v>0.021134</c:v>
                </c:pt>
                <c:pt idx="198">
                  <c:v>0.020676</c:v>
                </c:pt>
                <c:pt idx="199">
                  <c:v>0.020177</c:v>
                </c:pt>
                <c:pt idx="200">
                  <c:v>0.019757</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Wavelength (nm)</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title>
          <c:tx>
            <c:rich>
              <a:bodyPr/>
              <a:lstStyle/>
              <a:p>
                <a:pPr>
                  <a:defRPr sz="1000" b="0" i="0" u="none" strike="noStrike">
                    <a:solidFill>
                      <a:srgbClr val="555555"/>
                    </a:solidFill>
                    <a:latin typeface="+mn-lt"/>
                  </a:defRPr>
                </a:pPr>
                <a:r>
                  <a:rPr sz="1000" b="0" i="0" u="none" strike="noStrike">
                    <a:solidFill>
                      <a:srgbClr val="555555"/>
                    </a:solidFill>
                    <a:latin typeface="+mn-lt"/>
                  </a:rPr>
                  <a:t>Reflectance difference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Effect size per band (plot-date means, n = 192)</a:t>
            </a:r>
          </a:p>
        </c:rich>
      </c:tx>
      <c:layout/>
      <c:overlay val="0"/>
    </c:title>
    <c:autoTitleDeleted val="0"/>
    <c:plotArea>
      <c:layout/>
      <c:lineChart>
        <c:varyColors val="0"/>
        <c:ser>
          <c:idx val="0"/>
          <c:order val="0"/>
          <c:tx>
            <c:strRef>
              <c:f>Sheet1!$B$1</c:f>
              <c:strCache>
                <c:ptCount val="1"/>
                <c:pt idx="0">
                  <c:v>Cohen's d (D - H)</c:v>
                </c:pt>
              </c:strCache>
            </c:strRef>
          </c:tx>
          <c:spPr>
            <a:solidFill>
              <a:srgbClr val="333333"/>
            </a:solidFill>
            <a:ln w="25400" cap="flat">
              <a:solidFill>
                <a:srgbClr val="333333"/>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333333"/>
              </a:solidFill>
              <a:ln w="9525" cap="flat">
                <a:solidFill>
                  <a:srgbClr val="333333"/>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0.0454</c:v>
                </c:pt>
                <c:pt idx="1">
                  <c:v>0.05269</c:v>
                </c:pt>
                <c:pt idx="2">
                  <c:v>0.0673</c:v>
                </c:pt>
                <c:pt idx="3">
                  <c:v>0.08086</c:v>
                </c:pt>
                <c:pt idx="4">
                  <c:v>0.10092</c:v>
                </c:pt>
                <c:pt idx="5">
                  <c:v>0.12556</c:v>
                </c:pt>
                <c:pt idx="6">
                  <c:v>0.14843</c:v>
                </c:pt>
                <c:pt idx="7">
                  <c:v>0.17604</c:v>
                </c:pt>
                <c:pt idx="8">
                  <c:v>0.20664</c:v>
                </c:pt>
                <c:pt idx="9">
                  <c:v>0.24492</c:v>
                </c:pt>
                <c:pt idx="10">
                  <c:v>0.29439</c:v>
                </c:pt>
                <c:pt idx="11">
                  <c:v>0.31763</c:v>
                </c:pt>
                <c:pt idx="12">
                  <c:v>0.25292</c:v>
                </c:pt>
                <c:pt idx="13">
                  <c:v>0.15221</c:v>
                </c:pt>
                <c:pt idx="14">
                  <c:v>0.11819</c:v>
                </c:pt>
                <c:pt idx="15">
                  <c:v>0.12388</c:v>
                </c:pt>
                <c:pt idx="16">
                  <c:v>0.17338</c:v>
                </c:pt>
                <c:pt idx="17">
                  <c:v>0.31176</c:v>
                </c:pt>
                <c:pt idx="18">
                  <c:v>0.49272</c:v>
                </c:pt>
                <c:pt idx="19">
                  <c:v>0.62371</c:v>
                </c:pt>
                <c:pt idx="20">
                  <c:v>0.70757</c:v>
                </c:pt>
                <c:pt idx="21">
                  <c:v>0.80917</c:v>
                </c:pt>
                <c:pt idx="22">
                  <c:v>0.89945</c:v>
                </c:pt>
                <c:pt idx="23">
                  <c:v>0.93977</c:v>
                </c:pt>
                <c:pt idx="24">
                  <c:v>0.96627</c:v>
                </c:pt>
                <c:pt idx="25">
                  <c:v>0.98019</c:v>
                </c:pt>
                <c:pt idx="26">
                  <c:v>0.9472</c:v>
                </c:pt>
                <c:pt idx="27">
                  <c:v>0.8803</c:v>
                </c:pt>
                <c:pt idx="28">
                  <c:v>0.84193</c:v>
                </c:pt>
                <c:pt idx="29">
                  <c:v>0.91794</c:v>
                </c:pt>
                <c:pt idx="30">
                  <c:v>0.89041</c:v>
                </c:pt>
                <c:pt idx="31">
                  <c:v>0.572</c:v>
                </c:pt>
                <c:pt idx="32">
                  <c:v>0.09654</c:v>
                </c:pt>
                <c:pt idx="33">
                  <c:v>-0.16946</c:v>
                </c:pt>
                <c:pt idx="34">
                  <c:v>-0.2653</c:v>
                </c:pt>
                <c:pt idx="35">
                  <c:v>-0.29426</c:v>
                </c:pt>
                <c:pt idx="36">
                  <c:v>-0.29808</c:v>
                </c:pt>
                <c:pt idx="37">
                  <c:v>-0.29159</c:v>
                </c:pt>
                <c:pt idx="38">
                  <c:v>-0.28282</c:v>
                </c:pt>
                <c:pt idx="39">
                  <c:v>-0.27341</c:v>
                </c:pt>
                <c:pt idx="40">
                  <c:v>-0.26354</c:v>
                </c:pt>
                <c:pt idx="41">
                  <c:v>-0.254</c:v>
                </c:pt>
                <c:pt idx="42">
                  <c:v>-0.24416</c:v>
                </c:pt>
                <c:pt idx="43">
                  <c:v>-0.23416</c:v>
                </c:pt>
                <c:pt idx="44">
                  <c:v>-0.2238</c:v>
                </c:pt>
                <c:pt idx="45">
                  <c:v>-0.21384</c:v>
                </c:pt>
                <c:pt idx="46">
                  <c:v>-0.20447</c:v>
                </c:pt>
                <c:pt idx="47">
                  <c:v>-0.19562</c:v>
                </c:pt>
                <c:pt idx="48">
                  <c:v>-0.18681</c:v>
                </c:pt>
                <c:pt idx="49">
                  <c:v>-0.17793</c:v>
                </c:pt>
                <c:pt idx="50">
                  <c:v>-0.16917</c:v>
                </c:pt>
                <c:pt idx="51">
                  <c:v>-0.15984</c:v>
                </c:pt>
                <c:pt idx="52">
                  <c:v>-0.15049</c:v>
                </c:pt>
                <c:pt idx="53">
                  <c:v>-0.14074</c:v>
                </c:pt>
                <c:pt idx="54">
                  <c:v>-0.13063</c:v>
                </c:pt>
                <c:pt idx="55">
                  <c:v>-0.11776</c:v>
                </c:pt>
                <c:pt idx="56">
                  <c:v>-0.10284</c:v>
                </c:pt>
                <c:pt idx="57">
                  <c:v>-0.09161</c:v>
                </c:pt>
                <c:pt idx="58">
                  <c:v>-0.08348</c:v>
                </c:pt>
                <c:pt idx="59">
                  <c:v>-0.07577</c:v>
                </c:pt>
                <c:pt idx="60">
                  <c:v>-0.06877</c:v>
                </c:pt>
                <c:pt idx="61">
                  <c:v>-0.0673</c:v>
                </c:pt>
                <c:pt idx="62">
                  <c:v>-0.06727</c:v>
                </c:pt>
                <c:pt idx="63">
                  <c:v>-0.06777</c:v>
                </c:pt>
                <c:pt idx="64">
                  <c:v>-0.06994</c:v>
                </c:pt>
                <c:pt idx="65">
                  <c:v>-0.07321</c:v>
                </c:pt>
                <c:pt idx="66">
                  <c:v>-0.07545</c:v>
                </c:pt>
                <c:pt idx="67">
                  <c:v>-0.07544</c:v>
                </c:pt>
                <c:pt idx="68">
                  <c:v>-0.07354</c:v>
                </c:pt>
                <c:pt idx="69">
                  <c:v>-0.07015</c:v>
                </c:pt>
                <c:pt idx="70">
                  <c:v>-0.06614</c:v>
                </c:pt>
                <c:pt idx="71">
                  <c:v>-0.06158</c:v>
                </c:pt>
                <c:pt idx="72">
                  <c:v>-0.05532</c:v>
                </c:pt>
                <c:pt idx="73">
                  <c:v>-0.04528</c:v>
                </c:pt>
                <c:pt idx="74">
                  <c:v>-0.02567</c:v>
                </c:pt>
                <c:pt idx="75">
                  <c:v>-0.00466</c:v>
                </c:pt>
                <c:pt idx="76">
                  <c:v>0.00483</c:v>
                </c:pt>
                <c:pt idx="77">
                  <c:v>0.00719</c:v>
                </c:pt>
                <c:pt idx="78">
                  <c:v>0.00761</c:v>
                </c:pt>
                <c:pt idx="79">
                  <c:v>0.00973</c:v>
                </c:pt>
                <c:pt idx="80">
                  <c:v>0.00902</c:v>
                </c:pt>
                <c:pt idx="81">
                  <c:v>0.00652</c:v>
                </c:pt>
                <c:pt idx="82">
                  <c:v>0.00644</c:v>
                </c:pt>
                <c:pt idx="83">
                  <c:v>0.0062</c:v>
                </c:pt>
                <c:pt idx="84">
                  <c:v>0.00529</c:v>
                </c:pt>
                <c:pt idx="85">
                  <c:v>0.00536</c:v>
                </c:pt>
                <c:pt idx="86">
                  <c:v>0.00511</c:v>
                </c:pt>
                <c:pt idx="87">
                  <c:v>0.00498</c:v>
                </c:pt>
                <c:pt idx="88">
                  <c:v>0.00694</c:v>
                </c:pt>
                <c:pt idx="89">
                  <c:v>0.01275</c:v>
                </c:pt>
                <c:pt idx="90">
                  <c:v>0.02427</c:v>
                </c:pt>
                <c:pt idx="91">
                  <c:v>0.04335</c:v>
                </c:pt>
                <c:pt idx="92">
                  <c:v>0.06831</c:v>
                </c:pt>
                <c:pt idx="93">
                  <c:v>0.10066</c:v>
                </c:pt>
                <c:pt idx="94">
                  <c:v>0.13751</c:v>
                </c:pt>
                <c:pt idx="95">
                  <c:v>0.17603</c:v>
                </c:pt>
                <c:pt idx="96">
                  <c:v>0.21569</c:v>
                </c:pt>
                <c:pt idx="97">
                  <c:v>0.26976</c:v>
                </c:pt>
                <c:pt idx="98">
                  <c:v>0.37584</c:v>
                </c:pt>
                <c:pt idx="99">
                  <c:v>0.51535</c:v>
                </c:pt>
                <c:pt idx="100">
                  <c:v>0.62029</c:v>
                </c:pt>
                <c:pt idx="101">
                  <c:v>0.67003</c:v>
                </c:pt>
                <c:pt idx="102">
                  <c:v>0.68452</c:v>
                </c:pt>
                <c:pt idx="103">
                  <c:v>0.68417</c:v>
                </c:pt>
                <c:pt idx="104">
                  <c:v>0.67933</c:v>
                </c:pt>
                <c:pt idx="105">
                  <c:v>0.67231</c:v>
                </c:pt>
                <c:pt idx="106">
                  <c:v>0.66176</c:v>
                </c:pt>
                <c:pt idx="107">
                  <c:v>0.64314</c:v>
                </c:pt>
                <c:pt idx="108">
                  <c:v>0.61827</c:v>
                </c:pt>
                <c:pt idx="109">
                  <c:v>0.59137</c:v>
                </c:pt>
                <c:pt idx="110">
                  <c:v>0.56376</c:v>
                </c:pt>
                <c:pt idx="111">
                  <c:v>0.53495</c:v>
                </c:pt>
                <c:pt idx="112">
                  <c:v>0.50551</c:v>
                </c:pt>
                <c:pt idx="113">
                  <c:v>0.47618</c:v>
                </c:pt>
                <c:pt idx="114">
                  <c:v>0.4466</c:v>
                </c:pt>
                <c:pt idx="115">
                  <c:v>0.41711</c:v>
                </c:pt>
                <c:pt idx="116">
                  <c:v>0.38776</c:v>
                </c:pt>
                <c:pt idx="117">
                  <c:v>0.36115</c:v>
                </c:pt>
                <c:pt idx="118">
                  <c:v>0.33824</c:v>
                </c:pt>
                <c:pt idx="119">
                  <c:v>0.31753</c:v>
                </c:pt>
                <c:pt idx="120">
                  <c:v>0.29831</c:v>
                </c:pt>
                <c:pt idx="121">
                  <c:v>0.2817</c:v>
                </c:pt>
                <c:pt idx="122">
                  <c:v>0.26769</c:v>
                </c:pt>
                <c:pt idx="123">
                  <c:v>0.25561</c:v>
                </c:pt>
                <c:pt idx="124">
                  <c:v>0.24487</c:v>
                </c:pt>
                <c:pt idx="125">
                  <c:v>0.23463</c:v>
                </c:pt>
                <c:pt idx="126">
                  <c:v>0.22502</c:v>
                </c:pt>
                <c:pt idx="127">
                  <c:v>0.21773</c:v>
                </c:pt>
                <c:pt idx="128">
                  <c:v>0.21089</c:v>
                </c:pt>
                <c:pt idx="129">
                  <c:v>0.2017</c:v>
                </c:pt>
                <c:pt idx="130">
                  <c:v>0.19403</c:v>
                </c:pt>
                <c:pt idx="131">
                  <c:v>0.1877</c:v>
                </c:pt>
                <c:pt idx="132">
                  <c:v>0.17586</c:v>
                </c:pt>
                <c:pt idx="133">
                  <c:v>0.17557</c:v>
                </c:pt>
                <c:pt idx="134">
                  <c:v>0.20842</c:v>
                </c:pt>
                <c:pt idx="135">
                  <c:v>0.23575</c:v>
                </c:pt>
                <c:pt idx="136">
                  <c:v>0.25092</c:v>
                </c:pt>
                <c:pt idx="137">
                  <c:v>0.27799</c:v>
                </c:pt>
                <c:pt idx="138">
                  <c:v>0.30441</c:v>
                </c:pt>
                <c:pt idx="139">
                  <c:v>0.31634</c:v>
                </c:pt>
                <c:pt idx="140">
                  <c:v>0.31908</c:v>
                </c:pt>
                <c:pt idx="141">
                  <c:v>0.31589</c:v>
                </c:pt>
                <c:pt idx="142">
                  <c:v>0.35148</c:v>
                </c:pt>
                <c:pt idx="143">
                  <c:v>0.38321</c:v>
                </c:pt>
                <c:pt idx="144">
                  <c:v>0.41487</c:v>
                </c:pt>
                <c:pt idx="145">
                  <c:v>0.46137</c:v>
                </c:pt>
                <c:pt idx="146">
                  <c:v>0.53885</c:v>
                </c:pt>
                <c:pt idx="147">
                  <c:v>0.65458</c:v>
                </c:pt>
                <c:pt idx="148">
                  <c:v>0.77534</c:v>
                </c:pt>
                <c:pt idx="149">
                  <c:v>0.85541</c:v>
                </c:pt>
                <c:pt idx="150">
                  <c:v>0.84267</c:v>
                </c:pt>
                <c:pt idx="151">
                  <c:v>0.77447</c:v>
                </c:pt>
                <c:pt idx="152">
                  <c:v>0.72544</c:v>
                </c:pt>
                <c:pt idx="153">
                  <c:v>0.70942</c:v>
                </c:pt>
                <c:pt idx="154">
                  <c:v>0.71962</c:v>
                </c:pt>
                <c:pt idx="155">
                  <c:v>0.74294</c:v>
                </c:pt>
                <c:pt idx="156">
                  <c:v>0.76761</c:v>
                </c:pt>
                <c:pt idx="157">
                  <c:v>0.7906</c:v>
                </c:pt>
                <c:pt idx="158">
                  <c:v>0.81137</c:v>
                </c:pt>
                <c:pt idx="159">
                  <c:v>0.82331</c:v>
                </c:pt>
                <c:pt idx="160">
                  <c:v>0.82707</c:v>
                </c:pt>
                <c:pt idx="161">
                  <c:v>0.82283</c:v>
                </c:pt>
                <c:pt idx="162">
                  <c:v>0.81255</c:v>
                </c:pt>
                <c:pt idx="163">
                  <c:v>0.79723</c:v>
                </c:pt>
                <c:pt idx="164">
                  <c:v>0.77707</c:v>
                </c:pt>
                <c:pt idx="165">
                  <c:v>0.75431</c:v>
                </c:pt>
                <c:pt idx="166">
                  <c:v>0.73063</c:v>
                </c:pt>
                <c:pt idx="167">
                  <c:v>0.70641</c:v>
                </c:pt>
                <c:pt idx="168">
                  <c:v>0.68185</c:v>
                </c:pt>
                <c:pt idx="169">
                  <c:v>0.65695</c:v>
                </c:pt>
                <c:pt idx="170">
                  <c:v>0.63352</c:v>
                </c:pt>
                <c:pt idx="171">
                  <c:v>0.61245</c:v>
                </c:pt>
                <c:pt idx="172">
                  <c:v>0.59379</c:v>
                </c:pt>
                <c:pt idx="173">
                  <c:v>0.57827</c:v>
                </c:pt>
                <c:pt idx="174">
                  <c:v>0.56522</c:v>
                </c:pt>
                <c:pt idx="175">
                  <c:v>0.55545</c:v>
                </c:pt>
                <c:pt idx="176">
                  <c:v>0.54755</c:v>
                </c:pt>
                <c:pt idx="177">
                  <c:v>0.5387</c:v>
                </c:pt>
                <c:pt idx="178">
                  <c:v>0.5309</c:v>
                </c:pt>
                <c:pt idx="179">
                  <c:v>0.52397</c:v>
                </c:pt>
                <c:pt idx="180">
                  <c:v>0.51978</c:v>
                </c:pt>
                <c:pt idx="181">
                  <c:v>0.51963</c:v>
                </c:pt>
                <c:pt idx="182">
                  <c:v>0.52127</c:v>
                </c:pt>
                <c:pt idx="183">
                  <c:v>0.52186</c:v>
                </c:pt>
                <c:pt idx="184">
                  <c:v>0.51724</c:v>
                </c:pt>
                <c:pt idx="185">
                  <c:v>0.50431</c:v>
                </c:pt>
                <c:pt idx="186">
                  <c:v>0.4824</c:v>
                </c:pt>
                <c:pt idx="187">
                  <c:v>0.45678</c:v>
                </c:pt>
                <c:pt idx="188">
                  <c:v>0.43915</c:v>
                </c:pt>
                <c:pt idx="189">
                  <c:v>0.42454</c:v>
                </c:pt>
                <c:pt idx="190">
                  <c:v>0.396</c:v>
                </c:pt>
                <c:pt idx="191">
                  <c:v>0.38945</c:v>
                </c:pt>
                <c:pt idx="192">
                  <c:v>0.44787</c:v>
                </c:pt>
                <c:pt idx="193">
                  <c:v>0.49208</c:v>
                </c:pt>
                <c:pt idx="194">
                  <c:v>0.48507</c:v>
                </c:pt>
                <c:pt idx="195">
                  <c:v>0.48407</c:v>
                </c:pt>
                <c:pt idx="196">
                  <c:v>0.53024</c:v>
                </c:pt>
                <c:pt idx="197">
                  <c:v>0.55498</c:v>
                </c:pt>
                <c:pt idx="198">
                  <c:v>0.56752</c:v>
                </c:pt>
                <c:pt idx="199">
                  <c:v>0.57953</c:v>
                </c:pt>
                <c:pt idx="200">
                  <c:v>0.58956</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Jeffries-Matusita distance per band</a:t>
            </a:r>
          </a:p>
        </c:rich>
      </c:tx>
      <c:layout/>
      <c:overlay val="0"/>
    </c:title>
    <c:autoTitleDeleted val="0"/>
    <c:plotArea>
      <c:layout/>
      <c:lineChart>
        <c:varyColors val="0"/>
        <c:ser>
          <c:idx val="0"/>
          <c:order val="0"/>
          <c:tx>
            <c:strRef>
              <c:f>Sheet1!$B$1</c:f>
              <c:strCache>
                <c:ptCount val="1"/>
                <c:pt idx="0">
                  <c:v>Reflectance</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0.00048</c:v>
                </c:pt>
                <c:pt idx="1">
                  <c:v>0.00061</c:v>
                </c:pt>
                <c:pt idx="2">
                  <c:v>0.00086</c:v>
                </c:pt>
                <c:pt idx="3">
                  <c:v>0.00117</c:v>
                </c:pt>
                <c:pt idx="4">
                  <c:v>0.00189</c:v>
                </c:pt>
                <c:pt idx="5">
                  <c:v>0.00318</c:v>
                </c:pt>
                <c:pt idx="6">
                  <c:v>0.0047</c:v>
                </c:pt>
                <c:pt idx="7">
                  <c:v>0.00664</c:v>
                </c:pt>
                <c:pt idx="8">
                  <c:v>0.00936</c:v>
                </c:pt>
                <c:pt idx="9">
                  <c:v>0.0138</c:v>
                </c:pt>
                <c:pt idx="10">
                  <c:v>0.02253</c:v>
                </c:pt>
                <c:pt idx="11">
                  <c:v>0.03258</c:v>
                </c:pt>
                <c:pt idx="12">
                  <c:v>0.02849</c:v>
                </c:pt>
                <c:pt idx="13">
                  <c:v>0.01822</c:v>
                </c:pt>
                <c:pt idx="14">
                  <c:v>0.01713</c:v>
                </c:pt>
                <c:pt idx="15">
                  <c:v>0.01972</c:v>
                </c:pt>
                <c:pt idx="16">
                  <c:v>0.02691</c:v>
                </c:pt>
                <c:pt idx="17">
                  <c:v>0.0489</c:v>
                </c:pt>
                <c:pt idx="18">
                  <c:v>0.08469</c:v>
                </c:pt>
                <c:pt idx="19">
                  <c:v>0.11252</c:v>
                </c:pt>
                <c:pt idx="20">
                  <c:v>0.13058</c:v>
                </c:pt>
                <c:pt idx="21">
                  <c:v>0.15715</c:v>
                </c:pt>
                <c:pt idx="22">
                  <c:v>0.18583</c:v>
                </c:pt>
                <c:pt idx="23">
                  <c:v>0.2029</c:v>
                </c:pt>
                <c:pt idx="24">
                  <c:v>0.21316</c:v>
                </c:pt>
                <c:pt idx="25">
                  <c:v>0.21634</c:v>
                </c:pt>
                <c:pt idx="26">
                  <c:v>0.211</c:v>
                </c:pt>
                <c:pt idx="27">
                  <c:v>0.18966</c:v>
                </c:pt>
                <c:pt idx="28">
                  <c:v>0.18825</c:v>
                </c:pt>
                <c:pt idx="29">
                  <c:v>0.23296</c:v>
                </c:pt>
                <c:pt idx="30">
                  <c:v>0.17823</c:v>
                </c:pt>
                <c:pt idx="31">
                  <c:v>0.0712</c:v>
                </c:pt>
                <c:pt idx="32">
                  <c:v>0.00231</c:v>
                </c:pt>
                <c:pt idx="33">
                  <c:v>0.00951</c:v>
                </c:pt>
                <c:pt idx="34">
                  <c:v>0.02108</c:v>
                </c:pt>
                <c:pt idx="35">
                  <c:v>0.02555</c:v>
                </c:pt>
                <c:pt idx="36">
                  <c:v>0.02666</c:v>
                </c:pt>
                <c:pt idx="37">
                  <c:v>0.02644</c:v>
                </c:pt>
                <c:pt idx="38">
                  <c:v>0.02592</c:v>
                </c:pt>
                <c:pt idx="39">
                  <c:v>0.02533</c:v>
                </c:pt>
                <c:pt idx="40">
                  <c:v>0.02473</c:v>
                </c:pt>
                <c:pt idx="41">
                  <c:v>0.02421</c:v>
                </c:pt>
                <c:pt idx="42">
                  <c:v>0.02364</c:v>
                </c:pt>
                <c:pt idx="43">
                  <c:v>0.02309</c:v>
                </c:pt>
                <c:pt idx="44">
                  <c:v>0.0225</c:v>
                </c:pt>
                <c:pt idx="45">
                  <c:v>0.02187</c:v>
                </c:pt>
                <c:pt idx="46">
                  <c:v>0.02128</c:v>
                </c:pt>
                <c:pt idx="47">
                  <c:v>0.02075</c:v>
                </c:pt>
                <c:pt idx="48">
                  <c:v>0.02024</c:v>
                </c:pt>
                <c:pt idx="49">
                  <c:v>0.01974</c:v>
                </c:pt>
                <c:pt idx="50">
                  <c:v>0.0193</c:v>
                </c:pt>
                <c:pt idx="51">
                  <c:v>0.01886</c:v>
                </c:pt>
                <c:pt idx="52">
                  <c:v>0.01851</c:v>
                </c:pt>
                <c:pt idx="53">
                  <c:v>0.01822</c:v>
                </c:pt>
                <c:pt idx="54">
                  <c:v>0.01819</c:v>
                </c:pt>
                <c:pt idx="55">
                  <c:v>0.0184</c:v>
                </c:pt>
                <c:pt idx="56">
                  <c:v>0.01864</c:v>
                </c:pt>
                <c:pt idx="57">
                  <c:v>0.01861</c:v>
                </c:pt>
                <c:pt idx="58">
                  <c:v>0.0184</c:v>
                </c:pt>
                <c:pt idx="59">
                  <c:v>0.01806</c:v>
                </c:pt>
                <c:pt idx="60">
                  <c:v>0.01744</c:v>
                </c:pt>
                <c:pt idx="61">
                  <c:v>0.01706</c:v>
                </c:pt>
                <c:pt idx="62">
                  <c:v>0.01674</c:v>
                </c:pt>
                <c:pt idx="63">
                  <c:v>0.01644</c:v>
                </c:pt>
                <c:pt idx="64">
                  <c:v>0.01627</c:v>
                </c:pt>
                <c:pt idx="65">
                  <c:v>0.01629</c:v>
                </c:pt>
                <c:pt idx="66">
                  <c:v>0.01632</c:v>
                </c:pt>
                <c:pt idx="67">
                  <c:v>0.0164</c:v>
                </c:pt>
                <c:pt idx="68">
                  <c:v>0.01646</c:v>
                </c:pt>
                <c:pt idx="69">
                  <c:v>0.01652</c:v>
                </c:pt>
                <c:pt idx="70">
                  <c:v>0.01661</c:v>
                </c:pt>
                <c:pt idx="71">
                  <c:v>0.01661</c:v>
                </c:pt>
                <c:pt idx="72">
                  <c:v>0.01656</c:v>
                </c:pt>
                <c:pt idx="73">
                  <c:v>0.01699</c:v>
                </c:pt>
                <c:pt idx="74">
                  <c:v>0.01806</c:v>
                </c:pt>
                <c:pt idx="75">
                  <c:v>0.01917</c:v>
                </c:pt>
                <c:pt idx="76">
                  <c:v>0.0196</c:v>
                </c:pt>
                <c:pt idx="77">
                  <c:v>0.01939</c:v>
                </c:pt>
                <c:pt idx="78">
                  <c:v>0.01893</c:v>
                </c:pt>
                <c:pt idx="79">
                  <c:v>0.01822</c:v>
                </c:pt>
                <c:pt idx="80">
                  <c:v>0.01765</c:v>
                </c:pt>
                <c:pt idx="81">
                  <c:v>0.01738</c:v>
                </c:pt>
                <c:pt idx="82">
                  <c:v>0.01787</c:v>
                </c:pt>
                <c:pt idx="83">
                  <c:v>0.01867</c:v>
                </c:pt>
                <c:pt idx="84">
                  <c:v>0.01915</c:v>
                </c:pt>
                <c:pt idx="85">
                  <c:v>0.01929</c:v>
                </c:pt>
                <c:pt idx="86">
                  <c:v>0.01928</c:v>
                </c:pt>
                <c:pt idx="87">
                  <c:v>0.01932</c:v>
                </c:pt>
                <c:pt idx="88">
                  <c:v>0.01947</c:v>
                </c:pt>
                <c:pt idx="89">
                  <c:v>0.01978</c:v>
                </c:pt>
                <c:pt idx="90">
                  <c:v>0.02032</c:v>
                </c:pt>
                <c:pt idx="91">
                  <c:v>0.02094</c:v>
                </c:pt>
                <c:pt idx="92">
                  <c:v>0.02166</c:v>
                </c:pt>
                <c:pt idx="93">
                  <c:v>0.02206</c:v>
                </c:pt>
                <c:pt idx="94">
                  <c:v>0.02185</c:v>
                </c:pt>
                <c:pt idx="95">
                  <c:v>0.02102</c:v>
                </c:pt>
                <c:pt idx="96">
                  <c:v>0.02049</c:v>
                </c:pt>
                <c:pt idx="97">
                  <c:v>0.02118</c:v>
                </c:pt>
                <c:pt idx="98">
                  <c:v>0.0251</c:v>
                </c:pt>
                <c:pt idx="99">
                  <c:v>0.04384</c:v>
                </c:pt>
                <c:pt idx="100">
                  <c:v>0.08606</c:v>
                </c:pt>
                <c:pt idx="101">
                  <c:v>0.12841</c:v>
                </c:pt>
                <c:pt idx="102">
                  <c:v>0.15465</c:v>
                </c:pt>
                <c:pt idx="103">
                  <c:v>0.16771</c:v>
                </c:pt>
                <c:pt idx="104">
                  <c:v>0.17301</c:v>
                </c:pt>
                <c:pt idx="105">
                  <c:v>0.17342</c:v>
                </c:pt>
                <c:pt idx="106">
                  <c:v>0.16846</c:v>
                </c:pt>
                <c:pt idx="107">
                  <c:v>0.15533</c:v>
                </c:pt>
                <c:pt idx="108">
                  <c:v>0.13687</c:v>
                </c:pt>
                <c:pt idx="109">
                  <c:v>0.11743</c:v>
                </c:pt>
                <c:pt idx="110">
                  <c:v>0.09901</c:v>
                </c:pt>
                <c:pt idx="111">
                  <c:v>0.08226</c:v>
                </c:pt>
                <c:pt idx="112">
                  <c:v>0.06757</c:v>
                </c:pt>
                <c:pt idx="113">
                  <c:v>0.0551</c:v>
                </c:pt>
                <c:pt idx="114">
                  <c:v>0.04474</c:v>
                </c:pt>
                <c:pt idx="115">
                  <c:v>0.03632</c:v>
                </c:pt>
                <c:pt idx="116">
                  <c:v>0.02965</c:v>
                </c:pt>
                <c:pt idx="117">
                  <c:v>0.0247</c:v>
                </c:pt>
                <c:pt idx="118">
                  <c:v>0.02119</c:v>
                </c:pt>
                <c:pt idx="119">
                  <c:v>0.01865</c:v>
                </c:pt>
                <c:pt idx="120">
                  <c:v>0.01681</c:v>
                </c:pt>
                <c:pt idx="121">
                  <c:v>0.01555</c:v>
                </c:pt>
                <c:pt idx="122">
                  <c:v>0.01473</c:v>
                </c:pt>
                <c:pt idx="123">
                  <c:v>0.01418</c:v>
                </c:pt>
                <c:pt idx="124">
                  <c:v>0.01381</c:v>
                </c:pt>
                <c:pt idx="125">
                  <c:v>0.01349</c:v>
                </c:pt>
                <c:pt idx="126">
                  <c:v>0.01319</c:v>
                </c:pt>
                <c:pt idx="127">
                  <c:v>0.01294</c:v>
                </c:pt>
                <c:pt idx="128">
                  <c:v>0.01254</c:v>
                </c:pt>
                <c:pt idx="129">
                  <c:v>0.01183</c:v>
                </c:pt>
                <c:pt idx="130">
                  <c:v>0.01097</c:v>
                </c:pt>
                <c:pt idx="131">
                  <c:v>0.01008</c:v>
                </c:pt>
                <c:pt idx="132">
                  <c:v>0.00896</c:v>
                </c:pt>
                <c:pt idx="133">
                  <c:v>0.00886</c:v>
                </c:pt>
                <c:pt idx="134">
                  <c:v>0.01056</c:v>
                </c:pt>
                <c:pt idx="135">
                  <c:v>0.01178</c:v>
                </c:pt>
                <c:pt idx="136">
                  <c:v>0.01245</c:v>
                </c:pt>
                <c:pt idx="137">
                  <c:v>0.01435</c:v>
                </c:pt>
                <c:pt idx="138">
                  <c:v>0.01652</c:v>
                </c:pt>
                <c:pt idx="139">
                  <c:v>0.01757</c:v>
                </c:pt>
                <c:pt idx="140">
                  <c:v>0.01777</c:v>
                </c:pt>
                <c:pt idx="141">
                  <c:v>0.01754</c:v>
                </c:pt>
                <c:pt idx="142">
                  <c:v>0.02092</c:v>
                </c:pt>
                <c:pt idx="143">
                  <c:v>0.0244</c:v>
                </c:pt>
                <c:pt idx="144">
                  <c:v>0.02835</c:v>
                </c:pt>
                <c:pt idx="145">
                  <c:v>0.03587</c:v>
                </c:pt>
                <c:pt idx="146">
                  <c:v>0.05342</c:v>
                </c:pt>
                <c:pt idx="147">
                  <c:v>0.09647</c:v>
                </c:pt>
                <c:pt idx="148">
                  <c:v>0.18898</c:v>
                </c:pt>
                <c:pt idx="149">
                  <c:v>0.28009</c:v>
                </c:pt>
                <c:pt idx="150">
                  <c:v>0.25899</c:v>
                </c:pt>
                <c:pt idx="151">
                  <c:v>0.20956</c:v>
                </c:pt>
                <c:pt idx="152">
                  <c:v>0.18268</c:v>
                </c:pt>
                <c:pt idx="153">
                  <c:v>0.17498</c:v>
                </c:pt>
                <c:pt idx="154">
                  <c:v>0.18126</c:v>
                </c:pt>
                <c:pt idx="155">
                  <c:v>0.19648</c:v>
                </c:pt>
                <c:pt idx="156">
                  <c:v>0.21493</c:v>
                </c:pt>
                <c:pt idx="157">
                  <c:v>0.2344</c:v>
                </c:pt>
                <c:pt idx="158">
                  <c:v>0.25486</c:v>
                </c:pt>
                <c:pt idx="159">
                  <c:v>0.27094</c:v>
                </c:pt>
                <c:pt idx="160">
                  <c:v>0.28071</c:v>
                </c:pt>
                <c:pt idx="161">
                  <c:v>0.28285</c:v>
                </c:pt>
                <c:pt idx="162">
                  <c:v>0.27762</c:v>
                </c:pt>
                <c:pt idx="163">
                  <c:v>0.26583</c:v>
                </c:pt>
                <c:pt idx="164">
                  <c:v>0.24947</c:v>
                </c:pt>
                <c:pt idx="165">
                  <c:v>0.23056</c:v>
                </c:pt>
                <c:pt idx="166">
                  <c:v>0.21048</c:v>
                </c:pt>
                <c:pt idx="167">
                  <c:v>0.19007</c:v>
                </c:pt>
                <c:pt idx="168">
                  <c:v>0.16999</c:v>
                </c:pt>
                <c:pt idx="169">
                  <c:v>0.15122</c:v>
                </c:pt>
                <c:pt idx="170">
                  <c:v>0.13454</c:v>
                </c:pt>
                <c:pt idx="171">
                  <c:v>0.12012</c:v>
                </c:pt>
                <c:pt idx="172">
                  <c:v>0.10798</c:v>
                </c:pt>
                <c:pt idx="173">
                  <c:v>0.09825</c:v>
                </c:pt>
                <c:pt idx="174">
                  <c:v>0.09043</c:v>
                </c:pt>
                <c:pt idx="175">
                  <c:v>0.08467</c:v>
                </c:pt>
                <c:pt idx="176">
                  <c:v>0.0801</c:v>
                </c:pt>
                <c:pt idx="177">
                  <c:v>0.07547</c:v>
                </c:pt>
                <c:pt idx="178">
                  <c:v>0.07117</c:v>
                </c:pt>
                <c:pt idx="179">
                  <c:v>0.06723</c:v>
                </c:pt>
                <c:pt idx="180">
                  <c:v>0.06439</c:v>
                </c:pt>
                <c:pt idx="181">
                  <c:v>0.06304</c:v>
                </c:pt>
                <c:pt idx="182">
                  <c:v>0.06254</c:v>
                </c:pt>
                <c:pt idx="183">
                  <c:v>0.06211</c:v>
                </c:pt>
                <c:pt idx="184">
                  <c:v>0.06071</c:v>
                </c:pt>
                <c:pt idx="185">
                  <c:v>0.05762</c:v>
                </c:pt>
                <c:pt idx="186">
                  <c:v>0.05302</c:v>
                </c:pt>
                <c:pt idx="187">
                  <c:v>0.04819</c:v>
                </c:pt>
                <c:pt idx="188">
                  <c:v>0.04558</c:v>
                </c:pt>
                <c:pt idx="189">
                  <c:v>0.04385</c:v>
                </c:pt>
                <c:pt idx="190">
                  <c:v>0.03958</c:v>
                </c:pt>
                <c:pt idx="191">
                  <c:v>0.03966</c:v>
                </c:pt>
                <c:pt idx="192">
                  <c:v>0.05368</c:v>
                </c:pt>
                <c:pt idx="193">
                  <c:v>0.06698</c:v>
                </c:pt>
                <c:pt idx="194">
                  <c:v>0.06791</c:v>
                </c:pt>
                <c:pt idx="195">
                  <c:v>0.07054</c:v>
                </c:pt>
                <c:pt idx="196">
                  <c:v>0.08726</c:v>
                </c:pt>
                <c:pt idx="197">
                  <c:v>0.09908</c:v>
                </c:pt>
                <c:pt idx="198">
                  <c:v>0.10721</c:v>
                </c:pt>
                <c:pt idx="199">
                  <c:v>0.11508</c:v>
                </c:pt>
                <c:pt idx="200">
                  <c:v>0.12146</c:v>
                </c:pt>
              </c:numCache>
            </c:numRef>
          </c:val>
          <c:smooth val="0"/>
        </c:ser>
        <c:ser>
          <c:idx val="1"/>
          <c:order val="1"/>
          <c:tx>
            <c:strRef>
              <c:f>Sheet1!$C$1</c:f>
              <c:strCache>
                <c:ptCount val="1"/>
                <c:pt idx="0">
                  <c:v>First derivative</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D08A00"/>
              </a:solidFill>
              <a:ln w="9525" cap="flat">
                <a:solidFill>
                  <a:srgbClr val="D08A00"/>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Sheet1!$C$2:$C$202</c:f>
              <c:numCache>
                <c:formatCode>General</c:formatCode>
                <c:ptCount val="201"/>
                <c:pt idx="0">
                  <c:v>0.00162</c:v>
                </c:pt>
                <c:pt idx="1">
                  <c:v>0.00538</c:v>
                </c:pt>
                <c:pt idx="2">
                  <c:v>0.00271</c:v>
                </c:pt>
                <c:pt idx="3">
                  <c:v>0.0029</c:v>
                </c:pt>
                <c:pt idx="4">
                  <c:v>0.00561</c:v>
                </c:pt>
                <c:pt idx="5">
                  <c:v>0.00341</c:v>
                </c:pt>
                <c:pt idx="6">
                  <c:v>0.00358</c:v>
                </c:pt>
                <c:pt idx="7">
                  <c:v>0.00369</c:v>
                </c:pt>
                <c:pt idx="8">
                  <c:v>0.00338</c:v>
                </c:pt>
                <c:pt idx="9">
                  <c:v>0.00942</c:v>
                </c:pt>
                <c:pt idx="10">
                  <c:v>0.01988</c:v>
                </c:pt>
                <c:pt idx="11">
                  <c:v>0.0084</c:v>
                </c:pt>
                <c:pt idx="12">
                  <c:v>0.01662</c:v>
                </c:pt>
                <c:pt idx="13">
                  <c:v>0.04162</c:v>
                </c:pt>
                <c:pt idx="14">
                  <c:v>0.01332</c:v>
                </c:pt>
                <c:pt idx="15">
                  <c:v>0.01053</c:v>
                </c:pt>
                <c:pt idx="16">
                  <c:v>0.03894</c:v>
                </c:pt>
                <c:pt idx="17">
                  <c:v>0.04393</c:v>
                </c:pt>
                <c:pt idx="18">
                  <c:v>0.0354</c:v>
                </c:pt>
                <c:pt idx="19">
                  <c:v>0.04287</c:v>
                </c:pt>
                <c:pt idx="20">
                  <c:v>0.06071</c:v>
                </c:pt>
                <c:pt idx="21">
                  <c:v>0.04308</c:v>
                </c:pt>
                <c:pt idx="22">
                  <c:v>0.06856</c:v>
                </c:pt>
                <c:pt idx="23">
                  <c:v>0.18287</c:v>
                </c:pt>
                <c:pt idx="24">
                  <c:v>0.07012</c:v>
                </c:pt>
                <c:pt idx="25">
                  <c:v>0.0586</c:v>
                </c:pt>
                <c:pt idx="26">
                  <c:v>0.10487</c:v>
                </c:pt>
                <c:pt idx="27">
                  <c:v>0.13736</c:v>
                </c:pt>
                <c:pt idx="28">
                  <c:v>0.12511</c:v>
                </c:pt>
                <c:pt idx="29">
                  <c:v>0.10439</c:v>
                </c:pt>
                <c:pt idx="30">
                  <c:v>0.00364</c:v>
                </c:pt>
                <c:pt idx="31">
                  <c:v>0.06351</c:v>
                </c:pt>
                <c:pt idx="32">
                  <c:v>0.07726</c:v>
                </c:pt>
                <c:pt idx="33">
                  <c:v>0.07272</c:v>
                </c:pt>
                <c:pt idx="34">
                  <c:v>0.06282</c:v>
                </c:pt>
                <c:pt idx="35">
                  <c:v>0.0344</c:v>
                </c:pt>
                <c:pt idx="36">
                  <c:v>0.00535</c:v>
                </c:pt>
                <c:pt idx="37">
                  <c:v>0.12106</c:v>
                </c:pt>
                <c:pt idx="38">
                  <c:v>0.17575</c:v>
                </c:pt>
                <c:pt idx="39">
                  <c:v>0.20438</c:v>
                </c:pt>
                <c:pt idx="40">
                  <c:v>0.23748</c:v>
                </c:pt>
                <c:pt idx="41">
                  <c:v>0.23793</c:v>
                </c:pt>
                <c:pt idx="42">
                  <c:v>0.26802</c:v>
                </c:pt>
                <c:pt idx="43">
                  <c:v>0.28608</c:v>
                </c:pt>
                <c:pt idx="44">
                  <c:v>0.32723</c:v>
                </c:pt>
                <c:pt idx="45">
                  <c:v>0.34504</c:v>
                </c:pt>
                <c:pt idx="46">
                  <c:v>0.35041</c:v>
                </c:pt>
                <c:pt idx="47">
                  <c:v>0.35268</c:v>
                </c:pt>
                <c:pt idx="48">
                  <c:v>0.34421</c:v>
                </c:pt>
                <c:pt idx="49">
                  <c:v>0.34771</c:v>
                </c:pt>
                <c:pt idx="50">
                  <c:v>0.32835</c:v>
                </c:pt>
                <c:pt idx="51">
                  <c:v>0.31274</c:v>
                </c:pt>
                <c:pt idx="52">
                  <c:v>0.20138</c:v>
                </c:pt>
                <c:pt idx="53">
                  <c:v>0.08669</c:v>
                </c:pt>
                <c:pt idx="54">
                  <c:v>0.04684</c:v>
                </c:pt>
                <c:pt idx="55">
                  <c:v>0.03644</c:v>
                </c:pt>
                <c:pt idx="56">
                  <c:v>0.05133</c:v>
                </c:pt>
                <c:pt idx="57">
                  <c:v>0.18665</c:v>
                </c:pt>
                <c:pt idx="58">
                  <c:v>0.08206</c:v>
                </c:pt>
                <c:pt idx="59">
                  <c:v>0.0135</c:v>
                </c:pt>
                <c:pt idx="60">
                  <c:v>0.00188</c:v>
                </c:pt>
                <c:pt idx="61">
                  <c:v>0.00296</c:v>
                </c:pt>
                <c:pt idx="62">
                  <c:v>0.00331</c:v>
                </c:pt>
                <c:pt idx="63">
                  <c:v>0.006</c:v>
                </c:pt>
                <c:pt idx="64">
                  <c:v>0.02331</c:v>
                </c:pt>
                <c:pt idx="65">
                  <c:v>0.03115</c:v>
                </c:pt>
                <c:pt idx="66">
                  <c:v>0.02563</c:v>
                </c:pt>
                <c:pt idx="67">
                  <c:v>0.00758</c:v>
                </c:pt>
                <c:pt idx="68">
                  <c:v>0.0752</c:v>
                </c:pt>
                <c:pt idx="69">
                  <c:v>0.06822</c:v>
                </c:pt>
                <c:pt idx="70">
                  <c:v>0.05416</c:v>
                </c:pt>
                <c:pt idx="71">
                  <c:v>0.05332</c:v>
                </c:pt>
                <c:pt idx="72">
                  <c:v>0.02754</c:v>
                </c:pt>
                <c:pt idx="73">
                  <c:v>0.0181</c:v>
                </c:pt>
                <c:pt idx="74">
                  <c:v>0.01571</c:v>
                </c:pt>
                <c:pt idx="75">
                  <c:v>0.01278</c:v>
                </c:pt>
                <c:pt idx="76">
                  <c:v>0.00799</c:v>
                </c:pt>
                <c:pt idx="77">
                  <c:v>0.00408</c:v>
                </c:pt>
                <c:pt idx="78">
                  <c:v>0.00174</c:v>
                </c:pt>
                <c:pt idx="79">
                  <c:v>0.00166</c:v>
                </c:pt>
                <c:pt idx="80">
                  <c:v>0.0052</c:v>
                </c:pt>
                <c:pt idx="81">
                  <c:v>0.01229</c:v>
                </c:pt>
                <c:pt idx="82">
                  <c:v>0.00108</c:v>
                </c:pt>
                <c:pt idx="83">
                  <c:v>0.00058</c:v>
                </c:pt>
                <c:pt idx="84">
                  <c:v>0.00059</c:v>
                </c:pt>
                <c:pt idx="85">
                  <c:v>0.00073</c:v>
                </c:pt>
                <c:pt idx="86">
                  <c:v>0.00223</c:v>
                </c:pt>
                <c:pt idx="87">
                  <c:v>0.00151</c:v>
                </c:pt>
                <c:pt idx="88">
                  <c:v>0.01292</c:v>
                </c:pt>
                <c:pt idx="89">
                  <c:v>0.01842</c:v>
                </c:pt>
                <c:pt idx="90">
                  <c:v>0.02411</c:v>
                </c:pt>
                <c:pt idx="91">
                  <c:v>0.02156</c:v>
                </c:pt>
                <c:pt idx="92">
                  <c:v>0.01874</c:v>
                </c:pt>
                <c:pt idx="93">
                  <c:v>0.0184</c:v>
                </c:pt>
                <c:pt idx="94">
                  <c:v>0.02276</c:v>
                </c:pt>
                <c:pt idx="95">
                  <c:v>0.03911</c:v>
                </c:pt>
                <c:pt idx="96">
                  <c:v>0.02768</c:v>
                </c:pt>
                <c:pt idx="97">
                  <c:v>0.02443</c:v>
                </c:pt>
                <c:pt idx="98">
                  <c:v>0.02258</c:v>
                </c:pt>
                <c:pt idx="99">
                  <c:v>0.01565</c:v>
                </c:pt>
                <c:pt idx="100">
                  <c:v>0.01203</c:v>
                </c:pt>
                <c:pt idx="101">
                  <c:v>0.01093</c:v>
                </c:pt>
                <c:pt idx="102">
                  <c:v>0.01174</c:v>
                </c:pt>
                <c:pt idx="103">
                  <c:v>0.00589</c:v>
                </c:pt>
                <c:pt idx="104">
                  <c:v>0.00061</c:v>
                </c:pt>
                <c:pt idx="105">
                  <c:v>0.00629</c:v>
                </c:pt>
                <c:pt idx="106">
                  <c:v>0.00362</c:v>
                </c:pt>
                <c:pt idx="107">
                  <c:v>0.00685</c:v>
                </c:pt>
                <c:pt idx="108">
                  <c:v>0.00894</c:v>
                </c:pt>
                <c:pt idx="109">
                  <c:v>0.01088</c:v>
                </c:pt>
                <c:pt idx="110">
                  <c:v>0.01483</c:v>
                </c:pt>
                <c:pt idx="111">
                  <c:v>0.02</c:v>
                </c:pt>
                <c:pt idx="112">
                  <c:v>0.02411</c:v>
                </c:pt>
                <c:pt idx="113">
                  <c:v>0.02716</c:v>
                </c:pt>
                <c:pt idx="114">
                  <c:v>0.03113</c:v>
                </c:pt>
                <c:pt idx="115">
                  <c:v>0.03265</c:v>
                </c:pt>
                <c:pt idx="116">
                  <c:v>0.03316</c:v>
                </c:pt>
                <c:pt idx="117">
                  <c:v>0.02927</c:v>
                </c:pt>
                <c:pt idx="118">
                  <c:v>0.02399</c:v>
                </c:pt>
                <c:pt idx="119">
                  <c:v>0.0243</c:v>
                </c:pt>
                <c:pt idx="120">
                  <c:v>0.02223</c:v>
                </c:pt>
                <c:pt idx="121">
                  <c:v>0.01776</c:v>
                </c:pt>
                <c:pt idx="122">
                  <c:v>0.01383</c:v>
                </c:pt>
                <c:pt idx="123">
                  <c:v>0.01299</c:v>
                </c:pt>
                <c:pt idx="124">
                  <c:v>0.01378</c:v>
                </c:pt>
                <c:pt idx="125">
                  <c:v>0.01129</c:v>
                </c:pt>
                <c:pt idx="126">
                  <c:v>0.00881</c:v>
                </c:pt>
                <c:pt idx="127">
                  <c:v>0.00607</c:v>
                </c:pt>
                <c:pt idx="128">
                  <c:v>0.00452</c:v>
                </c:pt>
                <c:pt idx="129">
                  <c:v>0.00325</c:v>
                </c:pt>
                <c:pt idx="130">
                  <c:v>0.00342</c:v>
                </c:pt>
                <c:pt idx="131">
                  <c:v>0.00246</c:v>
                </c:pt>
                <c:pt idx="132">
                  <c:v>0.00178</c:v>
                </c:pt>
                <c:pt idx="133">
                  <c:v>0.00201</c:v>
                </c:pt>
                <c:pt idx="134">
                  <c:v>0.00881</c:v>
                </c:pt>
                <c:pt idx="135">
                  <c:v>0.04823</c:v>
                </c:pt>
                <c:pt idx="136">
                  <c:v>0.00863</c:v>
                </c:pt>
                <c:pt idx="137">
                  <c:v>0.00387</c:v>
                </c:pt>
                <c:pt idx="138">
                  <c:v>0.00582</c:v>
                </c:pt>
                <c:pt idx="139">
                  <c:v>0.0174</c:v>
                </c:pt>
                <c:pt idx="140">
                  <c:v>0.03108</c:v>
                </c:pt>
                <c:pt idx="141">
                  <c:v>0.06156</c:v>
                </c:pt>
                <c:pt idx="142">
                  <c:v>0.69049</c:v>
                </c:pt>
                <c:pt idx="143">
                  <c:v>0.1238</c:v>
                </c:pt>
                <c:pt idx="144">
                  <c:v>0.02757</c:v>
                </c:pt>
                <c:pt idx="145">
                  <c:v>0.01604</c:v>
                </c:pt>
                <c:pt idx="146">
                  <c:v>0.01479</c:v>
                </c:pt>
                <c:pt idx="147">
                  <c:v>0.00938</c:v>
                </c:pt>
                <c:pt idx="148">
                  <c:v>0.01265</c:v>
                </c:pt>
                <c:pt idx="149">
                  <c:v>0.03603</c:v>
                </c:pt>
                <c:pt idx="150">
                  <c:v>0.12446</c:v>
                </c:pt>
                <c:pt idx="151">
                  <c:v>0.21175</c:v>
                </c:pt>
                <c:pt idx="152">
                  <c:v>0.17461</c:v>
                </c:pt>
                <c:pt idx="153">
                  <c:v>0.11381</c:v>
                </c:pt>
                <c:pt idx="154">
                  <c:v>0.27773</c:v>
                </c:pt>
                <c:pt idx="155">
                  <c:v>0.22183</c:v>
                </c:pt>
                <c:pt idx="156">
                  <c:v>0.19313</c:v>
                </c:pt>
                <c:pt idx="157">
                  <c:v>0.18261</c:v>
                </c:pt>
                <c:pt idx="158">
                  <c:v>0.14259</c:v>
                </c:pt>
                <c:pt idx="159">
                  <c:v>0.10276</c:v>
                </c:pt>
                <c:pt idx="160">
                  <c:v>0.07435</c:v>
                </c:pt>
                <c:pt idx="161">
                  <c:v>0.04924</c:v>
                </c:pt>
                <c:pt idx="162">
                  <c:v>0.03329</c:v>
                </c:pt>
                <c:pt idx="163">
                  <c:v>0.02017</c:v>
                </c:pt>
                <c:pt idx="164">
                  <c:v>0.01179</c:v>
                </c:pt>
                <c:pt idx="165">
                  <c:v>0.00897</c:v>
                </c:pt>
                <c:pt idx="166">
                  <c:v>0.0091</c:v>
                </c:pt>
                <c:pt idx="167">
                  <c:v>0.0092</c:v>
                </c:pt>
                <c:pt idx="168">
                  <c:v>0.0087</c:v>
                </c:pt>
                <c:pt idx="169">
                  <c:v>0.00898</c:v>
                </c:pt>
                <c:pt idx="170">
                  <c:v>0.00928</c:v>
                </c:pt>
                <c:pt idx="171">
                  <c:v>0.00901</c:v>
                </c:pt>
                <c:pt idx="172">
                  <c:v>0.00725</c:v>
                </c:pt>
                <c:pt idx="173">
                  <c:v>0.0057</c:v>
                </c:pt>
                <c:pt idx="174">
                  <c:v>0.00608</c:v>
                </c:pt>
                <c:pt idx="175">
                  <c:v>0.00244</c:v>
                </c:pt>
                <c:pt idx="176">
                  <c:v>0.00624</c:v>
                </c:pt>
                <c:pt idx="177">
                  <c:v>0.00693</c:v>
                </c:pt>
                <c:pt idx="178">
                  <c:v>0.0028</c:v>
                </c:pt>
                <c:pt idx="179">
                  <c:v>0.00068</c:v>
                </c:pt>
                <c:pt idx="180">
                  <c:v>0.00131</c:v>
                </c:pt>
                <c:pt idx="181">
                  <c:v>0.01391</c:v>
                </c:pt>
                <c:pt idx="182">
                  <c:v>0.02551</c:v>
                </c:pt>
                <c:pt idx="183">
                  <c:v>0.02646</c:v>
                </c:pt>
                <c:pt idx="184">
                  <c:v>0.02524</c:v>
                </c:pt>
                <c:pt idx="185">
                  <c:v>0.02384</c:v>
                </c:pt>
                <c:pt idx="186">
                  <c:v>0.02214</c:v>
                </c:pt>
                <c:pt idx="187">
                  <c:v>0.02407</c:v>
                </c:pt>
                <c:pt idx="188">
                  <c:v>0.03437</c:v>
                </c:pt>
                <c:pt idx="189">
                  <c:v>0.02933</c:v>
                </c:pt>
                <c:pt idx="190">
                  <c:v>0.02077</c:v>
                </c:pt>
                <c:pt idx="191">
                  <c:v>0.00761</c:v>
                </c:pt>
                <c:pt idx="192">
                  <c:v>0.00375</c:v>
                </c:pt>
                <c:pt idx="193">
                  <c:v>0.03127</c:v>
                </c:pt>
                <c:pt idx="194">
                  <c:v>0.04402</c:v>
                </c:pt>
                <c:pt idx="195">
                  <c:v>0.00583</c:v>
                </c:pt>
                <c:pt idx="196">
                  <c:v>0.00247</c:v>
                </c:pt>
                <c:pt idx="197">
                  <c:v>0.00679</c:v>
                </c:pt>
                <c:pt idx="198">
                  <c:v>0.00894</c:v>
                </c:pt>
                <c:pt idx="199">
                  <c:v>0.00974</c:v>
                </c:pt>
                <c:pt idx="200">
                  <c:v>0.01275</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First-derivative spectra (400-1400 nm)</a:t>
            </a:r>
          </a:p>
        </c:rich>
      </c:tx>
      <c:layout/>
      <c:overlay val="0"/>
    </c:title>
    <c:autoTitleDeleted val="0"/>
    <c:plotArea>
      <c:layout/>
      <c:lineChart>
        <c:varyColors val="0"/>
        <c:ser>
          <c:idx val="0"/>
          <c:order val="0"/>
          <c:tx>
            <c:strRef>
              <c:f>Sheet1!$B$1</c:f>
              <c:strCache>
                <c:ptCount val="1"/>
                <c:pt idx="0">
                  <c:v>Healthy</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Sheet1!$A$2:$A$102</c:f>
              <c:multiLvlStrCache>
                <c:ptCount val="1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lvl>
              </c:multiLvlStrCache>
            </c:multiLvlStrRef>
          </c:cat>
          <c:val>
            <c:numRef>
              <c:f>Sheet1!$B$2:$B$102</c:f>
              <c:numCache>
                <c:formatCode>General</c:formatCode>
                <c:ptCount val="101"/>
                <c:pt idx="0">
                  <c:v>-0.000449</c:v>
                </c:pt>
                <c:pt idx="1">
                  <c:v>-0.000796</c:v>
                </c:pt>
                <c:pt idx="2">
                  <c:v>-0.00106</c:v>
                </c:pt>
                <c:pt idx="3">
                  <c:v>-0.001295</c:v>
                </c:pt>
                <c:pt idx="4">
                  <c:v>-0.001144</c:v>
                </c:pt>
                <c:pt idx="5">
                  <c:v>-0.000917</c:v>
                </c:pt>
                <c:pt idx="6">
                  <c:v>-0.00101</c:v>
                </c:pt>
                <c:pt idx="7">
                  <c:v>-0.000921</c:v>
                </c:pt>
                <c:pt idx="8">
                  <c:v>-0.000735</c:v>
                </c:pt>
                <c:pt idx="9">
                  <c:v>-0.000337</c:v>
                </c:pt>
                <c:pt idx="10">
                  <c:v>0.000502</c:v>
                </c:pt>
                <c:pt idx="11">
                  <c:v>0.002131</c:v>
                </c:pt>
                <c:pt idx="12">
                  <c:v>0.003931</c:v>
                </c:pt>
                <c:pt idx="13">
                  <c:v>0.002847</c:v>
                </c:pt>
                <c:pt idx="14">
                  <c:v>0.000672</c:v>
                </c:pt>
                <c:pt idx="15">
                  <c:v>-0.000259</c:v>
                </c:pt>
                <c:pt idx="16">
                  <c:v>-0.00205</c:v>
                </c:pt>
                <c:pt idx="17">
                  <c:v>-0.003016</c:v>
                </c:pt>
                <c:pt idx="18">
                  <c:v>-0.002183</c:v>
                </c:pt>
                <c:pt idx="19">
                  <c:v>-0.001112</c:v>
                </c:pt>
                <c:pt idx="20">
                  <c:v>-0.000846</c:v>
                </c:pt>
                <c:pt idx="21">
                  <c:v>-0.001341</c:v>
                </c:pt>
                <c:pt idx="22">
                  <c:v>-0.000884</c:v>
                </c:pt>
                <c:pt idx="23">
                  <c:v>-0.000372</c:v>
                </c:pt>
                <c:pt idx="24">
                  <c:v>-0.000947</c:v>
                </c:pt>
                <c:pt idx="25">
                  <c:v>-0.000934</c:v>
                </c:pt>
                <c:pt idx="26">
                  <c:v>-0.000851</c:v>
                </c:pt>
                <c:pt idx="27">
                  <c:v>-0.0002</c:v>
                </c:pt>
                <c:pt idx="28">
                  <c:v>0.0007</c:v>
                </c:pt>
                <c:pt idx="29">
                  <c:v>0.00415</c:v>
                </c:pt>
                <c:pt idx="30">
                  <c:v>0.010581</c:v>
                </c:pt>
                <c:pt idx="31">
                  <c:v>0.012059</c:v>
                </c:pt>
                <c:pt idx="32">
                  <c:v>0.010618</c:v>
                </c:pt>
                <c:pt idx="33">
                  <c:v>0.007022</c:v>
                </c:pt>
                <c:pt idx="34">
                  <c:v>0.003425</c:v>
                </c:pt>
                <c:pt idx="35">
                  <c:v>0.0012</c:v>
                </c:pt>
                <c:pt idx="36">
                  <c:v>0.000243</c:v>
                </c:pt>
                <c:pt idx="37">
                  <c:v>-0.000056</c:v>
                </c:pt>
                <c:pt idx="38">
                  <c:v>-0.000077</c:v>
                </c:pt>
                <c:pt idx="39">
                  <c:v>-0.000049</c:v>
                </c:pt>
                <c:pt idx="40">
                  <c:v>-0.000037</c:v>
                </c:pt>
                <c:pt idx="41">
                  <c:v>-0.000045</c:v>
                </c:pt>
                <c:pt idx="42">
                  <c:v>-0.000058</c:v>
                </c:pt>
                <c:pt idx="43">
                  <c:v>-0.000093</c:v>
                </c:pt>
                <c:pt idx="44">
                  <c:v>-0.000041</c:v>
                </c:pt>
                <c:pt idx="45">
                  <c:v>-0.00003</c:v>
                </c:pt>
                <c:pt idx="46">
                  <c:v>-0.000028</c:v>
                </c:pt>
                <c:pt idx="47">
                  <c:v>-0.00004</c:v>
                </c:pt>
                <c:pt idx="48">
                  <c:v>-0.000046</c:v>
                </c:pt>
                <c:pt idx="49">
                  <c:v>-0.000045</c:v>
                </c:pt>
                <c:pt idx="50">
                  <c:v>-0.000033</c:v>
                </c:pt>
                <c:pt idx="51">
                  <c:v>-0.000042</c:v>
                </c:pt>
                <c:pt idx="52">
                  <c:v>-0.000151</c:v>
                </c:pt>
                <c:pt idx="53">
                  <c:v>-0.000374</c:v>
                </c:pt>
                <c:pt idx="54">
                  <c:v>-0.000625</c:v>
                </c:pt>
                <c:pt idx="55">
                  <c:v>-0.000957</c:v>
                </c:pt>
                <c:pt idx="56">
                  <c:v>-0.000655</c:v>
                </c:pt>
                <c:pt idx="57">
                  <c:v>-0.000101</c:v>
                </c:pt>
                <c:pt idx="58">
                  <c:v>0.000155</c:v>
                </c:pt>
                <c:pt idx="59">
                  <c:v>0.000326</c:v>
                </c:pt>
                <c:pt idx="60">
                  <c:v>0.000401</c:v>
                </c:pt>
                <c:pt idx="61">
                  <c:v>0.000424</c:v>
                </c:pt>
                <c:pt idx="62">
                  <c:v>0.000403</c:v>
                </c:pt>
                <c:pt idx="63">
                  <c:v>0.000309</c:v>
                </c:pt>
                <c:pt idx="64">
                  <c:v>0.000198</c:v>
                </c:pt>
                <c:pt idx="65">
                  <c:v>0.000114</c:v>
                </c:pt>
                <c:pt idx="66">
                  <c:v>0.000054</c:v>
                </c:pt>
                <c:pt idx="67">
                  <c:v>-0.000009</c:v>
                </c:pt>
                <c:pt idx="68">
                  <c:v>-0.000084</c:v>
                </c:pt>
                <c:pt idx="69">
                  <c:v>-0.000153</c:v>
                </c:pt>
                <c:pt idx="70">
                  <c:v>-0.000205</c:v>
                </c:pt>
                <c:pt idx="71">
                  <c:v>-0.000277</c:v>
                </c:pt>
                <c:pt idx="72">
                  <c:v>-0.000549</c:v>
                </c:pt>
                <c:pt idx="73">
                  <c:v>-0.0014</c:v>
                </c:pt>
                <c:pt idx="74">
                  <c:v>-0.002175</c:v>
                </c:pt>
                <c:pt idx="75">
                  <c:v>-0.001554</c:v>
                </c:pt>
                <c:pt idx="76">
                  <c:v>-0.000485</c:v>
                </c:pt>
                <c:pt idx="77">
                  <c:v>-0.000048</c:v>
                </c:pt>
                <c:pt idx="78">
                  <c:v>0.000058</c:v>
                </c:pt>
                <c:pt idx="79">
                  <c:v>0.000131</c:v>
                </c:pt>
                <c:pt idx="80">
                  <c:v>0.000303</c:v>
                </c:pt>
                <c:pt idx="81">
                  <c:v>0.000203</c:v>
                </c:pt>
                <c:pt idx="82">
                  <c:v>-0.000059</c:v>
                </c:pt>
                <c:pt idx="83">
                  <c:v>0.000008</c:v>
                </c:pt>
                <c:pt idx="84">
                  <c:v>0.000126</c:v>
                </c:pt>
                <c:pt idx="85">
                  <c:v>0.00011</c:v>
                </c:pt>
                <c:pt idx="86">
                  <c:v>-0.00002</c:v>
                </c:pt>
                <c:pt idx="87">
                  <c:v>-0.000197</c:v>
                </c:pt>
                <c:pt idx="88">
                  <c:v>-0.000386</c:v>
                </c:pt>
                <c:pt idx="89">
                  <c:v>-0.000646</c:v>
                </c:pt>
                <c:pt idx="90">
                  <c:v>-0.000988</c:v>
                </c:pt>
                <c:pt idx="91">
                  <c:v>-0.001413</c:v>
                </c:pt>
                <c:pt idx="92">
                  <c:v>-0.00188</c:v>
                </c:pt>
                <c:pt idx="93">
                  <c:v>-0.002155</c:v>
                </c:pt>
                <c:pt idx="94">
                  <c:v>-0.002078</c:v>
                </c:pt>
                <c:pt idx="95">
                  <c:v>-0.001867</c:v>
                </c:pt>
                <c:pt idx="96">
                  <c:v>-0.002175</c:v>
                </c:pt>
                <c:pt idx="97">
                  <c:v>-0.003814</c:v>
                </c:pt>
                <c:pt idx="98">
                  <c:v>-0.006551</c:v>
                </c:pt>
                <c:pt idx="99">
                  <c:v>-0.00745</c:v>
                </c:pt>
                <c:pt idx="100">
                  <c:v>-0.005167</c:v>
                </c:pt>
              </c:numCache>
            </c:numRef>
          </c:val>
          <c:smooth val="0"/>
        </c:ser>
        <c:ser>
          <c:idx val="1"/>
          <c:order val="1"/>
          <c:tx>
            <c:strRef>
              <c:f>Sheet1!$C$1</c:f>
              <c:strCache>
                <c:ptCount val="1"/>
                <c:pt idx="0">
                  <c:v>Diseased</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D08A00"/>
              </a:solidFill>
              <a:ln w="9525" cap="flat">
                <a:solidFill>
                  <a:srgbClr val="D08A00"/>
                </a:solidFill>
                <a:prstDash val="solid"/>
                <a:round/>
              </a:ln>
              <a:effectLst/>
            </c:spPr>
          </c:marker>
          <c:cat>
            <c:multiLvlStrRef>
              <c:f>Sheet1!$A$2:$A$102</c:f>
              <c:multiLvlStrCache>
                <c:ptCount val="1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lvl>
              </c:multiLvlStrCache>
            </c:multiLvlStrRef>
          </c:cat>
          <c:val>
            <c:numRef>
              <c:f>Sheet1!$C$2:$C$102</c:f>
              <c:numCache>
                <c:formatCode>General</c:formatCode>
                <c:ptCount val="101"/>
                <c:pt idx="0">
                  <c:v>-0.000519</c:v>
                </c:pt>
                <c:pt idx="1">
                  <c:v>-0.000683</c:v>
                </c:pt>
                <c:pt idx="2">
                  <c:v>-0.000982</c:v>
                </c:pt>
                <c:pt idx="3">
                  <c:v>-0.001206</c:v>
                </c:pt>
                <c:pt idx="4">
                  <c:v>-0.001026</c:v>
                </c:pt>
                <c:pt idx="5">
                  <c:v>-0.000837</c:v>
                </c:pt>
                <c:pt idx="6">
                  <c:v>-0.000947</c:v>
                </c:pt>
                <c:pt idx="7">
                  <c:v>-0.000864</c:v>
                </c:pt>
                <c:pt idx="8">
                  <c:v>-0.000683</c:v>
                </c:pt>
                <c:pt idx="9">
                  <c:v>-0.000252</c:v>
                </c:pt>
                <c:pt idx="10">
                  <c:v>0.000618</c:v>
                </c:pt>
                <c:pt idx="11">
                  <c:v>0.002171</c:v>
                </c:pt>
                <c:pt idx="12">
                  <c:v>0.003711</c:v>
                </c:pt>
                <c:pt idx="13">
                  <c:v>0.002604</c:v>
                </c:pt>
                <c:pt idx="14">
                  <c:v>0.000647</c:v>
                </c:pt>
                <c:pt idx="15">
                  <c:v>-0.000198</c:v>
                </c:pt>
                <c:pt idx="16">
                  <c:v>-0.001778</c:v>
                </c:pt>
                <c:pt idx="17">
                  <c:v>-0.002664</c:v>
                </c:pt>
                <c:pt idx="18">
                  <c:v>-0.001974</c:v>
                </c:pt>
                <c:pt idx="19">
                  <c:v>-0.001019</c:v>
                </c:pt>
                <c:pt idx="20">
                  <c:v>-0.000774</c:v>
                </c:pt>
                <c:pt idx="21">
                  <c:v>-0.001238</c:v>
                </c:pt>
                <c:pt idx="22">
                  <c:v>-0.000812</c:v>
                </c:pt>
                <c:pt idx="23">
                  <c:v>-0.000339</c:v>
                </c:pt>
                <c:pt idx="24">
                  <c:v>-0.001054</c:v>
                </c:pt>
                <c:pt idx="25">
                  <c:v>-0.001026</c:v>
                </c:pt>
                <c:pt idx="26">
                  <c:v>-0.000998</c:v>
                </c:pt>
                <c:pt idx="27">
                  <c:v>-0.00031</c:v>
                </c:pt>
                <c:pt idx="28">
                  <c:v>0.000869</c:v>
                </c:pt>
                <c:pt idx="29">
                  <c:v>0.004868</c:v>
                </c:pt>
                <c:pt idx="30">
                  <c:v>0.010547</c:v>
                </c:pt>
                <c:pt idx="31">
                  <c:v>0.01105</c:v>
                </c:pt>
                <c:pt idx="32">
                  <c:v>0.009303</c:v>
                </c:pt>
                <c:pt idx="33">
                  <c:v>0.00602</c:v>
                </c:pt>
                <c:pt idx="34">
                  <c:v>0.002938</c:v>
                </c:pt>
                <c:pt idx="35">
                  <c:v>0.001064</c:v>
                </c:pt>
                <c:pt idx="36">
                  <c:v>0.000263</c:v>
                </c:pt>
                <c:pt idx="37">
                  <c:v>0.00002</c:v>
                </c:pt>
                <c:pt idx="38">
                  <c:v>0.000006</c:v>
                </c:pt>
                <c:pt idx="39">
                  <c:v>0.000031</c:v>
                </c:pt>
                <c:pt idx="40">
                  <c:v>0.000043</c:v>
                </c:pt>
                <c:pt idx="41">
                  <c:v>0.000028</c:v>
                </c:pt>
                <c:pt idx="42">
                  <c:v>0.000013</c:v>
                </c:pt>
                <c:pt idx="43">
                  <c:v>-0.000023</c:v>
                </c:pt>
                <c:pt idx="44">
                  <c:v>0.000022</c:v>
                </c:pt>
                <c:pt idx="45">
                  <c:v>0.000028</c:v>
                </c:pt>
                <c:pt idx="46">
                  <c:v>0.000025</c:v>
                </c:pt>
                <c:pt idx="47">
                  <c:v>0.00001</c:v>
                </c:pt>
                <c:pt idx="48">
                  <c:v>0.000003</c:v>
                </c:pt>
                <c:pt idx="49">
                  <c:v>0.000004</c:v>
                </c:pt>
                <c:pt idx="50">
                  <c:v>0.000016</c:v>
                </c:pt>
                <c:pt idx="51">
                  <c:v>0.000008</c:v>
                </c:pt>
                <c:pt idx="52">
                  <c:v>-0.000097</c:v>
                </c:pt>
                <c:pt idx="53">
                  <c:v>-0.000305</c:v>
                </c:pt>
                <c:pt idx="54">
                  <c:v>-0.000542</c:v>
                </c:pt>
                <c:pt idx="55">
                  <c:v>-0.000849</c:v>
                </c:pt>
                <c:pt idx="56">
                  <c:v>-0.000569</c:v>
                </c:pt>
                <c:pt idx="57">
                  <c:v>-0.000056</c:v>
                </c:pt>
                <c:pt idx="58">
                  <c:v>0.000188</c:v>
                </c:pt>
                <c:pt idx="59">
                  <c:v>0.00035</c:v>
                </c:pt>
                <c:pt idx="60">
                  <c:v>0.000412</c:v>
                </c:pt>
                <c:pt idx="61">
                  <c:v>0.00041</c:v>
                </c:pt>
                <c:pt idx="62">
                  <c:v>0.000389</c:v>
                </c:pt>
                <c:pt idx="63">
                  <c:v>0.000293</c:v>
                </c:pt>
                <c:pt idx="64">
                  <c:v>0.000174</c:v>
                </c:pt>
                <c:pt idx="65">
                  <c:v>0.000094</c:v>
                </c:pt>
                <c:pt idx="66">
                  <c:v>0.000042</c:v>
                </c:pt>
                <c:pt idx="67">
                  <c:v>-0.000005</c:v>
                </c:pt>
                <c:pt idx="68">
                  <c:v>-0.000069</c:v>
                </c:pt>
                <c:pt idx="69">
                  <c:v>-0.000131</c:v>
                </c:pt>
                <c:pt idx="70">
                  <c:v>-0.000179</c:v>
                </c:pt>
                <c:pt idx="71">
                  <c:v>-0.000244</c:v>
                </c:pt>
                <c:pt idx="72">
                  <c:v>-0.000501</c:v>
                </c:pt>
                <c:pt idx="73">
                  <c:v>-0.001298</c:v>
                </c:pt>
                <c:pt idx="74">
                  <c:v>-0.002032</c:v>
                </c:pt>
                <c:pt idx="75">
                  <c:v>-0.001465</c:v>
                </c:pt>
                <c:pt idx="76">
                  <c:v>-0.000462</c:v>
                </c:pt>
                <c:pt idx="77">
                  <c:v>-0.00005</c:v>
                </c:pt>
                <c:pt idx="78">
                  <c:v>0.000057</c:v>
                </c:pt>
                <c:pt idx="79">
                  <c:v>0.000129</c:v>
                </c:pt>
                <c:pt idx="80">
                  <c:v>0.000283</c:v>
                </c:pt>
                <c:pt idx="81">
                  <c:v>0.000194</c:v>
                </c:pt>
                <c:pt idx="82">
                  <c:v>-0.000049</c:v>
                </c:pt>
                <c:pt idx="83">
                  <c:v>0.000011</c:v>
                </c:pt>
                <c:pt idx="84">
                  <c:v>0.000124</c:v>
                </c:pt>
                <c:pt idx="85">
                  <c:v>0.000109</c:v>
                </c:pt>
                <c:pt idx="86">
                  <c:v>-0.000021</c:v>
                </c:pt>
                <c:pt idx="87">
                  <c:v>-0.000193</c:v>
                </c:pt>
                <c:pt idx="88">
                  <c:v>-0.000365</c:v>
                </c:pt>
                <c:pt idx="89">
                  <c:v>-0.000604</c:v>
                </c:pt>
                <c:pt idx="90">
                  <c:v>-0.000915</c:v>
                </c:pt>
                <c:pt idx="91">
                  <c:v>-0.001316</c:v>
                </c:pt>
                <c:pt idx="92">
                  <c:v>-0.001764</c:v>
                </c:pt>
                <c:pt idx="93">
                  <c:v>-0.00203</c:v>
                </c:pt>
                <c:pt idx="94">
                  <c:v>-0.001958</c:v>
                </c:pt>
                <c:pt idx="95">
                  <c:v>-0.001757</c:v>
                </c:pt>
                <c:pt idx="96">
                  <c:v>-0.002054</c:v>
                </c:pt>
                <c:pt idx="97">
                  <c:v>-0.003621</c:v>
                </c:pt>
                <c:pt idx="98">
                  <c:v>-0.00626</c:v>
                </c:pt>
                <c:pt idx="99">
                  <c:v>-0.0072</c:v>
                </c:pt>
                <c:pt idx="100">
                  <c:v>-0.00508</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Wavelength (nm)</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10"/>
      </c:catAx>
      <c:valAx>
        <c:axId val="2094734552"/>
        <c:scaling>
          <c:orientation val="minMax"/>
        </c:scaling>
        <c:delete val="0"/>
        <c:axPos val="l"/>
        <c:majorGridlines>
          <c:spPr>
            <a:ln w="6350" cap="flat">
              <a:solidFill>
                <a:srgbClr val="E3E3E3"/>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PCA by class (plot-date means)</a:t>
            </a:r>
          </a:p>
        </c:rich>
      </c:tx>
      <c:layout/>
      <c:overlay val="0"/>
    </c:title>
    <c:autoTitleDeleted val="0"/>
    <c:plotArea>
      <c:layout/>
      <c:scatterChart>
        <c:scatterStyle val="lineMarker"/>
        <c:varyColors val="0"/>
        <c:ser>
          <c:idx val="0"/>
          <c:order val="0"/>
          <c:tx>
            <c:strRef>
              <c:f>Sheet1!$B$1</c:f>
              <c:strCache>
                <c:ptCount val="1"/>
                <c:pt idx="0">
                  <c:v>Healthy</c:v>
                </c:pt>
              </c:strCache>
            </c:strRef>
          </c:tx>
          <c:spPr>
            <a:solidFill>
              <a:srgbClr val="2E7D32"/>
            </a:solidFill>
            <a:ln>
              <a:noFill/>
            </a:ln>
            <a:effectLst/>
          </c:spPr>
          <c:marker>
            <c:symbol val="circle"/>
            <c:size val="6"/>
            <c:spPr>
              <a:solidFill>
                <a:srgbClr val="2E7D32"/>
              </a:solidFill>
              <a:ln w="9525" cap="flat">
                <a:solidFill>
                  <a:srgbClr val="2E7D32"/>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Sheet1!$B$2:$B$193</c:f>
              <c:numCache>
                <c:formatCode>General</c:formatCode>
                <c:ptCount val="192"/>
                <c:pt idx="0">
                  <c:v>0.125</c:v>
                </c:pt>
                <c:pt idx="1">
                  <c:v>0.258</c:v>
                </c:pt>
                <c:pt idx="2">
                  <c:v>-0.774</c:v>
                </c:pt>
                <c:pt idx="3">
                  <c:v>0.17</c:v>
                </c:pt>
                <c:pt idx="4">
                  <c:v>0.85</c:v>
                </c:pt>
                <c:pt idx="5">
                  <c:v>-0.647</c:v>
                </c:pt>
                <c:pt idx="6">
                  <c:v>-0.839</c:v>
                </c:pt>
                <c:pt idx="7">
                  <c:v>0.308</c:v>
                </c:pt>
                <c:pt idx="8">
                  <c:v>0.304</c:v>
                </c:pt>
                <c:pt idx="9">
                  <c:v>-0.732</c:v>
                </c:pt>
                <c:pt idx="10">
                  <c:v>-1.129</c:v>
                </c:pt>
                <c:pt idx="11">
                  <c:v>0.567</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0.413</c:v>
                </c:pt>
                <c:pt idx="41">
                  <c:v>-0.667</c:v>
                </c:pt>
                <c:pt idx="42">
                  <c:v>-1.186</c:v>
                </c:pt>
                <c:pt idx="43">
                  <c:v>0.021</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0.976</c:v>
                </c:pt>
                <c:pt idx="85">
                  <c:v>-0.417</c:v>
                </c:pt>
                <c:pt idx="86">
                  <c:v>-1.051</c:v>
                </c:pt>
                <c:pt idx="87">
                  <c:v>0.698</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0.733</c:v>
                </c:pt>
                <c:pt idx="129">
                  <c:v>-0.624</c:v>
                </c:pt>
                <c:pt idx="130">
                  <c:v>-0.778</c:v>
                </c:pt>
                <c:pt idx="131">
                  <c:v>-0.428</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0.981</c:v>
                </c:pt>
                <c:pt idx="169">
                  <c:v>-0.91</c:v>
                </c:pt>
                <c:pt idx="170">
                  <c:v>-0.99</c:v>
                </c:pt>
                <c:pt idx="171">
                  <c:v>-0.192</c:v>
                </c:pt>
                <c:pt idx="172">
                  <c:v>0.69</c:v>
                </c:pt>
                <c:pt idx="173">
                  <c:v>-0.567</c:v>
                </c:pt>
                <c:pt idx="174">
                  <c:v>-0.836</c:v>
                </c:pt>
                <c:pt idx="175">
                  <c:v>0.096</c:v>
                </c:pt>
                <c:pt idx="176">
                  <c:v>0.622</c:v>
                </c:pt>
                <c:pt idx="177">
                  <c:v>-0.145</c:v>
                </c:pt>
                <c:pt idx="178">
                  <c:v>-0.927</c:v>
                </c:pt>
                <c:pt idx="179">
                  <c:v>0.59</c:v>
                </c:pt>
                <c:pt idx="180">
                  <c:v>0.211</c:v>
                </c:pt>
                <c:pt idx="181">
                  <c:v>-0.103</c:v>
                </c:pt>
                <c:pt idx="182">
                  <c:v>-1.118</c:v>
                </c:pt>
                <c:pt idx="183">
                  <c:v>-0.099</c:v>
                </c:pt>
                <c:pt idx="184">
                  <c:v>0.727</c:v>
                </c:pt>
                <c:pt idx="185">
                  <c:v>-0.807</c:v>
                </c:pt>
                <c:pt idx="186">
                  <c:v>-0.886</c:v>
                </c:pt>
                <c:pt idx="187">
                  <c:v>0.022</c:v>
                </c:pt>
                <c:pt idx="188">
                  <c:v>0.439</c:v>
                </c:pt>
                <c:pt idx="189">
                  <c:v>-0.266</c:v>
                </c:pt>
                <c:pt idx="190">
                  <c:v>-0.876</c:v>
                </c:pt>
                <c:pt idx="191">
                  <c:v>0.145</c:v>
                </c:pt>
              </c:numCache>
            </c:numRef>
          </c:yVal>
          <c:smooth val="0"/>
        </c:ser>
        <c:ser>
          <c:idx val="1"/>
          <c:order val="1"/>
          <c:tx>
            <c:strRef>
              <c:f>Sheet1!$C$1</c:f>
              <c:strCache>
                <c:ptCount val="1"/>
                <c:pt idx="0">
                  <c:v>Diseased</c:v>
                </c:pt>
              </c:strCache>
            </c:strRef>
          </c:tx>
          <c:spPr>
            <a:solidFill>
              <a:srgbClr val="D08A00"/>
            </a:solidFill>
            <a:ln>
              <a:noFill/>
            </a:ln>
            <a:effectLst/>
          </c:spPr>
          <c:marker>
            <c:symbol val="circle"/>
            <c:size val="6"/>
            <c:spPr>
              <a:solidFill>
                <a:srgbClr val="D08A00"/>
              </a:solidFill>
              <a:ln w="9525" cap="flat">
                <a:solidFill>
                  <a:srgbClr val="D08A00"/>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Sheet1!$C$2:$C$193</c:f>
              <c:numCache>
                <c:formatCode>General</c:formatCode>
                <c:ptCount val="192"/>
                <c:pt idx="0">
                  <c:v/>
                </c:pt>
                <c:pt idx="1">
                  <c:v/>
                </c:pt>
                <c:pt idx="2">
                  <c:v/>
                </c:pt>
                <c:pt idx="3">
                  <c:v/>
                </c:pt>
                <c:pt idx="4">
                  <c:v/>
                </c:pt>
                <c:pt idx="5">
                  <c:v/>
                </c:pt>
                <c:pt idx="6">
                  <c:v/>
                </c:pt>
                <c:pt idx="7">
                  <c:v/>
                </c:pt>
                <c:pt idx="8">
                  <c:v/>
                </c:pt>
                <c:pt idx="9">
                  <c:v/>
                </c:pt>
                <c:pt idx="10">
                  <c:v/>
                </c:pt>
                <c:pt idx="11">
                  <c:v/>
                </c:pt>
                <c:pt idx="12">
                  <c:v>1.169</c:v>
                </c:pt>
                <c:pt idx="13">
                  <c:v>-0.163</c:v>
                </c:pt>
                <c:pt idx="14">
                  <c:v>-0.74</c:v>
                </c:pt>
                <c:pt idx="15">
                  <c:v>0.205</c:v>
                </c:pt>
                <c:pt idx="16">
                  <c:v>1</c:v>
                </c:pt>
                <c:pt idx="17">
                  <c:v>-0.046</c:v>
                </c:pt>
                <c:pt idx="18">
                  <c:v>-1.11</c:v>
                </c:pt>
                <c:pt idx="19">
                  <c:v>0.397</c:v>
                </c:pt>
                <c:pt idx="20">
                  <c:v>0.829</c:v>
                </c:pt>
                <c:pt idx="21">
                  <c:v>-0.583</c:v>
                </c:pt>
                <c:pt idx="22">
                  <c:v>-0.739</c:v>
                </c:pt>
                <c:pt idx="23">
                  <c:v>0.211</c:v>
                </c:pt>
                <c:pt idx="24">
                  <c:v>0.639</c:v>
                </c:pt>
                <c:pt idx="25">
                  <c:v>-0.326</c:v>
                </c:pt>
                <c:pt idx="26">
                  <c:v>-0.921</c:v>
                </c:pt>
                <c:pt idx="27">
                  <c:v>0.087</c:v>
                </c:pt>
                <c:pt idx="28">
                  <c:v>0.984</c:v>
                </c:pt>
                <c:pt idx="29">
                  <c:v>-0.648</c:v>
                </c:pt>
                <c:pt idx="30">
                  <c:v>-1.046</c:v>
                </c:pt>
                <c:pt idx="31">
                  <c:v>-0.164</c:v>
                </c:pt>
                <c:pt idx="32">
                  <c:v>0.905</c:v>
                </c:pt>
                <c:pt idx="33">
                  <c:v>-0.406</c:v>
                </c:pt>
                <c:pt idx="34">
                  <c:v>-0.962</c:v>
                </c:pt>
                <c:pt idx="35">
                  <c:v>-0.228</c:v>
                </c:pt>
                <c:pt idx="36">
                  <c:v>1.758</c:v>
                </c:pt>
                <c:pt idx="37">
                  <c:v>-0.641</c:v>
                </c:pt>
                <c:pt idx="38">
                  <c:v>-0.627</c:v>
                </c:pt>
                <c:pt idx="39">
                  <c:v>-0.215</c:v>
                </c:pt>
                <c:pt idx="40">
                  <c:v/>
                </c:pt>
                <c:pt idx="41">
                  <c:v/>
                </c:pt>
                <c:pt idx="42">
                  <c:v/>
                </c:pt>
                <c:pt idx="43">
                  <c:v/>
                </c:pt>
                <c:pt idx="44">
                  <c:v>0.306</c:v>
                </c:pt>
                <c:pt idx="45">
                  <c:v>-0.722</c:v>
                </c:pt>
                <c:pt idx="46">
                  <c:v>-0.916</c:v>
                </c:pt>
                <c:pt idx="47">
                  <c:v>-0.798</c:v>
                </c:pt>
                <c:pt idx="48">
                  <c:v>0.575</c:v>
                </c:pt>
                <c:pt idx="49">
                  <c:v>-1.056</c:v>
                </c:pt>
                <c:pt idx="50">
                  <c:v>-0.827</c:v>
                </c:pt>
                <c:pt idx="51">
                  <c:v>-0.728</c:v>
                </c:pt>
                <c:pt idx="52">
                  <c:v>1.541</c:v>
                </c:pt>
                <c:pt idx="53">
                  <c:v>-0.886</c:v>
                </c:pt>
                <c:pt idx="54">
                  <c:v>-0.705</c:v>
                </c:pt>
                <c:pt idx="55">
                  <c:v>-0.238</c:v>
                </c:pt>
                <c:pt idx="56">
                  <c:v>0.721</c:v>
                </c:pt>
                <c:pt idx="57">
                  <c:v>-0.165</c:v>
                </c:pt>
                <c:pt idx="58">
                  <c:v>-0.316</c:v>
                </c:pt>
                <c:pt idx="59">
                  <c:v>-0.531</c:v>
                </c:pt>
                <c:pt idx="60">
                  <c:v>1.55</c:v>
                </c:pt>
                <c:pt idx="61">
                  <c:v>0.452</c:v>
                </c:pt>
                <c:pt idx="62">
                  <c:v>-0.483</c:v>
                </c:pt>
                <c:pt idx="63">
                  <c:v>0.047</c:v>
                </c:pt>
                <c:pt idx="64">
                  <c:v>1.16</c:v>
                </c:pt>
                <c:pt idx="65">
                  <c:v>-0.373</c:v>
                </c:pt>
                <c:pt idx="66">
                  <c:v>-0.568</c:v>
                </c:pt>
                <c:pt idx="67">
                  <c:v>0.083</c:v>
                </c:pt>
                <c:pt idx="68">
                  <c:v>1.21</c:v>
                </c:pt>
                <c:pt idx="69">
                  <c:v>-0.069</c:v>
                </c:pt>
                <c:pt idx="70">
                  <c:v>-0.747</c:v>
                </c:pt>
                <c:pt idx="71">
                  <c:v>-0.177</c:v>
                </c:pt>
                <c:pt idx="72">
                  <c:v>1.078</c:v>
                </c:pt>
                <c:pt idx="73">
                  <c:v>-0.681</c:v>
                </c:pt>
                <c:pt idx="74">
                  <c:v>-0.598</c:v>
                </c:pt>
                <c:pt idx="75">
                  <c:v>-0.056</c:v>
                </c:pt>
                <c:pt idx="76">
                  <c:v>0.863</c:v>
                </c:pt>
                <c:pt idx="77">
                  <c:v>-0.258</c:v>
                </c:pt>
                <c:pt idx="78">
                  <c:v>-1.012</c:v>
                </c:pt>
                <c:pt idx="79">
                  <c:v>-0.026</c:v>
                </c:pt>
                <c:pt idx="80">
                  <c:v>0.698</c:v>
                </c:pt>
                <c:pt idx="81">
                  <c:v>-0.579</c:v>
                </c:pt>
                <c:pt idx="82">
                  <c:v>-0.794</c:v>
                </c:pt>
                <c:pt idx="83">
                  <c:v>-0.398</c:v>
                </c:pt>
                <c:pt idx="84">
                  <c:v/>
                </c:pt>
                <c:pt idx="85">
                  <c:v/>
                </c:pt>
                <c:pt idx="86">
                  <c:v/>
                </c:pt>
                <c:pt idx="87">
                  <c:v/>
                </c:pt>
                <c:pt idx="88">
                  <c:v>1.156</c:v>
                </c:pt>
                <c:pt idx="89">
                  <c:v>-0.085</c:v>
                </c:pt>
                <c:pt idx="90">
                  <c:v>-0.418</c:v>
                </c:pt>
                <c:pt idx="91">
                  <c:v>0.01</c:v>
                </c:pt>
                <c:pt idx="92">
                  <c:v>2.068</c:v>
                </c:pt>
                <c:pt idx="93">
                  <c:v>-0.272</c:v>
                </c:pt>
                <c:pt idx="94">
                  <c:v>-0.577</c:v>
                </c:pt>
                <c:pt idx="95">
                  <c:v>0.238</c:v>
                </c:pt>
                <c:pt idx="96">
                  <c:v>1.074</c:v>
                </c:pt>
                <c:pt idx="97">
                  <c:v>-0.352</c:v>
                </c:pt>
                <c:pt idx="98">
                  <c:v>-0.792</c:v>
                </c:pt>
                <c:pt idx="99">
                  <c:v>-0.226</c:v>
                </c:pt>
                <c:pt idx="100">
                  <c:v>0.856</c:v>
                </c:pt>
                <c:pt idx="101">
                  <c:v>-0.24</c:v>
                </c:pt>
                <c:pt idx="102">
                  <c:v>-1.076</c:v>
                </c:pt>
                <c:pt idx="103">
                  <c:v>-0.262</c:v>
                </c:pt>
                <c:pt idx="104">
                  <c:v>1.772</c:v>
                </c:pt>
                <c:pt idx="105">
                  <c:v>0.499</c:v>
                </c:pt>
                <c:pt idx="106">
                  <c:v>-0.675</c:v>
                </c:pt>
                <c:pt idx="107">
                  <c:v>0.578</c:v>
                </c:pt>
                <c:pt idx="108">
                  <c:v>1.635</c:v>
                </c:pt>
                <c:pt idx="109">
                  <c:v>-0.18</c:v>
                </c:pt>
                <c:pt idx="110">
                  <c:v>-0.545</c:v>
                </c:pt>
                <c:pt idx="111">
                  <c:v>0.133</c:v>
                </c:pt>
                <c:pt idx="112">
                  <c:v>1.171</c:v>
                </c:pt>
                <c:pt idx="113">
                  <c:v>-0.517</c:v>
                </c:pt>
                <c:pt idx="114">
                  <c:v>-0.515</c:v>
                </c:pt>
                <c:pt idx="115">
                  <c:v>0.015</c:v>
                </c:pt>
                <c:pt idx="116">
                  <c:v>0.979</c:v>
                </c:pt>
                <c:pt idx="117">
                  <c:v>0.029</c:v>
                </c:pt>
                <c:pt idx="118">
                  <c:v>-0.862</c:v>
                </c:pt>
                <c:pt idx="119">
                  <c:v>0.012</c:v>
                </c:pt>
                <c:pt idx="120">
                  <c:v>1.976</c:v>
                </c:pt>
                <c:pt idx="121">
                  <c:v>-0.178</c:v>
                </c:pt>
                <c:pt idx="122">
                  <c:v>-0.523</c:v>
                </c:pt>
                <c:pt idx="123">
                  <c:v>-0.053</c:v>
                </c:pt>
                <c:pt idx="124">
                  <c:v>1.608</c:v>
                </c:pt>
                <c:pt idx="125">
                  <c:v>-0.464</c:v>
                </c:pt>
                <c:pt idx="126">
                  <c:v>-0.757</c:v>
                </c:pt>
                <c:pt idx="127">
                  <c:v>-0.093</c:v>
                </c:pt>
                <c:pt idx="128">
                  <c:v/>
                </c:pt>
                <c:pt idx="129">
                  <c:v/>
                </c:pt>
                <c:pt idx="130">
                  <c:v/>
                </c:pt>
                <c:pt idx="131">
                  <c:v/>
                </c:pt>
                <c:pt idx="132">
                  <c:v>1.833</c:v>
                </c:pt>
                <c:pt idx="133">
                  <c:v>0.029</c:v>
                </c:pt>
                <c:pt idx="134">
                  <c:v>-0.625</c:v>
                </c:pt>
                <c:pt idx="135">
                  <c:v>0.188</c:v>
                </c:pt>
                <c:pt idx="136">
                  <c:v>1.564</c:v>
                </c:pt>
                <c:pt idx="137">
                  <c:v>0.39</c:v>
                </c:pt>
                <c:pt idx="138">
                  <c:v>-0.81</c:v>
                </c:pt>
                <c:pt idx="139">
                  <c:v>0.54</c:v>
                </c:pt>
                <c:pt idx="140">
                  <c:v>1.477</c:v>
                </c:pt>
                <c:pt idx="141">
                  <c:v>0.284</c:v>
                </c:pt>
                <c:pt idx="142">
                  <c:v>-0.627</c:v>
                </c:pt>
                <c:pt idx="143">
                  <c:v>0.544</c:v>
                </c:pt>
                <c:pt idx="144">
                  <c:v>1.221</c:v>
                </c:pt>
                <c:pt idx="145">
                  <c:v>-0.058</c:v>
                </c:pt>
                <c:pt idx="146">
                  <c:v>-0.331</c:v>
                </c:pt>
                <c:pt idx="147">
                  <c:v>0.228</c:v>
                </c:pt>
                <c:pt idx="148">
                  <c:v>0.233</c:v>
                </c:pt>
                <c:pt idx="149">
                  <c:v>-0.371</c:v>
                </c:pt>
                <c:pt idx="150">
                  <c:v>-1.026</c:v>
                </c:pt>
                <c:pt idx="151">
                  <c:v>-0.057</c:v>
                </c:pt>
                <c:pt idx="152">
                  <c:v>1.103</c:v>
                </c:pt>
                <c:pt idx="153">
                  <c:v>-0.06</c:v>
                </c:pt>
                <c:pt idx="154">
                  <c:v>-1.047</c:v>
                </c:pt>
                <c:pt idx="155">
                  <c:v>0.377</c:v>
                </c:pt>
                <c:pt idx="156">
                  <c:v>0.874</c:v>
                </c:pt>
                <c:pt idx="157">
                  <c:v>0.008</c:v>
                </c:pt>
                <c:pt idx="158">
                  <c:v>-0.769</c:v>
                </c:pt>
                <c:pt idx="159">
                  <c:v>0.572</c:v>
                </c:pt>
                <c:pt idx="160">
                  <c:v>0.673</c:v>
                </c:pt>
                <c:pt idx="161">
                  <c:v>-0.366</c:v>
                </c:pt>
                <c:pt idx="162">
                  <c:v>-0.918</c:v>
                </c:pt>
                <c:pt idx="163">
                  <c:v>0.365</c:v>
                </c:pt>
                <c:pt idx="164">
                  <c:v>0.263</c:v>
                </c:pt>
                <c:pt idx="165">
                  <c:v>0.103</c:v>
                </c:pt>
                <c:pt idx="166">
                  <c:v>-0.718</c:v>
                </c:pt>
                <c:pt idx="167">
                  <c:v>-0.276</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numCache>
            </c:numRef>
          </c:yVal>
          <c:smooth val="0"/>
        </c:ser>
        <c:dLbls>
          <c:numFmt formatCode="General"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PC1 (55.8%)</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3E3E3"/>
              </a:solidFill>
              <a:prstDash val="solid"/>
              <a:round/>
            </a:ln>
          </c:spPr>
        </c:majorGridlines>
        <c:title>
          <c:tx>
            <c:rich>
              <a:bodyPr/>
              <a:lstStyle/>
              <a:p>
                <a:pPr>
                  <a:defRPr sz="1000" b="0" i="0" u="none" strike="noStrike">
                    <a:solidFill>
                      <a:srgbClr val="555555"/>
                    </a:solidFill>
                    <a:latin typeface="+mn-lt"/>
                  </a:defRPr>
                </a:pPr>
                <a:r>
                  <a:rPr sz="1000" b="0" i="0" u="none" strike="noStrike">
                    <a:solidFill>
                      <a:srgbClr val="555555"/>
                    </a:solidFill>
                    <a:latin typeface="+mn-lt"/>
                  </a:rPr>
                  <a:t>PC2 (30.2%)</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PCA by date (plot-date means)</a:t>
            </a:r>
          </a:p>
        </c:rich>
      </c:tx>
      <c:layout/>
      <c:overlay val="0"/>
    </c:title>
    <c:autoTitleDeleted val="0"/>
    <c:plotArea>
      <c:layout/>
      <c:scatterChart>
        <c:scatterStyle val="lineMarker"/>
        <c:varyColors val="0"/>
        <c:ser>
          <c:idx val="0"/>
          <c:order val="0"/>
          <c:tx>
            <c:strRef>
              <c:f>Sheet1!$B$1</c:f>
              <c:strCache>
                <c:ptCount val="1"/>
                <c:pt idx="0">
                  <c:v>11 Feb</c:v>
                </c:pt>
              </c:strCache>
            </c:strRef>
          </c:tx>
          <c:spPr>
            <a:solidFill>
              <a:srgbClr val="2A6FB0"/>
            </a:solidFill>
            <a:ln>
              <a:noFill/>
            </a:ln>
            <a:effectLst/>
          </c:spPr>
          <c:marker>
            <c:symbol val="circle"/>
            <c:size val="6"/>
            <c:spPr>
              <a:solidFill>
                <a:srgbClr val="2A6FB0"/>
              </a:solidFill>
              <a:ln w="9525" cap="flat">
                <a:solidFill>
                  <a:srgbClr val="2A6FB0"/>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Sheet1!$B$2:$B$193</c:f>
              <c:numCache>
                <c:formatCode>General</c:formatCode>
                <c:ptCount val="192"/>
                <c:pt idx="0">
                  <c:v/>
                </c:pt>
                <c:pt idx="1">
                  <c:v>0.258</c:v>
                </c:pt>
                <c:pt idx="2">
                  <c:v/>
                </c:pt>
                <c:pt idx="3">
                  <c:v/>
                </c:pt>
                <c:pt idx="4">
                  <c:v/>
                </c:pt>
                <c:pt idx="5">
                  <c:v>-0.647</c:v>
                </c:pt>
                <c:pt idx="6">
                  <c:v/>
                </c:pt>
                <c:pt idx="7">
                  <c:v/>
                </c:pt>
                <c:pt idx="8">
                  <c:v/>
                </c:pt>
                <c:pt idx="9">
                  <c:v>-0.732</c:v>
                </c:pt>
                <c:pt idx="10">
                  <c:v/>
                </c:pt>
                <c:pt idx="11">
                  <c:v/>
                </c:pt>
                <c:pt idx="12">
                  <c:v/>
                </c:pt>
                <c:pt idx="13">
                  <c:v>-0.163</c:v>
                </c:pt>
                <c:pt idx="14">
                  <c:v/>
                </c:pt>
                <c:pt idx="15">
                  <c:v/>
                </c:pt>
                <c:pt idx="16">
                  <c:v/>
                </c:pt>
                <c:pt idx="17">
                  <c:v>-0.046</c:v>
                </c:pt>
                <c:pt idx="18">
                  <c:v/>
                </c:pt>
                <c:pt idx="19">
                  <c:v/>
                </c:pt>
                <c:pt idx="20">
                  <c:v/>
                </c:pt>
                <c:pt idx="21">
                  <c:v>-0.583</c:v>
                </c:pt>
                <c:pt idx="22">
                  <c:v/>
                </c:pt>
                <c:pt idx="23">
                  <c:v/>
                </c:pt>
                <c:pt idx="24">
                  <c:v/>
                </c:pt>
                <c:pt idx="25">
                  <c:v>-0.326</c:v>
                </c:pt>
                <c:pt idx="26">
                  <c:v/>
                </c:pt>
                <c:pt idx="27">
                  <c:v/>
                </c:pt>
                <c:pt idx="28">
                  <c:v/>
                </c:pt>
                <c:pt idx="29">
                  <c:v>-0.648</c:v>
                </c:pt>
                <c:pt idx="30">
                  <c:v/>
                </c:pt>
                <c:pt idx="31">
                  <c:v/>
                </c:pt>
                <c:pt idx="32">
                  <c:v/>
                </c:pt>
                <c:pt idx="33">
                  <c:v>-0.406</c:v>
                </c:pt>
                <c:pt idx="34">
                  <c:v/>
                </c:pt>
                <c:pt idx="35">
                  <c:v/>
                </c:pt>
                <c:pt idx="36">
                  <c:v/>
                </c:pt>
                <c:pt idx="37">
                  <c:v>-0.641</c:v>
                </c:pt>
                <c:pt idx="38">
                  <c:v/>
                </c:pt>
                <c:pt idx="39">
                  <c:v/>
                </c:pt>
                <c:pt idx="40">
                  <c:v/>
                </c:pt>
                <c:pt idx="41">
                  <c:v>-0.667</c:v>
                </c:pt>
                <c:pt idx="42">
                  <c:v/>
                </c:pt>
                <c:pt idx="43">
                  <c:v/>
                </c:pt>
                <c:pt idx="44">
                  <c:v/>
                </c:pt>
                <c:pt idx="45">
                  <c:v>-0.722</c:v>
                </c:pt>
                <c:pt idx="46">
                  <c:v/>
                </c:pt>
                <c:pt idx="47">
                  <c:v/>
                </c:pt>
                <c:pt idx="48">
                  <c:v/>
                </c:pt>
                <c:pt idx="49">
                  <c:v>-1.056</c:v>
                </c:pt>
                <c:pt idx="50">
                  <c:v/>
                </c:pt>
                <c:pt idx="51">
                  <c:v/>
                </c:pt>
                <c:pt idx="52">
                  <c:v/>
                </c:pt>
                <c:pt idx="53">
                  <c:v>-0.886</c:v>
                </c:pt>
                <c:pt idx="54">
                  <c:v/>
                </c:pt>
                <c:pt idx="55">
                  <c:v/>
                </c:pt>
                <c:pt idx="56">
                  <c:v/>
                </c:pt>
                <c:pt idx="57">
                  <c:v>-0.165</c:v>
                </c:pt>
                <c:pt idx="58">
                  <c:v/>
                </c:pt>
                <c:pt idx="59">
                  <c:v/>
                </c:pt>
                <c:pt idx="60">
                  <c:v/>
                </c:pt>
                <c:pt idx="61">
                  <c:v>0.452</c:v>
                </c:pt>
                <c:pt idx="62">
                  <c:v/>
                </c:pt>
                <c:pt idx="63">
                  <c:v/>
                </c:pt>
                <c:pt idx="64">
                  <c:v/>
                </c:pt>
                <c:pt idx="65">
                  <c:v>-0.373</c:v>
                </c:pt>
                <c:pt idx="66">
                  <c:v/>
                </c:pt>
                <c:pt idx="67">
                  <c:v/>
                </c:pt>
                <c:pt idx="68">
                  <c:v/>
                </c:pt>
                <c:pt idx="69">
                  <c:v>-0.069</c:v>
                </c:pt>
                <c:pt idx="70">
                  <c:v/>
                </c:pt>
                <c:pt idx="71">
                  <c:v/>
                </c:pt>
                <c:pt idx="72">
                  <c:v/>
                </c:pt>
                <c:pt idx="73">
                  <c:v>-0.681</c:v>
                </c:pt>
                <c:pt idx="74">
                  <c:v/>
                </c:pt>
                <c:pt idx="75">
                  <c:v/>
                </c:pt>
                <c:pt idx="76">
                  <c:v/>
                </c:pt>
                <c:pt idx="77">
                  <c:v>-0.258</c:v>
                </c:pt>
                <c:pt idx="78">
                  <c:v/>
                </c:pt>
                <c:pt idx="79">
                  <c:v/>
                </c:pt>
                <c:pt idx="80">
                  <c:v/>
                </c:pt>
                <c:pt idx="81">
                  <c:v>-0.579</c:v>
                </c:pt>
                <c:pt idx="82">
                  <c:v/>
                </c:pt>
                <c:pt idx="83">
                  <c:v/>
                </c:pt>
                <c:pt idx="84">
                  <c:v/>
                </c:pt>
                <c:pt idx="85">
                  <c:v>-0.417</c:v>
                </c:pt>
                <c:pt idx="86">
                  <c:v/>
                </c:pt>
                <c:pt idx="87">
                  <c:v/>
                </c:pt>
                <c:pt idx="88">
                  <c:v/>
                </c:pt>
                <c:pt idx="89">
                  <c:v>-0.085</c:v>
                </c:pt>
                <c:pt idx="90">
                  <c:v/>
                </c:pt>
                <c:pt idx="91">
                  <c:v/>
                </c:pt>
                <c:pt idx="92">
                  <c:v/>
                </c:pt>
                <c:pt idx="93">
                  <c:v>-0.272</c:v>
                </c:pt>
                <c:pt idx="94">
                  <c:v/>
                </c:pt>
                <c:pt idx="95">
                  <c:v/>
                </c:pt>
                <c:pt idx="96">
                  <c:v/>
                </c:pt>
                <c:pt idx="97">
                  <c:v>-0.352</c:v>
                </c:pt>
                <c:pt idx="98">
                  <c:v/>
                </c:pt>
                <c:pt idx="99">
                  <c:v/>
                </c:pt>
                <c:pt idx="100">
                  <c:v/>
                </c:pt>
                <c:pt idx="101">
                  <c:v>-0.24</c:v>
                </c:pt>
                <c:pt idx="102">
                  <c:v/>
                </c:pt>
                <c:pt idx="103">
                  <c:v/>
                </c:pt>
                <c:pt idx="104">
                  <c:v/>
                </c:pt>
                <c:pt idx="105">
                  <c:v>0.499</c:v>
                </c:pt>
                <c:pt idx="106">
                  <c:v/>
                </c:pt>
                <c:pt idx="107">
                  <c:v/>
                </c:pt>
                <c:pt idx="108">
                  <c:v/>
                </c:pt>
                <c:pt idx="109">
                  <c:v>-0.18</c:v>
                </c:pt>
                <c:pt idx="110">
                  <c:v/>
                </c:pt>
                <c:pt idx="111">
                  <c:v/>
                </c:pt>
                <c:pt idx="112">
                  <c:v/>
                </c:pt>
                <c:pt idx="113">
                  <c:v>-0.517</c:v>
                </c:pt>
                <c:pt idx="114">
                  <c:v/>
                </c:pt>
                <c:pt idx="115">
                  <c:v/>
                </c:pt>
                <c:pt idx="116">
                  <c:v/>
                </c:pt>
                <c:pt idx="117">
                  <c:v>0.029</c:v>
                </c:pt>
                <c:pt idx="118">
                  <c:v/>
                </c:pt>
                <c:pt idx="119">
                  <c:v/>
                </c:pt>
                <c:pt idx="120">
                  <c:v/>
                </c:pt>
                <c:pt idx="121">
                  <c:v>-0.178</c:v>
                </c:pt>
                <c:pt idx="122">
                  <c:v/>
                </c:pt>
                <c:pt idx="123">
                  <c:v/>
                </c:pt>
                <c:pt idx="124">
                  <c:v/>
                </c:pt>
                <c:pt idx="125">
                  <c:v>-0.464</c:v>
                </c:pt>
                <c:pt idx="126">
                  <c:v/>
                </c:pt>
                <c:pt idx="127">
                  <c:v/>
                </c:pt>
                <c:pt idx="128">
                  <c:v/>
                </c:pt>
                <c:pt idx="129">
                  <c:v>-0.624</c:v>
                </c:pt>
                <c:pt idx="130">
                  <c:v/>
                </c:pt>
                <c:pt idx="131">
                  <c:v/>
                </c:pt>
                <c:pt idx="132">
                  <c:v/>
                </c:pt>
                <c:pt idx="133">
                  <c:v>0.029</c:v>
                </c:pt>
                <c:pt idx="134">
                  <c:v/>
                </c:pt>
                <c:pt idx="135">
                  <c:v/>
                </c:pt>
                <c:pt idx="136">
                  <c:v/>
                </c:pt>
                <c:pt idx="137">
                  <c:v>0.39</c:v>
                </c:pt>
                <c:pt idx="138">
                  <c:v/>
                </c:pt>
                <c:pt idx="139">
                  <c:v/>
                </c:pt>
                <c:pt idx="140">
                  <c:v/>
                </c:pt>
                <c:pt idx="141">
                  <c:v>0.284</c:v>
                </c:pt>
                <c:pt idx="142">
                  <c:v/>
                </c:pt>
                <c:pt idx="143">
                  <c:v/>
                </c:pt>
                <c:pt idx="144">
                  <c:v/>
                </c:pt>
                <c:pt idx="145">
                  <c:v>-0.058</c:v>
                </c:pt>
                <c:pt idx="146">
                  <c:v/>
                </c:pt>
                <c:pt idx="147">
                  <c:v/>
                </c:pt>
                <c:pt idx="148">
                  <c:v/>
                </c:pt>
                <c:pt idx="149">
                  <c:v>-0.371</c:v>
                </c:pt>
                <c:pt idx="150">
                  <c:v/>
                </c:pt>
                <c:pt idx="151">
                  <c:v/>
                </c:pt>
                <c:pt idx="152">
                  <c:v/>
                </c:pt>
                <c:pt idx="153">
                  <c:v>-0.06</c:v>
                </c:pt>
                <c:pt idx="154">
                  <c:v/>
                </c:pt>
                <c:pt idx="155">
                  <c:v/>
                </c:pt>
                <c:pt idx="156">
                  <c:v/>
                </c:pt>
                <c:pt idx="157">
                  <c:v>0.008</c:v>
                </c:pt>
                <c:pt idx="158">
                  <c:v/>
                </c:pt>
                <c:pt idx="159">
                  <c:v/>
                </c:pt>
                <c:pt idx="160">
                  <c:v/>
                </c:pt>
                <c:pt idx="161">
                  <c:v>-0.366</c:v>
                </c:pt>
                <c:pt idx="162">
                  <c:v/>
                </c:pt>
                <c:pt idx="163">
                  <c:v/>
                </c:pt>
                <c:pt idx="164">
                  <c:v/>
                </c:pt>
                <c:pt idx="165">
                  <c:v>0.103</c:v>
                </c:pt>
                <c:pt idx="166">
                  <c:v/>
                </c:pt>
                <c:pt idx="167">
                  <c:v/>
                </c:pt>
                <c:pt idx="168">
                  <c:v/>
                </c:pt>
                <c:pt idx="169">
                  <c:v>-0.91</c:v>
                </c:pt>
                <c:pt idx="170">
                  <c:v/>
                </c:pt>
                <c:pt idx="171">
                  <c:v/>
                </c:pt>
                <c:pt idx="172">
                  <c:v/>
                </c:pt>
                <c:pt idx="173">
                  <c:v>-0.567</c:v>
                </c:pt>
                <c:pt idx="174">
                  <c:v/>
                </c:pt>
                <c:pt idx="175">
                  <c:v/>
                </c:pt>
                <c:pt idx="176">
                  <c:v/>
                </c:pt>
                <c:pt idx="177">
                  <c:v>-0.145</c:v>
                </c:pt>
                <c:pt idx="178">
                  <c:v/>
                </c:pt>
                <c:pt idx="179">
                  <c:v/>
                </c:pt>
                <c:pt idx="180">
                  <c:v/>
                </c:pt>
                <c:pt idx="181">
                  <c:v>-0.103</c:v>
                </c:pt>
                <c:pt idx="182">
                  <c:v/>
                </c:pt>
                <c:pt idx="183">
                  <c:v/>
                </c:pt>
                <c:pt idx="184">
                  <c:v/>
                </c:pt>
                <c:pt idx="185">
                  <c:v>-0.807</c:v>
                </c:pt>
                <c:pt idx="186">
                  <c:v/>
                </c:pt>
                <c:pt idx="187">
                  <c:v/>
                </c:pt>
                <c:pt idx="188">
                  <c:v/>
                </c:pt>
                <c:pt idx="189">
                  <c:v>-0.266</c:v>
                </c:pt>
                <c:pt idx="190">
                  <c:v/>
                </c:pt>
                <c:pt idx="191">
                  <c:v/>
                </c:pt>
              </c:numCache>
            </c:numRef>
          </c:yVal>
          <c:smooth val="0"/>
        </c:ser>
        <c:ser>
          <c:idx val="1"/>
          <c:order val="1"/>
          <c:tx>
            <c:strRef>
              <c:f>Sheet1!$C$1</c:f>
              <c:strCache>
                <c:ptCount val="1"/>
                <c:pt idx="0">
                  <c:v>24 Feb</c:v>
                </c:pt>
              </c:strCache>
            </c:strRef>
          </c:tx>
          <c:spPr>
            <a:solidFill>
              <a:srgbClr val="2E7D32"/>
            </a:solidFill>
            <a:ln>
              <a:noFill/>
            </a:ln>
            <a:effectLst/>
          </c:spPr>
          <c:marker>
            <c:symbol val="circle"/>
            <c:size val="6"/>
            <c:spPr>
              <a:solidFill>
                <a:srgbClr val="2E7D32"/>
              </a:solidFill>
              <a:ln w="9525" cap="flat">
                <a:solidFill>
                  <a:srgbClr val="2E7D32"/>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Sheet1!$C$2:$C$193</c:f>
              <c:numCache>
                <c:formatCode>General</c:formatCode>
                <c:ptCount val="192"/>
                <c:pt idx="0">
                  <c:v/>
                </c:pt>
                <c:pt idx="1">
                  <c:v/>
                </c:pt>
                <c:pt idx="2">
                  <c:v/>
                </c:pt>
                <c:pt idx="3">
                  <c:v>0.17</c:v>
                </c:pt>
                <c:pt idx="4">
                  <c:v/>
                </c:pt>
                <c:pt idx="5">
                  <c:v/>
                </c:pt>
                <c:pt idx="6">
                  <c:v/>
                </c:pt>
                <c:pt idx="7">
                  <c:v>0.308</c:v>
                </c:pt>
                <c:pt idx="8">
                  <c:v/>
                </c:pt>
                <c:pt idx="9">
                  <c:v/>
                </c:pt>
                <c:pt idx="10">
                  <c:v/>
                </c:pt>
                <c:pt idx="11">
                  <c:v>0.567</c:v>
                </c:pt>
                <c:pt idx="12">
                  <c:v/>
                </c:pt>
                <c:pt idx="13">
                  <c:v/>
                </c:pt>
                <c:pt idx="14">
                  <c:v/>
                </c:pt>
                <c:pt idx="15">
                  <c:v>0.205</c:v>
                </c:pt>
                <c:pt idx="16">
                  <c:v/>
                </c:pt>
                <c:pt idx="17">
                  <c:v/>
                </c:pt>
                <c:pt idx="18">
                  <c:v/>
                </c:pt>
                <c:pt idx="19">
                  <c:v>0.397</c:v>
                </c:pt>
                <c:pt idx="20">
                  <c:v/>
                </c:pt>
                <c:pt idx="21">
                  <c:v/>
                </c:pt>
                <c:pt idx="22">
                  <c:v/>
                </c:pt>
                <c:pt idx="23">
                  <c:v>0.211</c:v>
                </c:pt>
                <c:pt idx="24">
                  <c:v/>
                </c:pt>
                <c:pt idx="25">
                  <c:v/>
                </c:pt>
                <c:pt idx="26">
                  <c:v/>
                </c:pt>
                <c:pt idx="27">
                  <c:v>0.087</c:v>
                </c:pt>
                <c:pt idx="28">
                  <c:v/>
                </c:pt>
                <c:pt idx="29">
                  <c:v/>
                </c:pt>
                <c:pt idx="30">
                  <c:v/>
                </c:pt>
                <c:pt idx="31">
                  <c:v>-0.164</c:v>
                </c:pt>
                <c:pt idx="32">
                  <c:v/>
                </c:pt>
                <c:pt idx="33">
                  <c:v/>
                </c:pt>
                <c:pt idx="34">
                  <c:v/>
                </c:pt>
                <c:pt idx="35">
                  <c:v>-0.228</c:v>
                </c:pt>
                <c:pt idx="36">
                  <c:v/>
                </c:pt>
                <c:pt idx="37">
                  <c:v/>
                </c:pt>
                <c:pt idx="38">
                  <c:v/>
                </c:pt>
                <c:pt idx="39">
                  <c:v>-0.215</c:v>
                </c:pt>
                <c:pt idx="40">
                  <c:v/>
                </c:pt>
                <c:pt idx="41">
                  <c:v/>
                </c:pt>
                <c:pt idx="42">
                  <c:v/>
                </c:pt>
                <c:pt idx="43">
                  <c:v>0.021</c:v>
                </c:pt>
                <c:pt idx="44">
                  <c:v/>
                </c:pt>
                <c:pt idx="45">
                  <c:v/>
                </c:pt>
                <c:pt idx="46">
                  <c:v/>
                </c:pt>
                <c:pt idx="47">
                  <c:v>-0.798</c:v>
                </c:pt>
                <c:pt idx="48">
                  <c:v/>
                </c:pt>
                <c:pt idx="49">
                  <c:v/>
                </c:pt>
                <c:pt idx="50">
                  <c:v/>
                </c:pt>
                <c:pt idx="51">
                  <c:v>-0.728</c:v>
                </c:pt>
                <c:pt idx="52">
                  <c:v/>
                </c:pt>
                <c:pt idx="53">
                  <c:v/>
                </c:pt>
                <c:pt idx="54">
                  <c:v/>
                </c:pt>
                <c:pt idx="55">
                  <c:v>-0.238</c:v>
                </c:pt>
                <c:pt idx="56">
                  <c:v/>
                </c:pt>
                <c:pt idx="57">
                  <c:v/>
                </c:pt>
                <c:pt idx="58">
                  <c:v/>
                </c:pt>
                <c:pt idx="59">
                  <c:v>-0.531</c:v>
                </c:pt>
                <c:pt idx="60">
                  <c:v/>
                </c:pt>
                <c:pt idx="61">
                  <c:v/>
                </c:pt>
                <c:pt idx="62">
                  <c:v/>
                </c:pt>
                <c:pt idx="63">
                  <c:v>0.047</c:v>
                </c:pt>
                <c:pt idx="64">
                  <c:v/>
                </c:pt>
                <c:pt idx="65">
                  <c:v/>
                </c:pt>
                <c:pt idx="66">
                  <c:v/>
                </c:pt>
                <c:pt idx="67">
                  <c:v>0.083</c:v>
                </c:pt>
                <c:pt idx="68">
                  <c:v/>
                </c:pt>
                <c:pt idx="69">
                  <c:v/>
                </c:pt>
                <c:pt idx="70">
                  <c:v/>
                </c:pt>
                <c:pt idx="71">
                  <c:v>-0.177</c:v>
                </c:pt>
                <c:pt idx="72">
                  <c:v/>
                </c:pt>
                <c:pt idx="73">
                  <c:v/>
                </c:pt>
                <c:pt idx="74">
                  <c:v/>
                </c:pt>
                <c:pt idx="75">
                  <c:v>-0.056</c:v>
                </c:pt>
                <c:pt idx="76">
                  <c:v/>
                </c:pt>
                <c:pt idx="77">
                  <c:v/>
                </c:pt>
                <c:pt idx="78">
                  <c:v/>
                </c:pt>
                <c:pt idx="79">
                  <c:v>-0.026</c:v>
                </c:pt>
                <c:pt idx="80">
                  <c:v/>
                </c:pt>
                <c:pt idx="81">
                  <c:v/>
                </c:pt>
                <c:pt idx="82">
                  <c:v/>
                </c:pt>
                <c:pt idx="83">
                  <c:v>-0.398</c:v>
                </c:pt>
                <c:pt idx="84">
                  <c:v/>
                </c:pt>
                <c:pt idx="85">
                  <c:v/>
                </c:pt>
                <c:pt idx="86">
                  <c:v/>
                </c:pt>
                <c:pt idx="87">
                  <c:v>0.698</c:v>
                </c:pt>
                <c:pt idx="88">
                  <c:v/>
                </c:pt>
                <c:pt idx="89">
                  <c:v/>
                </c:pt>
                <c:pt idx="90">
                  <c:v/>
                </c:pt>
                <c:pt idx="91">
                  <c:v>0.01</c:v>
                </c:pt>
                <c:pt idx="92">
                  <c:v/>
                </c:pt>
                <c:pt idx="93">
                  <c:v/>
                </c:pt>
                <c:pt idx="94">
                  <c:v/>
                </c:pt>
                <c:pt idx="95">
                  <c:v>0.238</c:v>
                </c:pt>
                <c:pt idx="96">
                  <c:v/>
                </c:pt>
                <c:pt idx="97">
                  <c:v/>
                </c:pt>
                <c:pt idx="98">
                  <c:v/>
                </c:pt>
                <c:pt idx="99">
                  <c:v>-0.226</c:v>
                </c:pt>
                <c:pt idx="100">
                  <c:v/>
                </c:pt>
                <c:pt idx="101">
                  <c:v/>
                </c:pt>
                <c:pt idx="102">
                  <c:v/>
                </c:pt>
                <c:pt idx="103">
                  <c:v>-0.262</c:v>
                </c:pt>
                <c:pt idx="104">
                  <c:v/>
                </c:pt>
                <c:pt idx="105">
                  <c:v/>
                </c:pt>
                <c:pt idx="106">
                  <c:v/>
                </c:pt>
                <c:pt idx="107">
                  <c:v>0.578</c:v>
                </c:pt>
                <c:pt idx="108">
                  <c:v/>
                </c:pt>
                <c:pt idx="109">
                  <c:v/>
                </c:pt>
                <c:pt idx="110">
                  <c:v/>
                </c:pt>
                <c:pt idx="111">
                  <c:v>0.133</c:v>
                </c:pt>
                <c:pt idx="112">
                  <c:v/>
                </c:pt>
                <c:pt idx="113">
                  <c:v/>
                </c:pt>
                <c:pt idx="114">
                  <c:v/>
                </c:pt>
                <c:pt idx="115">
                  <c:v>0.015</c:v>
                </c:pt>
                <c:pt idx="116">
                  <c:v/>
                </c:pt>
                <c:pt idx="117">
                  <c:v/>
                </c:pt>
                <c:pt idx="118">
                  <c:v/>
                </c:pt>
                <c:pt idx="119">
                  <c:v>0.012</c:v>
                </c:pt>
                <c:pt idx="120">
                  <c:v/>
                </c:pt>
                <c:pt idx="121">
                  <c:v/>
                </c:pt>
                <c:pt idx="122">
                  <c:v/>
                </c:pt>
                <c:pt idx="123">
                  <c:v>-0.053</c:v>
                </c:pt>
                <c:pt idx="124">
                  <c:v/>
                </c:pt>
                <c:pt idx="125">
                  <c:v/>
                </c:pt>
                <c:pt idx="126">
                  <c:v/>
                </c:pt>
                <c:pt idx="127">
                  <c:v>-0.093</c:v>
                </c:pt>
                <c:pt idx="128">
                  <c:v/>
                </c:pt>
                <c:pt idx="129">
                  <c:v/>
                </c:pt>
                <c:pt idx="130">
                  <c:v/>
                </c:pt>
                <c:pt idx="131">
                  <c:v>-0.428</c:v>
                </c:pt>
                <c:pt idx="132">
                  <c:v/>
                </c:pt>
                <c:pt idx="133">
                  <c:v/>
                </c:pt>
                <c:pt idx="134">
                  <c:v/>
                </c:pt>
                <c:pt idx="135">
                  <c:v>0.188</c:v>
                </c:pt>
                <c:pt idx="136">
                  <c:v/>
                </c:pt>
                <c:pt idx="137">
                  <c:v/>
                </c:pt>
                <c:pt idx="138">
                  <c:v/>
                </c:pt>
                <c:pt idx="139">
                  <c:v>0.54</c:v>
                </c:pt>
                <c:pt idx="140">
                  <c:v/>
                </c:pt>
                <c:pt idx="141">
                  <c:v/>
                </c:pt>
                <c:pt idx="142">
                  <c:v/>
                </c:pt>
                <c:pt idx="143">
                  <c:v>0.544</c:v>
                </c:pt>
                <c:pt idx="144">
                  <c:v/>
                </c:pt>
                <c:pt idx="145">
                  <c:v/>
                </c:pt>
                <c:pt idx="146">
                  <c:v/>
                </c:pt>
                <c:pt idx="147">
                  <c:v>0.228</c:v>
                </c:pt>
                <c:pt idx="148">
                  <c:v/>
                </c:pt>
                <c:pt idx="149">
                  <c:v/>
                </c:pt>
                <c:pt idx="150">
                  <c:v/>
                </c:pt>
                <c:pt idx="151">
                  <c:v>-0.057</c:v>
                </c:pt>
                <c:pt idx="152">
                  <c:v/>
                </c:pt>
                <c:pt idx="153">
                  <c:v/>
                </c:pt>
                <c:pt idx="154">
                  <c:v/>
                </c:pt>
                <c:pt idx="155">
                  <c:v>0.377</c:v>
                </c:pt>
                <c:pt idx="156">
                  <c:v/>
                </c:pt>
                <c:pt idx="157">
                  <c:v/>
                </c:pt>
                <c:pt idx="158">
                  <c:v/>
                </c:pt>
                <c:pt idx="159">
                  <c:v>0.572</c:v>
                </c:pt>
                <c:pt idx="160">
                  <c:v/>
                </c:pt>
                <c:pt idx="161">
                  <c:v/>
                </c:pt>
                <c:pt idx="162">
                  <c:v/>
                </c:pt>
                <c:pt idx="163">
                  <c:v>0.365</c:v>
                </c:pt>
                <c:pt idx="164">
                  <c:v/>
                </c:pt>
                <c:pt idx="165">
                  <c:v/>
                </c:pt>
                <c:pt idx="166">
                  <c:v/>
                </c:pt>
                <c:pt idx="167">
                  <c:v>-0.276</c:v>
                </c:pt>
                <c:pt idx="168">
                  <c:v/>
                </c:pt>
                <c:pt idx="169">
                  <c:v/>
                </c:pt>
                <c:pt idx="170">
                  <c:v/>
                </c:pt>
                <c:pt idx="171">
                  <c:v>-0.192</c:v>
                </c:pt>
                <c:pt idx="172">
                  <c:v/>
                </c:pt>
                <c:pt idx="173">
                  <c:v/>
                </c:pt>
                <c:pt idx="174">
                  <c:v/>
                </c:pt>
                <c:pt idx="175">
                  <c:v>0.096</c:v>
                </c:pt>
                <c:pt idx="176">
                  <c:v/>
                </c:pt>
                <c:pt idx="177">
                  <c:v/>
                </c:pt>
                <c:pt idx="178">
                  <c:v/>
                </c:pt>
                <c:pt idx="179">
                  <c:v>0.59</c:v>
                </c:pt>
                <c:pt idx="180">
                  <c:v/>
                </c:pt>
                <c:pt idx="181">
                  <c:v/>
                </c:pt>
                <c:pt idx="182">
                  <c:v/>
                </c:pt>
                <c:pt idx="183">
                  <c:v>-0.099</c:v>
                </c:pt>
                <c:pt idx="184">
                  <c:v/>
                </c:pt>
                <c:pt idx="185">
                  <c:v/>
                </c:pt>
                <c:pt idx="186">
                  <c:v/>
                </c:pt>
                <c:pt idx="187">
                  <c:v>0.022</c:v>
                </c:pt>
                <c:pt idx="188">
                  <c:v/>
                </c:pt>
                <c:pt idx="189">
                  <c:v/>
                </c:pt>
                <c:pt idx="190">
                  <c:v/>
                </c:pt>
                <c:pt idx="191">
                  <c:v>0.145</c:v>
                </c:pt>
              </c:numCache>
            </c:numRef>
          </c:yVal>
          <c:smooth val="0"/>
        </c:ser>
        <c:ser>
          <c:idx val="2"/>
          <c:order val="2"/>
          <c:tx>
            <c:strRef>
              <c:f>Sheet1!$D$1</c:f>
              <c:strCache>
                <c:ptCount val="1"/>
                <c:pt idx="0">
                  <c:v>03 Mar</c:v>
                </c:pt>
              </c:strCache>
            </c:strRef>
          </c:tx>
          <c:spPr>
            <a:solidFill>
              <a:srgbClr val="D08A00"/>
            </a:solidFill>
            <a:ln>
              <a:noFill/>
            </a:ln>
            <a:effectLst/>
          </c:spPr>
          <c:marker>
            <c:symbol val="circle"/>
            <c:size val="6"/>
            <c:spPr>
              <a:solidFill>
                <a:srgbClr val="D08A00"/>
              </a:solidFill>
              <a:ln w="9525" cap="flat">
                <a:solidFill>
                  <a:srgbClr val="D08A00"/>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Sheet1!$D$2:$D$193</c:f>
              <c:numCache>
                <c:formatCode>General</c:formatCode>
                <c:ptCount val="192"/>
                <c:pt idx="0">
                  <c:v>0.125</c:v>
                </c:pt>
                <c:pt idx="1">
                  <c:v/>
                </c:pt>
                <c:pt idx="2">
                  <c:v/>
                </c:pt>
                <c:pt idx="3">
                  <c:v/>
                </c:pt>
                <c:pt idx="4">
                  <c:v>0.85</c:v>
                </c:pt>
                <c:pt idx="5">
                  <c:v/>
                </c:pt>
                <c:pt idx="6">
                  <c:v/>
                </c:pt>
                <c:pt idx="7">
                  <c:v/>
                </c:pt>
                <c:pt idx="8">
                  <c:v>0.304</c:v>
                </c:pt>
                <c:pt idx="9">
                  <c:v/>
                </c:pt>
                <c:pt idx="10">
                  <c:v/>
                </c:pt>
                <c:pt idx="11">
                  <c:v/>
                </c:pt>
                <c:pt idx="12">
                  <c:v>1.169</c:v>
                </c:pt>
                <c:pt idx="13">
                  <c:v/>
                </c:pt>
                <c:pt idx="14">
                  <c:v/>
                </c:pt>
                <c:pt idx="15">
                  <c:v/>
                </c:pt>
                <c:pt idx="16">
                  <c:v>1</c:v>
                </c:pt>
                <c:pt idx="17">
                  <c:v/>
                </c:pt>
                <c:pt idx="18">
                  <c:v/>
                </c:pt>
                <c:pt idx="19">
                  <c:v/>
                </c:pt>
                <c:pt idx="20">
                  <c:v>0.829</c:v>
                </c:pt>
                <c:pt idx="21">
                  <c:v/>
                </c:pt>
                <c:pt idx="22">
                  <c:v/>
                </c:pt>
                <c:pt idx="23">
                  <c:v/>
                </c:pt>
                <c:pt idx="24">
                  <c:v>0.639</c:v>
                </c:pt>
                <c:pt idx="25">
                  <c:v/>
                </c:pt>
                <c:pt idx="26">
                  <c:v/>
                </c:pt>
                <c:pt idx="27">
                  <c:v/>
                </c:pt>
                <c:pt idx="28">
                  <c:v>0.984</c:v>
                </c:pt>
                <c:pt idx="29">
                  <c:v/>
                </c:pt>
                <c:pt idx="30">
                  <c:v/>
                </c:pt>
                <c:pt idx="31">
                  <c:v/>
                </c:pt>
                <c:pt idx="32">
                  <c:v>0.905</c:v>
                </c:pt>
                <c:pt idx="33">
                  <c:v/>
                </c:pt>
                <c:pt idx="34">
                  <c:v/>
                </c:pt>
                <c:pt idx="35">
                  <c:v/>
                </c:pt>
                <c:pt idx="36">
                  <c:v>1.758</c:v>
                </c:pt>
                <c:pt idx="37">
                  <c:v/>
                </c:pt>
                <c:pt idx="38">
                  <c:v/>
                </c:pt>
                <c:pt idx="39">
                  <c:v/>
                </c:pt>
                <c:pt idx="40">
                  <c:v>0.413</c:v>
                </c:pt>
                <c:pt idx="41">
                  <c:v/>
                </c:pt>
                <c:pt idx="42">
                  <c:v/>
                </c:pt>
                <c:pt idx="43">
                  <c:v/>
                </c:pt>
                <c:pt idx="44">
                  <c:v>0.306</c:v>
                </c:pt>
                <c:pt idx="45">
                  <c:v/>
                </c:pt>
                <c:pt idx="46">
                  <c:v/>
                </c:pt>
                <c:pt idx="47">
                  <c:v/>
                </c:pt>
                <c:pt idx="48">
                  <c:v>0.575</c:v>
                </c:pt>
                <c:pt idx="49">
                  <c:v/>
                </c:pt>
                <c:pt idx="50">
                  <c:v/>
                </c:pt>
                <c:pt idx="51">
                  <c:v/>
                </c:pt>
                <c:pt idx="52">
                  <c:v>1.541</c:v>
                </c:pt>
                <c:pt idx="53">
                  <c:v/>
                </c:pt>
                <c:pt idx="54">
                  <c:v/>
                </c:pt>
                <c:pt idx="55">
                  <c:v/>
                </c:pt>
                <c:pt idx="56">
                  <c:v>0.721</c:v>
                </c:pt>
                <c:pt idx="57">
                  <c:v/>
                </c:pt>
                <c:pt idx="58">
                  <c:v/>
                </c:pt>
                <c:pt idx="59">
                  <c:v/>
                </c:pt>
                <c:pt idx="60">
                  <c:v>1.55</c:v>
                </c:pt>
                <c:pt idx="61">
                  <c:v/>
                </c:pt>
                <c:pt idx="62">
                  <c:v/>
                </c:pt>
                <c:pt idx="63">
                  <c:v/>
                </c:pt>
                <c:pt idx="64">
                  <c:v>1.16</c:v>
                </c:pt>
                <c:pt idx="65">
                  <c:v/>
                </c:pt>
                <c:pt idx="66">
                  <c:v/>
                </c:pt>
                <c:pt idx="67">
                  <c:v/>
                </c:pt>
                <c:pt idx="68">
                  <c:v>1.21</c:v>
                </c:pt>
                <c:pt idx="69">
                  <c:v/>
                </c:pt>
                <c:pt idx="70">
                  <c:v/>
                </c:pt>
                <c:pt idx="71">
                  <c:v/>
                </c:pt>
                <c:pt idx="72">
                  <c:v>1.078</c:v>
                </c:pt>
                <c:pt idx="73">
                  <c:v/>
                </c:pt>
                <c:pt idx="74">
                  <c:v/>
                </c:pt>
                <c:pt idx="75">
                  <c:v/>
                </c:pt>
                <c:pt idx="76">
                  <c:v>0.863</c:v>
                </c:pt>
                <c:pt idx="77">
                  <c:v/>
                </c:pt>
                <c:pt idx="78">
                  <c:v/>
                </c:pt>
                <c:pt idx="79">
                  <c:v/>
                </c:pt>
                <c:pt idx="80">
                  <c:v>0.698</c:v>
                </c:pt>
                <c:pt idx="81">
                  <c:v/>
                </c:pt>
                <c:pt idx="82">
                  <c:v/>
                </c:pt>
                <c:pt idx="83">
                  <c:v/>
                </c:pt>
                <c:pt idx="84">
                  <c:v>0.976</c:v>
                </c:pt>
                <c:pt idx="85">
                  <c:v/>
                </c:pt>
                <c:pt idx="86">
                  <c:v/>
                </c:pt>
                <c:pt idx="87">
                  <c:v/>
                </c:pt>
                <c:pt idx="88">
                  <c:v>1.156</c:v>
                </c:pt>
                <c:pt idx="89">
                  <c:v/>
                </c:pt>
                <c:pt idx="90">
                  <c:v/>
                </c:pt>
                <c:pt idx="91">
                  <c:v/>
                </c:pt>
                <c:pt idx="92">
                  <c:v>2.068</c:v>
                </c:pt>
                <c:pt idx="93">
                  <c:v/>
                </c:pt>
                <c:pt idx="94">
                  <c:v/>
                </c:pt>
                <c:pt idx="95">
                  <c:v/>
                </c:pt>
                <c:pt idx="96">
                  <c:v>1.074</c:v>
                </c:pt>
                <c:pt idx="97">
                  <c:v/>
                </c:pt>
                <c:pt idx="98">
                  <c:v/>
                </c:pt>
                <c:pt idx="99">
                  <c:v/>
                </c:pt>
                <c:pt idx="100">
                  <c:v>0.856</c:v>
                </c:pt>
                <c:pt idx="101">
                  <c:v/>
                </c:pt>
                <c:pt idx="102">
                  <c:v/>
                </c:pt>
                <c:pt idx="103">
                  <c:v/>
                </c:pt>
                <c:pt idx="104">
                  <c:v>1.772</c:v>
                </c:pt>
                <c:pt idx="105">
                  <c:v/>
                </c:pt>
                <c:pt idx="106">
                  <c:v/>
                </c:pt>
                <c:pt idx="107">
                  <c:v/>
                </c:pt>
                <c:pt idx="108">
                  <c:v>1.635</c:v>
                </c:pt>
                <c:pt idx="109">
                  <c:v/>
                </c:pt>
                <c:pt idx="110">
                  <c:v/>
                </c:pt>
                <c:pt idx="111">
                  <c:v/>
                </c:pt>
                <c:pt idx="112">
                  <c:v>1.171</c:v>
                </c:pt>
                <c:pt idx="113">
                  <c:v/>
                </c:pt>
                <c:pt idx="114">
                  <c:v/>
                </c:pt>
                <c:pt idx="115">
                  <c:v/>
                </c:pt>
                <c:pt idx="116">
                  <c:v>0.979</c:v>
                </c:pt>
                <c:pt idx="117">
                  <c:v/>
                </c:pt>
                <c:pt idx="118">
                  <c:v/>
                </c:pt>
                <c:pt idx="119">
                  <c:v/>
                </c:pt>
                <c:pt idx="120">
                  <c:v>1.976</c:v>
                </c:pt>
                <c:pt idx="121">
                  <c:v/>
                </c:pt>
                <c:pt idx="122">
                  <c:v/>
                </c:pt>
                <c:pt idx="123">
                  <c:v/>
                </c:pt>
                <c:pt idx="124">
                  <c:v>1.608</c:v>
                </c:pt>
                <c:pt idx="125">
                  <c:v/>
                </c:pt>
                <c:pt idx="126">
                  <c:v/>
                </c:pt>
                <c:pt idx="127">
                  <c:v/>
                </c:pt>
                <c:pt idx="128">
                  <c:v>0.733</c:v>
                </c:pt>
                <c:pt idx="129">
                  <c:v/>
                </c:pt>
                <c:pt idx="130">
                  <c:v/>
                </c:pt>
                <c:pt idx="131">
                  <c:v/>
                </c:pt>
                <c:pt idx="132">
                  <c:v>1.833</c:v>
                </c:pt>
                <c:pt idx="133">
                  <c:v/>
                </c:pt>
                <c:pt idx="134">
                  <c:v/>
                </c:pt>
                <c:pt idx="135">
                  <c:v/>
                </c:pt>
                <c:pt idx="136">
                  <c:v>1.564</c:v>
                </c:pt>
                <c:pt idx="137">
                  <c:v/>
                </c:pt>
                <c:pt idx="138">
                  <c:v/>
                </c:pt>
                <c:pt idx="139">
                  <c:v/>
                </c:pt>
                <c:pt idx="140">
                  <c:v>1.477</c:v>
                </c:pt>
                <c:pt idx="141">
                  <c:v/>
                </c:pt>
                <c:pt idx="142">
                  <c:v/>
                </c:pt>
                <c:pt idx="143">
                  <c:v/>
                </c:pt>
                <c:pt idx="144">
                  <c:v>1.221</c:v>
                </c:pt>
                <c:pt idx="145">
                  <c:v/>
                </c:pt>
                <c:pt idx="146">
                  <c:v/>
                </c:pt>
                <c:pt idx="147">
                  <c:v/>
                </c:pt>
                <c:pt idx="148">
                  <c:v>0.233</c:v>
                </c:pt>
                <c:pt idx="149">
                  <c:v/>
                </c:pt>
                <c:pt idx="150">
                  <c:v/>
                </c:pt>
                <c:pt idx="151">
                  <c:v/>
                </c:pt>
                <c:pt idx="152">
                  <c:v>1.103</c:v>
                </c:pt>
                <c:pt idx="153">
                  <c:v/>
                </c:pt>
                <c:pt idx="154">
                  <c:v/>
                </c:pt>
                <c:pt idx="155">
                  <c:v/>
                </c:pt>
                <c:pt idx="156">
                  <c:v>0.874</c:v>
                </c:pt>
                <c:pt idx="157">
                  <c:v/>
                </c:pt>
                <c:pt idx="158">
                  <c:v/>
                </c:pt>
                <c:pt idx="159">
                  <c:v/>
                </c:pt>
                <c:pt idx="160">
                  <c:v>0.673</c:v>
                </c:pt>
                <c:pt idx="161">
                  <c:v/>
                </c:pt>
                <c:pt idx="162">
                  <c:v/>
                </c:pt>
                <c:pt idx="163">
                  <c:v/>
                </c:pt>
                <c:pt idx="164">
                  <c:v>0.263</c:v>
                </c:pt>
                <c:pt idx="165">
                  <c:v/>
                </c:pt>
                <c:pt idx="166">
                  <c:v/>
                </c:pt>
                <c:pt idx="167">
                  <c:v/>
                </c:pt>
                <c:pt idx="168">
                  <c:v>0.981</c:v>
                </c:pt>
                <c:pt idx="169">
                  <c:v/>
                </c:pt>
                <c:pt idx="170">
                  <c:v/>
                </c:pt>
                <c:pt idx="171">
                  <c:v/>
                </c:pt>
                <c:pt idx="172">
                  <c:v>0.69</c:v>
                </c:pt>
                <c:pt idx="173">
                  <c:v/>
                </c:pt>
                <c:pt idx="174">
                  <c:v/>
                </c:pt>
                <c:pt idx="175">
                  <c:v/>
                </c:pt>
                <c:pt idx="176">
                  <c:v>0.622</c:v>
                </c:pt>
                <c:pt idx="177">
                  <c:v/>
                </c:pt>
                <c:pt idx="178">
                  <c:v/>
                </c:pt>
                <c:pt idx="179">
                  <c:v/>
                </c:pt>
                <c:pt idx="180">
                  <c:v>0.211</c:v>
                </c:pt>
                <c:pt idx="181">
                  <c:v/>
                </c:pt>
                <c:pt idx="182">
                  <c:v/>
                </c:pt>
                <c:pt idx="183">
                  <c:v/>
                </c:pt>
                <c:pt idx="184">
                  <c:v>0.727</c:v>
                </c:pt>
                <c:pt idx="185">
                  <c:v/>
                </c:pt>
                <c:pt idx="186">
                  <c:v/>
                </c:pt>
                <c:pt idx="187">
                  <c:v/>
                </c:pt>
                <c:pt idx="188">
                  <c:v>0.439</c:v>
                </c:pt>
                <c:pt idx="189">
                  <c:v/>
                </c:pt>
                <c:pt idx="190">
                  <c:v/>
                </c:pt>
                <c:pt idx="191">
                  <c:v/>
                </c:pt>
              </c:numCache>
            </c:numRef>
          </c:yVal>
          <c:smooth val="0"/>
        </c:ser>
        <c:ser>
          <c:idx val="3"/>
          <c:order val="3"/>
          <c:tx>
            <c:strRef>
              <c:f>Sheet1!$E$1</c:f>
              <c:strCache>
                <c:ptCount val="1"/>
                <c:pt idx="0">
                  <c:v>13 Mar</c:v>
                </c:pt>
              </c:strCache>
            </c:strRef>
          </c:tx>
          <c:spPr>
            <a:solidFill>
              <a:srgbClr val="B03A2E"/>
            </a:solidFill>
            <a:ln>
              <a:noFill/>
            </a:ln>
            <a:effectLst/>
          </c:spPr>
          <c:marker>
            <c:symbol val="circle"/>
            <c:size val="6"/>
            <c:spPr>
              <a:solidFill>
                <a:srgbClr val="B03A2E"/>
              </a:solidFill>
              <a:ln w="9525" cap="flat">
                <a:solidFill>
                  <a:srgbClr val="B03A2E"/>
                </a:solidFill>
                <a:prstDash val="solid"/>
                <a:round/>
              </a:ln>
              <a:effectLst/>
            </c:spPr>
          </c:marker>
          <c:xVal>
            <c:numRef>
              <c:f>Sheet1!$A$2:$A$193</c:f>
              <c:numCache>
                <c:formatCode>General</c:formatCode>
                <c:ptCount val="192"/>
                <c:pt idx="0">
                  <c:v>0.506</c:v>
                </c:pt>
                <c:pt idx="1">
                  <c:v>1.012</c:v>
                </c:pt>
                <c:pt idx="2">
                  <c:v>-1.381</c:v>
                </c:pt>
                <c:pt idx="3">
                  <c:v>0.688</c:v>
                </c:pt>
                <c:pt idx="4">
                  <c:v>0.041</c:v>
                </c:pt>
                <c:pt idx="5">
                  <c:v>1.763</c:v>
                </c:pt>
                <c:pt idx="6">
                  <c:v>-1.448</c:v>
                </c:pt>
                <c:pt idx="7">
                  <c:v>0.545</c:v>
                </c:pt>
                <c:pt idx="8">
                  <c:v>0.267</c:v>
                </c:pt>
                <c:pt idx="9">
                  <c:v>1.655</c:v>
                </c:pt>
                <c:pt idx="10">
                  <c:v>-0.876</c:v>
                </c:pt>
                <c:pt idx="11">
                  <c:v>0.32</c:v>
                </c:pt>
                <c:pt idx="12">
                  <c:v>0.18</c:v>
                </c:pt>
                <c:pt idx="13">
                  <c:v>1.101</c:v>
                </c:pt>
                <c:pt idx="14">
                  <c:v>-1.586</c:v>
                </c:pt>
                <c:pt idx="15">
                  <c:v>0.53</c:v>
                </c:pt>
                <c:pt idx="16">
                  <c:v>-0.104</c:v>
                </c:pt>
                <c:pt idx="17">
                  <c:v>0.899</c:v>
                </c:pt>
                <c:pt idx="18">
                  <c:v>-1.4</c:v>
                </c:pt>
                <c:pt idx="19">
                  <c:v>0.299</c:v>
                </c:pt>
                <c:pt idx="20">
                  <c:v>0.066</c:v>
                </c:pt>
                <c:pt idx="21">
                  <c:v>1.407</c:v>
                </c:pt>
                <c:pt idx="22">
                  <c:v>-1.643</c:v>
                </c:pt>
                <c:pt idx="23">
                  <c:v>0.877</c:v>
                </c:pt>
                <c:pt idx="24">
                  <c:v>0.528</c:v>
                </c:pt>
                <c:pt idx="25">
                  <c:v>1.021</c:v>
                </c:pt>
                <c:pt idx="26">
                  <c:v>-1.467</c:v>
                </c:pt>
                <c:pt idx="27">
                  <c:v>0.676</c:v>
                </c:pt>
                <c:pt idx="28">
                  <c:v>0.255</c:v>
                </c:pt>
                <c:pt idx="29">
                  <c:v>1.723</c:v>
                </c:pt>
                <c:pt idx="30">
                  <c:v>-1.383</c:v>
                </c:pt>
                <c:pt idx="31">
                  <c:v>0.814</c:v>
                </c:pt>
                <c:pt idx="32">
                  <c:v>-0.021</c:v>
                </c:pt>
                <c:pt idx="33">
                  <c:v>1.312</c:v>
                </c:pt>
                <c:pt idx="34">
                  <c:v>-1.443</c:v>
                </c:pt>
                <c:pt idx="35">
                  <c:v>0.84</c:v>
                </c:pt>
                <c:pt idx="36">
                  <c:v>-0.321</c:v>
                </c:pt>
                <c:pt idx="37">
                  <c:v>1.683</c:v>
                </c:pt>
                <c:pt idx="38">
                  <c:v>-1.78</c:v>
                </c:pt>
                <c:pt idx="39">
                  <c:v>0.954</c:v>
                </c:pt>
                <c:pt idx="40">
                  <c:v>0.399</c:v>
                </c:pt>
                <c:pt idx="41">
                  <c:v>1.705</c:v>
                </c:pt>
                <c:pt idx="42">
                  <c:v>-0.874</c:v>
                </c:pt>
                <c:pt idx="43">
                  <c:v>0.91</c:v>
                </c:pt>
                <c:pt idx="44">
                  <c:v>0.453</c:v>
                </c:pt>
                <c:pt idx="45">
                  <c:v>1.45</c:v>
                </c:pt>
                <c:pt idx="46">
                  <c:v>-1.376</c:v>
                </c:pt>
                <c:pt idx="47">
                  <c:v>1.382</c:v>
                </c:pt>
                <c:pt idx="48">
                  <c:v>0.197</c:v>
                </c:pt>
                <c:pt idx="49">
                  <c:v>2.032</c:v>
                </c:pt>
                <c:pt idx="50">
                  <c:v>-1.643</c:v>
                </c:pt>
                <c:pt idx="51">
                  <c:v>1.172</c:v>
                </c:pt>
                <c:pt idx="52">
                  <c:v>-0.209</c:v>
                </c:pt>
                <c:pt idx="53">
                  <c:v>2.088</c:v>
                </c:pt>
                <c:pt idx="54">
                  <c:v>-1.595</c:v>
                </c:pt>
                <c:pt idx="55">
                  <c:v>0.88</c:v>
                </c:pt>
                <c:pt idx="56">
                  <c:v>0.501</c:v>
                </c:pt>
                <c:pt idx="57">
                  <c:v>1.098</c:v>
                </c:pt>
                <c:pt idx="58">
                  <c:v>-2.077</c:v>
                </c:pt>
                <c:pt idx="59">
                  <c:v>1.155</c:v>
                </c:pt>
                <c:pt idx="60">
                  <c:v>0.255</c:v>
                </c:pt>
                <c:pt idx="61">
                  <c:v>0.475</c:v>
                </c:pt>
                <c:pt idx="62">
                  <c:v>-2.093</c:v>
                </c:pt>
                <c:pt idx="63">
                  <c:v>0.899</c:v>
                </c:pt>
                <c:pt idx="64">
                  <c:v>0.188</c:v>
                </c:pt>
                <c:pt idx="65">
                  <c:v>1.159</c:v>
                </c:pt>
                <c:pt idx="66">
                  <c:v>-1.818</c:v>
                </c:pt>
                <c:pt idx="67">
                  <c:v>0.424</c:v>
                </c:pt>
                <c:pt idx="68">
                  <c:v>0.027</c:v>
                </c:pt>
                <c:pt idx="69">
                  <c:v>1.02</c:v>
                </c:pt>
                <c:pt idx="70">
                  <c:v>-1.636</c:v>
                </c:pt>
                <c:pt idx="71">
                  <c:v>0.74</c:v>
                </c:pt>
                <c:pt idx="72">
                  <c:v>0.195</c:v>
                </c:pt>
                <c:pt idx="73">
                  <c:v>1.633</c:v>
                </c:pt>
                <c:pt idx="74">
                  <c:v>-1.819</c:v>
                </c:pt>
                <c:pt idx="75">
                  <c:v>0.745</c:v>
                </c:pt>
                <c:pt idx="76">
                  <c:v>0.394</c:v>
                </c:pt>
                <c:pt idx="77">
                  <c:v>1.184</c:v>
                </c:pt>
                <c:pt idx="78">
                  <c:v>-1.638</c:v>
                </c:pt>
                <c:pt idx="79">
                  <c:v>0.71</c:v>
                </c:pt>
                <c:pt idx="80">
                  <c:v>0.269</c:v>
                </c:pt>
                <c:pt idx="81">
                  <c:v>1.401</c:v>
                </c:pt>
                <c:pt idx="82">
                  <c:v>-1.498</c:v>
                </c:pt>
                <c:pt idx="83">
                  <c:v>1.046</c:v>
                </c:pt>
                <c:pt idx="84">
                  <c:v>0.294</c:v>
                </c:pt>
                <c:pt idx="85">
                  <c:v>1.406</c:v>
                </c:pt>
                <c:pt idx="86">
                  <c:v>-1.026</c:v>
                </c:pt>
                <c:pt idx="87">
                  <c:v>0.291</c:v>
                </c:pt>
                <c:pt idx="88">
                  <c:v>0.35</c:v>
                </c:pt>
                <c:pt idx="89">
                  <c:v>1.131</c:v>
                </c:pt>
                <c:pt idx="90">
                  <c:v>-1.908</c:v>
                </c:pt>
                <c:pt idx="91">
                  <c:v>0.859</c:v>
                </c:pt>
                <c:pt idx="92">
                  <c:v>-0.558</c:v>
                </c:pt>
                <c:pt idx="93">
                  <c:v>1.406</c:v>
                </c:pt>
                <c:pt idx="94">
                  <c:v>-1.963</c:v>
                </c:pt>
                <c:pt idx="95">
                  <c:v>0.35</c:v>
                </c:pt>
                <c:pt idx="96">
                  <c:v>0.169</c:v>
                </c:pt>
                <c:pt idx="97">
                  <c:v>1.339</c:v>
                </c:pt>
                <c:pt idx="98">
                  <c:v>-1.635</c:v>
                </c:pt>
                <c:pt idx="99">
                  <c:v>0.861</c:v>
                </c:pt>
                <c:pt idx="100">
                  <c:v>0.342</c:v>
                </c:pt>
                <c:pt idx="101">
                  <c:v>1.204</c:v>
                </c:pt>
                <c:pt idx="102">
                  <c:v>-1.245</c:v>
                </c:pt>
                <c:pt idx="103">
                  <c:v>1.079</c:v>
                </c:pt>
                <c:pt idx="104">
                  <c:v>0.046</c:v>
                </c:pt>
                <c:pt idx="105">
                  <c:v>0.42</c:v>
                </c:pt>
                <c:pt idx="106">
                  <c:v>-2.067</c:v>
                </c:pt>
                <c:pt idx="107">
                  <c:v>0.42</c:v>
                </c:pt>
                <c:pt idx="108">
                  <c:v>0.053</c:v>
                </c:pt>
                <c:pt idx="109">
                  <c:v>1.402</c:v>
                </c:pt>
                <c:pt idx="110">
                  <c:v>-1.901</c:v>
                </c:pt>
                <c:pt idx="111">
                  <c:v>0.909</c:v>
                </c:pt>
                <c:pt idx="112">
                  <c:v>-0.047</c:v>
                </c:pt>
                <c:pt idx="113">
                  <c:v>1.386</c:v>
                </c:pt>
                <c:pt idx="114">
                  <c:v>-1.803</c:v>
                </c:pt>
                <c:pt idx="115">
                  <c:v>1.037</c:v>
                </c:pt>
                <c:pt idx="116">
                  <c:v>0.193</c:v>
                </c:pt>
                <c:pt idx="117">
                  <c:v>0.935</c:v>
                </c:pt>
                <c:pt idx="118">
                  <c:v>-1.492</c:v>
                </c:pt>
                <c:pt idx="119">
                  <c:v>0.797</c:v>
                </c:pt>
                <c:pt idx="120">
                  <c:v>0.634</c:v>
                </c:pt>
                <c:pt idx="121">
                  <c:v>1.101</c:v>
                </c:pt>
                <c:pt idx="122">
                  <c:v>-2.206</c:v>
                </c:pt>
                <c:pt idx="123">
                  <c:v>1.02</c:v>
                </c:pt>
                <c:pt idx="124">
                  <c:v>0.393</c:v>
                </c:pt>
                <c:pt idx="125">
                  <c:v>1.558</c:v>
                </c:pt>
                <c:pt idx="126">
                  <c:v>-1.618</c:v>
                </c:pt>
                <c:pt idx="127">
                  <c:v>0.883</c:v>
                </c:pt>
                <c:pt idx="128">
                  <c:v>0.361</c:v>
                </c:pt>
                <c:pt idx="129">
                  <c:v>1.566</c:v>
                </c:pt>
                <c:pt idx="130">
                  <c:v>-1.385</c:v>
                </c:pt>
                <c:pt idx="131">
                  <c:v>1.218</c:v>
                </c:pt>
                <c:pt idx="132">
                  <c:v>0.55</c:v>
                </c:pt>
                <c:pt idx="133">
                  <c:v>1.326</c:v>
                </c:pt>
                <c:pt idx="134">
                  <c:v>-1.621</c:v>
                </c:pt>
                <c:pt idx="135">
                  <c:v>1.036</c:v>
                </c:pt>
                <c:pt idx="136">
                  <c:v>0.096</c:v>
                </c:pt>
                <c:pt idx="137">
                  <c:v>0.617</c:v>
                </c:pt>
                <c:pt idx="138">
                  <c:v>-1.469</c:v>
                </c:pt>
                <c:pt idx="139">
                  <c:v>0.728</c:v>
                </c:pt>
                <c:pt idx="140">
                  <c:v>0.299</c:v>
                </c:pt>
                <c:pt idx="141">
                  <c:v>0.738</c:v>
                </c:pt>
                <c:pt idx="142">
                  <c:v>-1.515</c:v>
                </c:pt>
                <c:pt idx="143">
                  <c:v>0.855</c:v>
                </c:pt>
                <c:pt idx="144">
                  <c:v>0.157</c:v>
                </c:pt>
                <c:pt idx="145">
                  <c:v>1.19</c:v>
                </c:pt>
                <c:pt idx="146">
                  <c:v>-2.142</c:v>
                </c:pt>
                <c:pt idx="147">
                  <c:v>0.688</c:v>
                </c:pt>
                <c:pt idx="148">
                  <c:v>1.059</c:v>
                </c:pt>
                <c:pt idx="149">
                  <c:v>1.353</c:v>
                </c:pt>
                <c:pt idx="150">
                  <c:v>-1.291</c:v>
                </c:pt>
                <c:pt idx="151">
                  <c:v>1.08</c:v>
                </c:pt>
                <c:pt idx="152">
                  <c:v>1.01</c:v>
                </c:pt>
                <c:pt idx="153">
                  <c:v>1.335</c:v>
                </c:pt>
                <c:pt idx="154">
                  <c:v>-1.376</c:v>
                </c:pt>
                <c:pt idx="155">
                  <c:v>0.836</c:v>
                </c:pt>
                <c:pt idx="156">
                  <c:v>0.481</c:v>
                </c:pt>
                <c:pt idx="157">
                  <c:v>0.878</c:v>
                </c:pt>
                <c:pt idx="158">
                  <c:v>-1.73</c:v>
                </c:pt>
                <c:pt idx="159">
                  <c:v>0.47</c:v>
                </c:pt>
                <c:pt idx="160">
                  <c:v>0.484</c:v>
                </c:pt>
                <c:pt idx="161">
                  <c:v>1.459</c:v>
                </c:pt>
                <c:pt idx="162">
                  <c:v>-1.412</c:v>
                </c:pt>
                <c:pt idx="163">
                  <c:v>0.928</c:v>
                </c:pt>
                <c:pt idx="164">
                  <c:v>0.729</c:v>
                </c:pt>
                <c:pt idx="165">
                  <c:v>1.006</c:v>
                </c:pt>
                <c:pt idx="166">
                  <c:v>-1.497</c:v>
                </c:pt>
                <c:pt idx="167">
                  <c:v>1.205</c:v>
                </c:pt>
                <c:pt idx="168">
                  <c:v>-0.056</c:v>
                </c:pt>
                <c:pt idx="169">
                  <c:v>1.775</c:v>
                </c:pt>
                <c:pt idx="170">
                  <c:v>-1.059</c:v>
                </c:pt>
                <c:pt idx="171">
                  <c:v>0.979</c:v>
                </c:pt>
                <c:pt idx="172">
                  <c:v>0.569</c:v>
                </c:pt>
                <c:pt idx="173">
                  <c:v>1.699</c:v>
                </c:pt>
                <c:pt idx="174">
                  <c:v>-1.221</c:v>
                </c:pt>
                <c:pt idx="175">
                  <c:v>0.758</c:v>
                </c:pt>
                <c:pt idx="176">
                  <c:v>0.179</c:v>
                </c:pt>
                <c:pt idx="177">
                  <c:v>0.749</c:v>
                </c:pt>
                <c:pt idx="178">
                  <c:v>-1.144</c:v>
                </c:pt>
                <c:pt idx="179">
                  <c:v>0.252</c:v>
                </c:pt>
                <c:pt idx="180">
                  <c:v>0.944</c:v>
                </c:pt>
                <c:pt idx="181">
                  <c:v>1.099</c:v>
                </c:pt>
                <c:pt idx="182">
                  <c:v>-0.936</c:v>
                </c:pt>
                <c:pt idx="183">
                  <c:v>0.65</c:v>
                </c:pt>
                <c:pt idx="184">
                  <c:v>0.136</c:v>
                </c:pt>
                <c:pt idx="185">
                  <c:v>1.745</c:v>
                </c:pt>
                <c:pt idx="186">
                  <c:v>-1.307</c:v>
                </c:pt>
                <c:pt idx="187">
                  <c:v>0.774</c:v>
                </c:pt>
                <c:pt idx="188">
                  <c:v>0.533</c:v>
                </c:pt>
                <c:pt idx="189">
                  <c:v>1.185</c:v>
                </c:pt>
                <c:pt idx="190">
                  <c:v>-1.292</c:v>
                </c:pt>
                <c:pt idx="191">
                  <c:v>0.669</c:v>
                </c:pt>
              </c:numCache>
            </c:numRef>
          </c:xVal>
          <c:yVal>
            <c:numRef>
              <c:f>Sheet1!$E$2:$E$193</c:f>
              <c:numCache>
                <c:formatCode>General</c:formatCode>
                <c:ptCount val="192"/>
                <c:pt idx="0">
                  <c:v/>
                </c:pt>
                <c:pt idx="1">
                  <c:v/>
                </c:pt>
                <c:pt idx="2">
                  <c:v>-0.774</c:v>
                </c:pt>
                <c:pt idx="3">
                  <c:v/>
                </c:pt>
                <c:pt idx="4">
                  <c:v/>
                </c:pt>
                <c:pt idx="5">
                  <c:v/>
                </c:pt>
                <c:pt idx="6">
                  <c:v>-0.839</c:v>
                </c:pt>
                <c:pt idx="7">
                  <c:v/>
                </c:pt>
                <c:pt idx="8">
                  <c:v/>
                </c:pt>
                <c:pt idx="9">
                  <c:v/>
                </c:pt>
                <c:pt idx="10">
                  <c:v>-1.129</c:v>
                </c:pt>
                <c:pt idx="11">
                  <c:v/>
                </c:pt>
                <c:pt idx="12">
                  <c:v/>
                </c:pt>
                <c:pt idx="13">
                  <c:v/>
                </c:pt>
                <c:pt idx="14">
                  <c:v>-0.74</c:v>
                </c:pt>
                <c:pt idx="15">
                  <c:v/>
                </c:pt>
                <c:pt idx="16">
                  <c:v/>
                </c:pt>
                <c:pt idx="17">
                  <c:v/>
                </c:pt>
                <c:pt idx="18">
                  <c:v>-1.11</c:v>
                </c:pt>
                <c:pt idx="19">
                  <c:v/>
                </c:pt>
                <c:pt idx="20">
                  <c:v/>
                </c:pt>
                <c:pt idx="21">
                  <c:v/>
                </c:pt>
                <c:pt idx="22">
                  <c:v>-0.739</c:v>
                </c:pt>
                <c:pt idx="23">
                  <c:v/>
                </c:pt>
                <c:pt idx="24">
                  <c:v/>
                </c:pt>
                <c:pt idx="25">
                  <c:v/>
                </c:pt>
                <c:pt idx="26">
                  <c:v>-0.921</c:v>
                </c:pt>
                <c:pt idx="27">
                  <c:v/>
                </c:pt>
                <c:pt idx="28">
                  <c:v/>
                </c:pt>
                <c:pt idx="29">
                  <c:v/>
                </c:pt>
                <c:pt idx="30">
                  <c:v>-1.046</c:v>
                </c:pt>
                <c:pt idx="31">
                  <c:v/>
                </c:pt>
                <c:pt idx="32">
                  <c:v/>
                </c:pt>
                <c:pt idx="33">
                  <c:v/>
                </c:pt>
                <c:pt idx="34">
                  <c:v>-0.962</c:v>
                </c:pt>
                <c:pt idx="35">
                  <c:v/>
                </c:pt>
                <c:pt idx="36">
                  <c:v/>
                </c:pt>
                <c:pt idx="37">
                  <c:v/>
                </c:pt>
                <c:pt idx="38">
                  <c:v>-0.627</c:v>
                </c:pt>
                <c:pt idx="39">
                  <c:v/>
                </c:pt>
                <c:pt idx="40">
                  <c:v/>
                </c:pt>
                <c:pt idx="41">
                  <c:v/>
                </c:pt>
                <c:pt idx="42">
                  <c:v>-1.186</c:v>
                </c:pt>
                <c:pt idx="43">
                  <c:v/>
                </c:pt>
                <c:pt idx="44">
                  <c:v/>
                </c:pt>
                <c:pt idx="45">
                  <c:v/>
                </c:pt>
                <c:pt idx="46">
                  <c:v>-0.916</c:v>
                </c:pt>
                <c:pt idx="47">
                  <c:v/>
                </c:pt>
                <c:pt idx="48">
                  <c:v/>
                </c:pt>
                <c:pt idx="49">
                  <c:v/>
                </c:pt>
                <c:pt idx="50">
                  <c:v>-0.827</c:v>
                </c:pt>
                <c:pt idx="51">
                  <c:v/>
                </c:pt>
                <c:pt idx="52">
                  <c:v/>
                </c:pt>
                <c:pt idx="53">
                  <c:v/>
                </c:pt>
                <c:pt idx="54">
                  <c:v>-0.705</c:v>
                </c:pt>
                <c:pt idx="55">
                  <c:v/>
                </c:pt>
                <c:pt idx="56">
                  <c:v/>
                </c:pt>
                <c:pt idx="57">
                  <c:v/>
                </c:pt>
                <c:pt idx="58">
                  <c:v>-0.316</c:v>
                </c:pt>
                <c:pt idx="59">
                  <c:v/>
                </c:pt>
                <c:pt idx="60">
                  <c:v/>
                </c:pt>
                <c:pt idx="61">
                  <c:v/>
                </c:pt>
                <c:pt idx="62">
                  <c:v>-0.483</c:v>
                </c:pt>
                <c:pt idx="63">
                  <c:v/>
                </c:pt>
                <c:pt idx="64">
                  <c:v/>
                </c:pt>
                <c:pt idx="65">
                  <c:v/>
                </c:pt>
                <c:pt idx="66">
                  <c:v>-0.568</c:v>
                </c:pt>
                <c:pt idx="67">
                  <c:v/>
                </c:pt>
                <c:pt idx="68">
                  <c:v/>
                </c:pt>
                <c:pt idx="69">
                  <c:v/>
                </c:pt>
                <c:pt idx="70">
                  <c:v>-0.747</c:v>
                </c:pt>
                <c:pt idx="71">
                  <c:v/>
                </c:pt>
                <c:pt idx="72">
                  <c:v/>
                </c:pt>
                <c:pt idx="73">
                  <c:v/>
                </c:pt>
                <c:pt idx="74">
                  <c:v>-0.598</c:v>
                </c:pt>
                <c:pt idx="75">
                  <c:v/>
                </c:pt>
                <c:pt idx="76">
                  <c:v/>
                </c:pt>
                <c:pt idx="77">
                  <c:v/>
                </c:pt>
                <c:pt idx="78">
                  <c:v>-1.012</c:v>
                </c:pt>
                <c:pt idx="79">
                  <c:v/>
                </c:pt>
                <c:pt idx="80">
                  <c:v/>
                </c:pt>
                <c:pt idx="81">
                  <c:v/>
                </c:pt>
                <c:pt idx="82">
                  <c:v>-0.794</c:v>
                </c:pt>
                <c:pt idx="83">
                  <c:v/>
                </c:pt>
                <c:pt idx="84">
                  <c:v/>
                </c:pt>
                <c:pt idx="85">
                  <c:v/>
                </c:pt>
                <c:pt idx="86">
                  <c:v>-1.051</c:v>
                </c:pt>
                <c:pt idx="87">
                  <c:v/>
                </c:pt>
                <c:pt idx="88">
                  <c:v/>
                </c:pt>
                <c:pt idx="89">
                  <c:v/>
                </c:pt>
                <c:pt idx="90">
                  <c:v>-0.418</c:v>
                </c:pt>
                <c:pt idx="91">
                  <c:v/>
                </c:pt>
                <c:pt idx="92">
                  <c:v/>
                </c:pt>
                <c:pt idx="93">
                  <c:v/>
                </c:pt>
                <c:pt idx="94">
                  <c:v>-0.577</c:v>
                </c:pt>
                <c:pt idx="95">
                  <c:v/>
                </c:pt>
                <c:pt idx="96">
                  <c:v/>
                </c:pt>
                <c:pt idx="97">
                  <c:v/>
                </c:pt>
                <c:pt idx="98">
                  <c:v>-0.792</c:v>
                </c:pt>
                <c:pt idx="99">
                  <c:v/>
                </c:pt>
                <c:pt idx="100">
                  <c:v/>
                </c:pt>
                <c:pt idx="101">
                  <c:v/>
                </c:pt>
                <c:pt idx="102">
                  <c:v>-1.076</c:v>
                </c:pt>
                <c:pt idx="103">
                  <c:v/>
                </c:pt>
                <c:pt idx="104">
                  <c:v/>
                </c:pt>
                <c:pt idx="105">
                  <c:v/>
                </c:pt>
                <c:pt idx="106">
                  <c:v>-0.675</c:v>
                </c:pt>
                <c:pt idx="107">
                  <c:v/>
                </c:pt>
                <c:pt idx="108">
                  <c:v/>
                </c:pt>
                <c:pt idx="109">
                  <c:v/>
                </c:pt>
                <c:pt idx="110">
                  <c:v>-0.545</c:v>
                </c:pt>
                <c:pt idx="111">
                  <c:v/>
                </c:pt>
                <c:pt idx="112">
                  <c:v/>
                </c:pt>
                <c:pt idx="113">
                  <c:v/>
                </c:pt>
                <c:pt idx="114">
                  <c:v>-0.515</c:v>
                </c:pt>
                <c:pt idx="115">
                  <c:v/>
                </c:pt>
                <c:pt idx="116">
                  <c:v/>
                </c:pt>
                <c:pt idx="117">
                  <c:v/>
                </c:pt>
                <c:pt idx="118">
                  <c:v>-0.862</c:v>
                </c:pt>
                <c:pt idx="119">
                  <c:v/>
                </c:pt>
                <c:pt idx="120">
                  <c:v/>
                </c:pt>
                <c:pt idx="121">
                  <c:v/>
                </c:pt>
                <c:pt idx="122">
                  <c:v>-0.523</c:v>
                </c:pt>
                <c:pt idx="123">
                  <c:v/>
                </c:pt>
                <c:pt idx="124">
                  <c:v/>
                </c:pt>
                <c:pt idx="125">
                  <c:v/>
                </c:pt>
                <c:pt idx="126">
                  <c:v>-0.757</c:v>
                </c:pt>
                <c:pt idx="127">
                  <c:v/>
                </c:pt>
                <c:pt idx="128">
                  <c:v/>
                </c:pt>
                <c:pt idx="129">
                  <c:v/>
                </c:pt>
                <c:pt idx="130">
                  <c:v>-0.778</c:v>
                </c:pt>
                <c:pt idx="131">
                  <c:v/>
                </c:pt>
                <c:pt idx="132">
                  <c:v/>
                </c:pt>
                <c:pt idx="133">
                  <c:v/>
                </c:pt>
                <c:pt idx="134">
                  <c:v>-0.625</c:v>
                </c:pt>
                <c:pt idx="135">
                  <c:v/>
                </c:pt>
                <c:pt idx="136">
                  <c:v/>
                </c:pt>
                <c:pt idx="137">
                  <c:v/>
                </c:pt>
                <c:pt idx="138">
                  <c:v>-0.81</c:v>
                </c:pt>
                <c:pt idx="139">
                  <c:v/>
                </c:pt>
                <c:pt idx="140">
                  <c:v/>
                </c:pt>
                <c:pt idx="141">
                  <c:v/>
                </c:pt>
                <c:pt idx="142">
                  <c:v>-0.627</c:v>
                </c:pt>
                <c:pt idx="143">
                  <c:v/>
                </c:pt>
                <c:pt idx="144">
                  <c:v/>
                </c:pt>
                <c:pt idx="145">
                  <c:v/>
                </c:pt>
                <c:pt idx="146">
                  <c:v>-0.331</c:v>
                </c:pt>
                <c:pt idx="147">
                  <c:v/>
                </c:pt>
                <c:pt idx="148">
                  <c:v/>
                </c:pt>
                <c:pt idx="149">
                  <c:v/>
                </c:pt>
                <c:pt idx="150">
                  <c:v>-1.026</c:v>
                </c:pt>
                <c:pt idx="151">
                  <c:v/>
                </c:pt>
                <c:pt idx="152">
                  <c:v/>
                </c:pt>
                <c:pt idx="153">
                  <c:v/>
                </c:pt>
                <c:pt idx="154">
                  <c:v>-1.047</c:v>
                </c:pt>
                <c:pt idx="155">
                  <c:v/>
                </c:pt>
                <c:pt idx="156">
                  <c:v/>
                </c:pt>
                <c:pt idx="157">
                  <c:v/>
                </c:pt>
                <c:pt idx="158">
                  <c:v>-0.769</c:v>
                </c:pt>
                <c:pt idx="159">
                  <c:v/>
                </c:pt>
                <c:pt idx="160">
                  <c:v/>
                </c:pt>
                <c:pt idx="161">
                  <c:v/>
                </c:pt>
                <c:pt idx="162">
                  <c:v>-0.918</c:v>
                </c:pt>
                <c:pt idx="163">
                  <c:v/>
                </c:pt>
                <c:pt idx="164">
                  <c:v/>
                </c:pt>
                <c:pt idx="165">
                  <c:v/>
                </c:pt>
                <c:pt idx="166">
                  <c:v>-0.718</c:v>
                </c:pt>
                <c:pt idx="167">
                  <c:v/>
                </c:pt>
                <c:pt idx="168">
                  <c:v/>
                </c:pt>
                <c:pt idx="169">
                  <c:v/>
                </c:pt>
                <c:pt idx="170">
                  <c:v>-0.99</c:v>
                </c:pt>
                <c:pt idx="171">
                  <c:v/>
                </c:pt>
                <c:pt idx="172">
                  <c:v/>
                </c:pt>
                <c:pt idx="173">
                  <c:v/>
                </c:pt>
                <c:pt idx="174">
                  <c:v>-0.836</c:v>
                </c:pt>
                <c:pt idx="175">
                  <c:v/>
                </c:pt>
                <c:pt idx="176">
                  <c:v/>
                </c:pt>
                <c:pt idx="177">
                  <c:v/>
                </c:pt>
                <c:pt idx="178">
                  <c:v>-0.927</c:v>
                </c:pt>
                <c:pt idx="179">
                  <c:v/>
                </c:pt>
                <c:pt idx="180">
                  <c:v/>
                </c:pt>
                <c:pt idx="181">
                  <c:v/>
                </c:pt>
                <c:pt idx="182">
                  <c:v>-1.118</c:v>
                </c:pt>
                <c:pt idx="183">
                  <c:v/>
                </c:pt>
                <c:pt idx="184">
                  <c:v/>
                </c:pt>
                <c:pt idx="185">
                  <c:v/>
                </c:pt>
                <c:pt idx="186">
                  <c:v>-0.886</c:v>
                </c:pt>
                <c:pt idx="187">
                  <c:v/>
                </c:pt>
                <c:pt idx="188">
                  <c:v/>
                </c:pt>
                <c:pt idx="189">
                  <c:v/>
                </c:pt>
                <c:pt idx="190">
                  <c:v>-0.876</c:v>
                </c:pt>
                <c:pt idx="191">
                  <c:v/>
                </c:pt>
              </c:numCache>
            </c:numRef>
          </c:yVal>
          <c:smooth val="0"/>
        </c:ser>
        <c:dLbls>
          <c:numFmt formatCode="General"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PC1 (55.8%)</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Variance explained (% of total SS)</a:t>
            </a:r>
          </a:p>
        </c:rich>
      </c:tx>
      <c:layout/>
      <c:overlay val="0"/>
    </c:title>
    <c:autoTitleDeleted val="0"/>
    <c:plotArea>
      <c:layout/>
      <c:barChart>
        <c:barDir val="bar"/>
        <c:grouping val="clustered"/>
        <c:varyColors val="0"/>
        <c:ser>
          <c:idx val="0"/>
          <c:order val="0"/>
          <c:tx>
            <c:strRef>
              <c:f>Sheet1!$B$1</c:f>
              <c:strCache>
                <c:ptCount val="1"/>
                <c:pt idx="0">
                  <c:v>Marginal R² (%)</c:v>
                </c:pt>
              </c:strCache>
            </c:strRef>
          </c:tx>
          <c:spPr>
            <a:solidFill>
              <a:srgbClr val="2E7D32"/>
            </a:solidFill>
            <a:effectLst/>
          </c:spPr>
          <c:invertIfNegative val="0"/>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Sheet1!$A$2:$A$8</c:f>
              <c:multiLvlStrCache>
                <c:ptCount val="7"/>
                <c:lvl>
                  <c:pt idx="0">
                    <c:v>Disease</c:v>
                  </c:pt>
                  <c:pt idx="1">
                    <c:v>Date</c:v>
                  </c:pt>
                  <c:pt idx="2">
                    <c:v>Variety</c:v>
                  </c:pt>
                  <c:pt idx="3">
                    <c:v>Stage</c:v>
                  </c:pt>
                  <c:pt idx="4">
                    <c:v>Disease:Date</c:v>
                  </c:pt>
                  <c:pt idx="5">
                    <c:v>Disease:Variety</c:v>
                  </c:pt>
                  <c:pt idx="6">
                    <c:v>Residual</c:v>
                  </c:pt>
                </c:lvl>
              </c:multiLvlStrCache>
            </c:multiLvlStrRef>
          </c:cat>
          <c:val>
            <c:numRef>
              <c:f>Sheet1!$B$2:$B$8</c:f>
              <c:numCache>
                <c:formatCode>General</c:formatCode>
                <c:ptCount val="7"/>
                <c:pt idx="0">
                  <c:v>1.12</c:v>
                </c:pt>
                <c:pt idx="1">
                  <c:v>31.16</c:v>
                </c:pt>
                <c:pt idx="2">
                  <c:v>0.32</c:v>
                </c:pt>
                <c:pt idx="3">
                  <c:v>0.71</c:v>
                </c:pt>
                <c:pt idx="4">
                  <c:v>1.61</c:v>
                </c:pt>
                <c:pt idx="5">
                  <c:v>0.4</c:v>
                </c:pt>
                <c:pt idx="6">
                  <c:v>13.01</c:v>
                </c:pt>
              </c:numCache>
            </c:numRef>
          </c:val>
        </c:ser>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Top-15 indices by AUC</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2E7D32"/>
            </a:solidFill>
            <a:effectLst/>
          </c:spPr>
          <c:invertIfNegative val="0"/>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Sheet1!$A$2:$A$16</c:f>
              <c:multiLvlStrCache>
                <c:ptCount val="15"/>
                <c:lvl>
                  <c:pt idx="0">
                    <c:v>REP_FD</c:v>
                  </c:pt>
                  <c:pt idx="1">
                    <c:v>Vog2</c:v>
                  </c:pt>
                  <c:pt idx="2">
                    <c:v>MTCI</c:v>
                  </c:pt>
                  <c:pt idx="3">
                    <c:v>OSAVI</c:v>
                  </c:pt>
                  <c:pt idx="4">
                    <c:v>NDWI</c:v>
                  </c:pt>
                  <c:pt idx="5">
                    <c:v>Vog1</c:v>
                  </c:pt>
                  <c:pt idx="6">
                    <c:v>ARI1</c:v>
                  </c:pt>
                  <c:pt idx="7">
                    <c:v>PSSRa</c:v>
                  </c:pt>
                  <c:pt idx="8">
                    <c:v>SR</c:v>
                  </c:pt>
                  <c:pt idx="9">
                    <c:v>NDVI</c:v>
                  </c:pt>
                  <c:pt idx="10">
                    <c:v>ARI2</c:v>
                  </c:pt>
                  <c:pt idx="11">
                    <c:v>RVSI</c:v>
                  </c:pt>
                  <c:pt idx="12">
                    <c:v>HI</c:v>
                  </c:pt>
                  <c:pt idx="13">
                    <c:v>WI</c:v>
                  </c:pt>
                  <c:pt idx="14">
                    <c:v>PSSRb</c:v>
                  </c:pt>
                </c:lvl>
              </c:multiLvlStrCache>
            </c:multiLvlStrRef>
          </c:cat>
          <c:val>
            <c:numRef>
              <c:f>Sheet1!$B$2:$B$16</c:f>
              <c:numCache>
                <c:formatCode>General</c:formatCode>
                <c:ptCount val="15"/>
                <c:pt idx="0">
                  <c:v>0.639</c:v>
                </c:pt>
                <c:pt idx="1">
                  <c:v>0.639</c:v>
                </c:pt>
                <c:pt idx="2">
                  <c:v>0.641</c:v>
                </c:pt>
                <c:pt idx="3">
                  <c:v>0.65</c:v>
                </c:pt>
                <c:pt idx="4">
                  <c:v>0.651</c:v>
                </c:pt>
                <c:pt idx="5">
                  <c:v>0.653</c:v>
                </c:pt>
                <c:pt idx="6">
                  <c:v>0.654</c:v>
                </c:pt>
                <c:pt idx="7">
                  <c:v>0.656</c:v>
                </c:pt>
                <c:pt idx="8">
                  <c:v>0.659</c:v>
                </c:pt>
                <c:pt idx="9">
                  <c:v>0.659</c:v>
                </c:pt>
                <c:pt idx="10">
                  <c:v>0.659</c:v>
                </c:pt>
                <c:pt idx="11">
                  <c:v>0.662</c:v>
                </c:pt>
                <c:pt idx="12">
                  <c:v>0.664</c:v>
                </c:pt>
                <c:pt idx="13">
                  <c:v>0.666</c:v>
                </c:pt>
                <c:pt idx="14">
                  <c:v>0.668</c:v>
                </c:pt>
              </c:numCache>
            </c:numRef>
          </c:val>
        </c:ser>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0.75"/>
          <c:min val="0.5"/>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Balanced accuracy, full spectrum (10 x 4-fold plot-grouped CV)</a:t>
            </a:r>
          </a:p>
        </c:rich>
      </c:tx>
      <c:layout/>
      <c:overlay val="0"/>
    </c:title>
    <c:autoTitleDeleted val="0"/>
    <c:plotArea>
      <c:layout/>
      <c:barChart>
        <c:barDir val="col"/>
        <c:grouping val="clustered"/>
        <c:varyColors val="0"/>
        <c:ser>
          <c:idx val="0"/>
          <c:order val="0"/>
          <c:tx>
            <c:strRef>
              <c:f>Sheet1!$B$1</c:f>
              <c:strCache>
                <c:ptCount val="1"/>
                <c:pt idx="0">
                  <c:v>LDA</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Reflectance</c:v>
                  </c:pt>
                  <c:pt idx="1">
                    <c:v>SNV</c:v>
                  </c:pt>
                  <c:pt idx="2">
                    <c:v>MSC</c:v>
                  </c:pt>
                  <c:pt idx="3">
                    <c:v>1st deriv.</c:v>
                  </c:pt>
                  <c:pt idx="4">
                    <c:v>Date norm.</c:v>
                  </c:pt>
                  <c:pt idx="5">
                    <c:v>Date norm.+SNV</c:v>
                  </c:pt>
                </c:lvl>
              </c:multiLvlStrCache>
            </c:multiLvlStrRef>
          </c:cat>
          <c:val>
            <c:numRef>
              <c:f>Sheet1!$B$2:$B$7</c:f>
              <c:numCache>
                <c:formatCode>General</c:formatCode>
                <c:ptCount val="6"/>
                <c:pt idx="0">
                  <c:v>0.827</c:v>
                </c:pt>
                <c:pt idx="1">
                  <c:v>0.859</c:v>
                </c:pt>
                <c:pt idx="2">
                  <c:v>0.857</c:v>
                </c:pt>
                <c:pt idx="3">
                  <c:v>0.941</c:v>
                </c:pt>
                <c:pt idx="4">
                  <c:v>0.842</c:v>
                </c:pt>
                <c:pt idx="5">
                  <c:v>0.867</c:v>
                </c:pt>
              </c:numCache>
            </c:numRef>
          </c:val>
        </c:ser>
        <c:ser>
          <c:idx val="1"/>
          <c:order val="1"/>
          <c:tx>
            <c:strRef>
              <c:f>Sheet1!$C$1</c:f>
              <c:strCache>
                <c:ptCount val="1"/>
                <c:pt idx="0">
                  <c:v>PLS-DA</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Reflectance</c:v>
                  </c:pt>
                  <c:pt idx="1">
                    <c:v>SNV</c:v>
                  </c:pt>
                  <c:pt idx="2">
                    <c:v>MSC</c:v>
                  </c:pt>
                  <c:pt idx="3">
                    <c:v>1st deriv.</c:v>
                  </c:pt>
                  <c:pt idx="4">
                    <c:v>Date norm.</c:v>
                  </c:pt>
                  <c:pt idx="5">
                    <c:v>Date norm.+SNV</c:v>
                  </c:pt>
                </c:lvl>
              </c:multiLvlStrCache>
            </c:multiLvlStrRef>
          </c:cat>
          <c:val>
            <c:numRef>
              <c:f>Sheet1!$C$2:$C$7</c:f>
              <c:numCache>
                <c:formatCode>General</c:formatCode>
                <c:ptCount val="6"/>
                <c:pt idx="0">
                  <c:v>0.854</c:v>
                </c:pt>
                <c:pt idx="1">
                  <c:v>0.852</c:v>
                </c:pt>
                <c:pt idx="2">
                  <c:v>0.857</c:v>
                </c:pt>
                <c:pt idx="3">
                  <c:v>0.921</c:v>
                </c:pt>
                <c:pt idx="4">
                  <c:v>0.867</c:v>
                </c:pt>
                <c:pt idx="5">
                  <c:v>0.864</c:v>
                </c:pt>
              </c:numCache>
            </c:numRef>
          </c:val>
        </c:ser>
        <c:ser>
          <c:idx val="2"/>
          <c:order val="2"/>
          <c:tx>
            <c:strRef>
              <c:f>Sheet1!$D$1</c:f>
              <c:strCache>
                <c:ptCount val="1"/>
                <c:pt idx="0">
                  <c:v>LR</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Reflectance</c:v>
                  </c:pt>
                  <c:pt idx="1">
                    <c:v>SNV</c:v>
                  </c:pt>
                  <c:pt idx="2">
                    <c:v>MSC</c:v>
                  </c:pt>
                  <c:pt idx="3">
                    <c:v>1st deriv.</c:v>
                  </c:pt>
                  <c:pt idx="4">
                    <c:v>Date norm.</c:v>
                  </c:pt>
                  <c:pt idx="5">
                    <c:v>Date norm.+SNV</c:v>
                  </c:pt>
                </c:lvl>
              </c:multiLvlStrCache>
            </c:multiLvlStrRef>
          </c:cat>
          <c:val>
            <c:numRef>
              <c:f>Sheet1!$D$2:$D$7</c:f>
              <c:numCache>
                <c:formatCode>General</c:formatCode>
                <c:ptCount val="6"/>
                <c:pt idx="0">
                  <c:v>0.899</c:v>
                </c:pt>
                <c:pt idx="1">
                  <c:v>0.921</c:v>
                </c:pt>
                <c:pt idx="2">
                  <c:v>0.922</c:v>
                </c:pt>
                <c:pt idx="3">
                  <c:v>0.946</c:v>
                </c:pt>
                <c:pt idx="4">
                  <c:v>0.913</c:v>
                </c:pt>
                <c:pt idx="5">
                  <c:v>0.938</c:v>
                </c:pt>
              </c:numCache>
            </c:numRef>
          </c:val>
        </c:ser>
        <c:ser>
          <c:idx val="3"/>
          <c:order val="3"/>
          <c:tx>
            <c:strRef>
              <c:f>Sheet1!$E$1</c:f>
              <c:strCache>
                <c:ptCount val="1"/>
                <c:pt idx="0">
                  <c:v>SVM</c:v>
                </c:pt>
              </c:strCache>
            </c:strRef>
          </c:tx>
          <c:spPr>
            <a:solidFill>
              <a:srgbClr val="B03A2E"/>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Reflectance</c:v>
                  </c:pt>
                  <c:pt idx="1">
                    <c:v>SNV</c:v>
                  </c:pt>
                  <c:pt idx="2">
                    <c:v>MSC</c:v>
                  </c:pt>
                  <c:pt idx="3">
                    <c:v>1st deriv.</c:v>
                  </c:pt>
                  <c:pt idx="4">
                    <c:v>Date norm.</c:v>
                  </c:pt>
                  <c:pt idx="5">
                    <c:v>Date norm.+SNV</c:v>
                  </c:pt>
                </c:lvl>
              </c:multiLvlStrCache>
            </c:multiLvlStrRef>
          </c:cat>
          <c:val>
            <c:numRef>
              <c:f>Sheet1!$E$2:$E$7</c:f>
              <c:numCache>
                <c:formatCode>General</c:formatCode>
                <c:ptCount val="6"/>
                <c:pt idx="0">
                  <c:v>0.859</c:v>
                </c:pt>
                <c:pt idx="1">
                  <c:v>0.882</c:v>
                </c:pt>
                <c:pt idx="2">
                  <c:v>0.88</c:v>
                </c:pt>
                <c:pt idx="3">
                  <c:v>0.94</c:v>
                </c:pt>
                <c:pt idx="4">
                  <c:v>0.834</c:v>
                </c:pt>
                <c:pt idx="5">
                  <c:v>0.873</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Best classifier per scenario (mean of 25 repeats)</a:t>
            </a:r>
          </a:p>
        </c:rich>
      </c:tx>
      <c:layout/>
      <c:overlay val="0"/>
    </c:title>
    <c:autoTitleDeleted val="0"/>
    <c:plotArea>
      <c:layout/>
      <c:barChart>
        <c:barDir val="col"/>
        <c:grouping val="clustered"/>
        <c:varyColors val="0"/>
        <c:ser>
          <c:idx val="0"/>
          <c:order val="0"/>
          <c:tx>
            <c:strRef>
              <c:f>Sheet1!$B$1</c:f>
              <c:strCache>
                <c:ptCount val="1"/>
                <c:pt idx="0">
                  <c:v>Balanced accuracy</c:v>
                </c:pt>
              </c:strCache>
            </c:strRef>
          </c:tx>
          <c:spPr>
            <a:solidFill>
              <a:srgbClr val="2E7D32"/>
            </a:solidFill>
            <a:effectLst/>
          </c:spPr>
          <c:invertIfNegative val="0"/>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S1 LR</c:v>
                  </c:pt>
                  <c:pt idx="1">
                    <c:v>S2 SVM</c:v>
                  </c:pt>
                  <c:pt idx="2">
                    <c:v>S3 ELM</c:v>
                  </c:pt>
                  <c:pt idx="3">
                    <c:v>S4 ELM</c:v>
                  </c:pt>
                  <c:pt idx="4">
                    <c:v>S5 ELM</c:v>
                  </c:pt>
                  <c:pt idx="5">
                    <c:v>S6 LS-SVM</c:v>
                  </c:pt>
                  <c:pt idx="6">
                    <c:v>S7 LS-SVM</c:v>
                  </c:pt>
                  <c:pt idx="7">
                    <c:v>S8 LS-SVM</c:v>
                  </c:pt>
                  <c:pt idx="8">
                    <c:v>S9 LS-SVM</c:v>
                  </c:pt>
                  <c:pt idx="9">
                    <c:v>S10 LS-SVM</c:v>
                  </c:pt>
                </c:lvl>
              </c:multiLvlStrCache>
            </c:multiLvlStrRef>
          </c:cat>
          <c:val>
            <c:numRef>
              <c:f>Sheet1!$B$2:$B$11</c:f>
              <c:numCache>
                <c:formatCode>General</c:formatCode>
                <c:ptCount val="10"/>
                <c:pt idx="0">
                  <c:v>0.919</c:v>
                </c:pt>
                <c:pt idx="1">
                  <c:v>0.666</c:v>
                </c:pt>
                <c:pt idx="2">
                  <c:v>0.668</c:v>
                </c:pt>
                <c:pt idx="3">
                  <c:v>0.824</c:v>
                </c:pt>
                <c:pt idx="4">
                  <c:v>0.832</c:v>
                </c:pt>
                <c:pt idx="5">
                  <c:v>0.784</c:v>
                </c:pt>
                <c:pt idx="6">
                  <c:v>0.877</c:v>
                </c:pt>
                <c:pt idx="7">
                  <c:v>0.887</c:v>
                </c:pt>
                <c:pt idx="8">
                  <c:v>0.833</c:v>
                </c:pt>
                <c:pt idx="9">
                  <c:v>0.865</c:v>
                </c:pt>
              </c:numCache>
            </c:numRef>
          </c:val>
        </c:ser>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ROC curves (representative repeat)</a:t>
            </a:r>
          </a:p>
        </c:rich>
      </c:tx>
      <c:layout/>
      <c:overlay val="0"/>
    </c:title>
    <c:autoTitleDeleted val="0"/>
    <c:plotArea>
      <c:layout/>
      <c:scatterChart>
        <c:scatterStyle val="lineMarker"/>
        <c:varyColors val="0"/>
        <c:ser>
          <c:idx val="0"/>
          <c:order val="0"/>
          <c:tx>
            <c:strRef>
              <c:f>Sheet1!$B$1</c:f>
              <c:strCache>
                <c:ptCount val="1"/>
                <c:pt idx="0">
                  <c:v>Best overall</c:v>
                </c:pt>
              </c:strCache>
            </c:strRef>
          </c:tx>
          <c:spPr>
            <a:solidFill>
              <a:srgbClr val="2E7D32"/>
            </a:solidFill>
            <a:ln w="25400" cap="flat">
              <a:solidFill>
                <a:srgbClr val="2E7D32"/>
              </a:solidFill>
              <a:prstDash val="solid"/>
              <a:round/>
            </a:ln>
            <a:effectLst/>
          </c:spPr>
          <c:marker>
            <c:symbol val="none"/>
            <c:size val="6"/>
            <c:spPr>
              <a:solidFill>
                <a:srgbClr val="2E7D32"/>
              </a:solidFill>
              <a:ln w="9525" cap="flat">
                <a:solidFill>
                  <a:srgbClr val="2E7D32"/>
                </a:solidFill>
                <a:prstDash val="solid"/>
                <a:round/>
              </a:ln>
              <a:effectLst/>
            </c:spPr>
          </c:marker>
          <c:xVal>
            <c:numRef>
              <c:f>Sheet1!$A$2:$A$52</c:f>
              <c:numCache>
                <c:formatCode>General</c:formatCode>
                <c:ptCount val="5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numCache>
            </c:numRef>
          </c:xVal>
          <c:yVal>
            <c:numRef>
              <c:f>Sheet1!$B$2:$B$52</c:f>
              <c:numCache>
                <c:formatCode>General</c:formatCode>
                <c:ptCount val="51"/>
                <c:pt idx="0">
                  <c:v>0.3169</c:v>
                </c:pt>
                <c:pt idx="1">
                  <c:v>0.7427</c:v>
                </c:pt>
                <c:pt idx="2">
                  <c:v>0.8551</c:v>
                </c:pt>
                <c:pt idx="3">
                  <c:v>0.8964</c:v>
                </c:pt>
                <c:pt idx="4">
                  <c:v>0.9184</c:v>
                </c:pt>
                <c:pt idx="5">
                  <c:v>0.9325</c:v>
                </c:pt>
                <c:pt idx="6">
                  <c:v>0.9446</c:v>
                </c:pt>
                <c:pt idx="7">
                  <c:v>0.9524</c:v>
                </c:pt>
                <c:pt idx="8">
                  <c:v>0.9655</c:v>
                </c:pt>
                <c:pt idx="9">
                  <c:v>0.9718</c:v>
                </c:pt>
                <c:pt idx="10">
                  <c:v>0.9786</c:v>
                </c:pt>
                <c:pt idx="11">
                  <c:v>0.9817</c:v>
                </c:pt>
                <c:pt idx="12">
                  <c:v>0.9838</c:v>
                </c:pt>
                <c:pt idx="13">
                  <c:v>0.9859</c:v>
                </c:pt>
                <c:pt idx="14">
                  <c:v>0.9864</c:v>
                </c:pt>
                <c:pt idx="15">
                  <c:v>0.9916</c:v>
                </c:pt>
                <c:pt idx="16">
                  <c:v>0.9927</c:v>
                </c:pt>
                <c:pt idx="17">
                  <c:v>0.9927</c:v>
                </c:pt>
                <c:pt idx="18">
                  <c:v>0.9942</c:v>
                </c:pt>
                <c:pt idx="19">
                  <c:v>0.9942</c:v>
                </c:pt>
                <c:pt idx="20">
                  <c:v>0.9953</c:v>
                </c:pt>
                <c:pt idx="21">
                  <c:v>0.9953</c:v>
                </c:pt>
                <c:pt idx="22">
                  <c:v>0.9953</c:v>
                </c:pt>
                <c:pt idx="23">
                  <c:v>0.9958</c:v>
                </c:pt>
                <c:pt idx="24">
                  <c:v>0.9958</c:v>
                </c:pt>
                <c:pt idx="25">
                  <c:v>0.9963</c:v>
                </c:pt>
                <c:pt idx="26">
                  <c:v>0.9963</c:v>
                </c:pt>
                <c:pt idx="27">
                  <c:v>0.9969</c:v>
                </c:pt>
                <c:pt idx="28">
                  <c:v>0.9979</c:v>
                </c:pt>
                <c:pt idx="29">
                  <c:v>0.9979</c:v>
                </c:pt>
                <c:pt idx="30">
                  <c:v>0.9979</c:v>
                </c:pt>
                <c:pt idx="31">
                  <c:v>0.9984</c:v>
                </c:pt>
                <c:pt idx="32">
                  <c:v>0.9984</c:v>
                </c:pt>
                <c:pt idx="33">
                  <c:v>0.9984</c:v>
                </c:pt>
                <c:pt idx="34">
                  <c:v>0.999</c:v>
                </c:pt>
                <c:pt idx="35">
                  <c:v>0.999</c:v>
                </c:pt>
                <c:pt idx="36">
                  <c:v>0.9995</c:v>
                </c:pt>
                <c:pt idx="37">
                  <c:v>0.9995</c:v>
                </c:pt>
                <c:pt idx="38">
                  <c:v>0.9995</c:v>
                </c:pt>
                <c:pt idx="39">
                  <c:v>0.9995</c:v>
                </c:pt>
                <c:pt idx="40">
                  <c:v>0.9995</c:v>
                </c:pt>
                <c:pt idx="41">
                  <c:v>0.9995</c:v>
                </c:pt>
                <c:pt idx="42">
                  <c:v>0.9995</c:v>
                </c:pt>
                <c:pt idx="43">
                  <c:v>1</c:v>
                </c:pt>
                <c:pt idx="44">
                  <c:v>1</c:v>
                </c:pt>
                <c:pt idx="45">
                  <c:v>1</c:v>
                </c:pt>
                <c:pt idx="46">
                  <c:v>1</c:v>
                </c:pt>
                <c:pt idx="47">
                  <c:v>1</c:v>
                </c:pt>
                <c:pt idx="48">
                  <c:v>1</c:v>
                </c:pt>
                <c:pt idx="49">
                  <c:v>1</c:v>
                </c:pt>
                <c:pt idx="50">
                  <c:v>1</c:v>
                </c:pt>
              </c:numCache>
            </c:numRef>
          </c:yVal>
          <c:smooth val="0"/>
        </c:ser>
        <c:ser>
          <c:idx val="1"/>
          <c:order val="1"/>
          <c:tx>
            <c:strRef>
              <c:f>Sheet1!$C$1</c:f>
              <c:strCache>
                <c:ptCount val="1"/>
                <c:pt idx="0">
                  <c:v>Best compact</c:v>
                </c:pt>
              </c:strCache>
            </c:strRef>
          </c:tx>
          <c:spPr>
            <a:solidFill>
              <a:srgbClr val="D08A00"/>
            </a:solidFill>
            <a:ln w="25400" cap="flat">
              <a:solidFill>
                <a:srgbClr val="D08A00"/>
              </a:solidFill>
              <a:prstDash val="solid"/>
              <a:round/>
            </a:ln>
            <a:effectLst/>
          </c:spPr>
          <c:marker>
            <c:symbol val="none"/>
            <c:size val="6"/>
            <c:spPr>
              <a:solidFill>
                <a:srgbClr val="D08A00"/>
              </a:solidFill>
              <a:ln w="9525" cap="flat">
                <a:solidFill>
                  <a:srgbClr val="D08A00"/>
                </a:solidFill>
                <a:prstDash val="solid"/>
                <a:round/>
              </a:ln>
              <a:effectLst/>
            </c:spPr>
          </c:marker>
          <c:xVal>
            <c:numRef>
              <c:f>Sheet1!$A$2:$A$52</c:f>
              <c:numCache>
                <c:formatCode>General</c:formatCode>
                <c:ptCount val="5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numCache>
            </c:numRef>
          </c:xVal>
          <c:yVal>
            <c:numRef>
              <c:f>Sheet1!$C$2:$C$52</c:f>
              <c:numCache>
                <c:formatCode>General</c:formatCode>
                <c:ptCount val="51"/>
                <c:pt idx="0">
                  <c:v>0.2714</c:v>
                </c:pt>
                <c:pt idx="1">
                  <c:v>0.6642</c:v>
                </c:pt>
                <c:pt idx="2">
                  <c:v>0.7777</c:v>
                </c:pt>
                <c:pt idx="3">
                  <c:v>0.829</c:v>
                </c:pt>
                <c:pt idx="4">
                  <c:v>0.8415</c:v>
                </c:pt>
                <c:pt idx="5">
                  <c:v>0.8666</c:v>
                </c:pt>
                <c:pt idx="6">
                  <c:v>0.8891</c:v>
                </c:pt>
                <c:pt idx="7">
                  <c:v>0.9184</c:v>
                </c:pt>
                <c:pt idx="8">
                  <c:v>0.9304</c:v>
                </c:pt>
                <c:pt idx="9">
                  <c:v>0.9367</c:v>
                </c:pt>
                <c:pt idx="10">
                  <c:v>0.9404</c:v>
                </c:pt>
                <c:pt idx="11">
                  <c:v>0.9493</c:v>
                </c:pt>
                <c:pt idx="12">
                  <c:v>0.9561</c:v>
                </c:pt>
                <c:pt idx="13">
                  <c:v>0.9665</c:v>
                </c:pt>
                <c:pt idx="14">
                  <c:v>0.9738</c:v>
                </c:pt>
                <c:pt idx="15">
                  <c:v>0.9765</c:v>
                </c:pt>
                <c:pt idx="16">
                  <c:v>0.9806</c:v>
                </c:pt>
                <c:pt idx="17">
                  <c:v>0.9869</c:v>
                </c:pt>
                <c:pt idx="18">
                  <c:v>0.9901</c:v>
                </c:pt>
                <c:pt idx="19">
                  <c:v>0.9911</c:v>
                </c:pt>
                <c:pt idx="20">
                  <c:v>0.9916</c:v>
                </c:pt>
                <c:pt idx="21">
                  <c:v>0.9932</c:v>
                </c:pt>
                <c:pt idx="22">
                  <c:v>0.9932</c:v>
                </c:pt>
                <c:pt idx="23">
                  <c:v>0.9937</c:v>
                </c:pt>
                <c:pt idx="24">
                  <c:v>0.9937</c:v>
                </c:pt>
                <c:pt idx="25">
                  <c:v>0.9942</c:v>
                </c:pt>
                <c:pt idx="26">
                  <c:v>0.9953</c:v>
                </c:pt>
                <c:pt idx="27">
                  <c:v>0.9963</c:v>
                </c:pt>
                <c:pt idx="28">
                  <c:v>0.9979</c:v>
                </c:pt>
                <c:pt idx="29">
                  <c:v>0.9979</c:v>
                </c:pt>
                <c:pt idx="30">
                  <c:v>0.9984</c:v>
                </c:pt>
                <c:pt idx="31">
                  <c:v>0.999</c:v>
                </c:pt>
                <c:pt idx="32">
                  <c:v>0.9995</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numCache>
            </c:numRef>
          </c:yVal>
          <c:smooth val="0"/>
        </c:ser>
        <c:dLbls>
          <c:numFmt formatCode="General"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valAx>
      <c:valAx>
        <c:axId val="2094734552"/>
        <c:scaling>
          <c:orientation val="minMax"/>
          <c:max val="1"/>
        </c:scaling>
        <c:delete val="0"/>
        <c:axPos val="l"/>
        <c:majorGridlines>
          <c:spPr>
            <a:ln w="6350" cap="flat">
              <a:solidFill>
                <a:srgbClr val="E3E3E3"/>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S8: selection frequency over 100 folds (%)</a:t>
            </a:r>
          </a:p>
        </c:rich>
      </c:tx>
      <c:layout/>
      <c:overlay val="0"/>
    </c:title>
    <c:autoTitleDeleted val="0"/>
    <c:plotArea>
      <c:layout/>
      <c:barChart>
        <c:barDir val="bar"/>
        <c:grouping val="clustered"/>
        <c:varyColors val="0"/>
        <c:ser>
          <c:idx val="0"/>
          <c:order val="0"/>
          <c:tx>
            <c:strRef>
              <c:f>Sheet1!$B$1</c:f>
              <c:strCache>
                <c:ptCount val="1"/>
                <c:pt idx="0">
                  <c:v>% of folds</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Sheet1!$A$2:$A$9</c:f>
              <c:multiLvlStrCache>
                <c:ptCount val="8"/>
                <c:lvl>
                  <c:pt idx="0">
                    <c:v>CR920-1060_width</c:v>
                  </c:pt>
                  <c:pt idx="1">
                    <c:v>FD1810</c:v>
                  </c:pt>
                  <c:pt idx="2">
                    <c:v>WF2040_s3</c:v>
                  </c:pt>
                  <c:pt idx="3">
                    <c:v>WF1810_s4</c:v>
                  </c:pt>
                  <c:pt idx="4">
                    <c:v>WF830_s1</c:v>
                  </c:pt>
                  <c:pt idx="5">
                    <c:v>ND(1800,1840)</c:v>
                  </c:pt>
                  <c:pt idx="6">
                    <c:v>WF1800_s1</c:v>
                  </c:pt>
                  <c:pt idx="7">
                    <c:v>WF1360_s1</c:v>
                  </c:pt>
                </c:lvl>
              </c:multiLvlStrCache>
            </c:multiLvlStrRef>
          </c:cat>
          <c:val>
            <c:numRef>
              <c:f>Sheet1!$B$2:$B$9</c:f>
              <c:numCache>
                <c:formatCode>General</c:formatCode>
                <c:ptCount val="8"/>
                <c:pt idx="0">
                  <c:v>30</c:v>
                </c:pt>
                <c:pt idx="1">
                  <c:v>35</c:v>
                </c:pt>
                <c:pt idx="2">
                  <c:v>35</c:v>
                </c:pt>
                <c:pt idx="3">
                  <c:v>42</c:v>
                </c:pt>
                <c:pt idx="4">
                  <c:v>50</c:v>
                </c:pt>
                <c:pt idx="5">
                  <c:v>54</c:v>
                </c:pt>
                <c:pt idx="6">
                  <c:v>58</c:v>
                </c:pt>
                <c:pt idx="7">
                  <c:v>83</c:v>
                </c:pt>
              </c:numCache>
            </c:numRef>
          </c:val>
        </c:ser>
        <c:dLbls>
          <c:numFmt formatCode="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VIF of each final feature (limit 10)</a:t>
            </a:r>
          </a:p>
        </c:rich>
      </c:tx>
      <c:layout/>
      <c:overlay val="0"/>
    </c:title>
    <c:autoTitleDeleted val="0"/>
    <c:plotArea>
      <c:layout/>
      <c:barChart>
        <c:barDir val="bar"/>
        <c:grouping val="clustered"/>
        <c:varyColors val="0"/>
        <c:ser>
          <c:idx val="0"/>
          <c:order val="0"/>
          <c:tx>
            <c:strRef>
              <c:f>Sheet1!$B$1</c:f>
              <c:strCache>
                <c:ptCount val="1"/>
                <c:pt idx="0">
                  <c:v>VIF</c:v>
                </c:pt>
              </c:strCache>
            </c:strRef>
          </c:tx>
          <c:spPr>
            <a:solidFill>
              <a:srgbClr val="2E7D32"/>
            </a:solidFill>
            <a:effectLst/>
          </c:spPr>
          <c:invertIfNegative val="0"/>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Sheet1!$A$2:$A$8</c:f>
              <c:multiLvlStrCache>
                <c:ptCount val="7"/>
                <c:lvl>
                  <c:pt idx="0">
                    <c:v>FD1810</c:v>
                  </c:pt>
                  <c:pt idx="1">
                    <c:v>WF1800_s1</c:v>
                  </c:pt>
                  <c:pt idx="2">
                    <c:v>WF1810_s4</c:v>
                  </c:pt>
                  <c:pt idx="3">
                    <c:v>WF2040_s3</c:v>
                  </c:pt>
                  <c:pt idx="4">
                    <c:v>FD850</c:v>
                  </c:pt>
                  <c:pt idx="5">
                    <c:v>CR1800-2100 pos</c:v>
                  </c:pt>
                  <c:pt idx="6">
                    <c:v>WF710_s2</c:v>
                  </c:pt>
                </c:lvl>
              </c:multiLvlStrCache>
            </c:multiLvlStrRef>
          </c:cat>
          <c:val>
            <c:numRef>
              <c:f>Sheet1!$B$2:$B$8</c:f>
              <c:numCache>
                <c:formatCode>General</c:formatCode>
                <c:ptCount val="7"/>
                <c:pt idx="0">
                  <c:v>2.7</c:v>
                </c:pt>
                <c:pt idx="1">
                  <c:v>2.43</c:v>
                </c:pt>
                <c:pt idx="2">
                  <c:v>3.23</c:v>
                </c:pt>
                <c:pt idx="3">
                  <c:v>3.13</c:v>
                </c:pt>
                <c:pt idx="4">
                  <c:v>1.62</c:v>
                </c:pt>
                <c:pt idx="5">
                  <c:v>2.22</c:v>
                </c:pt>
                <c:pt idx="6">
                  <c:v>1.35</c:v>
                </c:pt>
              </c:numCache>
            </c:numRef>
          </c:val>
        </c:ser>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Maximum VIF of each final feature set</a:t>
            </a:r>
          </a:p>
        </c:rich>
      </c:tx>
      <c:layout/>
      <c:overlay val="0"/>
    </c:title>
    <c:autoTitleDeleted val="0"/>
    <c:plotArea>
      <c:layout/>
      <c:barChart>
        <c:barDir val="bar"/>
        <c:grouping val="clustered"/>
        <c:varyColors val="0"/>
        <c:ser>
          <c:idx val="0"/>
          <c:order val="0"/>
          <c:tx>
            <c:strRef>
              <c:f>Sheet1!$B$1</c:f>
              <c:strCache>
                <c:ptCount val="1"/>
                <c:pt idx="0">
                  <c:v>Max VIF</c:v>
                </c:pt>
              </c:strCache>
            </c:strRef>
          </c:tx>
          <c:spPr>
            <a:solidFill>
              <a:srgbClr val="D08A00"/>
            </a:solidFill>
            <a:effectLst/>
          </c:spPr>
          <c:invertIfNegative val="0"/>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Robust S8</c:v>
                  </c:pt>
                  <c:pt idx="1">
                    <c:v>OFC-SVM</c:v>
                  </c:pt>
                  <c:pt idx="2">
                    <c:v>OFC-kNN</c:v>
                  </c:pt>
                  <c:pt idx="3">
                    <c:v>OFC-LDA</c:v>
                  </c:pt>
                  <c:pt idx="4">
                    <c:v>SVM-RFE</c:v>
                  </c:pt>
                  <c:pt idx="5">
                    <c:v>ReliefF</c:v>
                  </c:pt>
                  <c:pt idx="6">
                    <c:v>LASSO</c:v>
                  </c:pt>
                  <c:pt idx="7">
                    <c:v>CARS</c:v>
                  </c:pt>
                  <c:pt idx="8">
                    <c:v>SFFS (QDA)</c:v>
                  </c:pt>
                  <c:pt idx="9">
                    <c:v>Consensus (Borda)</c:v>
                  </c:pt>
                </c:lvl>
              </c:multiLvlStrCache>
            </c:multiLvlStrRef>
          </c:cat>
          <c:val>
            <c:numRef>
              <c:f>Sheet1!$B$2:$B$11</c:f>
              <c:numCache>
                <c:formatCode>General</c:formatCode>
                <c:ptCount val="10"/>
                <c:pt idx="0">
                  <c:v>3.2</c:v>
                </c:pt>
                <c:pt idx="1">
                  <c:v>7.8</c:v>
                </c:pt>
                <c:pt idx="2">
                  <c:v>7.6</c:v>
                </c:pt>
                <c:pt idx="3">
                  <c:v>2.8</c:v>
                </c:pt>
                <c:pt idx="4">
                  <c:v>5.7</c:v>
                </c:pt>
                <c:pt idx="5">
                  <c:v>118.7</c:v>
                </c:pt>
                <c:pt idx="6">
                  <c:v>2.3</c:v>
                </c:pt>
                <c:pt idx="7">
                  <c:v>5</c:v>
                </c:pt>
                <c:pt idx="8">
                  <c:v>11.6</c:v>
                </c:pt>
                <c:pt idx="9">
                  <c:v>73.9</c:v>
                </c:pt>
              </c:numCache>
            </c:numRef>
          </c:val>
        </c:ser>
        <c:dLbls>
          <c:numFmt formatCode="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Balanced accuracy by feature set and classifier (25 x 4-fold CV)</a:t>
            </a:r>
          </a:p>
        </c:rich>
      </c:tx>
      <c:layout/>
      <c:overlay val="0"/>
    </c:title>
    <c:autoTitleDeleted val="0"/>
    <c:plotArea>
      <c:layout/>
      <c:barChart>
        <c:barDir val="col"/>
        <c:grouping val="clustered"/>
        <c:varyColors val="0"/>
        <c:ser>
          <c:idx val="0"/>
          <c:order val="0"/>
          <c:tx>
            <c:strRef>
              <c:f>Sheet1!$B$1</c:f>
              <c:strCache>
                <c:ptCount val="1"/>
                <c:pt idx="0">
                  <c:v>LDA</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Sheet1!$A$2:$A$6</c:f>
              <c:multiLvlStrCache>
                <c:ptCount val="5"/>
                <c:lvl>
                  <c:pt idx="0">
                    <c:v>OFC-LDA</c:v>
                  </c:pt>
                  <c:pt idx="1">
                    <c:v>OFC-kNN</c:v>
                  </c:pt>
                  <c:pt idx="2">
                    <c:v>OFC-SVM</c:v>
                  </c:pt>
                  <c:pt idx="3">
                    <c:v>All DSFs</c:v>
                  </c:pt>
                  <c:pt idx="4">
                    <c:v>Full spectrum</c:v>
                  </c:pt>
                </c:lvl>
              </c:multiLvlStrCache>
            </c:multiLvlStrRef>
          </c:cat>
          <c:val>
            <c:numRef>
              <c:f>Sheet1!$B$2:$B$6</c:f>
              <c:numCache>
                <c:formatCode>General</c:formatCode>
                <c:ptCount val="5"/>
                <c:pt idx="0">
                  <c:v>0.828</c:v>
                </c:pt>
                <c:pt idx="1">
                  <c:v>0.821</c:v>
                </c:pt>
                <c:pt idx="2">
                  <c:v>0.822</c:v>
                </c:pt>
                <c:pt idx="3">
                  <c:v>0.833</c:v>
                </c:pt>
                <c:pt idx="4">
                  <c:v>0.858</c:v>
                </c:pt>
              </c:numCache>
            </c:numRef>
          </c:val>
        </c:ser>
        <c:ser>
          <c:idx val="1"/>
          <c:order val="1"/>
          <c:tx>
            <c:strRef>
              <c:f>Sheet1!$C$1</c:f>
              <c:strCache>
                <c:ptCount val="1"/>
                <c:pt idx="0">
                  <c:v>kNN</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Sheet1!$A$2:$A$6</c:f>
              <c:multiLvlStrCache>
                <c:ptCount val="5"/>
                <c:lvl>
                  <c:pt idx="0">
                    <c:v>OFC-LDA</c:v>
                  </c:pt>
                  <c:pt idx="1">
                    <c:v>OFC-kNN</c:v>
                  </c:pt>
                  <c:pt idx="2">
                    <c:v>OFC-SVM</c:v>
                  </c:pt>
                  <c:pt idx="3">
                    <c:v>All DSFs</c:v>
                  </c:pt>
                  <c:pt idx="4">
                    <c:v>Full spectrum</c:v>
                  </c:pt>
                </c:lvl>
              </c:multiLvlStrCache>
            </c:multiLvlStrRef>
          </c:cat>
          <c:val>
            <c:numRef>
              <c:f>Sheet1!$C$2:$C$6</c:f>
              <c:numCache>
                <c:formatCode>General</c:formatCode>
                <c:ptCount val="5"/>
                <c:pt idx="0">
                  <c:v>0.858</c:v>
                </c:pt>
                <c:pt idx="1">
                  <c:v>0.885</c:v>
                </c:pt>
                <c:pt idx="2">
                  <c:v>0.886</c:v>
                </c:pt>
                <c:pt idx="3">
                  <c:v>0.892</c:v>
                </c:pt>
                <c:pt idx="4">
                  <c:v>0.707</c:v>
                </c:pt>
              </c:numCache>
            </c:numRef>
          </c:val>
        </c:ser>
        <c:ser>
          <c:idx val="2"/>
          <c:order val="2"/>
          <c:tx>
            <c:strRef>
              <c:f>Sheet1!$D$1</c:f>
              <c:strCache>
                <c:ptCount val="1"/>
                <c:pt idx="0">
                  <c:v>SVM</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Sheet1!$A$2:$A$6</c:f>
              <c:multiLvlStrCache>
                <c:ptCount val="5"/>
                <c:lvl>
                  <c:pt idx="0">
                    <c:v>OFC-LDA</c:v>
                  </c:pt>
                  <c:pt idx="1">
                    <c:v>OFC-kNN</c:v>
                  </c:pt>
                  <c:pt idx="2">
                    <c:v>OFC-SVM</c:v>
                  </c:pt>
                  <c:pt idx="3">
                    <c:v>All DSFs</c:v>
                  </c:pt>
                  <c:pt idx="4">
                    <c:v>Full spectrum</c:v>
                  </c:pt>
                </c:lvl>
              </c:multiLvlStrCache>
            </c:multiLvlStrRef>
          </c:cat>
          <c:val>
            <c:numRef>
              <c:f>Sheet1!$D$2:$D$6</c:f>
              <c:numCache>
                <c:formatCode>General</c:formatCode>
                <c:ptCount val="5"/>
                <c:pt idx="0">
                  <c:v>0.869</c:v>
                </c:pt>
                <c:pt idx="1">
                  <c:v>0.9</c:v>
                </c:pt>
                <c:pt idx="2">
                  <c:v>0.904</c:v>
                </c:pt>
                <c:pt idx="3">
                  <c:v>0.913</c:v>
                </c:pt>
                <c:pt idx="4">
                  <c:v>0.878</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Balanced accuracy within each date</a:t>
            </a:r>
          </a:p>
        </c:rich>
      </c:tx>
      <c:layout/>
      <c:overlay val="0"/>
    </c:title>
    <c:autoTitleDeleted val="0"/>
    <c:plotArea>
      <c:layout/>
      <c:lineChart>
        <c:varyColors val="0"/>
        <c:ser>
          <c:idx val="0"/>
          <c:order val="0"/>
          <c:tx>
            <c:strRef>
              <c:f>Sheet1!$B$1</c:f>
              <c:strCache>
                <c:ptCount val="1"/>
                <c:pt idx="0">
                  <c:v>OFC-LDA + LDA</c:v>
                </c:pt>
              </c:strCache>
            </c:strRef>
          </c:tx>
          <c:spPr>
            <a:solidFill>
              <a:srgbClr val="2A6FB0"/>
            </a:solidFill>
            <a:ln w="25400" cap="flat">
              <a:solidFill>
                <a:srgbClr val="2A6FB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2A6FB0"/>
              </a:solidFill>
              <a:ln w="9525" cap="flat">
                <a:solidFill>
                  <a:srgbClr val="2A6FB0"/>
                </a:solidFill>
                <a:prstDash val="solid"/>
                <a:round/>
              </a:ln>
              <a:effectLst/>
            </c:spPr>
          </c:marker>
          <c:cat>
            <c:multiLvlStrRef>
              <c:f>Sheet1!$A$2:$A$5</c:f>
              <c:multiLvlStrCache>
                <c:ptCount val="4"/>
                <c:lvl>
                  <c:pt idx="0">
                    <c:v>11 Feb</c:v>
                  </c:pt>
                  <c:pt idx="1">
                    <c:v>24 Feb</c:v>
                  </c:pt>
                  <c:pt idx="2">
                    <c:v>03 Mar</c:v>
                  </c:pt>
                  <c:pt idx="3">
                    <c:v>13 Mar</c:v>
                  </c:pt>
                </c:lvl>
              </c:multiLvlStrCache>
            </c:multiLvlStrRef>
          </c:cat>
          <c:val>
            <c:numRef>
              <c:f>Sheet1!$B$2:$B$5</c:f>
              <c:numCache>
                <c:formatCode>General</c:formatCode>
                <c:ptCount val="4"/>
                <c:pt idx="0">
                  <c:v>0.866</c:v>
                </c:pt>
                <c:pt idx="1">
                  <c:v>0.882</c:v>
                </c:pt>
                <c:pt idx="2">
                  <c:v>0.882</c:v>
                </c:pt>
                <c:pt idx="3">
                  <c:v>0.711</c:v>
                </c:pt>
              </c:numCache>
            </c:numRef>
          </c:val>
          <c:smooth val="0"/>
        </c:ser>
        <c:ser>
          <c:idx val="1"/>
          <c:order val="1"/>
          <c:tx>
            <c:strRef>
              <c:f>Sheet1!$C$1</c:f>
              <c:strCache>
                <c:ptCount val="1"/>
                <c:pt idx="0">
                  <c:v>OFC-kNN + kNN</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2E7D32"/>
              </a:solidFill>
              <a:ln w="9525" cap="flat">
                <a:solidFill>
                  <a:srgbClr val="2E7D32"/>
                </a:solidFill>
                <a:prstDash val="solid"/>
                <a:round/>
              </a:ln>
              <a:effectLst/>
            </c:spPr>
          </c:marker>
          <c:cat>
            <c:multiLvlStrRef>
              <c:f>Sheet1!$A$2:$A$5</c:f>
              <c:multiLvlStrCache>
                <c:ptCount val="4"/>
                <c:lvl>
                  <c:pt idx="0">
                    <c:v>11 Feb</c:v>
                  </c:pt>
                  <c:pt idx="1">
                    <c:v>24 Feb</c:v>
                  </c:pt>
                  <c:pt idx="2">
                    <c:v>03 Mar</c:v>
                  </c:pt>
                  <c:pt idx="3">
                    <c:v>13 Mar</c:v>
                  </c:pt>
                </c:lvl>
              </c:multiLvlStrCache>
            </c:multiLvlStrRef>
          </c:cat>
          <c:val>
            <c:numRef>
              <c:f>Sheet1!$C$2:$C$5</c:f>
              <c:numCache>
                <c:formatCode>General</c:formatCode>
                <c:ptCount val="4"/>
                <c:pt idx="0">
                  <c:v>0.9</c:v>
                </c:pt>
                <c:pt idx="1">
                  <c:v>0.891</c:v>
                </c:pt>
                <c:pt idx="2">
                  <c:v>0.917</c:v>
                </c:pt>
                <c:pt idx="3">
                  <c:v>0.84</c:v>
                </c:pt>
              </c:numCache>
            </c:numRef>
          </c:val>
          <c:smooth val="0"/>
        </c:ser>
        <c:ser>
          <c:idx val="2"/>
          <c:order val="2"/>
          <c:tx>
            <c:strRef>
              <c:f>Sheet1!$D$1</c:f>
              <c:strCache>
                <c:ptCount val="1"/>
                <c:pt idx="0">
                  <c:v>OFC-SVM + SVM</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D08A00"/>
              </a:solidFill>
              <a:ln w="9525" cap="flat">
                <a:solidFill>
                  <a:srgbClr val="D08A00"/>
                </a:solidFill>
                <a:prstDash val="solid"/>
                <a:round/>
              </a:ln>
              <a:effectLst/>
            </c:spPr>
          </c:marker>
          <c:cat>
            <c:multiLvlStrRef>
              <c:f>Sheet1!$A$2:$A$5</c:f>
              <c:multiLvlStrCache>
                <c:ptCount val="4"/>
                <c:lvl>
                  <c:pt idx="0">
                    <c:v>11 Feb</c:v>
                  </c:pt>
                  <c:pt idx="1">
                    <c:v>24 Feb</c:v>
                  </c:pt>
                  <c:pt idx="2">
                    <c:v>03 Mar</c:v>
                  </c:pt>
                  <c:pt idx="3">
                    <c:v>13 Mar</c:v>
                  </c:pt>
                </c:lvl>
              </c:multiLvlStrCache>
            </c:multiLvlStrRef>
          </c:cat>
          <c:val>
            <c:numRef>
              <c:f>Sheet1!$D$2:$D$5</c:f>
              <c:numCache>
                <c:formatCode>General</c:formatCode>
                <c:ptCount val="4"/>
                <c:pt idx="0">
                  <c:v>0.912</c:v>
                </c:pt>
                <c:pt idx="1">
                  <c:v>0.921</c:v>
                </c:pt>
                <c:pt idx="2">
                  <c:v>0.924</c:v>
                </c:pt>
                <c:pt idx="3">
                  <c:v>0.869</c:v>
                </c:pt>
              </c:numCache>
            </c:numRef>
          </c:val>
          <c:smooth val="0"/>
        </c:ser>
        <c:ser>
          <c:idx val="3"/>
          <c:order val="3"/>
          <c:tx>
            <c:strRef>
              <c:f>Sheet1!$E$1</c:f>
              <c:strCache>
                <c:ptCount val="1"/>
                <c:pt idx="0">
                  <c:v>Full spectrum + SVM</c:v>
                </c:pt>
              </c:strCache>
            </c:strRef>
          </c:tx>
          <c:spPr>
            <a:solidFill>
              <a:srgbClr val="6E6E6E"/>
            </a:solidFill>
            <a:ln w="25400" cap="flat">
              <a:solidFill>
                <a:srgbClr val="6E6E6E"/>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6E6E6E"/>
              </a:solidFill>
              <a:ln w="9525" cap="flat">
                <a:solidFill>
                  <a:srgbClr val="6E6E6E"/>
                </a:solidFill>
                <a:prstDash val="solid"/>
                <a:round/>
              </a:ln>
              <a:effectLst/>
            </c:spPr>
          </c:marker>
          <c:cat>
            <c:multiLvlStrRef>
              <c:f>Sheet1!$A$2:$A$5</c:f>
              <c:multiLvlStrCache>
                <c:ptCount val="4"/>
                <c:lvl>
                  <c:pt idx="0">
                    <c:v>11 Feb</c:v>
                  </c:pt>
                  <c:pt idx="1">
                    <c:v>24 Feb</c:v>
                  </c:pt>
                  <c:pt idx="2">
                    <c:v>03 Mar</c:v>
                  </c:pt>
                  <c:pt idx="3">
                    <c:v>13 Mar</c:v>
                  </c:pt>
                </c:lvl>
              </c:multiLvlStrCache>
            </c:multiLvlStrRef>
          </c:cat>
          <c:val>
            <c:numRef>
              <c:f>Sheet1!$E$2:$E$5</c:f>
              <c:numCache>
                <c:formatCode>General</c:formatCode>
                <c:ptCount val="4"/>
                <c:pt idx="0">
                  <c:v>0.832</c:v>
                </c:pt>
                <c:pt idx="1">
                  <c:v>0.923</c:v>
                </c:pt>
                <c:pt idx="2">
                  <c:v>0.889</c:v>
                </c:pt>
                <c:pt idx="3">
                  <c:v>0.86</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Balanced accuracy, 10 features (S8/OFC: own size), 20 outer folds</a:t>
            </a:r>
          </a:p>
        </c:rich>
      </c:tx>
      <c:layout/>
      <c:overlay val="0"/>
    </c:title>
    <c:autoTitleDeleted val="0"/>
    <c:plotArea>
      <c:layout/>
      <c:barChart>
        <c:barDir val="col"/>
        <c:grouping val="clustered"/>
        <c:varyColors val="0"/>
        <c:ser>
          <c:idx val="0"/>
          <c:order val="0"/>
          <c:tx>
            <c:strRef>
              <c:f>Sheet1!$B$1</c:f>
              <c:strCache>
                <c:ptCount val="1"/>
                <c:pt idx="0">
                  <c:v>QDA</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Sheet1!$A$2:$A$9</c:f>
              <c:multiLvlStrCache>
                <c:ptCount val="8"/>
                <c:lvl>
                  <c:pt idx="0">
                    <c:v>SVM-RFE</c:v>
                  </c:pt>
                  <c:pt idx="1">
                    <c:v>LASSO</c:v>
                  </c:pt>
                  <c:pt idx="2">
                    <c:v>CARS</c:v>
                  </c:pt>
                  <c:pt idx="3">
                    <c:v>ReliefF</c:v>
                  </c:pt>
                  <c:pt idx="4">
                    <c:v>SFFS (QDA)</c:v>
                  </c:pt>
                  <c:pt idx="5">
                    <c:v>Borda</c:v>
                  </c:pt>
                  <c:pt idx="6">
                    <c:v>Robust S8</c:v>
                  </c:pt>
                  <c:pt idx="7">
                    <c:v>OFC-SVM</c:v>
                  </c:pt>
                </c:lvl>
              </c:multiLvlStrCache>
            </c:multiLvlStrRef>
          </c:cat>
          <c:val>
            <c:numRef>
              <c:f>Sheet1!$B$2:$B$9</c:f>
              <c:numCache>
                <c:formatCode>General</c:formatCode>
                <c:ptCount val="8"/>
                <c:pt idx="0">
                  <c:v>0.888</c:v>
                </c:pt>
                <c:pt idx="1">
                  <c:v>0.86</c:v>
                </c:pt>
                <c:pt idx="2">
                  <c:v>0.889</c:v>
                </c:pt>
                <c:pt idx="3">
                  <c:v>0.873</c:v>
                </c:pt>
                <c:pt idx="4">
                  <c:v>0.898</c:v>
                </c:pt>
                <c:pt idx="5">
                  <c:v>0.893</c:v>
                </c:pt>
                <c:pt idx="6">
                  <c:v>0.853</c:v>
                </c:pt>
                <c:pt idx="7">
                  <c:v>0.845</c:v>
                </c:pt>
              </c:numCache>
            </c:numRef>
          </c:val>
        </c:ser>
        <c:ser>
          <c:idx val="1"/>
          <c:order val="1"/>
          <c:tx>
            <c:strRef>
              <c:f>Sheet1!$C$1</c:f>
              <c:strCache>
                <c:ptCount val="1"/>
                <c:pt idx="0">
                  <c:v>SVM</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Sheet1!$A$2:$A$9</c:f>
              <c:multiLvlStrCache>
                <c:ptCount val="8"/>
                <c:lvl>
                  <c:pt idx="0">
                    <c:v>SVM-RFE</c:v>
                  </c:pt>
                  <c:pt idx="1">
                    <c:v>LASSO</c:v>
                  </c:pt>
                  <c:pt idx="2">
                    <c:v>CARS</c:v>
                  </c:pt>
                  <c:pt idx="3">
                    <c:v>ReliefF</c:v>
                  </c:pt>
                  <c:pt idx="4">
                    <c:v>SFFS (QDA)</c:v>
                  </c:pt>
                  <c:pt idx="5">
                    <c:v>Borda</c:v>
                  </c:pt>
                  <c:pt idx="6">
                    <c:v>Robust S8</c:v>
                  </c:pt>
                  <c:pt idx="7">
                    <c:v>OFC-SVM</c:v>
                  </c:pt>
                </c:lvl>
              </c:multiLvlStrCache>
            </c:multiLvlStrRef>
          </c:cat>
          <c:val>
            <c:numRef>
              <c:f>Sheet1!$C$2:$C$9</c:f>
              <c:numCache>
                <c:formatCode>General</c:formatCode>
                <c:ptCount val="8"/>
                <c:pt idx="0">
                  <c:v>0.913</c:v>
                </c:pt>
                <c:pt idx="1">
                  <c:v>0.89</c:v>
                </c:pt>
                <c:pt idx="2">
                  <c:v>0.913</c:v>
                </c:pt>
                <c:pt idx="3">
                  <c:v>0.923</c:v>
                </c:pt>
                <c:pt idx="4">
                  <c:v>0.906</c:v>
                </c:pt>
                <c:pt idx="5">
                  <c:v>0.918</c:v>
                </c:pt>
                <c:pt idx="6">
                  <c:v>0.899</c:v>
                </c:pt>
                <c:pt idx="7">
                  <c:v>0.911</c:v>
                </c:pt>
              </c:numCache>
            </c:numRef>
          </c:val>
        </c:ser>
        <c:ser>
          <c:idx val="2"/>
          <c:order val="2"/>
          <c:tx>
            <c:strRef>
              <c:f>Sheet1!$D$1</c:f>
              <c:strCache>
                <c:ptCount val="1"/>
                <c:pt idx="0">
                  <c:v>RF</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Sheet1!$A$2:$A$9</c:f>
              <c:multiLvlStrCache>
                <c:ptCount val="8"/>
                <c:lvl>
                  <c:pt idx="0">
                    <c:v>SVM-RFE</c:v>
                  </c:pt>
                  <c:pt idx="1">
                    <c:v>LASSO</c:v>
                  </c:pt>
                  <c:pt idx="2">
                    <c:v>CARS</c:v>
                  </c:pt>
                  <c:pt idx="3">
                    <c:v>ReliefF</c:v>
                  </c:pt>
                  <c:pt idx="4">
                    <c:v>SFFS (QDA)</c:v>
                  </c:pt>
                  <c:pt idx="5">
                    <c:v>Borda</c:v>
                  </c:pt>
                  <c:pt idx="6">
                    <c:v>Robust S8</c:v>
                  </c:pt>
                  <c:pt idx="7">
                    <c:v>OFC-SVM</c:v>
                  </c:pt>
                </c:lvl>
              </c:multiLvlStrCache>
            </c:multiLvlStrRef>
          </c:cat>
          <c:val>
            <c:numRef>
              <c:f>Sheet1!$D$2:$D$9</c:f>
              <c:numCache>
                <c:formatCode>General</c:formatCode>
                <c:ptCount val="8"/>
                <c:pt idx="0">
                  <c:v>0.82</c:v>
                </c:pt>
                <c:pt idx="1">
                  <c:v>0.839</c:v>
                </c:pt>
                <c:pt idx="2">
                  <c:v>0.827</c:v>
                </c:pt>
                <c:pt idx="3">
                  <c:v>0.89</c:v>
                </c:pt>
                <c:pt idx="4">
                  <c:v>0.849</c:v>
                </c:pt>
                <c:pt idx="5">
                  <c:v>0.857</c:v>
                </c:pt>
                <c:pt idx="6">
                  <c:v>0.821</c:v>
                </c:pt>
                <c:pt idx="7">
                  <c:v>0.85</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QDA balanced accuracy vs number of features k</a:t>
            </a:r>
          </a:p>
        </c:rich>
      </c:tx>
      <c:layout/>
      <c:overlay val="0"/>
    </c:title>
    <c:autoTitleDeleted val="0"/>
    <c:plotArea>
      <c:layout/>
      <c:lineChart>
        <c:varyColors val="0"/>
        <c:ser>
          <c:idx val="0"/>
          <c:order val="0"/>
          <c:tx>
            <c:strRef>
              <c:f>Sheet1!$B$1</c:f>
              <c:strCache>
                <c:ptCount val="1"/>
                <c:pt idx="0">
                  <c:v>SVM-RFE</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2E7D32"/>
              </a:solidFill>
              <a:ln w="9525" cap="flat">
                <a:solidFill>
                  <a:srgbClr val="2E7D32"/>
                </a:solidFill>
                <a:prstDash val="solid"/>
                <a:round/>
              </a:ln>
              <a:effectLst/>
            </c:spPr>
          </c:marker>
          <c:cat>
            <c:multiLvlStrRef>
              <c:f>Sheet1!$A$2:$A$4</c:f>
              <c:multiLvlStrCache>
                <c:ptCount val="3"/>
                <c:lvl>
                  <c:pt idx="0">
                    <c:v>5</c:v>
                  </c:pt>
                  <c:pt idx="1">
                    <c:v>10</c:v>
                  </c:pt>
                  <c:pt idx="2">
                    <c:v>15</c:v>
                  </c:pt>
                </c:lvl>
              </c:multiLvlStrCache>
            </c:multiLvlStrRef>
          </c:cat>
          <c:val>
            <c:numRef>
              <c:f>Sheet1!$B$2:$B$4</c:f>
              <c:numCache>
                <c:formatCode>General</c:formatCode>
                <c:ptCount val="3"/>
                <c:pt idx="0">
                  <c:v>0.848</c:v>
                </c:pt>
                <c:pt idx="1">
                  <c:v>0.888</c:v>
                </c:pt>
                <c:pt idx="2">
                  <c:v>0.911</c:v>
                </c:pt>
              </c:numCache>
            </c:numRef>
          </c:val>
          <c:smooth val="0"/>
        </c:ser>
        <c:ser>
          <c:idx val="1"/>
          <c:order val="1"/>
          <c:tx>
            <c:strRef>
              <c:f>Sheet1!$C$1</c:f>
              <c:strCache>
                <c:ptCount val="1"/>
                <c:pt idx="0">
                  <c:v>LASSO</c:v>
                </c:pt>
              </c:strCache>
            </c:strRef>
          </c:tx>
          <c:spPr>
            <a:solidFill>
              <a:srgbClr val="2A6FB0"/>
            </a:solidFill>
            <a:ln w="25400" cap="flat">
              <a:solidFill>
                <a:srgbClr val="2A6FB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2A6FB0"/>
              </a:solidFill>
              <a:ln w="9525" cap="flat">
                <a:solidFill>
                  <a:srgbClr val="2A6FB0"/>
                </a:solidFill>
                <a:prstDash val="solid"/>
                <a:round/>
              </a:ln>
              <a:effectLst/>
            </c:spPr>
          </c:marker>
          <c:cat>
            <c:multiLvlStrRef>
              <c:f>Sheet1!$A$2:$A$4</c:f>
              <c:multiLvlStrCache>
                <c:ptCount val="3"/>
                <c:lvl>
                  <c:pt idx="0">
                    <c:v>5</c:v>
                  </c:pt>
                  <c:pt idx="1">
                    <c:v>10</c:v>
                  </c:pt>
                  <c:pt idx="2">
                    <c:v>15</c:v>
                  </c:pt>
                </c:lvl>
              </c:multiLvlStrCache>
            </c:multiLvlStrRef>
          </c:cat>
          <c:val>
            <c:numRef>
              <c:f>Sheet1!$C$2:$C$4</c:f>
              <c:numCache>
                <c:formatCode>General</c:formatCode>
                <c:ptCount val="3"/>
                <c:pt idx="0">
                  <c:v>0.835</c:v>
                </c:pt>
                <c:pt idx="1">
                  <c:v>0.86</c:v>
                </c:pt>
                <c:pt idx="2">
                  <c:v>0.878</c:v>
                </c:pt>
              </c:numCache>
            </c:numRef>
          </c:val>
          <c:smooth val="0"/>
        </c:ser>
        <c:ser>
          <c:idx val="2"/>
          <c:order val="2"/>
          <c:tx>
            <c:strRef>
              <c:f>Sheet1!$D$1</c:f>
              <c:strCache>
                <c:ptCount val="1"/>
                <c:pt idx="0">
                  <c:v>CARS</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D08A00"/>
              </a:solidFill>
              <a:ln w="9525" cap="flat">
                <a:solidFill>
                  <a:srgbClr val="D08A00"/>
                </a:solidFill>
                <a:prstDash val="solid"/>
                <a:round/>
              </a:ln>
              <a:effectLst/>
            </c:spPr>
          </c:marker>
          <c:cat>
            <c:multiLvlStrRef>
              <c:f>Sheet1!$A$2:$A$4</c:f>
              <c:multiLvlStrCache>
                <c:ptCount val="3"/>
                <c:lvl>
                  <c:pt idx="0">
                    <c:v>5</c:v>
                  </c:pt>
                  <c:pt idx="1">
                    <c:v>10</c:v>
                  </c:pt>
                  <c:pt idx="2">
                    <c:v>15</c:v>
                  </c:pt>
                </c:lvl>
              </c:multiLvlStrCache>
            </c:multiLvlStrRef>
          </c:cat>
          <c:val>
            <c:numRef>
              <c:f>Sheet1!$D$2:$D$4</c:f>
              <c:numCache>
                <c:formatCode>General</c:formatCode>
                <c:ptCount val="3"/>
                <c:pt idx="0">
                  <c:v>0.858</c:v>
                </c:pt>
                <c:pt idx="1">
                  <c:v>0.889</c:v>
                </c:pt>
                <c:pt idx="2">
                  <c:v>0.907</c:v>
                </c:pt>
              </c:numCache>
            </c:numRef>
          </c:val>
          <c:smooth val="0"/>
        </c:ser>
        <c:ser>
          <c:idx val="3"/>
          <c:order val="3"/>
          <c:tx>
            <c:strRef>
              <c:f>Sheet1!$E$1</c:f>
              <c:strCache>
                <c:ptCount val="1"/>
                <c:pt idx="0">
                  <c:v>ReliefF</c:v>
                </c:pt>
              </c:strCache>
            </c:strRef>
          </c:tx>
          <c:spPr>
            <a:solidFill>
              <a:srgbClr val="B03A2E"/>
            </a:solidFill>
            <a:ln w="25400" cap="flat">
              <a:solidFill>
                <a:srgbClr val="B03A2E"/>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B03A2E"/>
              </a:solidFill>
              <a:ln w="9525" cap="flat">
                <a:solidFill>
                  <a:srgbClr val="B03A2E"/>
                </a:solidFill>
                <a:prstDash val="solid"/>
                <a:round/>
              </a:ln>
              <a:effectLst/>
            </c:spPr>
          </c:marker>
          <c:cat>
            <c:multiLvlStrRef>
              <c:f>Sheet1!$A$2:$A$4</c:f>
              <c:multiLvlStrCache>
                <c:ptCount val="3"/>
                <c:lvl>
                  <c:pt idx="0">
                    <c:v>5</c:v>
                  </c:pt>
                  <c:pt idx="1">
                    <c:v>10</c:v>
                  </c:pt>
                  <c:pt idx="2">
                    <c:v>15</c:v>
                  </c:pt>
                </c:lvl>
              </c:multiLvlStrCache>
            </c:multiLvlStrRef>
          </c:cat>
          <c:val>
            <c:numRef>
              <c:f>Sheet1!$E$2:$E$4</c:f>
              <c:numCache>
                <c:formatCode>General</c:formatCode>
                <c:ptCount val="3"/>
                <c:pt idx="0">
                  <c:v>0.861</c:v>
                </c:pt>
                <c:pt idx="1">
                  <c:v>0.873</c:v>
                </c:pt>
                <c:pt idx="2">
                  <c:v>0.888</c:v>
                </c:pt>
              </c:numCache>
            </c:numRef>
          </c:val>
          <c:smooth val="0"/>
        </c:ser>
        <c:ser>
          <c:idx val="4"/>
          <c:order val="4"/>
          <c:tx>
            <c:strRef>
              <c:f>Sheet1!$F$1</c:f>
              <c:strCache>
                <c:ptCount val="1"/>
                <c:pt idx="0">
                  <c:v>SFFS (QDA)</c:v>
                </c:pt>
              </c:strCache>
            </c:strRef>
          </c:tx>
          <c:spPr>
            <a:solidFill>
              <a:srgbClr val="6B8E23"/>
            </a:solidFill>
            <a:ln w="25400" cap="flat">
              <a:solidFill>
                <a:srgbClr val="6B8E23"/>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6B8E23"/>
              </a:solidFill>
              <a:ln w="9525" cap="flat">
                <a:solidFill>
                  <a:srgbClr val="6B8E23"/>
                </a:solidFill>
                <a:prstDash val="solid"/>
                <a:round/>
              </a:ln>
              <a:effectLst/>
            </c:spPr>
          </c:marker>
          <c:cat>
            <c:multiLvlStrRef>
              <c:f>Sheet1!$A$2:$A$4</c:f>
              <c:multiLvlStrCache>
                <c:ptCount val="3"/>
                <c:lvl>
                  <c:pt idx="0">
                    <c:v>5</c:v>
                  </c:pt>
                  <c:pt idx="1">
                    <c:v>10</c:v>
                  </c:pt>
                  <c:pt idx="2">
                    <c:v>15</c:v>
                  </c:pt>
                </c:lvl>
              </c:multiLvlStrCache>
            </c:multiLvlStrRef>
          </c:cat>
          <c:val>
            <c:numRef>
              <c:f>Sheet1!$F$2:$F$4</c:f>
              <c:numCache>
                <c:formatCode>General</c:formatCode>
                <c:ptCount val="3"/>
                <c:pt idx="0">
                  <c:v>0.881</c:v>
                </c:pt>
                <c:pt idx="1">
                  <c:v>0.898</c:v>
                </c:pt>
                <c:pt idx="2">
                  <c:v>0.908</c:v>
                </c:pt>
              </c:numCache>
            </c:numRef>
          </c:val>
          <c:smooth val="0"/>
        </c:ser>
        <c:ser>
          <c:idx val="5"/>
          <c:order val="5"/>
          <c:tx>
            <c:strRef>
              <c:f>Sheet1!$G$1</c:f>
              <c:strCache>
                <c:ptCount val="1"/>
                <c:pt idx="0">
                  <c:v>Borda</c:v>
                </c:pt>
              </c:strCache>
            </c:strRef>
          </c:tx>
          <c:spPr>
            <a:solidFill>
              <a:srgbClr val="6E6E6E"/>
            </a:solidFill>
            <a:ln w="25400" cap="flat">
              <a:solidFill>
                <a:srgbClr val="6E6E6E"/>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6E6E6E"/>
              </a:solidFill>
              <a:ln w="9525" cap="flat">
                <a:solidFill>
                  <a:srgbClr val="6E6E6E"/>
                </a:solidFill>
                <a:prstDash val="solid"/>
                <a:round/>
              </a:ln>
              <a:effectLst/>
            </c:spPr>
          </c:marker>
          <c:cat>
            <c:multiLvlStrRef>
              <c:f>Sheet1!$A$2:$A$4</c:f>
              <c:multiLvlStrCache>
                <c:ptCount val="3"/>
                <c:lvl>
                  <c:pt idx="0">
                    <c:v>5</c:v>
                  </c:pt>
                  <c:pt idx="1">
                    <c:v>10</c:v>
                  </c:pt>
                  <c:pt idx="2">
                    <c:v>15</c:v>
                  </c:pt>
                </c:lvl>
              </c:multiLvlStrCache>
            </c:multiLvlStrRef>
          </c:cat>
          <c:val>
            <c:numRef>
              <c:f>Sheet1!$G$2:$G$4</c:f>
              <c:numCache>
                <c:formatCode>General</c:formatCode>
                <c:ptCount val="3"/>
                <c:pt idx="0">
                  <c:v>0.856</c:v>
                </c:pt>
                <c:pt idx="1">
                  <c:v>0.893</c:v>
                </c:pt>
                <c:pt idx="2">
                  <c:v>0.907</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k (redundancy-controlled)</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SVM balanced accuracy with and without near-join features</a:t>
            </a:r>
          </a:p>
        </c:rich>
      </c:tx>
      <c:layout/>
      <c:overlay val="0"/>
    </c:title>
    <c:autoTitleDeleted val="0"/>
    <c:plotArea>
      <c:layout/>
      <c:barChart>
        <c:barDir val="col"/>
        <c:grouping val="clustered"/>
        <c:varyColors val="0"/>
        <c:ser>
          <c:idx val="0"/>
          <c:order val="0"/>
          <c:tx>
            <c:strRef>
              <c:f>Sheet1!$B$1</c:f>
              <c:strCache>
                <c:ptCount val="1"/>
                <c:pt idx="0">
                  <c:v>All features</c:v>
                </c:pt>
              </c:strCache>
            </c:strRef>
          </c:tx>
          <c:spPr>
            <a:solidFill>
              <a:srgbClr val="2E7D32"/>
            </a:solidFill>
            <a:effectLst/>
          </c:spPr>
          <c:invertIfNegative val="0"/>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Sheet1!$A$2:$A$4</c:f>
              <c:multiLvlStrCache>
                <c:ptCount val="3"/>
                <c:lvl>
                  <c:pt idx="0">
                    <c:v>SVM-RFE</c:v>
                  </c:pt>
                  <c:pt idx="1">
                    <c:v>SFFS (QDA)</c:v>
                  </c:pt>
                  <c:pt idx="2">
                    <c:v>Robust S8</c:v>
                  </c:pt>
                </c:lvl>
              </c:multiLvlStrCache>
            </c:multiLvlStrRef>
          </c:cat>
          <c:val>
            <c:numRef>
              <c:f>Sheet1!$B$2:$B$4</c:f>
              <c:numCache>
                <c:formatCode>General</c:formatCode>
                <c:ptCount val="3"/>
                <c:pt idx="0">
                  <c:v>0.913</c:v>
                </c:pt>
                <c:pt idx="1">
                  <c:v>0.906</c:v>
                </c:pt>
                <c:pt idx="2">
                  <c:v>0.899</c:v>
                </c:pt>
              </c:numCache>
            </c:numRef>
          </c:val>
        </c:ser>
        <c:ser>
          <c:idx val="1"/>
          <c:order val="1"/>
          <c:tx>
            <c:strRef>
              <c:f>Sheet1!$C$1</c:f>
              <c:strCache>
                <c:ptCount val="1"/>
                <c:pt idx="0">
                  <c:v>Join bands excluded</c:v>
                </c:pt>
              </c:strCache>
            </c:strRef>
          </c:tx>
          <c:spPr>
            <a:solidFill>
              <a:srgbClr val="6E6E6E"/>
            </a:solidFill>
            <a:effectLst/>
          </c:spPr>
          <c:invertIfNegative val="0"/>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cat>
            <c:multiLvlStrRef>
              <c:f>Sheet1!$A$2:$A$4</c:f>
              <c:multiLvlStrCache>
                <c:ptCount val="3"/>
                <c:lvl>
                  <c:pt idx="0">
                    <c:v>SVM-RFE</c:v>
                  </c:pt>
                  <c:pt idx="1">
                    <c:v>SFFS (QDA)</c:v>
                  </c:pt>
                  <c:pt idx="2">
                    <c:v>Robust S8</c:v>
                  </c:pt>
                </c:lvl>
              </c:multiLvlStrCache>
            </c:multiLvlStrRef>
          </c:cat>
          <c:val>
            <c:numRef>
              <c:f>Sheet1!$C$2:$C$4</c:f>
              <c:numCache>
                <c:formatCode>General</c:formatCode>
                <c:ptCount val="3"/>
                <c:pt idx="0">
                  <c:v>0.889</c:v>
                </c:pt>
                <c:pt idx="1">
                  <c:v>0.866</c:v>
                </c:pt>
                <c:pt idx="2">
                  <c:v>0.825</c:v>
                </c:pt>
              </c:numCache>
            </c:numRef>
          </c:val>
        </c:ser>
        <c:dLbls>
          <c:numFmt formatCode="0.000" sourceLinked="0"/>
          <c:txPr>
            <a:bodyPr/>
            <a:lstStyle/>
            <a:p>
              <a:pPr>
                <a:defRPr b="0" i="0" strike="noStrike" sz="9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Logistic regression coefficients on SNV spectra (positive = diseased)</a:t>
            </a:r>
          </a:p>
        </c:rich>
      </c:tx>
      <c:layout/>
      <c:overlay val="0"/>
    </c:title>
    <c:autoTitleDeleted val="0"/>
    <c:plotArea>
      <c:layout/>
      <c:lineChart>
        <c:varyColors val="0"/>
        <c:ser>
          <c:idx val="0"/>
          <c:order val="0"/>
          <c:tx>
            <c:strRef>
              <c:f>Sheet1!$B$1</c:f>
              <c:strCache>
                <c:ptCount val="1"/>
                <c:pt idx="0">
                  <c:v>Standardised coefficient</c:v>
                </c:pt>
              </c:strCache>
            </c:strRef>
          </c:tx>
          <c:spPr>
            <a:solidFill>
              <a:srgbClr val="333333"/>
            </a:solidFill>
            <a:ln w="25400" cap="flat">
              <a:solidFill>
                <a:srgbClr val="333333"/>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none"/>
            <c:size val="6"/>
            <c:spPr>
              <a:solidFill>
                <a:srgbClr val="333333"/>
              </a:solidFill>
              <a:ln w="9525" cap="flat">
                <a:solidFill>
                  <a:srgbClr val="333333"/>
                </a:solidFill>
                <a:prstDash val="solid"/>
                <a:round/>
              </a:ln>
              <a:effectLst/>
            </c:spPr>
          </c:marker>
          <c:cat>
            <c:multiLvlStrRef>
              <c:f>Sheet1!$A$2:$A$202</c:f>
              <c:multiLvlStrCache>
                <c:ptCount val="20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c:v>
                  </c:pt>
                  <c:pt idx="43">
                    <c:v>830</c:v>
                  </c:pt>
                  <c:pt idx="44">
                    <c:v>840</c:v>
                  </c:pt>
                  <c:pt idx="45">
                    <c:v>850</c:v>
                  </c:pt>
                  <c:pt idx="46">
                    <c:v>860</c:v>
                  </c:pt>
                  <c:pt idx="47">
                    <c:v>870</c:v>
                  </c:pt>
                  <c:pt idx="48">
                    <c:v>880</c:v>
                  </c:pt>
                  <c:pt idx="49">
                    <c:v>890</c:v>
                  </c:pt>
                  <c:pt idx="50">
                    <c:v>900</c:v>
                  </c:pt>
                  <c:pt idx="51">
                    <c:v>910</c:v>
                  </c:pt>
                  <c:pt idx="52">
                    <c:v>920</c:v>
                  </c:pt>
                  <c:pt idx="53">
                    <c:v>930</c:v>
                  </c:pt>
                  <c:pt idx="54">
                    <c:v>940</c:v>
                  </c:pt>
                  <c:pt idx="55">
                    <c:v>950</c:v>
                  </c:pt>
                  <c:pt idx="56">
                    <c:v>960</c:v>
                  </c:pt>
                  <c:pt idx="57">
                    <c:v>970</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pt idx="71">
                    <c:v>1110</c:v>
                  </c:pt>
                  <c:pt idx="72">
                    <c:v>1120</c:v>
                  </c:pt>
                  <c:pt idx="73">
                    <c:v>1130</c:v>
                  </c:pt>
                  <c:pt idx="74">
                    <c:v>1140</c:v>
                  </c:pt>
                  <c:pt idx="75">
                    <c:v>1150</c:v>
                  </c:pt>
                  <c:pt idx="76">
                    <c:v>1160</c:v>
                  </c:pt>
                  <c:pt idx="77">
                    <c:v>1170</c:v>
                  </c:pt>
                  <c:pt idx="78">
                    <c:v>1180</c:v>
                  </c:pt>
                  <c:pt idx="79">
                    <c:v>1190</c:v>
                  </c:pt>
                  <c:pt idx="80">
                    <c:v>1200</c:v>
                  </c:pt>
                  <c:pt idx="81">
                    <c:v>1210</c:v>
                  </c:pt>
                  <c:pt idx="82">
                    <c:v>1220</c:v>
                  </c:pt>
                  <c:pt idx="83">
                    <c:v>1230</c:v>
                  </c:pt>
                  <c:pt idx="84">
                    <c:v>1240</c:v>
                  </c:pt>
                  <c:pt idx="85">
                    <c:v>1250</c:v>
                  </c:pt>
                  <c:pt idx="86">
                    <c:v>1260</c:v>
                  </c:pt>
                  <c:pt idx="87">
                    <c:v>1270</c:v>
                  </c:pt>
                  <c:pt idx="88">
                    <c:v>1280</c:v>
                  </c:pt>
                  <c:pt idx="89">
                    <c:v>1290</c:v>
                  </c:pt>
                  <c:pt idx="90">
                    <c:v>1300</c:v>
                  </c:pt>
                  <c:pt idx="91">
                    <c:v>1310</c:v>
                  </c:pt>
                  <c:pt idx="92">
                    <c:v>1320</c:v>
                  </c:pt>
                  <c:pt idx="93">
                    <c:v>1330</c:v>
                  </c:pt>
                  <c:pt idx="94">
                    <c:v>1340</c:v>
                  </c:pt>
                  <c:pt idx="95">
                    <c:v>1350</c:v>
                  </c:pt>
                  <c:pt idx="96">
                    <c:v>1360</c:v>
                  </c:pt>
                  <c:pt idx="97">
                    <c:v>1370</c:v>
                  </c:pt>
                  <c:pt idx="98">
                    <c:v>1380</c:v>
                  </c:pt>
                  <c:pt idx="99">
                    <c:v>1390</c:v>
                  </c:pt>
                  <c:pt idx="100">
                    <c:v>1400</c:v>
                  </c:pt>
                  <c:pt idx="101">
                    <c:v>1410</c:v>
                  </c:pt>
                  <c:pt idx="102">
                    <c:v>1420</c:v>
                  </c:pt>
                  <c:pt idx="103">
                    <c:v>1430</c:v>
                  </c:pt>
                  <c:pt idx="104">
                    <c:v>1440</c:v>
                  </c:pt>
                  <c:pt idx="105">
                    <c:v>1450</c:v>
                  </c:pt>
                  <c:pt idx="106">
                    <c:v>1460</c:v>
                  </c:pt>
                  <c:pt idx="107">
                    <c:v>1470</c:v>
                  </c:pt>
                  <c:pt idx="108">
                    <c:v>1480</c:v>
                  </c:pt>
                  <c:pt idx="109">
                    <c:v>1490</c:v>
                  </c:pt>
                  <c:pt idx="110">
                    <c:v>1500</c:v>
                  </c:pt>
                  <c:pt idx="111">
                    <c:v>1510</c:v>
                  </c:pt>
                  <c:pt idx="112">
                    <c:v>1520</c:v>
                  </c:pt>
                  <c:pt idx="113">
                    <c:v>1530</c:v>
                  </c:pt>
                  <c:pt idx="114">
                    <c:v>1540</c:v>
                  </c:pt>
                  <c:pt idx="115">
                    <c:v>1550</c:v>
                  </c:pt>
                  <c:pt idx="116">
                    <c:v>1560</c:v>
                  </c:pt>
                  <c:pt idx="117">
                    <c:v>1570</c:v>
                  </c:pt>
                  <c:pt idx="118">
                    <c:v>1580</c:v>
                  </c:pt>
                  <c:pt idx="119">
                    <c:v>1590</c:v>
                  </c:pt>
                  <c:pt idx="120">
                    <c:v>1600</c:v>
                  </c:pt>
                  <c:pt idx="121">
                    <c:v>1610</c:v>
                  </c:pt>
                  <c:pt idx="122">
                    <c:v>1620</c:v>
                  </c:pt>
                  <c:pt idx="123">
                    <c:v>1630</c:v>
                  </c:pt>
                  <c:pt idx="124">
                    <c:v>1640</c:v>
                  </c:pt>
                  <c:pt idx="125">
                    <c:v>1650</c:v>
                  </c:pt>
                  <c:pt idx="126">
                    <c:v>1660</c:v>
                  </c:pt>
                  <c:pt idx="127">
                    <c:v>1670</c:v>
                  </c:pt>
                  <c:pt idx="128">
                    <c:v>1680</c:v>
                  </c:pt>
                  <c:pt idx="129">
                    <c:v>1690</c:v>
                  </c:pt>
                  <c:pt idx="130">
                    <c:v>1700</c:v>
                  </c:pt>
                  <c:pt idx="131">
                    <c:v>1710</c:v>
                  </c:pt>
                  <c:pt idx="132">
                    <c:v>1720</c:v>
                  </c:pt>
                  <c:pt idx="133">
                    <c:v>1730</c:v>
                  </c:pt>
                  <c:pt idx="134">
                    <c:v>1740</c:v>
                  </c:pt>
                  <c:pt idx="135">
                    <c:v>1750</c:v>
                  </c:pt>
                  <c:pt idx="136">
                    <c:v>1760</c:v>
                  </c:pt>
                  <c:pt idx="137">
                    <c:v>1770</c:v>
                  </c:pt>
                  <c:pt idx="138">
                    <c:v>1780</c:v>
                  </c:pt>
                  <c:pt idx="139">
                    <c:v>1790</c:v>
                  </c:pt>
                  <c:pt idx="140">
                    <c:v>1800</c:v>
                  </c:pt>
                  <c:pt idx="141">
                    <c:v>1810</c:v>
                  </c:pt>
                  <c:pt idx="142">
                    <c:v>1820</c:v>
                  </c:pt>
                  <c:pt idx="143">
                    <c:v>1830</c:v>
                  </c:pt>
                  <c:pt idx="144">
                    <c:v>1840</c:v>
                  </c:pt>
                  <c:pt idx="145">
                    <c:v>1850</c:v>
                  </c:pt>
                  <c:pt idx="146">
                    <c:v>1860</c:v>
                  </c:pt>
                  <c:pt idx="147">
                    <c:v>1870</c:v>
                  </c:pt>
                  <c:pt idx="148">
                    <c:v>1880</c:v>
                  </c:pt>
                  <c:pt idx="149">
                    <c:v>1890</c:v>
                  </c:pt>
                  <c:pt idx="150">
                    <c:v>1900</c:v>
                  </c:pt>
                  <c:pt idx="151">
                    <c:v>1910</c:v>
                  </c:pt>
                  <c:pt idx="152">
                    <c:v>1920</c:v>
                  </c:pt>
                  <c:pt idx="153">
                    <c:v>1930</c:v>
                  </c:pt>
                  <c:pt idx="154">
                    <c:v>1940</c:v>
                  </c:pt>
                  <c:pt idx="155">
                    <c:v>1950</c:v>
                  </c:pt>
                  <c:pt idx="156">
                    <c:v>1960</c:v>
                  </c:pt>
                  <c:pt idx="157">
                    <c:v>1970</c:v>
                  </c:pt>
                  <c:pt idx="158">
                    <c:v>1980</c:v>
                  </c:pt>
                  <c:pt idx="159">
                    <c:v>1990</c:v>
                  </c:pt>
                  <c:pt idx="160">
                    <c:v>2000</c:v>
                  </c:pt>
                  <c:pt idx="161">
                    <c:v>2010</c:v>
                  </c:pt>
                  <c:pt idx="162">
                    <c:v>2020</c:v>
                  </c:pt>
                  <c:pt idx="163">
                    <c:v>2030</c:v>
                  </c:pt>
                  <c:pt idx="164">
                    <c:v>2040</c:v>
                  </c:pt>
                  <c:pt idx="165">
                    <c:v>2050</c:v>
                  </c:pt>
                  <c:pt idx="166">
                    <c:v>2060</c:v>
                  </c:pt>
                  <c:pt idx="167">
                    <c:v>2070</c:v>
                  </c:pt>
                  <c:pt idx="168">
                    <c:v>2080</c:v>
                  </c:pt>
                  <c:pt idx="169">
                    <c:v>2090</c:v>
                  </c:pt>
                  <c:pt idx="170">
                    <c:v>2100</c:v>
                  </c:pt>
                  <c:pt idx="171">
                    <c:v>2110</c:v>
                  </c:pt>
                  <c:pt idx="172">
                    <c:v>2120</c:v>
                  </c:pt>
                  <c:pt idx="173">
                    <c:v>2130</c:v>
                  </c:pt>
                  <c:pt idx="174">
                    <c:v>2140</c:v>
                  </c:pt>
                  <c:pt idx="175">
                    <c:v>2150</c:v>
                  </c:pt>
                  <c:pt idx="176">
                    <c:v>2160</c:v>
                  </c:pt>
                  <c:pt idx="177">
                    <c:v>2170</c:v>
                  </c:pt>
                  <c:pt idx="178">
                    <c:v>2180</c:v>
                  </c:pt>
                  <c:pt idx="179">
                    <c:v>2190</c:v>
                  </c:pt>
                  <c:pt idx="180">
                    <c:v>2200</c:v>
                  </c:pt>
                  <c:pt idx="181">
                    <c:v>2210</c:v>
                  </c:pt>
                  <c:pt idx="182">
                    <c:v>2220</c:v>
                  </c:pt>
                  <c:pt idx="183">
                    <c:v>2230</c:v>
                  </c:pt>
                  <c:pt idx="184">
                    <c:v>2240</c:v>
                  </c:pt>
                  <c:pt idx="185">
                    <c:v>2250</c:v>
                  </c:pt>
                  <c:pt idx="186">
                    <c:v>2260</c:v>
                  </c:pt>
                  <c:pt idx="187">
                    <c:v>2270</c:v>
                  </c:pt>
                  <c:pt idx="188">
                    <c:v>2280</c:v>
                  </c:pt>
                  <c:pt idx="189">
                    <c:v>2290</c:v>
                  </c:pt>
                  <c:pt idx="190">
                    <c:v>2300</c:v>
                  </c:pt>
                  <c:pt idx="191">
                    <c:v>2310</c:v>
                  </c:pt>
                  <c:pt idx="192">
                    <c:v>2320</c:v>
                  </c:pt>
                  <c:pt idx="193">
                    <c:v>2330</c:v>
                  </c:pt>
                  <c:pt idx="194">
                    <c:v>2340</c:v>
                  </c:pt>
                  <c:pt idx="195">
                    <c:v>2350</c:v>
                  </c:pt>
                  <c:pt idx="196">
                    <c:v>2360</c:v>
                  </c:pt>
                  <c:pt idx="197">
                    <c:v>2370</c:v>
                  </c:pt>
                  <c:pt idx="198">
                    <c:v>2380</c:v>
                  </c:pt>
                  <c:pt idx="199">
                    <c:v>2390</c:v>
                  </c:pt>
                  <c:pt idx="200">
                    <c:v>2400</c:v>
                  </c:pt>
                </c:lvl>
              </c:multiLvlStrCache>
            </c:multiLvlStrRef>
          </c:cat>
          <c:val>
            <c:numRef>
              <c:f>Sheet1!$B$2:$B$202</c:f>
              <c:numCache>
                <c:formatCode>General</c:formatCode>
                <c:ptCount val="201"/>
                <c:pt idx="0">
                  <c:v>0.1942</c:v>
                </c:pt>
                <c:pt idx="1">
                  <c:v>0.1302</c:v>
                </c:pt>
                <c:pt idx="2">
                  <c:v>0.2323</c:v>
                </c:pt>
                <c:pt idx="3">
                  <c:v>0.2445</c:v>
                </c:pt>
                <c:pt idx="4">
                  <c:v>0.2444</c:v>
                </c:pt>
                <c:pt idx="5">
                  <c:v>0.1873</c:v>
                </c:pt>
                <c:pt idx="6">
                  <c:v>0.0633</c:v>
                </c:pt>
                <c:pt idx="7">
                  <c:v>0.0377</c:v>
                </c:pt>
                <c:pt idx="8">
                  <c:v>-0.0344</c:v>
                </c:pt>
                <c:pt idx="9">
                  <c:v>-0.1335</c:v>
                </c:pt>
                <c:pt idx="10">
                  <c:v>-0.2018</c:v>
                </c:pt>
                <c:pt idx="11">
                  <c:v>-0.224</c:v>
                </c:pt>
                <c:pt idx="12">
                  <c:v>-0.1266</c:v>
                </c:pt>
                <c:pt idx="13">
                  <c:v>-0.1313</c:v>
                </c:pt>
                <c:pt idx="14">
                  <c:v>-0.1572</c:v>
                </c:pt>
                <c:pt idx="15">
                  <c:v>-0.1646</c:v>
                </c:pt>
                <c:pt idx="16">
                  <c:v>-0.3803</c:v>
                </c:pt>
                <c:pt idx="17">
                  <c:v>-0.3333</c:v>
                </c:pt>
                <c:pt idx="18">
                  <c:v>-0.2544</c:v>
                </c:pt>
                <c:pt idx="19">
                  <c:v>-0.1563</c:v>
                </c:pt>
                <c:pt idx="20">
                  <c:v>-0.0895</c:v>
                </c:pt>
                <c:pt idx="21">
                  <c:v>-0.1336</c:v>
                </c:pt>
                <c:pt idx="22">
                  <c:v>-0.0652</c:v>
                </c:pt>
                <c:pt idx="23">
                  <c:v>0.0468</c:v>
                </c:pt>
                <c:pt idx="24">
                  <c:v>0.1527</c:v>
                </c:pt>
                <c:pt idx="25">
                  <c:v>0.2297</c:v>
                </c:pt>
                <c:pt idx="26">
                  <c:v>0.0967</c:v>
                </c:pt>
                <c:pt idx="27">
                  <c:v>-0.0732</c:v>
                </c:pt>
                <c:pt idx="28">
                  <c:v>-0.0947</c:v>
                </c:pt>
                <c:pt idx="29">
                  <c:v>0.2686</c:v>
                </c:pt>
                <c:pt idx="30">
                  <c:v>0.3534</c:v>
                </c:pt>
                <c:pt idx="31">
                  <c:v>0.3508</c:v>
                </c:pt>
                <c:pt idx="32">
                  <c:v>0.5144</c:v>
                </c:pt>
                <c:pt idx="33">
                  <c:v>0.4793</c:v>
                </c:pt>
                <c:pt idx="34">
                  <c:v>0.1433</c:v>
                </c:pt>
                <c:pt idx="35">
                  <c:v>-0.0557</c:v>
                </c:pt>
                <c:pt idx="36">
                  <c:v>-0.1592</c:v>
                </c:pt>
                <c:pt idx="37">
                  <c:v>-0.1847</c:v>
                </c:pt>
                <c:pt idx="38">
                  <c:v>-0.2251</c:v>
                </c:pt>
                <c:pt idx="39">
                  <c:v>-0.2504</c:v>
                </c:pt>
                <c:pt idx="40">
                  <c:v>-0.2625</c:v>
                </c:pt>
                <c:pt idx="41">
                  <c:v>-0.3045</c:v>
                </c:pt>
                <c:pt idx="42">
                  <c:v>-0.3105</c:v>
                </c:pt>
                <c:pt idx="43">
                  <c:v>-0.3304</c:v>
                </c:pt>
                <c:pt idx="44">
                  <c:v>-0.3116</c:v>
                </c:pt>
                <c:pt idx="45">
                  <c:v>-0.261</c:v>
                </c:pt>
                <c:pt idx="46">
                  <c:v>-0.2088</c:v>
                </c:pt>
                <c:pt idx="47">
                  <c:v>-0.1608</c:v>
                </c:pt>
                <c:pt idx="48">
                  <c:v>-0.09</c:v>
                </c:pt>
                <c:pt idx="49">
                  <c:v>-0.0054</c:v>
                </c:pt>
                <c:pt idx="50">
                  <c:v>0.0679</c:v>
                </c:pt>
                <c:pt idx="51">
                  <c:v>0.1459</c:v>
                </c:pt>
                <c:pt idx="52">
                  <c:v>0.188</c:v>
                </c:pt>
                <c:pt idx="53">
                  <c:v>0.2533</c:v>
                </c:pt>
                <c:pt idx="54">
                  <c:v>0.1423</c:v>
                </c:pt>
                <c:pt idx="55">
                  <c:v>0.0098</c:v>
                </c:pt>
                <c:pt idx="56">
                  <c:v>-0.1861</c:v>
                </c:pt>
                <c:pt idx="57">
                  <c:v>-0.094</c:v>
                </c:pt>
                <c:pt idx="58">
                  <c:v>0.0652</c:v>
                </c:pt>
                <c:pt idx="59">
                  <c:v>0.397</c:v>
                </c:pt>
                <c:pt idx="60">
                  <c:v>0.7617</c:v>
                </c:pt>
                <c:pt idx="61">
                  <c:v>0.8577</c:v>
                </c:pt>
                <c:pt idx="62">
                  <c:v>0.9022</c:v>
                </c:pt>
                <c:pt idx="63">
                  <c:v>0.8831</c:v>
                </c:pt>
                <c:pt idx="64">
                  <c:v>0.6085</c:v>
                </c:pt>
                <c:pt idx="65">
                  <c:v>0.1371</c:v>
                </c:pt>
                <c:pt idx="66">
                  <c:v>-0.3077</c:v>
                </c:pt>
                <c:pt idx="67">
                  <c:v>-0.4929</c:v>
                </c:pt>
                <c:pt idx="68">
                  <c:v>-0.536</c:v>
                </c:pt>
                <c:pt idx="69">
                  <c:v>-0.4789</c:v>
                </c:pt>
                <c:pt idx="70">
                  <c:v>-0.408</c:v>
                </c:pt>
                <c:pt idx="71">
                  <c:v>-0.2945</c:v>
                </c:pt>
                <c:pt idx="72">
                  <c:v>-0.0341</c:v>
                </c:pt>
                <c:pt idx="73">
                  <c:v>0.0219</c:v>
                </c:pt>
                <c:pt idx="74">
                  <c:v>-0.0312</c:v>
                </c:pt>
                <c:pt idx="75">
                  <c:v>-0.2609</c:v>
                </c:pt>
                <c:pt idx="76">
                  <c:v>-0.3608</c:v>
                </c:pt>
                <c:pt idx="77">
                  <c:v>-0.3191</c:v>
                </c:pt>
                <c:pt idx="78">
                  <c:v>-0.2814</c:v>
                </c:pt>
                <c:pt idx="79">
                  <c:v>0.1013</c:v>
                </c:pt>
                <c:pt idx="80">
                  <c:v>0.2691</c:v>
                </c:pt>
                <c:pt idx="81">
                  <c:v>0.2688</c:v>
                </c:pt>
                <c:pt idx="82">
                  <c:v>0.3396</c:v>
                </c:pt>
                <c:pt idx="83">
                  <c:v>0.2332</c:v>
                </c:pt>
                <c:pt idx="84">
                  <c:v>0.1463</c:v>
                </c:pt>
                <c:pt idx="85">
                  <c:v>0.2896</c:v>
                </c:pt>
                <c:pt idx="86">
                  <c:v>0.2368</c:v>
                </c:pt>
                <c:pt idx="87">
                  <c:v>-0.0479</c:v>
                </c:pt>
                <c:pt idx="88">
                  <c:v>-0.291</c:v>
                </c:pt>
                <c:pt idx="89">
                  <c:v>-0.423</c:v>
                </c:pt>
                <c:pt idx="90">
                  <c:v>-0.3684</c:v>
                </c:pt>
                <c:pt idx="91">
                  <c:v>-0.1199</c:v>
                </c:pt>
                <c:pt idx="92">
                  <c:v>-0.0494</c:v>
                </c:pt>
                <c:pt idx="93">
                  <c:v>-0.0422</c:v>
                </c:pt>
                <c:pt idx="94">
                  <c:v>0.0456</c:v>
                </c:pt>
                <c:pt idx="95">
                  <c:v>0.4776</c:v>
                </c:pt>
                <c:pt idx="96">
                  <c:v>0.8514</c:v>
                </c:pt>
                <c:pt idx="97">
                  <c:v>0.5741</c:v>
                </c:pt>
                <c:pt idx="98">
                  <c:v>0.4107</c:v>
                </c:pt>
                <c:pt idx="99">
                  <c:v>0.1031</c:v>
                </c:pt>
                <c:pt idx="100">
                  <c:v>-0.0724</c:v>
                </c:pt>
                <c:pt idx="101">
                  <c:v>-0.2162</c:v>
                </c:pt>
                <c:pt idx="102">
                  <c:v>-0.3258</c:v>
                </c:pt>
                <c:pt idx="103">
                  <c:v>-0.3269</c:v>
                </c:pt>
                <c:pt idx="104">
                  <c:v>-0.2376</c:v>
                </c:pt>
                <c:pt idx="105">
                  <c:v>-0.145</c:v>
                </c:pt>
                <c:pt idx="106">
                  <c:v>-0.0693</c:v>
                </c:pt>
                <c:pt idx="107">
                  <c:v>0.0083</c:v>
                </c:pt>
                <c:pt idx="108">
                  <c:v>0.094</c:v>
                </c:pt>
                <c:pt idx="109">
                  <c:v>0.1716</c:v>
                </c:pt>
                <c:pt idx="110">
                  <c:v>0.2211</c:v>
                </c:pt>
                <c:pt idx="111">
                  <c:v>0.2224</c:v>
                </c:pt>
                <c:pt idx="112">
                  <c:v>0.1872</c:v>
                </c:pt>
                <c:pt idx="113">
                  <c:v>0.1541</c:v>
                </c:pt>
                <c:pt idx="114">
                  <c:v>0.1119</c:v>
                </c:pt>
                <c:pt idx="115">
                  <c:v>0.0637</c:v>
                </c:pt>
                <c:pt idx="116">
                  <c:v>-0.0109</c:v>
                </c:pt>
                <c:pt idx="117">
                  <c:v>-0.0765</c:v>
                </c:pt>
                <c:pt idx="118">
                  <c:v>-0.0902</c:v>
                </c:pt>
                <c:pt idx="119">
                  <c:v>-0.1079</c:v>
                </c:pt>
                <c:pt idx="120">
                  <c:v>-0.1529</c:v>
                </c:pt>
                <c:pt idx="121">
                  <c:v>-0.1871</c:v>
                </c:pt>
                <c:pt idx="122">
                  <c:v>-0.1997</c:v>
                </c:pt>
                <c:pt idx="123">
                  <c:v>-0.217</c:v>
                </c:pt>
                <c:pt idx="124">
                  <c:v>-0.2469</c:v>
                </c:pt>
                <c:pt idx="125">
                  <c:v>-0.2828</c:v>
                </c:pt>
                <c:pt idx="126">
                  <c:v>-0.3273</c:v>
                </c:pt>
                <c:pt idx="127">
                  <c:v>-0.3508</c:v>
                </c:pt>
                <c:pt idx="128">
                  <c:v>-0.3038</c:v>
                </c:pt>
                <c:pt idx="129">
                  <c:v>-0.1705</c:v>
                </c:pt>
                <c:pt idx="130">
                  <c:v>0.0136</c:v>
                </c:pt>
                <c:pt idx="131">
                  <c:v>0.1407</c:v>
                </c:pt>
                <c:pt idx="132">
                  <c:v>0.0566</c:v>
                </c:pt>
                <c:pt idx="133">
                  <c:v>-0.2481</c:v>
                </c:pt>
                <c:pt idx="134">
                  <c:v>-0.3215</c:v>
                </c:pt>
                <c:pt idx="135">
                  <c:v>-0.1119</c:v>
                </c:pt>
                <c:pt idx="136">
                  <c:v>-0.1189</c:v>
                </c:pt>
                <c:pt idx="137">
                  <c:v>-0.2246</c:v>
                </c:pt>
                <c:pt idx="138">
                  <c:v>-0.2295</c:v>
                </c:pt>
                <c:pt idx="139">
                  <c:v>-0.2062</c:v>
                </c:pt>
                <c:pt idx="140">
                  <c:v>-0.1941</c:v>
                </c:pt>
                <c:pt idx="141">
                  <c:v>-0.4916</c:v>
                </c:pt>
                <c:pt idx="142">
                  <c:v>0.1046</c:v>
                </c:pt>
                <c:pt idx="143">
                  <c:v>0.5349</c:v>
                </c:pt>
                <c:pt idx="144">
                  <c:v>0.6849</c:v>
                </c:pt>
                <c:pt idx="145">
                  <c:v>0.5904</c:v>
                </c:pt>
                <c:pt idx="146">
                  <c:v>0.5423</c:v>
                </c:pt>
                <c:pt idx="147">
                  <c:v>0.6862</c:v>
                </c:pt>
                <c:pt idx="148">
                  <c:v>0.3717</c:v>
                </c:pt>
                <c:pt idx="149">
                  <c:v>0.1342</c:v>
                </c:pt>
                <c:pt idx="150">
                  <c:v>-0.0545</c:v>
                </c:pt>
                <c:pt idx="151">
                  <c:v>-0.3817</c:v>
                </c:pt>
                <c:pt idx="152">
                  <c:v>-0.6081</c:v>
                </c:pt>
                <c:pt idx="153">
                  <c:v>-0.6726</c:v>
                </c:pt>
                <c:pt idx="154">
                  <c:v>-0.6187</c:v>
                </c:pt>
                <c:pt idx="155">
                  <c:v>-0.5103</c:v>
                </c:pt>
                <c:pt idx="156">
                  <c:v>-0.4082</c:v>
                </c:pt>
                <c:pt idx="157">
                  <c:v>-0.3053</c:v>
                </c:pt>
                <c:pt idx="158">
                  <c:v>-0.151</c:v>
                </c:pt>
                <c:pt idx="159">
                  <c:v>-0.0131</c:v>
                </c:pt>
                <c:pt idx="160">
                  <c:v>0.1209</c:v>
                </c:pt>
                <c:pt idx="161">
                  <c:v>0.2324</c:v>
                </c:pt>
                <c:pt idx="162">
                  <c:v>0.3323</c:v>
                </c:pt>
                <c:pt idx="163">
                  <c:v>0.3988</c:v>
                </c:pt>
                <c:pt idx="164">
                  <c:v>0.3976</c:v>
                </c:pt>
                <c:pt idx="165">
                  <c:v>0.3399</c:v>
                </c:pt>
                <c:pt idx="166">
                  <c:v>0.2875</c:v>
                </c:pt>
                <c:pt idx="167">
                  <c:v>0.2739</c:v>
                </c:pt>
                <c:pt idx="168">
                  <c:v>0.2387</c:v>
                </c:pt>
                <c:pt idx="169">
                  <c:v>0.1319</c:v>
                </c:pt>
                <c:pt idx="170">
                  <c:v>0.0317</c:v>
                </c:pt>
                <c:pt idx="171">
                  <c:v>-0.0526</c:v>
                </c:pt>
                <c:pt idx="172">
                  <c:v>-0.1365</c:v>
                </c:pt>
                <c:pt idx="173">
                  <c:v>-0.2104</c:v>
                </c:pt>
                <c:pt idx="174">
                  <c:v>-0.304</c:v>
                </c:pt>
                <c:pt idx="175">
                  <c:v>-0.342</c:v>
                </c:pt>
                <c:pt idx="176">
                  <c:v>-0.3564</c:v>
                </c:pt>
                <c:pt idx="177">
                  <c:v>-0.4523</c:v>
                </c:pt>
                <c:pt idx="178">
                  <c:v>-0.48</c:v>
                </c:pt>
                <c:pt idx="179">
                  <c:v>-0.4472</c:v>
                </c:pt>
                <c:pt idx="180">
                  <c:v>-0.3653</c:v>
                </c:pt>
                <c:pt idx="181">
                  <c:v>-0.2163</c:v>
                </c:pt>
                <c:pt idx="182">
                  <c:v>-0.071</c:v>
                </c:pt>
                <c:pt idx="183">
                  <c:v>0.042</c:v>
                </c:pt>
                <c:pt idx="184">
                  <c:v>0.086</c:v>
                </c:pt>
                <c:pt idx="185">
                  <c:v>0.14</c:v>
                </c:pt>
                <c:pt idx="186">
                  <c:v>0.2377</c:v>
                </c:pt>
                <c:pt idx="187">
                  <c:v>0.2823</c:v>
                </c:pt>
                <c:pt idx="188">
                  <c:v>0.2539</c:v>
                </c:pt>
                <c:pt idx="189">
                  <c:v>0.2877</c:v>
                </c:pt>
                <c:pt idx="190">
                  <c:v>0.2211</c:v>
                </c:pt>
                <c:pt idx="191">
                  <c:v>-0.0892</c:v>
                </c:pt>
                <c:pt idx="192">
                  <c:v>-0.083</c:v>
                </c:pt>
                <c:pt idx="193">
                  <c:v>0.2229</c:v>
                </c:pt>
                <c:pt idx="194">
                  <c:v>0.261</c:v>
                </c:pt>
                <c:pt idx="195">
                  <c:v>0.0191</c:v>
                </c:pt>
                <c:pt idx="196">
                  <c:v>0.0447</c:v>
                </c:pt>
                <c:pt idx="197">
                  <c:v>0.0998</c:v>
                </c:pt>
                <c:pt idx="198">
                  <c:v>0.0181</c:v>
                </c:pt>
                <c:pt idx="199">
                  <c:v>-0.0969</c:v>
                </c:pt>
                <c:pt idx="200">
                  <c:v>-0.1625</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Wavelength (nm)</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tickLblSkip val="20"/>
      </c:cat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Balanced accuracy by sub-group (pooled model, 25 repeats)</a:t>
            </a:r>
          </a:p>
        </c:rich>
      </c:tx>
      <c:layout/>
      <c:overlay val="0"/>
    </c:title>
    <c:autoTitleDeleted val="0"/>
    <c:plotArea>
      <c:layout/>
      <c:barChart>
        <c:barDir val="col"/>
        <c:grouping val="clustered"/>
        <c:varyColors val="0"/>
        <c:ser>
          <c:idx val="0"/>
          <c:order val="0"/>
          <c:tx>
            <c:strRef>
              <c:f>Sheet1!$B$1</c:f>
              <c:strCache>
                <c:ptCount val="1"/>
                <c:pt idx="0">
                  <c:v>Best overall</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11 Feb</c:v>
                  </c:pt>
                  <c:pt idx="1">
                    <c:v>24 Feb</c:v>
                  </c:pt>
                  <c:pt idx="2">
                    <c:v>03 Mar</c:v>
                  </c:pt>
                  <c:pt idx="3">
                    <c:v>13 Mar</c:v>
                  </c:pt>
                  <c:pt idx="4">
                    <c:v>V1</c:v>
                  </c:pt>
                  <c:pt idx="5">
                    <c:v>V2</c:v>
                  </c:pt>
                  <c:pt idx="6">
                    <c:v>V3</c:v>
                  </c:pt>
                  <c:pt idx="7">
                    <c:v>Vegetative</c:v>
                  </c:pt>
                  <c:pt idx="8">
                    <c:v>Flowering</c:v>
                  </c:pt>
                  <c:pt idx="9">
                    <c:v>Pod formation</c:v>
                  </c:pt>
                </c:lvl>
              </c:multiLvlStrCache>
            </c:multiLvlStrRef>
          </c:cat>
          <c:val>
            <c:numRef>
              <c:f>Sheet1!$B$2:$B$11</c:f>
              <c:numCache>
                <c:formatCode>General</c:formatCode>
                <c:ptCount val="10"/>
                <c:pt idx="0">
                  <c:v>0.887</c:v>
                </c:pt>
                <c:pt idx="1">
                  <c:v>0.966</c:v>
                </c:pt>
                <c:pt idx="2">
                  <c:v>0.953</c:v>
                </c:pt>
                <c:pt idx="3">
                  <c:v>0.869</c:v>
                </c:pt>
                <c:pt idx="4">
                  <c:v>0.938</c:v>
                </c:pt>
                <c:pt idx="5">
                  <c:v>0.895</c:v>
                </c:pt>
                <c:pt idx="6">
                  <c:v>0.924</c:v>
                </c:pt>
                <c:pt idx="7">
                  <c:v>0.899</c:v>
                </c:pt>
                <c:pt idx="8">
                  <c:v>0.947</c:v>
                </c:pt>
                <c:pt idx="9">
                  <c:v>0.879</c:v>
                </c:pt>
              </c:numCache>
            </c:numRef>
          </c:val>
        </c:ser>
        <c:ser>
          <c:idx val="1"/>
          <c:order val="1"/>
          <c:tx>
            <c:strRef>
              <c:f>Sheet1!$C$1</c:f>
              <c:strCache>
                <c:ptCount val="1"/>
                <c:pt idx="0">
                  <c:v>Best compact</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11 Feb</c:v>
                  </c:pt>
                  <c:pt idx="1">
                    <c:v>24 Feb</c:v>
                  </c:pt>
                  <c:pt idx="2">
                    <c:v>03 Mar</c:v>
                  </c:pt>
                  <c:pt idx="3">
                    <c:v>13 Mar</c:v>
                  </c:pt>
                  <c:pt idx="4">
                    <c:v>V1</c:v>
                  </c:pt>
                  <c:pt idx="5">
                    <c:v>V2</c:v>
                  </c:pt>
                  <c:pt idx="6">
                    <c:v>V3</c:v>
                  </c:pt>
                  <c:pt idx="7">
                    <c:v>Vegetative</c:v>
                  </c:pt>
                  <c:pt idx="8">
                    <c:v>Flowering</c:v>
                  </c:pt>
                  <c:pt idx="9">
                    <c:v>Pod formation</c:v>
                  </c:pt>
                </c:lvl>
              </c:multiLvlStrCache>
            </c:multiLvlStrRef>
          </c:cat>
          <c:val>
            <c:numRef>
              <c:f>Sheet1!$C$2:$C$11</c:f>
              <c:numCache>
                <c:formatCode>General</c:formatCode>
                <c:ptCount val="10"/>
                <c:pt idx="0">
                  <c:v>0.91</c:v>
                </c:pt>
                <c:pt idx="1">
                  <c:v>0.914</c:v>
                </c:pt>
                <c:pt idx="2">
                  <c:v>0.913</c:v>
                </c:pt>
                <c:pt idx="3">
                  <c:v>0.824</c:v>
                </c:pt>
                <c:pt idx="4">
                  <c:v>0.9</c:v>
                </c:pt>
                <c:pt idx="5">
                  <c:v>0.858</c:v>
                </c:pt>
                <c:pt idx="6">
                  <c:v>0.902</c:v>
                </c:pt>
                <c:pt idx="7">
                  <c:v>0.909</c:v>
                </c:pt>
                <c:pt idx="8">
                  <c:v>0.902</c:v>
                </c:pt>
                <c:pt idx="9">
                  <c:v>0.831</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Held-out level: balanced accuracy (dates | varieties | stages)</a:t>
            </a:r>
          </a:p>
        </c:rich>
      </c:tx>
      <c:layout/>
      <c:overlay val="0"/>
    </c:title>
    <c:autoTitleDeleted val="0"/>
    <c:plotArea>
      <c:layout/>
      <c:barChart>
        <c:barDir val="col"/>
        <c:grouping val="clustered"/>
        <c:varyColors val="0"/>
        <c:ser>
          <c:idx val="0"/>
          <c:order val="0"/>
          <c:tx>
            <c:strRef>
              <c:f>Sheet1!$B$1</c:f>
              <c:strCache>
                <c:ptCount val="1"/>
                <c:pt idx="0">
                  <c:v>S1 LR</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11 Feb</c:v>
                  </c:pt>
                  <c:pt idx="1">
                    <c:v>24 Feb</c:v>
                  </c:pt>
                  <c:pt idx="2">
                    <c:v>03 Mar</c:v>
                  </c:pt>
                  <c:pt idx="3">
                    <c:v>13 Mar</c:v>
                  </c:pt>
                  <c:pt idx="4">
                    <c:v>V1</c:v>
                  </c:pt>
                  <c:pt idx="5">
                    <c:v>V2</c:v>
                  </c:pt>
                  <c:pt idx="6">
                    <c:v>V3</c:v>
                  </c:pt>
                  <c:pt idx="7">
                    <c:v>Veg.</c:v>
                  </c:pt>
                  <c:pt idx="8">
                    <c:v>Flow.</c:v>
                  </c:pt>
                  <c:pt idx="9">
                    <c:v>Pod</c:v>
                  </c:pt>
                </c:lvl>
              </c:multiLvlStrCache>
            </c:multiLvlStrRef>
          </c:cat>
          <c:val>
            <c:numRef>
              <c:f>Sheet1!$B$2:$B$11</c:f>
              <c:numCache>
                <c:formatCode>General</c:formatCode>
                <c:ptCount val="10"/>
                <c:pt idx="0">
                  <c:v>0.727</c:v>
                </c:pt>
                <c:pt idx="1">
                  <c:v>0.861</c:v>
                </c:pt>
                <c:pt idx="2">
                  <c:v>0.617</c:v>
                </c:pt>
                <c:pt idx="3">
                  <c:v>0.5</c:v>
                </c:pt>
                <c:pt idx="4">
                  <c:v>0.933</c:v>
                </c:pt>
                <c:pt idx="5">
                  <c:v>0.935</c:v>
                </c:pt>
                <c:pt idx="6">
                  <c:v>0.94</c:v>
                </c:pt>
                <c:pt idx="7">
                  <c:v>0.84</c:v>
                </c:pt>
                <c:pt idx="8">
                  <c:v>0.853</c:v>
                </c:pt>
                <c:pt idx="9">
                  <c:v>0.776</c:v>
                </c:pt>
              </c:numCache>
            </c:numRef>
          </c:val>
        </c:ser>
        <c:ser>
          <c:idx val="1"/>
          <c:order val="1"/>
          <c:tx>
            <c:strRef>
              <c:f>Sheet1!$C$1</c:f>
              <c:strCache>
                <c:ptCount val="1"/>
                <c:pt idx="0">
                  <c:v>S7 SVM</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11 Feb</c:v>
                  </c:pt>
                  <c:pt idx="1">
                    <c:v>24 Feb</c:v>
                  </c:pt>
                  <c:pt idx="2">
                    <c:v>03 Mar</c:v>
                  </c:pt>
                  <c:pt idx="3">
                    <c:v>13 Mar</c:v>
                  </c:pt>
                  <c:pt idx="4">
                    <c:v>V1</c:v>
                  </c:pt>
                  <c:pt idx="5">
                    <c:v>V2</c:v>
                  </c:pt>
                  <c:pt idx="6">
                    <c:v>V3</c:v>
                  </c:pt>
                  <c:pt idx="7">
                    <c:v>Veg.</c:v>
                  </c:pt>
                  <c:pt idx="8">
                    <c:v>Flow.</c:v>
                  </c:pt>
                  <c:pt idx="9">
                    <c:v>Pod</c:v>
                  </c:pt>
                </c:lvl>
              </c:multiLvlStrCache>
            </c:multiLvlStrRef>
          </c:cat>
          <c:val>
            <c:numRef>
              <c:f>Sheet1!$C$2:$C$11</c:f>
              <c:numCache>
                <c:formatCode>General</c:formatCode>
                <c:ptCount val="10"/>
                <c:pt idx="0">
                  <c:v>0.816</c:v>
                </c:pt>
                <c:pt idx="1">
                  <c:v>0.796</c:v>
                </c:pt>
                <c:pt idx="2">
                  <c:v>0.628</c:v>
                </c:pt>
                <c:pt idx="3">
                  <c:v>0.5</c:v>
                </c:pt>
                <c:pt idx="4">
                  <c:v>0.857</c:v>
                </c:pt>
                <c:pt idx="5">
                  <c:v>0.882</c:v>
                </c:pt>
                <c:pt idx="6">
                  <c:v>0.906</c:v>
                </c:pt>
                <c:pt idx="7">
                  <c:v>0.772</c:v>
                </c:pt>
                <c:pt idx="8">
                  <c:v>0.819</c:v>
                </c:pt>
                <c:pt idx="9">
                  <c:v>0.783</c:v>
                </c:pt>
              </c:numCache>
            </c:numRef>
          </c:val>
        </c:ser>
        <c:ser>
          <c:idx val="2"/>
          <c:order val="2"/>
          <c:tx>
            <c:strRef>
              <c:f>Sheet1!$D$1</c:f>
              <c:strCache>
                <c:ptCount val="1"/>
                <c:pt idx="0">
                  <c:v>S8 SVM</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Sheet1!$A$2:$A$11</c:f>
              <c:multiLvlStrCache>
                <c:ptCount val="10"/>
                <c:lvl>
                  <c:pt idx="0">
                    <c:v>11 Feb</c:v>
                  </c:pt>
                  <c:pt idx="1">
                    <c:v>24 Feb</c:v>
                  </c:pt>
                  <c:pt idx="2">
                    <c:v>03 Mar</c:v>
                  </c:pt>
                  <c:pt idx="3">
                    <c:v>13 Mar</c:v>
                  </c:pt>
                  <c:pt idx="4">
                    <c:v>V1</c:v>
                  </c:pt>
                  <c:pt idx="5">
                    <c:v>V2</c:v>
                  </c:pt>
                  <c:pt idx="6">
                    <c:v>V3</c:v>
                  </c:pt>
                  <c:pt idx="7">
                    <c:v>Veg.</c:v>
                  </c:pt>
                  <c:pt idx="8">
                    <c:v>Flow.</c:v>
                  </c:pt>
                  <c:pt idx="9">
                    <c:v>Pod</c:v>
                  </c:pt>
                </c:lvl>
              </c:multiLvlStrCache>
            </c:multiLvlStrRef>
          </c:cat>
          <c:val>
            <c:numRef>
              <c:f>Sheet1!$D$2:$D$11</c:f>
              <c:numCache>
                <c:formatCode>General</c:formatCode>
                <c:ptCount val="10"/>
                <c:pt idx="0">
                  <c:v>0.814</c:v>
                </c:pt>
                <c:pt idx="1">
                  <c:v>0.736</c:v>
                </c:pt>
                <c:pt idx="2">
                  <c:v>0.588</c:v>
                </c:pt>
                <c:pt idx="3">
                  <c:v>0.544</c:v>
                </c:pt>
                <c:pt idx="4">
                  <c:v>0.887</c:v>
                </c:pt>
                <c:pt idx="5">
                  <c:v>0.893</c:v>
                </c:pt>
                <c:pt idx="6">
                  <c:v>0.912</c:v>
                </c:pt>
                <c:pt idx="7">
                  <c:v>0.816</c:v>
                </c:pt>
                <c:pt idx="8">
                  <c:v>0.869</c:v>
                </c:pt>
                <c:pt idx="9">
                  <c:v>0.795</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E4: learning curve</a:t>
            </a:r>
          </a:p>
        </c:rich>
      </c:tx>
      <c:layout/>
      <c:overlay val="0"/>
    </c:title>
    <c:autoTitleDeleted val="0"/>
    <c:plotArea>
      <c:layout/>
      <c:lineChart>
        <c:varyColors val="0"/>
        <c:ser>
          <c:idx val="0"/>
          <c:order val="0"/>
          <c:tx>
            <c:strRef>
              <c:f>Sheet1!$B$1</c:f>
              <c:strCache>
                <c:ptCount val="1"/>
                <c:pt idx="0">
                  <c:v>S1 LR</c:v>
                </c:pt>
              </c:strCache>
            </c:strRef>
          </c:tx>
          <c:spPr>
            <a:solidFill>
              <a:srgbClr val="2E7D32"/>
            </a:solidFill>
            <a:ln w="25400" cap="flat">
              <a:solidFill>
                <a:srgbClr val="2E7D32"/>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2E7D32"/>
              </a:solidFill>
              <a:ln w="9525" cap="flat">
                <a:solidFill>
                  <a:srgbClr val="2E7D32"/>
                </a:solidFill>
                <a:prstDash val="solid"/>
                <a:round/>
              </a:ln>
              <a:effectLst/>
            </c:spPr>
          </c:marker>
          <c:cat>
            <c:multiLvlStrRef>
              <c:f>Sheet1!$A$2:$A$4</c:f>
              <c:multiLvlStrCache>
                <c:ptCount val="3"/>
                <c:lvl>
                  <c:pt idx="0">
                    <c:v>12</c:v>
                  </c:pt>
                  <c:pt idx="1">
                    <c:v>24</c:v>
                  </c:pt>
                  <c:pt idx="2">
                    <c:v>36</c:v>
                  </c:pt>
                </c:lvl>
              </c:multiLvlStrCache>
            </c:multiLvlStrRef>
          </c:cat>
          <c:val>
            <c:numRef>
              <c:f>Sheet1!$B$2:$B$4</c:f>
              <c:numCache>
                <c:formatCode>General</c:formatCode>
                <c:ptCount val="3"/>
                <c:pt idx="0">
                  <c:v>0.831</c:v>
                </c:pt>
                <c:pt idx="1">
                  <c:v>0.896</c:v>
                </c:pt>
                <c:pt idx="2">
                  <c:v>0.915</c:v>
                </c:pt>
              </c:numCache>
            </c:numRef>
          </c:val>
          <c:smooth val="0"/>
        </c:ser>
        <c:ser>
          <c:idx val="1"/>
          <c:order val="1"/>
          <c:tx>
            <c:strRef>
              <c:f>Sheet1!$C$1</c:f>
              <c:strCache>
                <c:ptCount val="1"/>
                <c:pt idx="0">
                  <c:v>S8 SVM</c:v>
                </c:pt>
              </c:strCache>
            </c:strRef>
          </c:tx>
          <c:spPr>
            <a:solidFill>
              <a:srgbClr val="D08A00"/>
            </a:solidFill>
            <a:ln w="25400" cap="flat">
              <a:solidFill>
                <a:srgbClr val="D08A00"/>
              </a:solidFill>
              <a:prstDash val="solid"/>
              <a:round/>
            </a:ln>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c:symbol val="circle"/>
            <c:size val="7"/>
            <c:spPr>
              <a:solidFill>
                <a:srgbClr val="D08A00"/>
              </a:solidFill>
              <a:ln w="9525" cap="flat">
                <a:solidFill>
                  <a:srgbClr val="D08A00"/>
                </a:solidFill>
                <a:prstDash val="solid"/>
                <a:round/>
              </a:ln>
              <a:effectLst/>
            </c:spPr>
          </c:marker>
          <c:cat>
            <c:multiLvlStrRef>
              <c:f>Sheet1!$A$2:$A$4</c:f>
              <c:multiLvlStrCache>
                <c:ptCount val="3"/>
                <c:lvl>
                  <c:pt idx="0">
                    <c:v>12</c:v>
                  </c:pt>
                  <c:pt idx="1">
                    <c:v>24</c:v>
                  </c:pt>
                  <c:pt idx="2">
                    <c:v>36</c:v>
                  </c:pt>
                </c:lvl>
              </c:multiLvlStrCache>
            </c:multiLvlStrRef>
          </c:cat>
          <c:val>
            <c:numRef>
              <c:f>Sheet1!$C$2:$C$4</c:f>
              <c:numCache>
                <c:formatCode>General</c:formatCode>
                <c:ptCount val="3"/>
                <c:pt idx="0">
                  <c:v>0.837</c:v>
                </c:pt>
                <c:pt idx="1">
                  <c:v>0.879</c:v>
                </c:pt>
                <c:pt idx="2">
                  <c:v>0.89</c:v>
                </c:pt>
              </c:numCache>
            </c:numRef>
          </c:val>
          <c:smooth val="0"/>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5"/>
                    </a:solidFill>
                    <a:latin typeface="+mn-lt"/>
                  </a:defRPr>
                </a:pPr>
                <a:r>
                  <a:rPr sz="1000" b="0" i="0" u="none" strike="noStrike">
                    <a:solidFill>
                      <a:srgbClr val="555555"/>
                    </a:solidFill>
                    <a:latin typeface="+mn-lt"/>
                  </a:rPr>
                  <a:t>Training plots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D2B"/>
                </a:solidFill>
                <a:latin typeface="+mj-lt"/>
              </a:defRPr>
            </a:pPr>
            <a:r>
              <a:rPr sz="1300" b="0" i="0" u="none" strike="noStrike">
                <a:solidFill>
                  <a:srgbClr val="1F3D2B"/>
                </a:solidFill>
                <a:latin typeface="+mj-lt"/>
              </a:rPr>
              <a:t>E5: simulated sensors</a:t>
            </a:r>
          </a:p>
        </c:rich>
      </c:tx>
      <c:layout/>
      <c:overlay val="0"/>
    </c:title>
    <c:autoTitleDeleted val="0"/>
    <c:plotArea>
      <c:layout/>
      <c:barChart>
        <c:barDir val="col"/>
        <c:grouping val="clustered"/>
        <c:varyColors val="0"/>
        <c:ser>
          <c:idx val="0"/>
          <c:order val="0"/>
          <c:tx>
            <c:strRef>
              <c:f>Sheet1!$B$1</c:f>
              <c:strCache>
                <c:ptCount val="1"/>
                <c:pt idx="0">
                  <c:v>LR</c:v>
                </c:pt>
              </c:strCache>
            </c:strRef>
          </c:tx>
          <c:spPr>
            <a:solidFill>
              <a:srgbClr val="2A6FB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Sheet1!$A$2:$A$3</c:f>
              <c:multiLvlStrCache>
                <c:ptCount val="2"/>
                <c:lvl>
                  <c:pt idx="0">
                    <c:v>Sentinel-2 MSI</c:v>
                  </c:pt>
                  <c:pt idx="1">
                    <c:v>UAV multispectral</c:v>
                  </c:pt>
                </c:lvl>
              </c:multiLvlStrCache>
            </c:multiLvlStrRef>
          </c:cat>
          <c:val>
            <c:numRef>
              <c:f>Sheet1!$B$2:$B$3</c:f>
              <c:numCache>
                <c:formatCode>General</c:formatCode>
                <c:ptCount val="2"/>
                <c:pt idx="0">
                  <c:v>0.735</c:v>
                </c:pt>
                <c:pt idx="1">
                  <c:v>0.614</c:v>
                </c:pt>
              </c:numCache>
            </c:numRef>
          </c:val>
        </c:ser>
        <c:ser>
          <c:idx val="1"/>
          <c:order val="1"/>
          <c:tx>
            <c:strRef>
              <c:f>Sheet1!$C$1</c:f>
              <c:strCache>
                <c:ptCount val="1"/>
                <c:pt idx="0">
                  <c:v>SVM</c:v>
                </c:pt>
              </c:strCache>
            </c:strRef>
          </c:tx>
          <c:spPr>
            <a:solidFill>
              <a:srgbClr val="2E7D32"/>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Sheet1!$A$2:$A$3</c:f>
              <c:multiLvlStrCache>
                <c:ptCount val="2"/>
                <c:lvl>
                  <c:pt idx="0">
                    <c:v>Sentinel-2 MSI</c:v>
                  </c:pt>
                  <c:pt idx="1">
                    <c:v>UAV multispectral</c:v>
                  </c:pt>
                </c:lvl>
              </c:multiLvlStrCache>
            </c:multiLvlStrRef>
          </c:cat>
          <c:val>
            <c:numRef>
              <c:f>Sheet1!$C$2:$C$3</c:f>
              <c:numCache>
                <c:formatCode>General</c:formatCode>
                <c:ptCount val="2"/>
                <c:pt idx="0">
                  <c:v>0.739</c:v>
                </c:pt>
                <c:pt idx="1">
                  <c:v>0.668</c:v>
                </c:pt>
              </c:numCache>
            </c:numRef>
          </c:val>
        </c:ser>
        <c:ser>
          <c:idx val="2"/>
          <c:order val="2"/>
          <c:tx>
            <c:strRef>
              <c:f>Sheet1!$D$1</c:f>
              <c:strCache>
                <c:ptCount val="1"/>
                <c:pt idx="0">
                  <c:v>RF</c:v>
                </c:pt>
              </c:strCache>
            </c:strRef>
          </c:tx>
          <c:spPr>
            <a:solidFill>
              <a:srgbClr val="D08A00"/>
            </a:solidFill>
            <a:effectLst/>
          </c:spPr>
          <c:invertIfNegative val="0"/>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cat>
            <c:multiLvlStrRef>
              <c:f>Sheet1!$A$2:$A$3</c:f>
              <c:multiLvlStrCache>
                <c:ptCount val="2"/>
                <c:lvl>
                  <c:pt idx="0">
                    <c:v>Sentinel-2 MSI</c:v>
                  </c:pt>
                  <c:pt idx="1">
                    <c:v>UAV multispectral</c:v>
                  </c:pt>
                </c:lvl>
              </c:multiLvlStrCache>
            </c:multiLvlStrRef>
          </c:cat>
          <c:val>
            <c:numRef>
              <c:f>Sheet1!$D$2:$D$3</c:f>
              <c:numCache>
                <c:formatCode>General</c:formatCode>
                <c:ptCount val="2"/>
                <c:pt idx="0">
                  <c:v>0.604</c:v>
                </c:pt>
                <c:pt idx="1">
                  <c:v>0.574</c:v>
                </c:pt>
              </c:numCache>
            </c:numRef>
          </c:val>
        </c:ser>
        <c:dLbls>
          <c:numFmt formatCode="#,##0" sourceLinked="0"/>
          <c:txPr>
            <a:bodyPr/>
            <a:lstStyle/>
            <a:p>
              <a:pPr>
                <a:defRPr b="0" i="0" strike="noStrike" sz="9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E3E3E3"/>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talk covers the study design, a literature-derived methodology, the full analysis and the discussion of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01168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731520" y="3794760"/>
            <a:ext cx="10698480" cy="21945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6473952"/>
            <a:ext cx="6400800" cy="274320"/>
          </a:xfrm>
          <a:prstGeom prst="rect">
            <a:avLst/>
          </a:prstGeom>
          <a:noFill/>
          <a:ln/>
        </p:spPr>
        <p:txBody>
          <a:bodyPr wrap="square" rtlCol="0" anchor="ctr"/>
          <a:lstStyle/>
          <a:p>
            <a:pPr indent="0" marL="0">
              <a:buNone/>
            </a:pPr>
            <a:r>
              <a:rPr lang="en-US" sz="900" dirty="0">
                <a:solidFill>
                  <a:schemeClr val="accent6"/>
                </a:solidFill>
              </a:rPr>
              <a:t>White rust detection in Indian mustard  |  PhD research seminar</a:t>
            </a:r>
            <a:endParaRPr lang="en-US" sz="9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chart" Target="/ppt/charts/chart28.xml"/><Relationship Id="rId3" Type="http://schemas.openxmlformats.org/officeDocument/2006/relationships/slideLayout" Target="../slideLayouts/slideLayout4.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01168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Hyperspectral detection of white rust (Albugo candida) in Indian mustard</a:t>
            </a:r>
            <a:endParaRPr lang="en-US" sz="3800" dirty="0"/>
          </a:p>
        </p:txBody>
      </p:sp>
      <p:sp>
        <p:nvSpPr>
          <p:cNvPr id="3" name="Text 0"/>
          <p:cNvSpPr/>
          <p:nvPr>
            <p:ph idx="101" type="body" hasCustomPrompt="1"/>
          </p:nvPr>
        </p:nvSpPr>
        <p:spPr>
          <a:xfrm>
            <a:off x="731520" y="3794760"/>
            <a:ext cx="10698480" cy="2194560"/>
          </a:xfrm>
          <a:prstGeom prst="rect">
            <a:avLst/>
          </a:prstGeom>
          <a:noFill/>
          <a:ln/>
        </p:spPr>
        <p:txBody>
          <a:bodyPr wrap="square" rtlCol="0" anchor="t"/>
          <a:lstStyle/>
          <a:p>
            <a:pPr indent="0" marL="0">
              <a:buNone/>
            </a:pPr>
            <a:r>
              <a:rPr lang="en-US" sz="1800" dirty="0">
                <a:solidFill>
                  <a:schemeClr val="bg2"/>
                </a:solidFill>
              </a:rPr>
              <a:t>Development of a pooled prediction model from ASD contact-probe spectra across dates, varieties and growth stages</a:t>
            </a:r>
            <a:endParaRPr lang="en-US" sz="1800" dirty="0"/>
          </a:p>
          <a:p>
            <a:pPr indent="0" marL="0">
              <a:buNone/>
            </a:pPr>
            <a:r>
              <a:rPr lang="en-US" sz="1000" dirty="0">
                <a:solidFill>
                  <a:schemeClr val="bg2"/>
                </a:solidFill>
              </a:rPr>
              <a:t> </a:t>
            </a:r>
            <a:endParaRPr lang="en-US" sz="1800" dirty="0"/>
          </a:p>
          <a:p>
            <a:pPr indent="0" marL="0">
              <a:buNone/>
            </a:pPr>
            <a:r>
              <a:rPr lang="en-US" sz="1500" dirty="0">
                <a:solidFill>
                  <a:schemeClr val="bg2"/>
                </a:solidFill>
              </a:rPr>
              <a:t>Animesh Panda  |  Division of Agricultural Physics, ICAR-IARI, New Delhi</a:t>
            </a:r>
            <a:endParaRPr lang="en-US" sz="1800" dirty="0"/>
          </a:p>
          <a:p>
            <a:pPr indent="0" marL="0">
              <a:buNone/>
            </a:pPr>
            <a:r>
              <a:rPr lang="en-US" sz="1300" dirty="0">
                <a:solidFill>
                  <a:schemeClr val="bg2"/>
                </a:solidFill>
              </a:rPr>
              <a:t>PhD research seminar  |  Methodology - Results - Discussion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Outline of the seminar</a:t>
            </a:r>
            <a:endParaRPr lang="en-US" sz="2800" dirty="0"/>
          </a:p>
        </p:txBody>
      </p:sp>
      <p:sp>
        <p:nvSpPr>
          <p:cNvPr id="3" name="Shape 1"/>
          <p:cNvSpPr/>
          <p:nvPr/>
        </p:nvSpPr>
        <p:spPr>
          <a:xfrm>
            <a:off x="548640" y="1325880"/>
            <a:ext cx="731520" cy="731520"/>
          </a:xfrm>
          <a:prstGeom prst="ellipse">
            <a:avLst/>
          </a:prstGeom>
          <a:solidFill>
            <a:schemeClr val="accent1"/>
          </a:solidFill>
          <a:ln w="12700">
            <a:solidFill>
              <a:schemeClr val="accent1"/>
            </a:solidFill>
            <a:prstDash val="solid"/>
          </a:ln>
        </p:spPr>
      </p:sp>
      <p:sp>
        <p:nvSpPr>
          <p:cNvPr id="4" name="Text 2"/>
          <p:cNvSpPr txBox="1"/>
          <p:nvPr/>
        </p:nvSpPr>
        <p:spPr>
          <a:xfrm>
            <a:off x="548640" y="13258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463040" y="130759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Introduction</a:t>
            </a:r>
            <a:endParaRPr lang="en-US" sz="2000" dirty="0"/>
          </a:p>
        </p:txBody>
      </p:sp>
      <p:sp>
        <p:nvSpPr>
          <p:cNvPr id="6" name="Text 4"/>
          <p:cNvSpPr txBox="1"/>
          <p:nvPr/>
        </p:nvSpPr>
        <p:spPr>
          <a:xfrm>
            <a:off x="1463040" y="171907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White rust, why spectra can detect it, research gaps</a:t>
            </a:r>
            <a:endParaRPr lang="en-US" sz="1400" dirty="0"/>
          </a:p>
        </p:txBody>
      </p:sp>
      <p:sp>
        <p:nvSpPr>
          <p:cNvPr id="7" name="Shape 5"/>
          <p:cNvSpPr/>
          <p:nvPr/>
        </p:nvSpPr>
        <p:spPr>
          <a:xfrm>
            <a:off x="6217920" y="1325880"/>
            <a:ext cx="731520" cy="731520"/>
          </a:xfrm>
          <a:prstGeom prst="ellipse">
            <a:avLst/>
          </a:prstGeom>
          <a:solidFill>
            <a:schemeClr val="accent1"/>
          </a:solidFill>
          <a:ln w="12700">
            <a:solidFill>
              <a:schemeClr val="accent1"/>
            </a:solidFill>
            <a:prstDash val="solid"/>
          </a:ln>
        </p:spPr>
      </p:sp>
      <p:sp>
        <p:nvSpPr>
          <p:cNvPr id="8" name="Text 6"/>
          <p:cNvSpPr txBox="1"/>
          <p:nvPr/>
        </p:nvSpPr>
        <p:spPr>
          <a:xfrm>
            <a:off x="6217920" y="13258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7132320" y="130759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Review of literature</a:t>
            </a:r>
            <a:endParaRPr lang="en-US" sz="2000" dirty="0"/>
          </a:p>
        </p:txBody>
      </p:sp>
      <p:sp>
        <p:nvSpPr>
          <p:cNvPr id="10" name="Text 8"/>
          <p:cNvSpPr txBox="1"/>
          <p:nvPr/>
        </p:nvSpPr>
        <p:spPr>
          <a:xfrm>
            <a:off x="7132320" y="171907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Ten studies that shaped the methodology</a:t>
            </a:r>
            <a:endParaRPr lang="en-US" sz="1400" dirty="0"/>
          </a:p>
        </p:txBody>
      </p:sp>
      <p:sp>
        <p:nvSpPr>
          <p:cNvPr id="11" name="Shape 9"/>
          <p:cNvSpPr/>
          <p:nvPr/>
        </p:nvSpPr>
        <p:spPr>
          <a:xfrm>
            <a:off x="548640" y="2880360"/>
            <a:ext cx="731520" cy="731520"/>
          </a:xfrm>
          <a:prstGeom prst="ellipse">
            <a:avLst/>
          </a:prstGeom>
          <a:solidFill>
            <a:schemeClr val="accent1"/>
          </a:solidFill>
          <a:ln w="12700">
            <a:solidFill>
              <a:schemeClr val="accent1"/>
            </a:solidFill>
            <a:prstDash val="solid"/>
          </a:ln>
        </p:spPr>
      </p:sp>
      <p:sp>
        <p:nvSpPr>
          <p:cNvPr id="12" name="Text 10"/>
          <p:cNvSpPr txBox="1"/>
          <p:nvPr/>
        </p:nvSpPr>
        <p:spPr>
          <a:xfrm>
            <a:off x="548640" y="28803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1463040" y="286207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Objectives</a:t>
            </a:r>
            <a:endParaRPr lang="en-US" sz="2000" dirty="0"/>
          </a:p>
        </p:txBody>
      </p:sp>
      <p:sp>
        <p:nvSpPr>
          <p:cNvPr id="14" name="Text 12"/>
          <p:cNvSpPr txBox="1"/>
          <p:nvPr/>
        </p:nvSpPr>
        <p:spPr>
          <a:xfrm>
            <a:off x="1463040" y="327355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Six objectives and hypotheses</a:t>
            </a:r>
            <a:endParaRPr lang="en-US" sz="1400" dirty="0"/>
          </a:p>
        </p:txBody>
      </p:sp>
      <p:sp>
        <p:nvSpPr>
          <p:cNvPr id="15" name="Shape 13"/>
          <p:cNvSpPr/>
          <p:nvPr/>
        </p:nvSpPr>
        <p:spPr>
          <a:xfrm>
            <a:off x="6217920" y="2880360"/>
            <a:ext cx="731520" cy="731520"/>
          </a:xfrm>
          <a:prstGeom prst="ellipse">
            <a:avLst/>
          </a:prstGeom>
          <a:solidFill>
            <a:schemeClr val="accent1"/>
          </a:solidFill>
          <a:ln w="12700">
            <a:solidFill>
              <a:schemeClr val="accent1"/>
            </a:solidFill>
            <a:prstDash val="solid"/>
          </a:ln>
        </p:spPr>
      </p:sp>
      <p:sp>
        <p:nvSpPr>
          <p:cNvPr id="16" name="Text 14"/>
          <p:cNvSpPr txBox="1"/>
          <p:nvPr/>
        </p:nvSpPr>
        <p:spPr>
          <a:xfrm>
            <a:off x="6217920" y="28803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Text 15"/>
          <p:cNvSpPr txBox="1"/>
          <p:nvPr/>
        </p:nvSpPr>
        <p:spPr>
          <a:xfrm>
            <a:off x="7132320" y="286207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Materials and methods</a:t>
            </a:r>
            <a:endParaRPr lang="en-US" sz="2000" dirty="0"/>
          </a:p>
        </p:txBody>
      </p:sp>
      <p:sp>
        <p:nvSpPr>
          <p:cNvPr id="18" name="Text 16"/>
          <p:cNvSpPr txBox="1"/>
          <p:nvPr/>
        </p:nvSpPr>
        <p:spPr>
          <a:xfrm>
            <a:off x="7132320" y="327355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Data, QC, features, selection, classifiers, validation</a:t>
            </a:r>
            <a:endParaRPr lang="en-US" sz="1400" dirty="0"/>
          </a:p>
        </p:txBody>
      </p:sp>
      <p:sp>
        <p:nvSpPr>
          <p:cNvPr id="19" name="Shape 17"/>
          <p:cNvSpPr/>
          <p:nvPr/>
        </p:nvSpPr>
        <p:spPr>
          <a:xfrm>
            <a:off x="548640" y="4434840"/>
            <a:ext cx="731520" cy="731520"/>
          </a:xfrm>
          <a:prstGeom prst="ellipse">
            <a:avLst/>
          </a:prstGeom>
          <a:solidFill>
            <a:schemeClr val="accent1"/>
          </a:solidFill>
          <a:ln w="12700">
            <a:solidFill>
              <a:schemeClr val="accent1"/>
            </a:solidFill>
            <a:prstDash val="solid"/>
          </a:ln>
        </p:spPr>
      </p:sp>
      <p:sp>
        <p:nvSpPr>
          <p:cNvPr id="20" name="Text 18"/>
          <p:cNvSpPr txBox="1"/>
          <p:nvPr/>
        </p:nvSpPr>
        <p:spPr>
          <a:xfrm>
            <a:off x="548640" y="44348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1" name="Text 19"/>
          <p:cNvSpPr txBox="1"/>
          <p:nvPr/>
        </p:nvSpPr>
        <p:spPr>
          <a:xfrm>
            <a:off x="1463040" y="441655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Results</a:t>
            </a:r>
            <a:endParaRPr lang="en-US" sz="2000" dirty="0"/>
          </a:p>
        </p:txBody>
      </p:sp>
      <p:sp>
        <p:nvSpPr>
          <p:cNvPr id="22" name="Text 20"/>
          <p:cNvSpPr txBox="1"/>
          <p:nvPr/>
        </p:nvSpPr>
        <p:spPr>
          <a:xfrm>
            <a:off x="1463040" y="482803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Spectral response, separability, features, models, transfer tests</a:t>
            </a:r>
            <a:endParaRPr lang="en-US" sz="1400" dirty="0"/>
          </a:p>
        </p:txBody>
      </p:sp>
      <p:sp>
        <p:nvSpPr>
          <p:cNvPr id="23" name="Shape 21"/>
          <p:cNvSpPr/>
          <p:nvPr/>
        </p:nvSpPr>
        <p:spPr>
          <a:xfrm>
            <a:off x="6217920" y="4434840"/>
            <a:ext cx="731520" cy="731520"/>
          </a:xfrm>
          <a:prstGeom prst="ellipse">
            <a:avLst/>
          </a:prstGeom>
          <a:solidFill>
            <a:schemeClr val="accent1"/>
          </a:solidFill>
          <a:ln w="12700">
            <a:solidFill>
              <a:schemeClr val="accent1"/>
            </a:solidFill>
            <a:prstDash val="solid"/>
          </a:ln>
        </p:spPr>
      </p:sp>
      <p:sp>
        <p:nvSpPr>
          <p:cNvPr id="24" name="Text 22"/>
          <p:cNvSpPr txBox="1"/>
          <p:nvPr/>
        </p:nvSpPr>
        <p:spPr>
          <a:xfrm>
            <a:off x="6217920" y="44348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25" name="Text 23"/>
          <p:cNvSpPr txBox="1"/>
          <p:nvPr/>
        </p:nvSpPr>
        <p:spPr>
          <a:xfrm>
            <a:off x="7132320" y="4416552"/>
            <a:ext cx="4480560" cy="411480"/>
          </a:xfrm>
          <a:prstGeom prst="rect">
            <a:avLst/>
          </a:prstGeom>
          <a:noFill/>
          <a:ln/>
        </p:spPr>
        <p:txBody>
          <a:bodyPr wrap="square" lIns="0" tIns="0" rIns="0" bIns="0" rtlCol="0" anchor="ctr"/>
          <a:lstStyle/>
          <a:p>
            <a:pPr indent="0" marL="0">
              <a:buNone/>
            </a:pPr>
            <a:r>
              <a:rPr lang="en-US" sz="2000" b="1" dirty="0">
                <a:solidFill>
                  <a:schemeClr val="tx2"/>
                </a:solidFill>
              </a:rPr>
              <a:t>Discussion and conclusions</a:t>
            </a:r>
            <a:endParaRPr lang="en-US" sz="2000" dirty="0"/>
          </a:p>
        </p:txBody>
      </p:sp>
      <p:sp>
        <p:nvSpPr>
          <p:cNvPr id="26" name="Text 24"/>
          <p:cNvSpPr txBox="1"/>
          <p:nvPr/>
        </p:nvSpPr>
        <p:spPr>
          <a:xfrm>
            <a:off x="7132320" y="4828032"/>
            <a:ext cx="4480560" cy="411480"/>
          </a:xfrm>
          <a:prstGeom prst="rect">
            <a:avLst/>
          </a:prstGeom>
          <a:noFill/>
          <a:ln/>
        </p:spPr>
        <p:txBody>
          <a:bodyPr wrap="square" lIns="0" tIns="0" rIns="0" bIns="0" rtlCol="0" anchor="ctr"/>
          <a:lstStyle/>
          <a:p>
            <a:pPr indent="0" marL="0">
              <a:buNone/>
            </a:pPr>
            <a:r>
              <a:rPr lang="en-US" sz="1400" dirty="0">
                <a:solidFill>
                  <a:schemeClr val="accent6"/>
                </a:solidFill>
              </a:rPr>
              <a:t>Comparison with literature, limitations, future work</a:t>
            </a:r>
            <a:endParaRPr lang="en-US" sz="14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1. Introduction</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White rust of Indian mustard and the case for hyperspectral detection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White rust is a major foliar disease of Indian mustard</a:t>
            </a:r>
            <a:endParaRPr lang="en-US" sz="2800" dirty="0"/>
          </a:p>
        </p:txBody>
      </p:sp>
      <p:sp>
        <p:nvSpPr>
          <p:cNvPr id="3" name="Text 1"/>
          <p:cNvSpPr txBox="1"/>
          <p:nvPr/>
        </p:nvSpPr>
        <p:spPr>
          <a:xfrm>
            <a:off x="457200" y="1143000"/>
            <a:ext cx="5760720" cy="4846320"/>
          </a:xfrm>
          <a:prstGeom prst="rect">
            <a:avLst/>
          </a:prstGeom>
          <a:noFill/>
          <a:ln/>
        </p:spPr>
        <p:txBody>
          <a:bodyPr wrap="square" rtlCol="0" anchor="t"/>
          <a:lstStyle/>
          <a:p>
            <a:pPr marL="342900" indent="-342900">
              <a:spcAft>
                <a:spcPts val="600"/>
              </a:spcAft>
              <a:buSzPct val="100000"/>
              <a:buChar char="•"/>
            </a:pPr>
            <a:r>
              <a:rPr lang="en-US" sz="1500" b="1" dirty="0">
                <a:solidFill>
                  <a:schemeClr val="tx1"/>
                </a:solidFill>
              </a:rPr>
              <a:t>Pathogen: Albugo candida (oomycete), an obligate biotroph of crucifers</a:t>
            </a:r>
            <a:endParaRPr lang="en-US" sz="1500" dirty="0"/>
          </a:p>
          <a:p>
            <a:pPr lvl="1" marL="457200" indent="-228600">
              <a:spcAft>
                <a:spcPts val="600"/>
              </a:spcAft>
              <a:buSzPct val="100000"/>
              <a:buChar char="•"/>
            </a:pPr>
            <a:r>
              <a:rPr lang="en-US" sz="1500" dirty="0">
                <a:solidFill>
                  <a:schemeClr val="tx1"/>
                </a:solidFill>
              </a:rPr>
              <a:t>Symptoms: white, blister-like sori (pustules), mainly on the lower leaf surface; chlorosis; staghead on inflorescences</a:t>
            </a:r>
            <a:endParaRPr lang="en-US" sz="1500" dirty="0"/>
          </a:p>
          <a:p>
            <a:pPr lvl="1" marL="457200" indent="-228600">
              <a:spcAft>
                <a:spcPts val="600"/>
              </a:spcAft>
              <a:buSzPct val="100000"/>
              <a:buChar char="•"/>
            </a:pPr>
            <a:r>
              <a:rPr lang="en-US" sz="1500" dirty="0">
                <a:solidFill>
                  <a:schemeClr val="tx1"/>
                </a:solidFill>
              </a:rPr>
              <a:t>Yield losses are large in epidemic years; fungicide timing depends on early detection</a:t>
            </a:r>
            <a:endParaRPr lang="en-US" sz="1500" dirty="0"/>
          </a:p>
          <a:p>
            <a:pPr lvl="1" marL="457200" indent="-228600">
              <a:spcAft>
                <a:spcPts val="600"/>
              </a:spcAft>
              <a:buSzPct val="100000"/>
              <a:buChar char="•"/>
            </a:pPr>
            <a:r>
              <a:rPr lang="en-US" sz="1500" dirty="0">
                <a:solidFill>
                  <a:schemeClr val="tx1"/>
                </a:solidFill>
              </a:rPr>
              <a:t>Visual scoring is slow, subjective and cannot see pre-visual physiology</a:t>
            </a:r>
            <a:endParaRPr lang="en-US" sz="1500" dirty="0"/>
          </a:p>
          <a:p>
            <a:pPr marL="342900" indent="-342900">
              <a:spcAft>
                <a:spcPts val="600"/>
              </a:spcAft>
              <a:buSzPct val="100000"/>
              <a:buChar char="•"/>
            </a:pPr>
            <a:r>
              <a:rPr lang="en-US" sz="1500" b="1" dirty="0">
                <a:solidFill>
                  <a:schemeClr val="tx1"/>
                </a:solidFill>
              </a:rPr>
              <a:t>Leaf spectroscopy measures pigment, structure and water changes caused by infection</a:t>
            </a:r>
            <a:endParaRPr lang="en-US" sz="1500" dirty="0"/>
          </a:p>
          <a:p>
            <a:pPr lvl="1" marL="457200" indent="-228600">
              <a:spcAft>
                <a:spcPts val="600"/>
              </a:spcAft>
              <a:buSzPct val="100000"/>
              <a:buChar char="•"/>
            </a:pPr>
            <a:r>
              <a:rPr lang="en-US" sz="1500" dirty="0">
                <a:solidFill>
                  <a:schemeClr val="tx1"/>
                </a:solidFill>
              </a:rPr>
              <a:t>Question: can one model detect white rust whatever the date, variety or growth stage?</a:t>
            </a:r>
            <a:endParaRPr lang="en-US" sz="1500" dirty="0"/>
          </a:p>
        </p:txBody>
      </p:sp>
      <p:sp>
        <p:nvSpPr>
          <p:cNvPr id="4" name="Shape 2"/>
          <p:cNvSpPr/>
          <p:nvPr/>
        </p:nvSpPr>
        <p:spPr>
          <a:xfrm>
            <a:off x="6492240" y="1188720"/>
            <a:ext cx="5212080" cy="1463040"/>
          </a:xfrm>
          <a:prstGeom prst="roundRect">
            <a:avLst>
              <a:gd name="adj" fmla="val 5000"/>
            </a:avLst>
          </a:prstGeom>
          <a:solidFill>
            <a:schemeClr val="bg2"/>
          </a:solidFill>
          <a:ln w="12700">
            <a:solidFill>
              <a:schemeClr val="bg2"/>
            </a:solidFill>
            <a:prstDash val="solid"/>
          </a:ln>
        </p:spPr>
      </p:sp>
      <p:sp>
        <p:nvSpPr>
          <p:cNvPr id="5" name="Shape 3"/>
          <p:cNvSpPr/>
          <p:nvPr/>
        </p:nvSpPr>
        <p:spPr>
          <a:xfrm>
            <a:off x="6656832" y="1371600"/>
            <a:ext cx="384048" cy="384048"/>
          </a:xfrm>
          <a:prstGeom prst="ellipse">
            <a:avLst/>
          </a:prstGeom>
          <a:solidFill>
            <a:srgbClr val="2E7D32"/>
          </a:solidFill>
          <a:ln w="12700">
            <a:solidFill>
              <a:srgbClr val="2E7D32"/>
            </a:solidFill>
            <a:prstDash val="solid"/>
          </a:ln>
        </p:spPr>
      </p:sp>
      <p:sp>
        <p:nvSpPr>
          <p:cNvPr id="6" name="Text 4"/>
          <p:cNvSpPr txBox="1"/>
          <p:nvPr/>
        </p:nvSpPr>
        <p:spPr>
          <a:xfrm>
            <a:off x="7150608" y="130759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Pigments (400-700 nm)</a:t>
            </a:r>
            <a:endParaRPr lang="en-US" sz="1500" dirty="0"/>
          </a:p>
        </p:txBody>
      </p:sp>
      <p:sp>
        <p:nvSpPr>
          <p:cNvPr id="7" name="Text 5"/>
          <p:cNvSpPr txBox="1"/>
          <p:nvPr/>
        </p:nvSpPr>
        <p:spPr>
          <a:xfrm>
            <a:off x="6675120" y="1901952"/>
            <a:ext cx="4846320" cy="640080"/>
          </a:xfrm>
          <a:prstGeom prst="rect">
            <a:avLst/>
          </a:prstGeom>
          <a:noFill/>
          <a:ln/>
        </p:spPr>
        <p:txBody>
          <a:bodyPr wrap="square" lIns="0" tIns="0" rIns="0" bIns="0" rtlCol="0" anchor="t"/>
          <a:lstStyle/>
          <a:p>
            <a:pPr indent="0" marL="0">
              <a:buNone/>
            </a:pPr>
            <a:r>
              <a:rPr lang="en-US" sz="1300" dirty="0">
                <a:solidFill>
                  <a:schemeClr val="tx1"/>
                </a:solidFill>
              </a:rPr>
              <a:t>Chlorophyll, carotenoid and anthocyanin losses raise visible reflectance and shift the red edge.</a:t>
            </a:r>
            <a:endParaRPr lang="en-US" sz="1300" dirty="0"/>
          </a:p>
        </p:txBody>
      </p:sp>
      <p:sp>
        <p:nvSpPr>
          <p:cNvPr id="8" name="Shape 6"/>
          <p:cNvSpPr/>
          <p:nvPr/>
        </p:nvSpPr>
        <p:spPr>
          <a:xfrm>
            <a:off x="6492240" y="2788920"/>
            <a:ext cx="5212080" cy="1463040"/>
          </a:xfrm>
          <a:prstGeom prst="roundRect">
            <a:avLst>
              <a:gd name="adj" fmla="val 5000"/>
            </a:avLst>
          </a:prstGeom>
          <a:solidFill>
            <a:schemeClr val="bg2"/>
          </a:solidFill>
          <a:ln w="12700">
            <a:solidFill>
              <a:schemeClr val="bg2"/>
            </a:solidFill>
            <a:prstDash val="solid"/>
          </a:ln>
        </p:spPr>
      </p:sp>
      <p:sp>
        <p:nvSpPr>
          <p:cNvPr id="9" name="Shape 7"/>
          <p:cNvSpPr/>
          <p:nvPr/>
        </p:nvSpPr>
        <p:spPr>
          <a:xfrm>
            <a:off x="6656832" y="2971800"/>
            <a:ext cx="384048" cy="384048"/>
          </a:xfrm>
          <a:prstGeom prst="ellipse">
            <a:avLst/>
          </a:prstGeom>
          <a:solidFill>
            <a:srgbClr val="2A6FB0"/>
          </a:solidFill>
          <a:ln w="12700">
            <a:solidFill>
              <a:srgbClr val="2A6FB0"/>
            </a:solidFill>
            <a:prstDash val="solid"/>
          </a:ln>
        </p:spPr>
      </p:sp>
      <p:sp>
        <p:nvSpPr>
          <p:cNvPr id="10" name="Text 8"/>
          <p:cNvSpPr txBox="1"/>
          <p:nvPr/>
        </p:nvSpPr>
        <p:spPr>
          <a:xfrm>
            <a:off x="7150608" y="290779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Structure (700-1300 nm)</a:t>
            </a:r>
            <a:endParaRPr lang="en-US" sz="1500" dirty="0"/>
          </a:p>
        </p:txBody>
      </p:sp>
      <p:sp>
        <p:nvSpPr>
          <p:cNvPr id="11" name="Text 9"/>
          <p:cNvSpPr txBox="1"/>
          <p:nvPr/>
        </p:nvSpPr>
        <p:spPr>
          <a:xfrm>
            <a:off x="6675120" y="3502152"/>
            <a:ext cx="4846320" cy="640080"/>
          </a:xfrm>
          <a:prstGeom prst="rect">
            <a:avLst/>
          </a:prstGeom>
          <a:noFill/>
          <a:ln/>
        </p:spPr>
        <p:txBody>
          <a:bodyPr wrap="square" lIns="0" tIns="0" rIns="0" bIns="0" rtlCol="0" anchor="t"/>
          <a:lstStyle/>
          <a:p>
            <a:pPr indent="0" marL="0">
              <a:buNone/>
            </a:pPr>
            <a:r>
              <a:rPr lang="en-US" sz="1300" dirty="0">
                <a:solidFill>
                  <a:schemeClr val="tx1"/>
                </a:solidFill>
              </a:rPr>
              <a:t>Mesophyll disruption by haustoria changes NIR scattering; white pustules can raise reflectance.</a:t>
            </a:r>
            <a:endParaRPr lang="en-US" sz="1300" dirty="0"/>
          </a:p>
        </p:txBody>
      </p:sp>
      <p:sp>
        <p:nvSpPr>
          <p:cNvPr id="12" name="Shape 10"/>
          <p:cNvSpPr/>
          <p:nvPr/>
        </p:nvSpPr>
        <p:spPr>
          <a:xfrm>
            <a:off x="6492240" y="4389120"/>
            <a:ext cx="5212080" cy="1463040"/>
          </a:xfrm>
          <a:prstGeom prst="roundRect">
            <a:avLst>
              <a:gd name="adj" fmla="val 5000"/>
            </a:avLst>
          </a:prstGeom>
          <a:solidFill>
            <a:schemeClr val="bg2"/>
          </a:solidFill>
          <a:ln w="12700">
            <a:solidFill>
              <a:schemeClr val="bg2"/>
            </a:solidFill>
            <a:prstDash val="solid"/>
          </a:ln>
        </p:spPr>
      </p:sp>
      <p:sp>
        <p:nvSpPr>
          <p:cNvPr id="13" name="Shape 11"/>
          <p:cNvSpPr/>
          <p:nvPr/>
        </p:nvSpPr>
        <p:spPr>
          <a:xfrm>
            <a:off x="6656832" y="4572000"/>
            <a:ext cx="384048" cy="384048"/>
          </a:xfrm>
          <a:prstGeom prst="ellipse">
            <a:avLst/>
          </a:prstGeom>
          <a:solidFill>
            <a:srgbClr val="D08A00"/>
          </a:solidFill>
          <a:ln w="12700">
            <a:solidFill>
              <a:srgbClr val="D08A00"/>
            </a:solidFill>
            <a:prstDash val="solid"/>
          </a:ln>
        </p:spPr>
      </p:sp>
      <p:sp>
        <p:nvSpPr>
          <p:cNvPr id="14" name="Text 12"/>
          <p:cNvSpPr txBox="1"/>
          <p:nvPr/>
        </p:nvSpPr>
        <p:spPr>
          <a:xfrm>
            <a:off x="7150608" y="450799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Water and dry matter (1300-2400 nm)</a:t>
            </a:r>
            <a:endParaRPr lang="en-US" sz="1500" dirty="0"/>
          </a:p>
        </p:txBody>
      </p:sp>
      <p:sp>
        <p:nvSpPr>
          <p:cNvPr id="15" name="Text 13"/>
          <p:cNvSpPr txBox="1"/>
          <p:nvPr/>
        </p:nvSpPr>
        <p:spPr>
          <a:xfrm>
            <a:off x="6675120" y="5102352"/>
            <a:ext cx="4846320" cy="640080"/>
          </a:xfrm>
          <a:prstGeom prst="rect">
            <a:avLst/>
          </a:prstGeom>
          <a:noFill/>
          <a:ln/>
        </p:spPr>
        <p:txBody>
          <a:bodyPr wrap="square" lIns="0" tIns="0" rIns="0" bIns="0" rtlCol="0" anchor="t"/>
          <a:lstStyle/>
          <a:p>
            <a:pPr indent="0" marL="0">
              <a:buNone/>
            </a:pPr>
            <a:r>
              <a:rPr lang="en-US" sz="1300" dirty="0">
                <a:solidFill>
                  <a:schemeClr val="tx1"/>
                </a:solidFill>
              </a:rPr>
              <a:t>Water loss raises SWIR reflectance around 1450 and 1940 nm; cellulose/protein near 2100 nm.</a:t>
            </a:r>
            <a:endParaRPr lang="en-US" sz="1300" dirty="0"/>
          </a:p>
        </p:txBody>
      </p:sp>
      <p:sp>
        <p:nvSpPr>
          <p:cNvPr id="16" name="Text 14"/>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Saharan et al. (2014); Zhang et al. (2012); Tian et al. (2021);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Research gaps identified from the literature</a:t>
            </a:r>
            <a:endParaRPr lang="en-US" sz="2800" dirty="0"/>
          </a:p>
        </p:txBody>
      </p:sp>
      <p:sp>
        <p:nvSpPr>
          <p:cNvPr id="3" name="Shape 1"/>
          <p:cNvSpPr/>
          <p:nvPr/>
        </p:nvSpPr>
        <p:spPr>
          <a:xfrm>
            <a:off x="457200" y="1188720"/>
            <a:ext cx="5486400" cy="2240280"/>
          </a:xfrm>
          <a:prstGeom prst="roundRect">
            <a:avLst>
              <a:gd name="adj" fmla="val 3265"/>
            </a:avLst>
          </a:prstGeom>
          <a:solidFill>
            <a:schemeClr val="bg2"/>
          </a:solidFill>
          <a:ln w="12700">
            <a:solidFill>
              <a:schemeClr val="bg2"/>
            </a:solidFill>
            <a:prstDash val="solid"/>
          </a:ln>
        </p:spPr>
      </p:sp>
      <p:sp>
        <p:nvSpPr>
          <p:cNvPr id="4" name="Shape 2"/>
          <p:cNvSpPr/>
          <p:nvPr/>
        </p:nvSpPr>
        <p:spPr>
          <a:xfrm>
            <a:off x="621792" y="1371600"/>
            <a:ext cx="384048" cy="384048"/>
          </a:xfrm>
          <a:prstGeom prst="ellipse">
            <a:avLst/>
          </a:prstGeom>
          <a:solidFill>
            <a:srgbClr val="B03A2E"/>
          </a:solidFill>
          <a:ln w="12700">
            <a:solidFill>
              <a:srgbClr val="B03A2E"/>
            </a:solidFill>
            <a:prstDash val="solid"/>
          </a:ln>
        </p:spPr>
      </p:sp>
      <p:sp>
        <p:nvSpPr>
          <p:cNvPr id="5" name="Text 3"/>
          <p:cNvSpPr txBox="1"/>
          <p:nvPr/>
        </p:nvSpPr>
        <p:spPr>
          <a:xfrm>
            <a:off x="1115568" y="130759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Single-date models</a:t>
            </a:r>
            <a:endParaRPr lang="en-US" sz="1500" dirty="0"/>
          </a:p>
        </p:txBody>
      </p:sp>
      <p:sp>
        <p:nvSpPr>
          <p:cNvPr id="6" name="Text 4"/>
          <p:cNvSpPr txBox="1"/>
          <p:nvPr/>
        </p:nvSpPr>
        <p:spPr>
          <a:xfrm>
            <a:off x="640080" y="1901952"/>
            <a:ext cx="5120640" cy="1417320"/>
          </a:xfrm>
          <a:prstGeom prst="rect">
            <a:avLst/>
          </a:prstGeom>
          <a:noFill/>
          <a:ln/>
        </p:spPr>
        <p:txBody>
          <a:bodyPr wrap="square" lIns="0" tIns="0" rIns="0" bIns="0" rtlCol="0" anchor="t"/>
          <a:lstStyle/>
          <a:p>
            <a:pPr indent="0" marL="0">
              <a:buNone/>
            </a:pPr>
            <a:r>
              <a:rPr lang="en-US" sz="1300" dirty="0">
                <a:solidFill>
                  <a:schemeClr val="tx1"/>
                </a:solidFill>
              </a:rPr>
              <a:t>Most studies fit one date or one experiment; pooled models across dates, varieties and stages are rare (Tian et al., 2021; Lv et al., 2023).</a:t>
            </a:r>
            <a:endParaRPr lang="en-US" sz="1300" dirty="0"/>
          </a:p>
        </p:txBody>
      </p:sp>
      <p:sp>
        <p:nvSpPr>
          <p:cNvPr id="7" name="Shape 5"/>
          <p:cNvSpPr/>
          <p:nvPr/>
        </p:nvSpPr>
        <p:spPr>
          <a:xfrm>
            <a:off x="6126480" y="1188720"/>
            <a:ext cx="5486400" cy="2240280"/>
          </a:xfrm>
          <a:prstGeom prst="roundRect">
            <a:avLst>
              <a:gd name="adj" fmla="val 3265"/>
            </a:avLst>
          </a:prstGeom>
          <a:solidFill>
            <a:schemeClr val="bg2"/>
          </a:solidFill>
          <a:ln w="12700">
            <a:solidFill>
              <a:schemeClr val="bg2"/>
            </a:solidFill>
            <a:prstDash val="solid"/>
          </a:ln>
        </p:spPr>
      </p:sp>
      <p:sp>
        <p:nvSpPr>
          <p:cNvPr id="8" name="Shape 6"/>
          <p:cNvSpPr/>
          <p:nvPr/>
        </p:nvSpPr>
        <p:spPr>
          <a:xfrm>
            <a:off x="6291072" y="1371600"/>
            <a:ext cx="384048" cy="384048"/>
          </a:xfrm>
          <a:prstGeom prst="ellipse">
            <a:avLst/>
          </a:prstGeom>
          <a:solidFill>
            <a:srgbClr val="D08A00"/>
          </a:solidFill>
          <a:ln w="12700">
            <a:solidFill>
              <a:srgbClr val="D08A00"/>
            </a:solidFill>
            <a:prstDash val="solid"/>
          </a:ln>
        </p:spPr>
      </p:sp>
      <p:sp>
        <p:nvSpPr>
          <p:cNvPr id="9" name="Text 7"/>
          <p:cNvSpPr txBox="1"/>
          <p:nvPr/>
        </p:nvSpPr>
        <p:spPr>
          <a:xfrm>
            <a:off x="6784848" y="130759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Leakage in validation</a:t>
            </a:r>
            <a:endParaRPr lang="en-US" sz="1500" dirty="0"/>
          </a:p>
        </p:txBody>
      </p:sp>
      <p:sp>
        <p:nvSpPr>
          <p:cNvPr id="10" name="Text 8"/>
          <p:cNvSpPr txBox="1"/>
          <p:nvPr/>
        </p:nvSpPr>
        <p:spPr>
          <a:xfrm>
            <a:off x="6309360" y="1901952"/>
            <a:ext cx="5120640" cy="1417320"/>
          </a:xfrm>
          <a:prstGeom prst="rect">
            <a:avLst/>
          </a:prstGeom>
          <a:noFill/>
          <a:ln/>
        </p:spPr>
        <p:txBody>
          <a:bodyPr wrap="square" lIns="0" tIns="0" rIns="0" bIns="0" rtlCol="0" anchor="t"/>
          <a:lstStyle/>
          <a:p>
            <a:pPr indent="0" marL="0">
              <a:buNone/>
            </a:pPr>
            <a:r>
              <a:rPr lang="en-US" sz="1300" dirty="0">
                <a:solidFill>
                  <a:schemeClr val="tx1"/>
                </a:solidFill>
              </a:rPr>
              <a:t>Random spectrum-level splits mix repeated measurements of the same plot into train and test; feature selection on all data inflates accuracy (Varma &amp; Simon, 2006).</a:t>
            </a:r>
            <a:endParaRPr lang="en-US" sz="1300" dirty="0"/>
          </a:p>
        </p:txBody>
      </p:sp>
      <p:sp>
        <p:nvSpPr>
          <p:cNvPr id="11" name="Shape 9"/>
          <p:cNvSpPr/>
          <p:nvPr/>
        </p:nvSpPr>
        <p:spPr>
          <a:xfrm>
            <a:off x="457200" y="3611880"/>
            <a:ext cx="5486400" cy="2240280"/>
          </a:xfrm>
          <a:prstGeom prst="roundRect">
            <a:avLst>
              <a:gd name="adj" fmla="val 3265"/>
            </a:avLst>
          </a:prstGeom>
          <a:solidFill>
            <a:schemeClr val="bg2"/>
          </a:solidFill>
          <a:ln w="12700">
            <a:solidFill>
              <a:schemeClr val="bg2"/>
            </a:solidFill>
            <a:prstDash val="solid"/>
          </a:ln>
        </p:spPr>
      </p:sp>
      <p:sp>
        <p:nvSpPr>
          <p:cNvPr id="12" name="Shape 10"/>
          <p:cNvSpPr/>
          <p:nvPr/>
        </p:nvSpPr>
        <p:spPr>
          <a:xfrm>
            <a:off x="621792" y="3794760"/>
            <a:ext cx="384048" cy="384048"/>
          </a:xfrm>
          <a:prstGeom prst="ellipse">
            <a:avLst/>
          </a:prstGeom>
          <a:solidFill>
            <a:srgbClr val="2A6FB0"/>
          </a:solidFill>
          <a:ln w="12700">
            <a:solidFill>
              <a:srgbClr val="2A6FB0"/>
            </a:solidFill>
            <a:prstDash val="solid"/>
          </a:ln>
        </p:spPr>
      </p:sp>
      <p:sp>
        <p:nvSpPr>
          <p:cNvPr id="13" name="Text 11"/>
          <p:cNvSpPr txBox="1"/>
          <p:nvPr/>
        </p:nvSpPr>
        <p:spPr>
          <a:xfrm>
            <a:off x="1115568" y="373075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Few comparisons of feature types</a:t>
            </a:r>
            <a:endParaRPr lang="en-US" sz="1500" dirty="0"/>
          </a:p>
        </p:txBody>
      </p:sp>
      <p:sp>
        <p:nvSpPr>
          <p:cNvPr id="14" name="Text 12"/>
          <p:cNvSpPr txBox="1"/>
          <p:nvPr/>
        </p:nvSpPr>
        <p:spPr>
          <a:xfrm>
            <a:off x="640080" y="4325112"/>
            <a:ext cx="5120640" cy="1417320"/>
          </a:xfrm>
          <a:prstGeom prst="rect">
            <a:avLst/>
          </a:prstGeom>
          <a:noFill/>
          <a:ln/>
        </p:spPr>
        <p:txBody>
          <a:bodyPr wrap="square" lIns="0" tIns="0" rIns="0" bIns="0" rtlCol="0" anchor="t"/>
          <a:lstStyle/>
          <a:p>
            <a:pPr indent="0" marL="0">
              <a:buNone/>
            </a:pPr>
            <a:r>
              <a:rPr lang="en-US" sz="1300" dirty="0">
                <a:solidFill>
                  <a:schemeClr val="tx1"/>
                </a:solidFill>
              </a:rPr>
              <a:t>Bands, indices, derivatives, continuum removal and wavelets are seldom compared under one validation design (Lv et al., 2023).</a:t>
            </a:r>
            <a:endParaRPr lang="en-US" sz="1300" dirty="0"/>
          </a:p>
        </p:txBody>
      </p:sp>
      <p:sp>
        <p:nvSpPr>
          <p:cNvPr id="15" name="Shape 13"/>
          <p:cNvSpPr/>
          <p:nvPr/>
        </p:nvSpPr>
        <p:spPr>
          <a:xfrm>
            <a:off x="6126480" y="3611880"/>
            <a:ext cx="5486400" cy="2240280"/>
          </a:xfrm>
          <a:prstGeom prst="roundRect">
            <a:avLst>
              <a:gd name="adj" fmla="val 3265"/>
            </a:avLst>
          </a:prstGeom>
          <a:solidFill>
            <a:schemeClr val="bg2"/>
          </a:solidFill>
          <a:ln w="12700">
            <a:solidFill>
              <a:schemeClr val="bg2"/>
            </a:solidFill>
            <a:prstDash val="solid"/>
          </a:ln>
        </p:spPr>
      </p:sp>
      <p:sp>
        <p:nvSpPr>
          <p:cNvPr id="16" name="Shape 14"/>
          <p:cNvSpPr/>
          <p:nvPr/>
        </p:nvSpPr>
        <p:spPr>
          <a:xfrm>
            <a:off x="6291072" y="3794760"/>
            <a:ext cx="384048" cy="384048"/>
          </a:xfrm>
          <a:prstGeom prst="ellipse">
            <a:avLst/>
          </a:prstGeom>
          <a:solidFill>
            <a:srgbClr val="2E7D32"/>
          </a:solidFill>
          <a:ln w="12700">
            <a:solidFill>
              <a:srgbClr val="2E7D32"/>
            </a:solidFill>
            <a:prstDash val="solid"/>
          </a:ln>
        </p:spPr>
      </p:sp>
      <p:sp>
        <p:nvSpPr>
          <p:cNvPr id="17" name="Text 15"/>
          <p:cNvSpPr txBox="1"/>
          <p:nvPr/>
        </p:nvSpPr>
        <p:spPr>
          <a:xfrm>
            <a:off x="6784848" y="373075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No white-rust spectral index</a:t>
            </a:r>
            <a:endParaRPr lang="en-US" sz="1500" dirty="0"/>
          </a:p>
        </p:txBody>
      </p:sp>
      <p:sp>
        <p:nvSpPr>
          <p:cNvPr id="18" name="Text 16"/>
          <p:cNvSpPr txBox="1"/>
          <p:nvPr/>
        </p:nvSpPr>
        <p:spPr>
          <a:xfrm>
            <a:off x="6309360" y="4325112"/>
            <a:ext cx="5120640" cy="1417320"/>
          </a:xfrm>
          <a:prstGeom prst="rect">
            <a:avLst/>
          </a:prstGeom>
          <a:noFill/>
          <a:ln/>
        </p:spPr>
        <p:txBody>
          <a:bodyPr wrap="square" lIns="0" tIns="0" rIns="0" bIns="0" rtlCol="0" anchor="t"/>
          <a:lstStyle/>
          <a:p>
            <a:pPr indent="0" marL="0">
              <a:buNone/>
            </a:pPr>
            <a:r>
              <a:rPr lang="en-US" sz="1300" dirty="0">
                <a:solidFill>
                  <a:schemeClr val="tx1"/>
                </a:solidFill>
              </a:rPr>
              <a:t>Disease-specific indices exist for blast, rusts and mildew (Mahlein et al., 2013; Mandal et al., 2023) but not for Albugo candida on mustard.</a:t>
            </a:r>
            <a:endParaRPr lang="en-US" sz="1300" dirty="0"/>
          </a:p>
        </p:txBody>
      </p:sp>
      <p:sp>
        <p:nvSpPr>
          <p:cNvPr id="19" name="Text 17"/>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Synthesis of the ten reviewed studies; Roberts et al. (2017)</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2. Review of literature</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Ten studies on spectral disease detection used to build the methodology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Reviewed studies: designs, methods and best reported accuracy</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2103120"/>
                <a:gridCol w="1737360"/>
                <a:gridCol w="1554480"/>
                <a:gridCol w="3931920"/>
                <a:gridCol w="1920240"/>
              </a:tblGrid>
              <a:tr h="411480">
                <a:tc>
                  <a:txBody>
                    <a:bodyPr/>
                    <a:lstStyle/>
                    <a:p>
                      <a:pPr algn="ctr" indent="0" marL="0">
                        <a:buNone/>
                      </a:pPr>
                      <a:r>
                        <a:rPr lang="en-US" sz="1150" b="1" dirty="0">
                          <a:solidFill>
                            <a:srgbClr val="FFFFFF"/>
                          </a:solidFill>
                        </a:rPr>
                        <a:t>Study</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Crop / disease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Sensor</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Key methods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Best result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11480">
                <a:tc>
                  <a:txBody>
                    <a:bodyPr/>
                    <a:lstStyle/>
                    <a:p>
                      <a:pPr indent="0" marL="0">
                        <a:buNone/>
                      </a:pPr>
                      <a:r>
                        <a:rPr lang="en-US" sz="1150" dirty="0">
                          <a:solidFill>
                            <a:srgbClr val="1A1A1A"/>
                          </a:solidFill>
                        </a:rPr>
                        <a:t>Mandal et al. 2022,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Rice blast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ASD canopy</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SG, GA-PLS, J-M, VIs, NDSI map, PLS/RF/SVM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SVM R² 0.94; 10-class acc. 0.61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A1A"/>
                          </a:solidFill>
                        </a:rPr>
                        <a:t>Selvaprakash et al. 2026</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Rice blast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ASD leaf</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SNV/MSC, derivatives, PCA/t-SNE, Isolation Forest, RF</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RBI F1 0.95</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11480">
                <a:tc>
                  <a:txBody>
                    <a:bodyPr/>
                    <a:lstStyle/>
                    <a:p>
                      <a:pPr indent="0" marL="0">
                        <a:buNone/>
                      </a:pPr>
                      <a:r>
                        <a:rPr lang="en-US" sz="1150" dirty="0">
                          <a:solidFill>
                            <a:srgbClr val="1A1A1A"/>
                          </a:solidFill>
                        </a:rPr>
                        <a:t>Tian et al. 2021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Rice leaf blast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ASD leaf clip</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Bands+VIs+CWT, stability, VIF, SFFS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OA 65-98.7% (stage)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A1A"/>
                          </a:solidFill>
                        </a:rPr>
                        <a:t>Lv et al.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Maize SCLB</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PSR leaf clip</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Date norm., FSD+CWT+SB/SI, RELIEF-F, SFFS-SVM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OA 87.1% (asympt.)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11480">
                <a:tc>
                  <a:txBody>
                    <a:bodyPr/>
                    <a:lstStyle/>
                    <a:p>
                      <a:pPr indent="0" marL="0">
                        <a:buNone/>
                      </a:pPr>
                      <a:r>
                        <a:rPr lang="en-US" sz="1150" dirty="0">
                          <a:solidFill>
                            <a:srgbClr val="1A1A1A"/>
                          </a:solidFill>
                        </a:rPr>
                        <a:t>Terentev et al.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Wheat leaf rust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HSI 450-850 nm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Band means, VIs, texture, cross-experiment 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Acc. 98%</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A1A"/>
                          </a:solidFill>
                        </a:rPr>
                        <a:t>Zhang et al. 2012</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Wheat powdery mildew</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ASD + sphere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Derivative, CR, VIs, PLSR, FLDA</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OA 0.89, κ 0.84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11480">
                <a:tc>
                  <a:txBody>
                    <a:bodyPr/>
                    <a:lstStyle/>
                    <a:p>
                      <a:pPr indent="0" marL="0">
                        <a:buNone/>
                      </a:pPr>
                      <a:r>
                        <a:rPr lang="en-US" sz="1150" dirty="0">
                          <a:solidFill>
                            <a:srgbClr val="1A1A1A"/>
                          </a:solidFill>
                        </a:rPr>
                        <a:t>Zhu et al. 2017</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Tobacco TMV</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HSI 380-1023 nm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SPA, texture, PLS-DA/LS-SVM/ELM/BPNN</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Acc. 98.3%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A1A"/>
                          </a:solidFill>
                        </a:rPr>
                        <a:t>Huang et al. 2020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Wheat FHB</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HSI 400-1000 nm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SPA, colour/texture, PSO-SVM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Acc. 92%</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11480">
                <a:tc>
                  <a:txBody>
                    <a:bodyPr/>
                    <a:lstStyle/>
                    <a:p>
                      <a:pPr indent="0" marL="0">
                        <a:buNone/>
                      </a:pPr>
                      <a:r>
                        <a:rPr lang="en-US" sz="1150" dirty="0">
                          <a:solidFill>
                            <a:srgbClr val="1A1A1A"/>
                          </a:solidFill>
                        </a:rPr>
                        <a:t>Nguyen et al.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Wheat yellow rust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UAV 5-band</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VIs, GLCM, PCA, SVM/RF/MLP/3D-CNN</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OA 79%</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A1A"/>
                          </a:solidFill>
                        </a:rPr>
                        <a:t>Panda 2026 (own, prior)</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Mustard white rust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ASD contact probe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23 filter/wrapper/embedded selectors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SVM-RFE best; QDA BA 87%</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Text 1"/>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Papers provided by the researcher; Panda 2026 = researcher workbook/presentation on feature selection</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What each study contributed to this methodology</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2103120"/>
                <a:gridCol w="5669280"/>
                <a:gridCol w="3474720"/>
              </a:tblGrid>
              <a:tr h="512064">
                <a:tc>
                  <a:txBody>
                    <a:bodyPr/>
                    <a:lstStyle/>
                    <a:p>
                      <a:pPr algn="ctr" indent="0" marL="0">
                        <a:buNone/>
                      </a:pPr>
                      <a:r>
                        <a:rPr lang="en-US" sz="1200" b="1" dirty="0">
                          <a:solidFill>
                            <a:srgbClr val="FFFFFF"/>
                          </a:solidFill>
                        </a:rPr>
                        <a:t>Step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Method adopted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From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512064">
                <a:tc>
                  <a:txBody>
                    <a:bodyPr/>
                    <a:lstStyle/>
                    <a:p>
                      <a:pPr indent="0" marL="0">
                        <a:buNone/>
                      </a:pPr>
                      <a:r>
                        <a:rPr lang="en-US" sz="1200" dirty="0">
                          <a:solidFill>
                            <a:srgbClr val="1A1A1A"/>
                          </a:solidFill>
                        </a:rPr>
                        <a:t>Data quality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Splice correction, edge trimming, SG smoothing, Isolation Forest outliers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Selvaprakash 2026; Mandal 2023; Hueni &amp; Bialek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A1A1A"/>
                          </a:solidFill>
                        </a:rPr>
                        <a:t>Preprocessing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SNV / MSC, first derivative, date normalisation to a healthy baseline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Selvaprakash 2026; Lv 2023; Zhang 2012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12064">
                <a:tc>
                  <a:txBody>
                    <a:bodyPr/>
                    <a:lstStyle/>
                    <a:p>
                      <a:pPr indent="0" marL="0">
                        <a:buNone/>
                      </a:pPr>
                      <a:r>
                        <a:rPr lang="en-US" sz="1200" dirty="0">
                          <a:solidFill>
                            <a:srgbClr val="1A1A1A"/>
                          </a:solidFill>
                        </a:rPr>
                        <a:t>Spectral characterisation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Mean/difference/ratio spectra, correlation spectrum, red-edge parameters, J-M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Zhang 2012; Mandal 2022,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A1A1A"/>
                          </a:solidFill>
                        </a:rPr>
                        <a:t>Feature families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Bands, 46 VIs, NDSI search, derivatives, continuum removal, CWT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Mandal 2023; Lv 2023; Tian 2021; Zhang 2012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12064">
                <a:tc>
                  <a:txBody>
                    <a:bodyPr/>
                    <a:lstStyle/>
                    <a:p>
                      <a:pPr indent="0" marL="0">
                        <a:buNone/>
                      </a:pPr>
                      <a:r>
                        <a:rPr lang="en-US" sz="1200" dirty="0">
                          <a:solidFill>
                            <a:srgbClr val="1A1A1A"/>
                          </a:solidFill>
                        </a:rPr>
                        <a:t>Feature selection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RELIEF-F, temporal stability, VIF &lt; 10, SFFS; OFCs (SFFS-LDA/kNN/SVM); SPA; GA-PLS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Tian 2021; Lv 2023; Zhu 2017; Huang 2020; Mandal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A1A1A"/>
                          </a:solidFill>
                        </a:rPr>
                        <a:t>Classifiers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LDA, PLS-DA, LR, kNN, SVM, LS-SVM, RF, XGBoost, ELM, MLP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Zhu 2017; Nguyen 2023; Tian 2021; Mandal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12064">
                <a:tc>
                  <a:txBody>
                    <a:bodyPr/>
                    <a:lstStyle/>
                    <a:p>
                      <a:pPr indent="0" marL="0">
                        <a:buNone/>
                      </a:pPr>
                      <a:r>
                        <a:rPr lang="en-US" sz="1200" dirty="0">
                          <a:solidFill>
                            <a:srgbClr val="1A1A1A"/>
                          </a:solidFill>
                        </a:rPr>
                        <a:t>Validation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4-fold CV x repeats; cross-experiment / cross-date transfer; macro-F1, κ</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Tian 2021; Lv 2023; Terentev 2023; Nguyen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1A1A1A"/>
                          </a:solidFill>
                        </a:rPr>
                        <a:t>Not applicable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Image texture/colour, 3D-CNN, severity regression (no images, no scores)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Huang 2020; Zhu 2017; Nguyen 2023; Mandal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Text 1"/>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Synthesis by the author</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3. Objectives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Six objectives and testable hypotheses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Objectives and hypotheses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548640"/>
                <a:gridCol w="5394960"/>
                <a:gridCol w="5303520"/>
              </a:tblGrid>
              <a:tr h="685800">
                <a:tc>
                  <a:txBody>
                    <a:bodyPr/>
                    <a:lstStyle/>
                    <a:p>
                      <a:pPr algn="ctr" indent="0" marL="0">
                        <a:buNone/>
                      </a:pPr>
                      <a:r>
                        <a:rPr lang="en-US" sz="1300" b="1" dirty="0">
                          <a:solidFill>
                            <a:srgbClr val="FFFFFF"/>
                          </a:solidFill>
                        </a:rPr>
                        <a:t>#</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300" b="1" dirty="0">
                          <a:solidFill>
                            <a:srgbClr val="FFFFFF"/>
                          </a:solidFill>
                        </a:rPr>
                        <a:t>Objective</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300" b="1" dirty="0">
                          <a:solidFill>
                            <a:srgbClr val="FFFFFF"/>
                          </a:solidFill>
                        </a:rPr>
                        <a:t>Hypothesis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685800">
                <a:tc>
                  <a:txBody>
                    <a:bodyPr/>
                    <a:lstStyle/>
                    <a:p>
                      <a:pPr indent="0" marL="0">
                        <a:buNone/>
                      </a:pPr>
                      <a:r>
                        <a:rPr lang="en-US" sz="1300" dirty="0">
                          <a:solidFill>
                            <a:srgbClr val="1A1A1A"/>
                          </a:solidFill>
                        </a:rPr>
                        <a:t>O1</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Characterise the spectral response of mustard leaves to white rust</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H1: VIS/red-edge reflectance rises; NIR and SWIR change with structure and water</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A1A1A"/>
                          </a:solidFill>
                        </a:rPr>
                        <a:t>O2</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Partition spectral variance into disease vs date, variety and stage</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H2: disease is significant after accounting for nuisance factors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685800">
                <a:tc>
                  <a:txBody>
                    <a:bodyPr/>
                    <a:lstStyle/>
                    <a:p>
                      <a:pPr indent="0" marL="0">
                        <a:buNone/>
                      </a:pPr>
                      <a:r>
                        <a:rPr lang="en-US" sz="1300" dirty="0">
                          <a:solidFill>
                            <a:srgbClr val="1A1A1A"/>
                          </a:solidFill>
                        </a:rPr>
                        <a:t>O3</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Identify disease features stable across dates and varieties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H3: a few bands/indices/derivatives/wavelets separate classes on every date</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A1A1A"/>
                          </a:solidFill>
                        </a:rPr>
                        <a:t>O4</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Develop a novel Mustard White Rust Index (MWRI)</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H4: an optimal band pair beats published indices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685800">
                <a:tc>
                  <a:txBody>
                    <a:bodyPr/>
                    <a:lstStyle/>
                    <a:p>
                      <a:pPr indent="0" marL="0">
                        <a:buNone/>
                      </a:pPr>
                      <a:r>
                        <a:rPr lang="en-US" sz="1300" dirty="0">
                          <a:solidFill>
                            <a:srgbClr val="1A1A1A"/>
                          </a:solidFill>
                        </a:rPr>
                        <a:t>O5</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Compare feature types, selection methods and 10 classifiers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H5: combined, selected features match or beat single families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A1A1A"/>
                          </a:solidFill>
                        </a:rPr>
                        <a:t>O6</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Test transfer to unseen dates, varieties and stages</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H6: accuracy holds when a whole date/variety/stage is held out</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4. Materials and methods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Data, quality control, features, selection, classifiers and validation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Experimental material and dataset</a:t>
            </a:r>
            <a:endParaRPr lang="en-US" sz="2800" dirty="0"/>
          </a:p>
        </p:txBody>
      </p:sp>
      <p:sp>
        <p:nvSpPr>
          <p:cNvPr id="3" name="Text 1"/>
          <p:cNvSpPr txBox="1"/>
          <p:nvPr/>
        </p:nvSpPr>
        <p:spPr>
          <a:xfrm>
            <a:off x="548640" y="1234440"/>
            <a:ext cx="2560320" cy="777240"/>
          </a:xfrm>
          <a:prstGeom prst="rect">
            <a:avLst/>
          </a:prstGeom>
          <a:noFill/>
          <a:ln/>
        </p:spPr>
        <p:txBody>
          <a:bodyPr wrap="square" lIns="0" tIns="0" rIns="0" bIns="0" rtlCol="0" anchor="ctr"/>
          <a:lstStyle/>
          <a:p>
            <a:pPr algn="l" indent="0" marL="0">
              <a:buNone/>
            </a:pPr>
            <a:r>
              <a:rPr lang="en-US" sz="4000" b="1" dirty="0">
                <a:solidFill>
                  <a:srgbClr val="2E7D32"/>
                </a:solidFill>
                <a:latin typeface="Cambria" pitchFamily="34" charset="0"/>
                <a:ea typeface="Cambria" pitchFamily="34" charset="-122"/>
                <a:cs typeface="Cambria" pitchFamily="34" charset="-120"/>
              </a:rPr>
              <a:t>48</a:t>
            </a:r>
            <a:endParaRPr lang="en-US" sz="4000" dirty="0"/>
          </a:p>
        </p:txBody>
      </p:sp>
      <p:sp>
        <p:nvSpPr>
          <p:cNvPr id="4" name="Text 2"/>
          <p:cNvSpPr txBox="1"/>
          <p:nvPr/>
        </p:nvSpPr>
        <p:spPr>
          <a:xfrm>
            <a:off x="548640" y="2011680"/>
            <a:ext cx="2560320" cy="457200"/>
          </a:xfrm>
          <a:prstGeom prst="rect">
            <a:avLst/>
          </a:prstGeom>
          <a:noFill/>
          <a:ln/>
        </p:spPr>
        <p:txBody>
          <a:bodyPr wrap="square" lIns="0" tIns="0" rIns="0" bIns="0" rtlCol="0" anchor="ctr"/>
          <a:lstStyle/>
          <a:p>
            <a:pPr indent="0" marL="0">
              <a:buNone/>
            </a:pPr>
            <a:r>
              <a:rPr lang="en-US" sz="1300" dirty="0">
                <a:solidFill>
                  <a:schemeClr val="accent6"/>
                </a:solidFill>
              </a:rPr>
              <a:t>plots (3 varieties x 16)</a:t>
            </a:r>
            <a:endParaRPr lang="en-US" sz="1300" dirty="0"/>
          </a:p>
        </p:txBody>
      </p:sp>
      <p:sp>
        <p:nvSpPr>
          <p:cNvPr id="5" name="Text 3"/>
          <p:cNvSpPr txBox="1"/>
          <p:nvPr/>
        </p:nvSpPr>
        <p:spPr>
          <a:xfrm>
            <a:off x="3200400" y="1234440"/>
            <a:ext cx="2560320" cy="777240"/>
          </a:xfrm>
          <a:prstGeom prst="rect">
            <a:avLst/>
          </a:prstGeom>
          <a:noFill/>
          <a:ln/>
        </p:spPr>
        <p:txBody>
          <a:bodyPr wrap="square" lIns="0" tIns="0" rIns="0" bIns="0" rtlCol="0" anchor="ctr"/>
          <a:lstStyle/>
          <a:p>
            <a:pPr algn="l" indent="0" marL="0">
              <a:buNone/>
            </a:pPr>
            <a:r>
              <a:rPr lang="en-US" sz="4000" b="1" dirty="0">
                <a:solidFill>
                  <a:srgbClr val="2A6FB0"/>
                </a:solidFill>
                <a:latin typeface="Cambria" pitchFamily="34" charset="0"/>
                <a:ea typeface="Cambria" pitchFamily="34" charset="-122"/>
                <a:cs typeface="Cambria" pitchFamily="34" charset="-120"/>
              </a:rPr>
              <a:t>4</a:t>
            </a:r>
            <a:endParaRPr lang="en-US" sz="4000" dirty="0"/>
          </a:p>
        </p:txBody>
      </p:sp>
      <p:sp>
        <p:nvSpPr>
          <p:cNvPr id="6" name="Text 4"/>
          <p:cNvSpPr txBox="1"/>
          <p:nvPr/>
        </p:nvSpPr>
        <p:spPr>
          <a:xfrm>
            <a:off x="3200400" y="2011680"/>
            <a:ext cx="2560320" cy="457200"/>
          </a:xfrm>
          <a:prstGeom prst="rect">
            <a:avLst/>
          </a:prstGeom>
          <a:noFill/>
          <a:ln/>
        </p:spPr>
        <p:txBody>
          <a:bodyPr wrap="square" lIns="0" tIns="0" rIns="0" bIns="0" rtlCol="0" anchor="ctr"/>
          <a:lstStyle/>
          <a:p>
            <a:pPr indent="0" marL="0">
              <a:buNone/>
            </a:pPr>
            <a:r>
              <a:rPr lang="en-US" sz="1300" dirty="0">
                <a:solidFill>
                  <a:schemeClr val="accent6"/>
                </a:solidFill>
              </a:rPr>
              <a:t>measurement dates</a:t>
            </a:r>
            <a:endParaRPr lang="en-US" sz="1300" dirty="0"/>
          </a:p>
        </p:txBody>
      </p:sp>
      <p:sp>
        <p:nvSpPr>
          <p:cNvPr id="7" name="Text 5"/>
          <p:cNvSpPr txBox="1"/>
          <p:nvPr/>
        </p:nvSpPr>
        <p:spPr>
          <a:xfrm>
            <a:off x="548640" y="2651760"/>
            <a:ext cx="2560320" cy="777240"/>
          </a:xfrm>
          <a:prstGeom prst="rect">
            <a:avLst/>
          </a:prstGeom>
          <a:noFill/>
          <a:ln/>
        </p:spPr>
        <p:txBody>
          <a:bodyPr wrap="square" lIns="0" tIns="0" rIns="0" bIns="0" rtlCol="0" anchor="ctr"/>
          <a:lstStyle/>
          <a:p>
            <a:pPr algn="l" indent="0" marL="0">
              <a:buNone/>
            </a:pPr>
            <a:r>
              <a:rPr lang="en-US" sz="4000" b="1" dirty="0">
                <a:solidFill>
                  <a:srgbClr val="D08A00"/>
                </a:solidFill>
                <a:latin typeface="Cambria" pitchFamily="34" charset="0"/>
                <a:ea typeface="Cambria" pitchFamily="34" charset="-122"/>
                <a:cs typeface="Cambria" pitchFamily="34" charset="-120"/>
              </a:rPr>
              <a:t>2339</a:t>
            </a:r>
            <a:endParaRPr lang="en-US" sz="4000" dirty="0"/>
          </a:p>
        </p:txBody>
      </p:sp>
      <p:sp>
        <p:nvSpPr>
          <p:cNvPr id="8" name="Text 6"/>
          <p:cNvSpPr txBox="1"/>
          <p:nvPr/>
        </p:nvSpPr>
        <p:spPr>
          <a:xfrm>
            <a:off x="548640" y="3429000"/>
            <a:ext cx="2560320" cy="457200"/>
          </a:xfrm>
          <a:prstGeom prst="rect">
            <a:avLst/>
          </a:prstGeom>
          <a:noFill/>
          <a:ln/>
        </p:spPr>
        <p:txBody>
          <a:bodyPr wrap="square" lIns="0" tIns="0" rIns="0" bIns="0" rtlCol="0" anchor="ctr"/>
          <a:lstStyle/>
          <a:p>
            <a:pPr indent="0" marL="0">
              <a:buNone/>
            </a:pPr>
            <a:r>
              <a:rPr lang="en-US" sz="1300" dirty="0">
                <a:solidFill>
                  <a:schemeClr val="accent6"/>
                </a:solidFill>
              </a:rPr>
              <a:t>contact-probe spectra</a:t>
            </a:r>
            <a:endParaRPr lang="en-US" sz="1300" dirty="0"/>
          </a:p>
        </p:txBody>
      </p:sp>
      <p:sp>
        <p:nvSpPr>
          <p:cNvPr id="9" name="Text 7"/>
          <p:cNvSpPr txBox="1"/>
          <p:nvPr/>
        </p:nvSpPr>
        <p:spPr>
          <a:xfrm>
            <a:off x="3200400" y="2651760"/>
            <a:ext cx="2560320" cy="777240"/>
          </a:xfrm>
          <a:prstGeom prst="rect">
            <a:avLst/>
          </a:prstGeom>
          <a:noFill/>
          <a:ln/>
        </p:spPr>
        <p:txBody>
          <a:bodyPr wrap="square" lIns="0" tIns="0" rIns="0" bIns="0" rtlCol="0" anchor="ctr"/>
          <a:lstStyle/>
          <a:p>
            <a:pPr algn="l" indent="0" marL="0">
              <a:buNone/>
            </a:pPr>
            <a:r>
              <a:rPr lang="en-US" sz="4000" b="1" dirty="0">
                <a:solidFill>
                  <a:srgbClr val="B03A2E"/>
                </a:solidFill>
                <a:latin typeface="Cambria" pitchFamily="34" charset="0"/>
                <a:ea typeface="Cambria" pitchFamily="34" charset="-122"/>
                <a:cs typeface="Cambria" pitchFamily="34" charset="-120"/>
              </a:rPr>
              <a:t>1 : 5.2</a:t>
            </a:r>
            <a:endParaRPr lang="en-US" sz="4000" dirty="0"/>
          </a:p>
        </p:txBody>
      </p:sp>
      <p:sp>
        <p:nvSpPr>
          <p:cNvPr id="10" name="Text 8"/>
          <p:cNvSpPr txBox="1"/>
          <p:nvPr/>
        </p:nvSpPr>
        <p:spPr>
          <a:xfrm>
            <a:off x="3200400" y="3429000"/>
            <a:ext cx="2560320" cy="457200"/>
          </a:xfrm>
          <a:prstGeom prst="rect">
            <a:avLst/>
          </a:prstGeom>
          <a:noFill/>
          <a:ln/>
        </p:spPr>
        <p:txBody>
          <a:bodyPr wrap="square" lIns="0" tIns="0" rIns="0" bIns="0" rtlCol="0" anchor="ctr"/>
          <a:lstStyle/>
          <a:p>
            <a:pPr indent="0" marL="0">
              <a:buNone/>
            </a:pPr>
            <a:r>
              <a:rPr lang="en-US" sz="1300" dirty="0">
                <a:solidFill>
                  <a:schemeClr val="accent6"/>
                </a:solidFill>
              </a:rPr>
              <a:t>healthy : diseased</a:t>
            </a:r>
            <a:endParaRPr lang="en-US" sz="1300" dirty="0"/>
          </a:p>
        </p:txBody>
      </p:sp>
      <p:sp>
        <p:nvSpPr>
          <p:cNvPr id="11" name="Text 9"/>
          <p:cNvSpPr txBox="1"/>
          <p:nvPr/>
        </p:nvSpPr>
        <p:spPr>
          <a:xfrm>
            <a:off x="457200" y="4069080"/>
            <a:ext cx="5486400" cy="2011680"/>
          </a:xfrm>
          <a:prstGeom prst="rect">
            <a:avLst/>
          </a:prstGeom>
          <a:noFill/>
          <a:ln/>
        </p:spPr>
        <p:txBody>
          <a:bodyPr wrap="square" rtlCol="0" anchor="t"/>
          <a:lstStyle/>
          <a:p>
            <a:pPr lvl="1" marL="457200" indent="-228600">
              <a:spcAft>
                <a:spcPts val="600"/>
              </a:spcAft>
              <a:buSzPct val="100000"/>
              <a:buChar char="•"/>
            </a:pPr>
            <a:r>
              <a:rPr lang="en-US" sz="1400" dirty="0">
                <a:solidFill>
                  <a:schemeClr val="tx1"/>
                </a:solidFill>
              </a:rPr>
              <a:t>ASD FieldSpec with contact probe, 350-2500 nm at 1 nm</a:t>
            </a:r>
            <a:endParaRPr lang="en-US" sz="1400" dirty="0"/>
          </a:p>
          <a:p>
            <a:pPr lvl="1" marL="457200" indent="-228600">
              <a:spcAft>
                <a:spcPts val="600"/>
              </a:spcAft>
              <a:buSzPct val="100000"/>
              <a:buChar char="•"/>
            </a:pPr>
            <a:r>
              <a:rPr lang="en-US" sz="1400" dirty="0">
                <a:solidFill>
                  <a:schemeClr val="tx1"/>
                </a:solidFill>
              </a:rPr>
              <a:t>Plots 1-12 healthy, 13-48 diseased (4 + 12 per variety)</a:t>
            </a:r>
            <a:endParaRPr lang="en-US" sz="1400" dirty="0"/>
          </a:p>
          <a:p>
            <a:pPr lvl="1" marL="457200" indent="-228600">
              <a:spcAft>
                <a:spcPts val="600"/>
              </a:spcAft>
              <a:buSzPct val="100000"/>
              <a:buChar char="•"/>
            </a:pPr>
            <a:r>
              <a:rPr lang="en-US" sz="1400" dirty="0">
                <a:solidFill>
                  <a:schemeClr val="tx1"/>
                </a:solidFill>
              </a:rPr>
              <a:t>Each plot measured on every date: 192 plot-date units</a:t>
            </a:r>
            <a:endParaRPr lang="en-US" sz="1400" dirty="0"/>
          </a:p>
          <a:p>
            <a:pPr lvl="1" marL="457200" indent="-228600">
              <a:spcAft>
                <a:spcPts val="600"/>
              </a:spcAft>
              <a:buSzPct val="100000"/>
              <a:buChar char="•"/>
            </a:pPr>
            <a:r>
              <a:rPr lang="en-US" sz="1400" dirty="0">
                <a:solidFill>
                  <a:schemeClr val="tx1"/>
                </a:solidFill>
              </a:rPr>
              <a:t>Stages: vegetative, flowering, pod formation</a:t>
            </a:r>
            <a:endParaRPr lang="en-US" sz="1400" dirty="0"/>
          </a:p>
          <a:p>
            <a:pPr lvl="1" marL="457200" indent="-228600">
              <a:spcAft>
                <a:spcPts val="600"/>
              </a:spcAft>
              <a:buSzPct val="100000"/>
              <a:buChar char="•"/>
            </a:pPr>
            <a:r>
              <a:rPr lang="en-US" sz="1400" dirty="0">
                <a:solidFill>
                  <a:schemeClr val="tx1"/>
                </a:solidFill>
              </a:rPr>
              <a:t>Severity and leaf-layer fields were empty: binary task</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0" y="1188720"/>
          <a:ext cx="5303520" cy="914400"/>
        </p:xfrm>
        <a:graphic>
          <a:graphicData uri="http://schemas.openxmlformats.org/drawingml/2006/table">
            <a:tbl>
              <a:tblPr/>
              <a:tblGrid>
                <a:gridCol w="1463040"/>
                <a:gridCol w="1280160"/>
                <a:gridCol w="1280160"/>
                <a:gridCol w="1280160"/>
              </a:tblGrid>
              <a:tr h="365760">
                <a:tc>
                  <a:txBody>
                    <a:bodyPr/>
                    <a:lstStyle/>
                    <a:p>
                      <a:pPr algn="ctr" indent="0" marL="0">
                        <a:buNone/>
                      </a:pPr>
                      <a:r>
                        <a:rPr lang="en-US" sz="1300" b="1" dirty="0">
                          <a:solidFill>
                            <a:srgbClr val="FFFFFF"/>
                          </a:solidFill>
                        </a:rPr>
                        <a:t>Date</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300" b="1" dirty="0">
                          <a:solidFill>
                            <a:srgbClr val="FFFFFF"/>
                          </a:solidFill>
                        </a:rPr>
                        <a:t>Healthy</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300" b="1" dirty="0">
                          <a:solidFill>
                            <a:srgbClr val="FFFFFF"/>
                          </a:solidFill>
                        </a:rPr>
                        <a:t>Diseased</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300" b="1" dirty="0">
                          <a:solidFill>
                            <a:srgbClr val="FFFFFF"/>
                          </a:solidFill>
                        </a:rPr>
                        <a:t>Total</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65760">
                <a:tc>
                  <a:txBody>
                    <a:bodyPr/>
                    <a:lstStyle/>
                    <a:p>
                      <a:pPr indent="0" marL="0">
                        <a:buNone/>
                      </a:pPr>
                      <a:r>
                        <a:rPr lang="en-US" sz="1300" dirty="0">
                          <a:solidFill>
                            <a:srgbClr val="1A1A1A"/>
                          </a:solidFill>
                        </a:rPr>
                        <a:t>11 Feb</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72</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356</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428</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A1A1A"/>
                          </a:solidFill>
                        </a:rPr>
                        <a:t>24 Feb</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90</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450</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540</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300" dirty="0">
                          <a:solidFill>
                            <a:srgbClr val="1A1A1A"/>
                          </a:solidFill>
                        </a:rPr>
                        <a:t>03 Mar</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108</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540</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648</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A1A1A"/>
                          </a:solidFill>
                        </a:rPr>
                        <a:t>13 Mar</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108</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615</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300" dirty="0">
                          <a:solidFill>
                            <a:srgbClr val="1A1A1A"/>
                          </a:solidFill>
                        </a:rPr>
                        <a:t>723</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300" dirty="0">
                          <a:solidFill>
                            <a:srgbClr val="1A1A1A"/>
                          </a:solidFill>
                        </a:rPr>
                        <a:t>Total</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378</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1961</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rPr>
                        <a:t>2339</a:t>
                      </a:r>
                      <a:endParaRPr lang="en-US" sz="13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graphicFrame>
        <p:nvGraphicFramePr>
          <p:cNvPr id="13" name="Chart 0" descr=""/>
          <p:cNvGraphicFramePr/>
          <p:nvPr/>
        </p:nvGraphicFramePr>
        <p:xfrm>
          <a:off x="6400800" y="3611880"/>
          <a:ext cx="5303520" cy="2468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Analysis workflow</a:t>
            </a:r>
            <a:endParaRPr lang="en-US" sz="2800" dirty="0"/>
          </a:p>
        </p:txBody>
      </p:sp>
      <p:sp>
        <p:nvSpPr>
          <p:cNvPr id="3" name="Shape 1"/>
          <p:cNvSpPr/>
          <p:nvPr/>
        </p:nvSpPr>
        <p:spPr>
          <a:xfrm>
            <a:off x="457200" y="1325880"/>
            <a:ext cx="2057400" cy="2011680"/>
          </a:xfrm>
          <a:prstGeom prst="roundRect">
            <a:avLst>
              <a:gd name="adj" fmla="val 3636"/>
            </a:avLst>
          </a:prstGeom>
          <a:solidFill>
            <a:srgbClr val="F7F1E1"/>
          </a:solidFill>
          <a:ln w="12700">
            <a:solidFill>
              <a:srgbClr val="F7F1E1"/>
            </a:solidFill>
            <a:prstDash val="solid"/>
          </a:ln>
        </p:spPr>
      </p:sp>
      <p:sp>
        <p:nvSpPr>
          <p:cNvPr id="4" name="Shape 2"/>
          <p:cNvSpPr/>
          <p:nvPr/>
        </p:nvSpPr>
        <p:spPr>
          <a:xfrm>
            <a:off x="594360" y="146304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59436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94360" y="201168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Data assembly</a:t>
            </a:r>
            <a:endParaRPr lang="en-US" sz="1500" dirty="0"/>
          </a:p>
        </p:txBody>
      </p:sp>
      <p:sp>
        <p:nvSpPr>
          <p:cNvPr id="7" name="Text 5"/>
          <p:cNvSpPr txBox="1"/>
          <p:nvPr/>
        </p:nvSpPr>
        <p:spPr>
          <a:xfrm>
            <a:off x="594360" y="2423160"/>
            <a:ext cx="1783080" cy="822960"/>
          </a:xfrm>
          <a:prstGeom prst="rect">
            <a:avLst/>
          </a:prstGeom>
          <a:noFill/>
          <a:ln/>
        </p:spPr>
        <p:txBody>
          <a:bodyPr wrap="square" lIns="0" tIns="0" rIns="0" bIns="0" rtlCol="0" anchor="t"/>
          <a:lstStyle/>
          <a:p>
            <a:pPr indent="0" marL="0">
              <a:buNone/>
            </a:pPr>
            <a:r>
              <a:rPr lang="en-US" sz="1200" dirty="0">
                <a:solidFill>
                  <a:schemeClr val="tx1"/>
                </a:solidFill>
              </a:rPr>
              <a:t>4 workbooks -&gt; 2339 spectra + metadata</a:t>
            </a:r>
            <a:endParaRPr lang="en-US" sz="1200" dirty="0"/>
          </a:p>
        </p:txBody>
      </p:sp>
      <p:sp>
        <p:nvSpPr>
          <p:cNvPr id="8" name="Shape 6"/>
          <p:cNvSpPr/>
          <p:nvPr/>
        </p:nvSpPr>
        <p:spPr>
          <a:xfrm>
            <a:off x="2532888" y="2194560"/>
            <a:ext cx="182880" cy="274320"/>
          </a:xfrm>
          <a:prstGeom prst="rightArrow">
            <a:avLst/>
          </a:prstGeom>
          <a:solidFill>
            <a:srgbClr val="BDBDBD"/>
          </a:solidFill>
          <a:ln w="12700">
            <a:solidFill>
              <a:srgbClr val="BDBDBD"/>
            </a:solidFill>
            <a:prstDash val="solid"/>
          </a:ln>
        </p:spPr>
      </p:sp>
      <p:sp>
        <p:nvSpPr>
          <p:cNvPr id="9" name="Shape 7"/>
          <p:cNvSpPr/>
          <p:nvPr/>
        </p:nvSpPr>
        <p:spPr>
          <a:xfrm>
            <a:off x="2743200" y="1325880"/>
            <a:ext cx="2057400" cy="2011680"/>
          </a:xfrm>
          <a:prstGeom prst="roundRect">
            <a:avLst>
              <a:gd name="adj" fmla="val 3636"/>
            </a:avLst>
          </a:prstGeom>
          <a:solidFill>
            <a:srgbClr val="F7F1E1"/>
          </a:solidFill>
          <a:ln w="12700">
            <a:solidFill>
              <a:srgbClr val="F7F1E1"/>
            </a:solidFill>
            <a:prstDash val="solid"/>
          </a:ln>
        </p:spPr>
      </p:sp>
      <p:sp>
        <p:nvSpPr>
          <p:cNvPr id="10" name="Shape 8"/>
          <p:cNvSpPr/>
          <p:nvPr/>
        </p:nvSpPr>
        <p:spPr>
          <a:xfrm>
            <a:off x="2880360" y="1463040"/>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288036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2880360" y="201168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Quality control</a:t>
            </a:r>
            <a:endParaRPr lang="en-US" sz="1500" dirty="0"/>
          </a:p>
        </p:txBody>
      </p:sp>
      <p:sp>
        <p:nvSpPr>
          <p:cNvPr id="13" name="Text 11"/>
          <p:cNvSpPr txBox="1"/>
          <p:nvPr/>
        </p:nvSpPr>
        <p:spPr>
          <a:xfrm>
            <a:off x="2880360" y="2423160"/>
            <a:ext cx="1783080" cy="822960"/>
          </a:xfrm>
          <a:prstGeom prst="rect">
            <a:avLst/>
          </a:prstGeom>
          <a:noFill/>
          <a:ln/>
        </p:spPr>
        <p:txBody>
          <a:bodyPr wrap="square" lIns="0" tIns="0" rIns="0" bIns="0" rtlCol="0" anchor="t"/>
          <a:lstStyle/>
          <a:p>
            <a:pPr indent="0" marL="0">
              <a:buNone/>
            </a:pPr>
            <a:r>
              <a:rPr lang="en-US" sz="1200" dirty="0">
                <a:solidFill>
                  <a:schemeClr val="tx1"/>
                </a:solidFill>
              </a:rPr>
              <a:t>Splice fix, trim 400-2400 nm, consensus outliers</a:t>
            </a:r>
            <a:endParaRPr lang="en-US" sz="1200" dirty="0"/>
          </a:p>
        </p:txBody>
      </p:sp>
      <p:sp>
        <p:nvSpPr>
          <p:cNvPr id="14" name="Shape 12"/>
          <p:cNvSpPr/>
          <p:nvPr/>
        </p:nvSpPr>
        <p:spPr>
          <a:xfrm>
            <a:off x="4818888" y="2194560"/>
            <a:ext cx="182880" cy="274320"/>
          </a:xfrm>
          <a:prstGeom prst="rightArrow">
            <a:avLst/>
          </a:prstGeom>
          <a:solidFill>
            <a:srgbClr val="BDBDBD"/>
          </a:solidFill>
          <a:ln w="12700">
            <a:solidFill>
              <a:srgbClr val="BDBDBD"/>
            </a:solidFill>
            <a:prstDash val="solid"/>
          </a:ln>
        </p:spPr>
      </p:sp>
      <p:sp>
        <p:nvSpPr>
          <p:cNvPr id="15" name="Shape 13"/>
          <p:cNvSpPr/>
          <p:nvPr/>
        </p:nvSpPr>
        <p:spPr>
          <a:xfrm>
            <a:off x="5029200" y="1325880"/>
            <a:ext cx="2057400" cy="2011680"/>
          </a:xfrm>
          <a:prstGeom prst="roundRect">
            <a:avLst>
              <a:gd name="adj" fmla="val 3636"/>
            </a:avLst>
          </a:prstGeom>
          <a:solidFill>
            <a:srgbClr val="F7F1E1"/>
          </a:solidFill>
          <a:ln w="12700">
            <a:solidFill>
              <a:srgbClr val="F7F1E1"/>
            </a:solidFill>
            <a:prstDash val="solid"/>
          </a:ln>
        </p:spPr>
      </p:sp>
      <p:sp>
        <p:nvSpPr>
          <p:cNvPr id="16" name="Shape 14"/>
          <p:cNvSpPr/>
          <p:nvPr/>
        </p:nvSpPr>
        <p:spPr>
          <a:xfrm>
            <a:off x="5166360" y="146304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516636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5166360" y="201168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Preprocessing</a:t>
            </a:r>
            <a:endParaRPr lang="en-US" sz="1500" dirty="0"/>
          </a:p>
        </p:txBody>
      </p:sp>
      <p:sp>
        <p:nvSpPr>
          <p:cNvPr id="19" name="Text 17"/>
          <p:cNvSpPr txBox="1"/>
          <p:nvPr/>
        </p:nvSpPr>
        <p:spPr>
          <a:xfrm>
            <a:off x="5166360" y="2423160"/>
            <a:ext cx="1783080" cy="822960"/>
          </a:xfrm>
          <a:prstGeom prst="rect">
            <a:avLst/>
          </a:prstGeom>
          <a:noFill/>
          <a:ln/>
        </p:spPr>
        <p:txBody>
          <a:bodyPr wrap="square" lIns="0" tIns="0" rIns="0" bIns="0" rtlCol="0" anchor="t"/>
          <a:lstStyle/>
          <a:p>
            <a:pPr indent="0" marL="0">
              <a:buNone/>
            </a:pPr>
            <a:r>
              <a:rPr lang="en-US" sz="1200" dirty="0">
                <a:solidFill>
                  <a:schemeClr val="tx1"/>
                </a:solidFill>
              </a:rPr>
              <a:t>SG smoothing, 10-nm, SNV / MSC / derivative / date-norm</a:t>
            </a:r>
            <a:endParaRPr lang="en-US" sz="1200" dirty="0"/>
          </a:p>
        </p:txBody>
      </p:sp>
      <p:sp>
        <p:nvSpPr>
          <p:cNvPr id="20" name="Shape 18"/>
          <p:cNvSpPr/>
          <p:nvPr/>
        </p:nvSpPr>
        <p:spPr>
          <a:xfrm>
            <a:off x="7104888" y="2194560"/>
            <a:ext cx="182880" cy="274320"/>
          </a:xfrm>
          <a:prstGeom prst="rightArrow">
            <a:avLst/>
          </a:prstGeom>
          <a:solidFill>
            <a:srgbClr val="BDBDBD"/>
          </a:solidFill>
          <a:ln w="12700">
            <a:solidFill>
              <a:srgbClr val="BDBDBD"/>
            </a:solidFill>
            <a:prstDash val="solid"/>
          </a:ln>
        </p:spPr>
      </p:sp>
      <p:sp>
        <p:nvSpPr>
          <p:cNvPr id="21" name="Shape 19"/>
          <p:cNvSpPr/>
          <p:nvPr/>
        </p:nvSpPr>
        <p:spPr>
          <a:xfrm>
            <a:off x="7315200" y="1325880"/>
            <a:ext cx="2057400" cy="2011680"/>
          </a:xfrm>
          <a:prstGeom prst="roundRect">
            <a:avLst>
              <a:gd name="adj" fmla="val 3636"/>
            </a:avLst>
          </a:prstGeom>
          <a:solidFill>
            <a:srgbClr val="F7F1E1"/>
          </a:solidFill>
          <a:ln w="12700">
            <a:solidFill>
              <a:srgbClr val="F7F1E1"/>
            </a:solidFill>
            <a:prstDash val="solid"/>
          </a:ln>
        </p:spPr>
      </p:sp>
      <p:sp>
        <p:nvSpPr>
          <p:cNvPr id="22" name="Shape 20"/>
          <p:cNvSpPr/>
          <p:nvPr/>
        </p:nvSpPr>
        <p:spPr>
          <a:xfrm>
            <a:off x="7452360" y="1463040"/>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745236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7452360" y="201168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Characterisation</a:t>
            </a:r>
            <a:endParaRPr lang="en-US" sz="1500" dirty="0"/>
          </a:p>
        </p:txBody>
      </p:sp>
      <p:sp>
        <p:nvSpPr>
          <p:cNvPr id="25" name="Text 23"/>
          <p:cNvSpPr txBox="1"/>
          <p:nvPr/>
        </p:nvSpPr>
        <p:spPr>
          <a:xfrm>
            <a:off x="7452360" y="2423160"/>
            <a:ext cx="1783080" cy="822960"/>
          </a:xfrm>
          <a:prstGeom prst="rect">
            <a:avLst/>
          </a:prstGeom>
          <a:noFill/>
          <a:ln/>
        </p:spPr>
        <p:txBody>
          <a:bodyPr wrap="square" lIns="0" tIns="0" rIns="0" bIns="0" rtlCol="0" anchor="t"/>
          <a:lstStyle/>
          <a:p>
            <a:pPr indent="0" marL="0">
              <a:buNone/>
            </a:pPr>
            <a:r>
              <a:rPr lang="en-US" sz="1200" dirty="0">
                <a:solidFill>
                  <a:schemeClr val="tx1"/>
                </a:solidFill>
              </a:rPr>
              <a:t>Spectra, FDR tests, J-M, PCA, PERMANOVA, LMM</a:t>
            </a:r>
            <a:endParaRPr lang="en-US" sz="1200" dirty="0"/>
          </a:p>
        </p:txBody>
      </p:sp>
      <p:sp>
        <p:nvSpPr>
          <p:cNvPr id="26" name="Shape 24"/>
          <p:cNvSpPr/>
          <p:nvPr/>
        </p:nvSpPr>
        <p:spPr>
          <a:xfrm>
            <a:off x="9390888" y="2194560"/>
            <a:ext cx="182880" cy="274320"/>
          </a:xfrm>
          <a:prstGeom prst="rightArrow">
            <a:avLst/>
          </a:prstGeom>
          <a:solidFill>
            <a:srgbClr val="BDBDBD"/>
          </a:solidFill>
          <a:ln w="12700">
            <a:solidFill>
              <a:srgbClr val="BDBDBD"/>
            </a:solidFill>
            <a:prstDash val="solid"/>
          </a:ln>
        </p:spPr>
      </p:sp>
      <p:sp>
        <p:nvSpPr>
          <p:cNvPr id="27" name="Shape 25"/>
          <p:cNvSpPr/>
          <p:nvPr/>
        </p:nvSpPr>
        <p:spPr>
          <a:xfrm>
            <a:off x="9601200" y="1325880"/>
            <a:ext cx="2057400" cy="2011680"/>
          </a:xfrm>
          <a:prstGeom prst="roundRect">
            <a:avLst>
              <a:gd name="adj" fmla="val 3636"/>
            </a:avLst>
          </a:prstGeom>
          <a:solidFill>
            <a:srgbClr val="F7F1E1"/>
          </a:solidFill>
          <a:ln w="12700">
            <a:solidFill>
              <a:srgbClr val="F7F1E1"/>
            </a:solidFill>
            <a:prstDash val="solid"/>
          </a:ln>
        </p:spPr>
      </p:sp>
      <p:sp>
        <p:nvSpPr>
          <p:cNvPr id="28" name="Shape 26"/>
          <p:cNvSpPr/>
          <p:nvPr/>
        </p:nvSpPr>
        <p:spPr>
          <a:xfrm>
            <a:off x="9738360" y="1463040"/>
            <a:ext cx="457200" cy="457200"/>
          </a:xfrm>
          <a:prstGeom prst="ellipse">
            <a:avLst/>
          </a:prstGeom>
          <a:solidFill>
            <a:schemeClr val="accent2"/>
          </a:solidFill>
          <a:ln w="12700">
            <a:solidFill>
              <a:schemeClr val="accent2"/>
            </a:solidFill>
            <a:prstDash val="solid"/>
          </a:ln>
        </p:spPr>
      </p:sp>
      <p:sp>
        <p:nvSpPr>
          <p:cNvPr id="29" name="Text 27"/>
          <p:cNvSpPr txBox="1"/>
          <p:nvPr/>
        </p:nvSpPr>
        <p:spPr>
          <a:xfrm>
            <a:off x="973836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8"/>
          <p:cNvSpPr txBox="1"/>
          <p:nvPr/>
        </p:nvSpPr>
        <p:spPr>
          <a:xfrm>
            <a:off x="9738360" y="201168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Features F1-F6</a:t>
            </a:r>
            <a:endParaRPr lang="en-US" sz="1500" dirty="0"/>
          </a:p>
        </p:txBody>
      </p:sp>
      <p:sp>
        <p:nvSpPr>
          <p:cNvPr id="31" name="Text 29"/>
          <p:cNvSpPr txBox="1"/>
          <p:nvPr/>
        </p:nvSpPr>
        <p:spPr>
          <a:xfrm>
            <a:off x="9738360" y="2423160"/>
            <a:ext cx="1783080" cy="822960"/>
          </a:xfrm>
          <a:prstGeom prst="rect">
            <a:avLst/>
          </a:prstGeom>
          <a:noFill/>
          <a:ln/>
        </p:spPr>
        <p:txBody>
          <a:bodyPr wrap="square" lIns="0" tIns="0" rIns="0" bIns="0" rtlCol="0" anchor="t"/>
          <a:lstStyle/>
          <a:p>
            <a:pPr indent="0" marL="0">
              <a:buNone/>
            </a:pPr>
            <a:r>
              <a:rPr lang="en-US" sz="1200" dirty="0">
                <a:solidFill>
                  <a:schemeClr val="tx1"/>
                </a:solidFill>
              </a:rPr>
              <a:t>Bands, VIs, NDSI, derivatives, CR, CWT</a:t>
            </a:r>
            <a:endParaRPr lang="en-US" sz="1200" dirty="0"/>
          </a:p>
        </p:txBody>
      </p:sp>
      <p:sp>
        <p:nvSpPr>
          <p:cNvPr id="32" name="Shape 30"/>
          <p:cNvSpPr/>
          <p:nvPr/>
        </p:nvSpPr>
        <p:spPr>
          <a:xfrm>
            <a:off x="457200" y="3703320"/>
            <a:ext cx="2057400" cy="2011680"/>
          </a:xfrm>
          <a:prstGeom prst="roundRect">
            <a:avLst>
              <a:gd name="adj" fmla="val 3636"/>
            </a:avLst>
          </a:prstGeom>
          <a:solidFill>
            <a:schemeClr val="bg2"/>
          </a:solidFill>
          <a:ln w="12700">
            <a:solidFill>
              <a:schemeClr val="bg2"/>
            </a:solidFill>
            <a:prstDash val="solid"/>
          </a:ln>
        </p:spPr>
      </p:sp>
      <p:sp>
        <p:nvSpPr>
          <p:cNvPr id="33" name="Shape 31"/>
          <p:cNvSpPr/>
          <p:nvPr/>
        </p:nvSpPr>
        <p:spPr>
          <a:xfrm>
            <a:off x="594360" y="3840480"/>
            <a:ext cx="457200" cy="457200"/>
          </a:xfrm>
          <a:prstGeom prst="ellipse">
            <a:avLst/>
          </a:prstGeom>
          <a:solidFill>
            <a:schemeClr val="accent1"/>
          </a:solidFill>
          <a:ln w="12700">
            <a:solidFill>
              <a:schemeClr val="accent1"/>
            </a:solidFill>
            <a:prstDash val="solid"/>
          </a:ln>
        </p:spPr>
      </p:sp>
      <p:sp>
        <p:nvSpPr>
          <p:cNvPr id="34" name="Text 32"/>
          <p:cNvSpPr txBox="1"/>
          <p:nvPr/>
        </p:nvSpPr>
        <p:spPr>
          <a:xfrm>
            <a:off x="59436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5" name="Text 33"/>
          <p:cNvSpPr txBox="1"/>
          <p:nvPr/>
        </p:nvSpPr>
        <p:spPr>
          <a:xfrm>
            <a:off x="594360" y="438912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Selection</a:t>
            </a:r>
            <a:endParaRPr lang="en-US" sz="1500" dirty="0"/>
          </a:p>
        </p:txBody>
      </p:sp>
      <p:sp>
        <p:nvSpPr>
          <p:cNvPr id="36" name="Text 34"/>
          <p:cNvSpPr txBox="1"/>
          <p:nvPr/>
        </p:nvSpPr>
        <p:spPr>
          <a:xfrm>
            <a:off x="594360" y="4800600"/>
            <a:ext cx="1783080" cy="822960"/>
          </a:xfrm>
          <a:prstGeom prst="rect">
            <a:avLst/>
          </a:prstGeom>
          <a:noFill/>
          <a:ln/>
        </p:spPr>
        <p:txBody>
          <a:bodyPr wrap="square" lIns="0" tIns="0" rIns="0" bIns="0" rtlCol="0" anchor="t"/>
          <a:lstStyle/>
          <a:p>
            <a:pPr indent="0" marL="0">
              <a:buNone/>
            </a:pPr>
            <a:r>
              <a:rPr lang="en-US" sz="1200" dirty="0">
                <a:solidFill>
                  <a:schemeClr val="tx1"/>
                </a:solidFill>
              </a:rPr>
              <a:t>ReliefF + stability + VIF + SFFS; SPA; GA-PLS</a:t>
            </a:r>
            <a:endParaRPr lang="en-US" sz="1200" dirty="0"/>
          </a:p>
        </p:txBody>
      </p:sp>
      <p:sp>
        <p:nvSpPr>
          <p:cNvPr id="37" name="Shape 35"/>
          <p:cNvSpPr/>
          <p:nvPr/>
        </p:nvSpPr>
        <p:spPr>
          <a:xfrm>
            <a:off x="2532888" y="4572000"/>
            <a:ext cx="182880" cy="274320"/>
          </a:xfrm>
          <a:prstGeom prst="rightArrow">
            <a:avLst/>
          </a:prstGeom>
          <a:solidFill>
            <a:srgbClr val="BDBDBD"/>
          </a:solidFill>
          <a:ln w="12700">
            <a:solidFill>
              <a:srgbClr val="BDBDBD"/>
            </a:solidFill>
            <a:prstDash val="solid"/>
          </a:ln>
        </p:spPr>
      </p:sp>
      <p:sp>
        <p:nvSpPr>
          <p:cNvPr id="38" name="Shape 36"/>
          <p:cNvSpPr/>
          <p:nvPr/>
        </p:nvSpPr>
        <p:spPr>
          <a:xfrm>
            <a:off x="2743200" y="3703320"/>
            <a:ext cx="2057400" cy="2011680"/>
          </a:xfrm>
          <a:prstGeom prst="roundRect">
            <a:avLst>
              <a:gd name="adj" fmla="val 3636"/>
            </a:avLst>
          </a:prstGeom>
          <a:solidFill>
            <a:schemeClr val="bg2"/>
          </a:solidFill>
          <a:ln w="12700">
            <a:solidFill>
              <a:schemeClr val="bg2"/>
            </a:solidFill>
            <a:prstDash val="solid"/>
          </a:ln>
        </p:spPr>
      </p:sp>
      <p:sp>
        <p:nvSpPr>
          <p:cNvPr id="39" name="Shape 37"/>
          <p:cNvSpPr/>
          <p:nvPr/>
        </p:nvSpPr>
        <p:spPr>
          <a:xfrm>
            <a:off x="2880360" y="3840480"/>
            <a:ext cx="457200" cy="457200"/>
          </a:xfrm>
          <a:prstGeom prst="ellipse">
            <a:avLst/>
          </a:prstGeom>
          <a:solidFill>
            <a:schemeClr val="accent1"/>
          </a:solidFill>
          <a:ln w="12700">
            <a:solidFill>
              <a:schemeClr val="accent1"/>
            </a:solidFill>
            <a:prstDash val="solid"/>
          </a:ln>
        </p:spPr>
      </p:sp>
      <p:sp>
        <p:nvSpPr>
          <p:cNvPr id="40" name="Text 38"/>
          <p:cNvSpPr txBox="1"/>
          <p:nvPr/>
        </p:nvSpPr>
        <p:spPr>
          <a:xfrm>
            <a:off x="288036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1" name="Text 39"/>
          <p:cNvSpPr txBox="1"/>
          <p:nvPr/>
        </p:nvSpPr>
        <p:spPr>
          <a:xfrm>
            <a:off x="2880360" y="438912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Classification</a:t>
            </a:r>
            <a:endParaRPr lang="en-US" sz="1500" dirty="0"/>
          </a:p>
        </p:txBody>
      </p:sp>
      <p:sp>
        <p:nvSpPr>
          <p:cNvPr id="42" name="Text 40"/>
          <p:cNvSpPr txBox="1"/>
          <p:nvPr/>
        </p:nvSpPr>
        <p:spPr>
          <a:xfrm>
            <a:off x="2880360" y="4800600"/>
            <a:ext cx="1783080" cy="822960"/>
          </a:xfrm>
          <a:prstGeom prst="rect">
            <a:avLst/>
          </a:prstGeom>
          <a:noFill/>
          <a:ln/>
        </p:spPr>
        <p:txBody>
          <a:bodyPr wrap="square" lIns="0" tIns="0" rIns="0" bIns="0" rtlCol="0" anchor="t"/>
          <a:lstStyle/>
          <a:p>
            <a:pPr indent="0" marL="0">
              <a:buNone/>
            </a:pPr>
            <a:r>
              <a:rPr lang="en-US" sz="1200" dirty="0">
                <a:solidFill>
                  <a:schemeClr val="tx1"/>
                </a:solidFill>
              </a:rPr>
              <a:t>10 classifiers, inner-CV tuning, class weights</a:t>
            </a:r>
            <a:endParaRPr lang="en-US" sz="1200" dirty="0"/>
          </a:p>
        </p:txBody>
      </p:sp>
      <p:sp>
        <p:nvSpPr>
          <p:cNvPr id="43" name="Shape 41"/>
          <p:cNvSpPr/>
          <p:nvPr/>
        </p:nvSpPr>
        <p:spPr>
          <a:xfrm>
            <a:off x="4818888" y="4572000"/>
            <a:ext cx="182880" cy="274320"/>
          </a:xfrm>
          <a:prstGeom prst="rightArrow">
            <a:avLst/>
          </a:prstGeom>
          <a:solidFill>
            <a:srgbClr val="BDBDBD"/>
          </a:solidFill>
          <a:ln w="12700">
            <a:solidFill>
              <a:srgbClr val="BDBDBD"/>
            </a:solidFill>
            <a:prstDash val="solid"/>
          </a:ln>
        </p:spPr>
      </p:sp>
      <p:sp>
        <p:nvSpPr>
          <p:cNvPr id="44" name="Shape 42"/>
          <p:cNvSpPr/>
          <p:nvPr/>
        </p:nvSpPr>
        <p:spPr>
          <a:xfrm>
            <a:off x="5029200" y="3703320"/>
            <a:ext cx="2057400" cy="2011680"/>
          </a:xfrm>
          <a:prstGeom prst="roundRect">
            <a:avLst>
              <a:gd name="adj" fmla="val 3636"/>
            </a:avLst>
          </a:prstGeom>
          <a:solidFill>
            <a:schemeClr val="bg2"/>
          </a:solidFill>
          <a:ln w="12700">
            <a:solidFill>
              <a:schemeClr val="bg2"/>
            </a:solidFill>
            <a:prstDash val="solid"/>
          </a:ln>
        </p:spPr>
      </p:sp>
      <p:sp>
        <p:nvSpPr>
          <p:cNvPr id="45" name="Shape 43"/>
          <p:cNvSpPr/>
          <p:nvPr/>
        </p:nvSpPr>
        <p:spPr>
          <a:xfrm>
            <a:off x="5166360" y="3840480"/>
            <a:ext cx="457200" cy="457200"/>
          </a:xfrm>
          <a:prstGeom prst="ellipse">
            <a:avLst/>
          </a:prstGeom>
          <a:solidFill>
            <a:schemeClr val="accent1"/>
          </a:solidFill>
          <a:ln w="12700">
            <a:solidFill>
              <a:schemeClr val="accent1"/>
            </a:solidFill>
            <a:prstDash val="solid"/>
          </a:ln>
        </p:spPr>
      </p:sp>
      <p:sp>
        <p:nvSpPr>
          <p:cNvPr id="46" name="Text 44"/>
          <p:cNvSpPr txBox="1"/>
          <p:nvPr/>
        </p:nvSpPr>
        <p:spPr>
          <a:xfrm>
            <a:off x="516636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7" name="Text 45"/>
          <p:cNvSpPr txBox="1"/>
          <p:nvPr/>
        </p:nvSpPr>
        <p:spPr>
          <a:xfrm>
            <a:off x="5166360" y="438912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Validation</a:t>
            </a:r>
            <a:endParaRPr lang="en-US" sz="1500" dirty="0"/>
          </a:p>
        </p:txBody>
      </p:sp>
      <p:sp>
        <p:nvSpPr>
          <p:cNvPr id="48" name="Text 46"/>
          <p:cNvSpPr txBox="1"/>
          <p:nvPr/>
        </p:nvSpPr>
        <p:spPr>
          <a:xfrm>
            <a:off x="5166360" y="4800600"/>
            <a:ext cx="1783080" cy="822960"/>
          </a:xfrm>
          <a:prstGeom prst="rect">
            <a:avLst/>
          </a:prstGeom>
          <a:noFill/>
          <a:ln/>
        </p:spPr>
        <p:txBody>
          <a:bodyPr wrap="square" lIns="0" tIns="0" rIns="0" bIns="0" rtlCol="0" anchor="t"/>
          <a:lstStyle/>
          <a:p>
            <a:pPr indent="0" marL="0">
              <a:buNone/>
            </a:pPr>
            <a:r>
              <a:rPr lang="en-US" sz="1200" dirty="0">
                <a:solidFill>
                  <a:schemeClr val="tx1"/>
                </a:solidFill>
              </a:rPr>
              <a:t>25 x 4-fold nested plot-grouped CV</a:t>
            </a:r>
            <a:endParaRPr lang="en-US" sz="1200" dirty="0"/>
          </a:p>
        </p:txBody>
      </p:sp>
      <p:sp>
        <p:nvSpPr>
          <p:cNvPr id="49" name="Shape 47"/>
          <p:cNvSpPr/>
          <p:nvPr/>
        </p:nvSpPr>
        <p:spPr>
          <a:xfrm>
            <a:off x="7104888" y="4572000"/>
            <a:ext cx="182880" cy="274320"/>
          </a:xfrm>
          <a:prstGeom prst="rightArrow">
            <a:avLst/>
          </a:prstGeom>
          <a:solidFill>
            <a:srgbClr val="BDBDBD"/>
          </a:solidFill>
          <a:ln w="12700">
            <a:solidFill>
              <a:srgbClr val="BDBDBD"/>
            </a:solidFill>
            <a:prstDash val="solid"/>
          </a:ln>
        </p:spPr>
      </p:sp>
      <p:sp>
        <p:nvSpPr>
          <p:cNvPr id="50" name="Shape 48"/>
          <p:cNvSpPr/>
          <p:nvPr/>
        </p:nvSpPr>
        <p:spPr>
          <a:xfrm>
            <a:off x="7315200" y="3703320"/>
            <a:ext cx="2057400" cy="2011680"/>
          </a:xfrm>
          <a:prstGeom prst="roundRect">
            <a:avLst>
              <a:gd name="adj" fmla="val 3636"/>
            </a:avLst>
          </a:prstGeom>
          <a:solidFill>
            <a:schemeClr val="bg2"/>
          </a:solidFill>
          <a:ln w="12700">
            <a:solidFill>
              <a:schemeClr val="bg2"/>
            </a:solidFill>
            <a:prstDash val="solid"/>
          </a:ln>
        </p:spPr>
      </p:sp>
      <p:sp>
        <p:nvSpPr>
          <p:cNvPr id="51" name="Shape 49"/>
          <p:cNvSpPr/>
          <p:nvPr/>
        </p:nvSpPr>
        <p:spPr>
          <a:xfrm>
            <a:off x="7452360" y="3840480"/>
            <a:ext cx="457200" cy="457200"/>
          </a:xfrm>
          <a:prstGeom prst="ellipse">
            <a:avLst/>
          </a:prstGeom>
          <a:solidFill>
            <a:schemeClr val="accent1"/>
          </a:solidFill>
          <a:ln w="12700">
            <a:solidFill>
              <a:schemeClr val="accent1"/>
            </a:solidFill>
            <a:prstDash val="solid"/>
          </a:ln>
        </p:spPr>
      </p:sp>
      <p:sp>
        <p:nvSpPr>
          <p:cNvPr id="52" name="Text 50"/>
          <p:cNvSpPr txBox="1"/>
          <p:nvPr/>
        </p:nvSpPr>
        <p:spPr>
          <a:xfrm>
            <a:off x="745236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53" name="Text 51"/>
          <p:cNvSpPr txBox="1"/>
          <p:nvPr/>
        </p:nvSpPr>
        <p:spPr>
          <a:xfrm>
            <a:off x="7452360" y="438912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Transfer &amp; extras</a:t>
            </a:r>
            <a:endParaRPr lang="en-US" sz="1500" dirty="0"/>
          </a:p>
        </p:txBody>
      </p:sp>
      <p:sp>
        <p:nvSpPr>
          <p:cNvPr id="54" name="Text 52"/>
          <p:cNvSpPr txBox="1"/>
          <p:nvPr/>
        </p:nvSpPr>
        <p:spPr>
          <a:xfrm>
            <a:off x="7452360" y="4800600"/>
            <a:ext cx="1783080" cy="822960"/>
          </a:xfrm>
          <a:prstGeom prst="rect">
            <a:avLst/>
          </a:prstGeom>
          <a:noFill/>
          <a:ln/>
        </p:spPr>
        <p:txBody>
          <a:bodyPr wrap="square" lIns="0" tIns="0" rIns="0" bIns="0" rtlCol="0" anchor="t"/>
          <a:lstStyle/>
          <a:p>
            <a:pPr indent="0" marL="0">
              <a:buNone/>
            </a:pPr>
            <a:r>
              <a:rPr lang="en-US" sz="1200" dirty="0">
                <a:solidFill>
                  <a:schemeClr val="tx1"/>
                </a:solidFill>
              </a:rPr>
              <a:t>Unseen date/variety/stage, sensors, learning curve</a:t>
            </a:r>
            <a:endParaRPr lang="en-US" sz="1200" dirty="0"/>
          </a:p>
        </p:txBody>
      </p:sp>
      <p:sp>
        <p:nvSpPr>
          <p:cNvPr id="55" name="Shape 53"/>
          <p:cNvSpPr/>
          <p:nvPr/>
        </p:nvSpPr>
        <p:spPr>
          <a:xfrm>
            <a:off x="9390888" y="4572000"/>
            <a:ext cx="182880" cy="274320"/>
          </a:xfrm>
          <a:prstGeom prst="rightArrow">
            <a:avLst/>
          </a:prstGeom>
          <a:solidFill>
            <a:srgbClr val="BDBDBD"/>
          </a:solidFill>
          <a:ln w="12700">
            <a:solidFill>
              <a:srgbClr val="BDBDBD"/>
            </a:solidFill>
            <a:prstDash val="solid"/>
          </a:ln>
        </p:spPr>
      </p:sp>
      <p:sp>
        <p:nvSpPr>
          <p:cNvPr id="56" name="Shape 54"/>
          <p:cNvSpPr/>
          <p:nvPr/>
        </p:nvSpPr>
        <p:spPr>
          <a:xfrm>
            <a:off x="9601200" y="3703320"/>
            <a:ext cx="2057400" cy="2011680"/>
          </a:xfrm>
          <a:prstGeom prst="roundRect">
            <a:avLst>
              <a:gd name="adj" fmla="val 3636"/>
            </a:avLst>
          </a:prstGeom>
          <a:solidFill>
            <a:schemeClr val="bg2"/>
          </a:solidFill>
          <a:ln w="12700">
            <a:solidFill>
              <a:schemeClr val="bg2"/>
            </a:solidFill>
            <a:prstDash val="solid"/>
          </a:ln>
        </p:spPr>
      </p:sp>
      <p:sp>
        <p:nvSpPr>
          <p:cNvPr id="57" name="Shape 55"/>
          <p:cNvSpPr/>
          <p:nvPr/>
        </p:nvSpPr>
        <p:spPr>
          <a:xfrm>
            <a:off x="9738360" y="3840480"/>
            <a:ext cx="457200" cy="457200"/>
          </a:xfrm>
          <a:prstGeom prst="ellipse">
            <a:avLst/>
          </a:prstGeom>
          <a:solidFill>
            <a:schemeClr val="accent1"/>
          </a:solidFill>
          <a:ln w="12700">
            <a:solidFill>
              <a:schemeClr val="accent1"/>
            </a:solidFill>
            <a:prstDash val="solid"/>
          </a:ln>
        </p:spPr>
      </p:sp>
      <p:sp>
        <p:nvSpPr>
          <p:cNvPr id="58" name="Text 56"/>
          <p:cNvSpPr txBox="1"/>
          <p:nvPr/>
        </p:nvSpPr>
        <p:spPr>
          <a:xfrm>
            <a:off x="973836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59" name="Text 57"/>
          <p:cNvSpPr txBox="1"/>
          <p:nvPr/>
        </p:nvSpPr>
        <p:spPr>
          <a:xfrm>
            <a:off x="9738360" y="4389120"/>
            <a:ext cx="1783080" cy="411480"/>
          </a:xfrm>
          <a:prstGeom prst="rect">
            <a:avLst/>
          </a:prstGeom>
          <a:noFill/>
          <a:ln/>
        </p:spPr>
        <p:txBody>
          <a:bodyPr wrap="square" lIns="0" tIns="0" rIns="0" bIns="0" rtlCol="0" anchor="ctr"/>
          <a:lstStyle/>
          <a:p>
            <a:pPr indent="0" marL="0">
              <a:buNone/>
            </a:pPr>
            <a:r>
              <a:rPr lang="en-US" sz="1500" b="1" dirty="0">
                <a:solidFill>
                  <a:schemeClr val="tx2"/>
                </a:solidFill>
              </a:rPr>
              <a:t>Interpretation</a:t>
            </a:r>
            <a:endParaRPr lang="en-US" sz="1500" dirty="0"/>
          </a:p>
        </p:txBody>
      </p:sp>
      <p:sp>
        <p:nvSpPr>
          <p:cNvPr id="60" name="Text 58"/>
          <p:cNvSpPr txBox="1"/>
          <p:nvPr/>
        </p:nvSpPr>
        <p:spPr>
          <a:xfrm>
            <a:off x="9738360" y="4800600"/>
            <a:ext cx="1783080" cy="822960"/>
          </a:xfrm>
          <a:prstGeom prst="rect">
            <a:avLst/>
          </a:prstGeom>
          <a:noFill/>
          <a:ln/>
        </p:spPr>
        <p:txBody>
          <a:bodyPr wrap="square" lIns="0" tIns="0" rIns="0" bIns="0" rtlCol="0" anchor="t"/>
          <a:lstStyle/>
          <a:p>
            <a:pPr indent="0" marL="0">
              <a:buNone/>
            </a:pPr>
            <a:r>
              <a:rPr lang="en-US" sz="1200" dirty="0">
                <a:solidFill>
                  <a:schemeClr val="tx1"/>
                </a:solidFill>
              </a:rPr>
              <a:t>Importance, SHAP, selection stability</a:t>
            </a:r>
            <a:endParaRPr lang="en-US" sz="1200" dirty="0"/>
          </a:p>
        </p:txBody>
      </p:sp>
      <p:sp>
        <p:nvSpPr>
          <p:cNvPr id="61" name="Text 59"/>
          <p:cNvSpPr txBox="1"/>
          <p:nvPr/>
        </p:nvSpPr>
        <p:spPr>
          <a:xfrm>
            <a:off x="457200" y="6080760"/>
            <a:ext cx="11247120" cy="320040"/>
          </a:xfrm>
          <a:prstGeom prst="rect">
            <a:avLst/>
          </a:prstGeom>
          <a:noFill/>
          <a:ln/>
        </p:spPr>
        <p:txBody>
          <a:bodyPr wrap="square" lIns="0" tIns="0" rIns="0" bIns="0" rtlCol="0" anchor="ctr"/>
          <a:lstStyle/>
          <a:p>
            <a:pPr indent="0" marL="0">
              <a:buNone/>
            </a:pPr>
            <a:r>
              <a:rPr lang="en-US" sz="1300" i="1" dirty="0">
                <a:solidFill>
                  <a:schemeClr val="accent4"/>
                </a:solidFill>
              </a:rPr>
              <a:t>Leakage rule: every step that learns from labels (MSC, date normalisation, NDSI search, feature selection, tuning) is fitted on training plots only.</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Methodological flowchart: step by step</a:t>
            </a:r>
            <a:endParaRPr lang="en-US" sz="2800" dirty="0"/>
          </a:p>
        </p:txBody>
      </p:sp>
      <p:sp>
        <p:nvSpPr>
          <p:cNvPr id="3" name="Shape 1"/>
          <p:cNvSpPr/>
          <p:nvPr/>
        </p:nvSpPr>
        <p:spPr>
          <a:xfrm>
            <a:off x="502920" y="1188720"/>
            <a:ext cx="2514600" cy="1097280"/>
          </a:xfrm>
          <a:prstGeom prst="roundRect">
            <a:avLst>
              <a:gd name="adj" fmla="val 5000"/>
            </a:avLst>
          </a:prstGeom>
          <a:solidFill>
            <a:srgbClr val="F7F1E1"/>
          </a:solidFill>
          <a:ln w="9525">
            <a:solidFill>
              <a:srgbClr val="C9D3C6"/>
            </a:solidFill>
            <a:prstDash val="solid"/>
          </a:ln>
        </p:spPr>
      </p:sp>
      <p:sp>
        <p:nvSpPr>
          <p:cNvPr id="4" name="Text 2"/>
          <p:cNvSpPr txBox="1"/>
          <p:nvPr/>
        </p:nvSpPr>
        <p:spPr>
          <a:xfrm>
            <a:off x="557784" y="118872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1. Raw data</a:t>
            </a:r>
            <a:endParaRPr lang="en-US" sz="1250" dirty="0"/>
          </a:p>
          <a:p>
            <a:pPr algn="ctr" indent="0" marL="0">
              <a:buNone/>
            </a:pPr>
            <a:r>
              <a:rPr lang="en-US" sz="1050" dirty="0">
                <a:solidFill>
                  <a:srgbClr val="333333"/>
                </a:solidFill>
              </a:rPr>
              <a:t>4 ASD workbooks, 2339 spectra, 48 plots x 4 dates</a:t>
            </a:r>
            <a:endParaRPr lang="en-US" sz="1250" dirty="0"/>
          </a:p>
        </p:txBody>
      </p:sp>
      <p:sp>
        <p:nvSpPr>
          <p:cNvPr id="5" name="Shape 3"/>
          <p:cNvSpPr/>
          <p:nvPr/>
        </p:nvSpPr>
        <p:spPr>
          <a:xfrm>
            <a:off x="3383280" y="1188720"/>
            <a:ext cx="2514600" cy="1097280"/>
          </a:xfrm>
          <a:prstGeom prst="roundRect">
            <a:avLst>
              <a:gd name="adj" fmla="val 5000"/>
            </a:avLst>
          </a:prstGeom>
          <a:solidFill>
            <a:srgbClr val="F7F1E1"/>
          </a:solidFill>
          <a:ln w="9525">
            <a:solidFill>
              <a:srgbClr val="C9D3C6"/>
            </a:solidFill>
            <a:prstDash val="solid"/>
          </a:ln>
        </p:spPr>
      </p:sp>
      <p:sp>
        <p:nvSpPr>
          <p:cNvPr id="6" name="Text 4"/>
          <p:cNvSpPr txBox="1"/>
          <p:nvPr/>
        </p:nvSpPr>
        <p:spPr>
          <a:xfrm>
            <a:off x="3438144" y="118872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2. Quality control</a:t>
            </a:r>
            <a:endParaRPr lang="en-US" sz="1250" dirty="0"/>
          </a:p>
          <a:p>
            <a:pPr algn="ctr" indent="0" marL="0">
              <a:buNone/>
            </a:pPr>
            <a:r>
              <a:rPr lang="en-US" sz="1050" dirty="0">
                <a:solidFill>
                  <a:srgbClr val="333333"/>
                </a:solidFill>
              </a:rPr>
              <a:t>splice fix, 400-2400 nm, 4-rule outlier vote -&gt; 2290</a:t>
            </a:r>
            <a:endParaRPr lang="en-US" sz="1250" dirty="0"/>
          </a:p>
        </p:txBody>
      </p:sp>
      <p:sp>
        <p:nvSpPr>
          <p:cNvPr id="7" name="Shape 5"/>
          <p:cNvSpPr/>
          <p:nvPr/>
        </p:nvSpPr>
        <p:spPr>
          <a:xfrm>
            <a:off x="6263640" y="1188720"/>
            <a:ext cx="2514600" cy="1097280"/>
          </a:xfrm>
          <a:prstGeom prst="roundRect">
            <a:avLst>
              <a:gd name="adj" fmla="val 5000"/>
            </a:avLst>
          </a:prstGeom>
          <a:solidFill>
            <a:srgbClr val="F7F1E1"/>
          </a:solidFill>
          <a:ln w="9525">
            <a:solidFill>
              <a:srgbClr val="C9D3C6"/>
            </a:solidFill>
            <a:prstDash val="solid"/>
          </a:ln>
        </p:spPr>
      </p:sp>
      <p:sp>
        <p:nvSpPr>
          <p:cNvPr id="8" name="Text 6"/>
          <p:cNvSpPr txBox="1"/>
          <p:nvPr/>
        </p:nvSpPr>
        <p:spPr>
          <a:xfrm>
            <a:off x="6318504" y="118872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3. Preprocessing</a:t>
            </a:r>
            <a:endParaRPr lang="en-US" sz="1250" dirty="0"/>
          </a:p>
          <a:p>
            <a:pPr algn="ctr" indent="0" marL="0">
              <a:buNone/>
            </a:pPr>
            <a:r>
              <a:rPr lang="en-US" sz="1050" dirty="0">
                <a:solidFill>
                  <a:srgbClr val="333333"/>
                </a:solidFill>
              </a:rPr>
              <a:t>SG smoothing, 10-nm bands; SNV / MSC / derivative / date-norm.</a:t>
            </a:r>
            <a:endParaRPr lang="en-US" sz="1250" dirty="0"/>
          </a:p>
        </p:txBody>
      </p:sp>
      <p:sp>
        <p:nvSpPr>
          <p:cNvPr id="9" name="Shape 7"/>
          <p:cNvSpPr/>
          <p:nvPr/>
        </p:nvSpPr>
        <p:spPr>
          <a:xfrm>
            <a:off x="9144000" y="1188720"/>
            <a:ext cx="2514600" cy="1097280"/>
          </a:xfrm>
          <a:prstGeom prst="roundRect">
            <a:avLst>
              <a:gd name="adj" fmla="val 5000"/>
            </a:avLst>
          </a:prstGeom>
          <a:solidFill>
            <a:srgbClr val="F7F1E1"/>
          </a:solidFill>
          <a:ln w="9525">
            <a:solidFill>
              <a:srgbClr val="C9D3C6"/>
            </a:solidFill>
            <a:prstDash val="solid"/>
          </a:ln>
        </p:spPr>
      </p:sp>
      <p:sp>
        <p:nvSpPr>
          <p:cNvPr id="10" name="Text 8"/>
          <p:cNvSpPr txBox="1"/>
          <p:nvPr/>
        </p:nvSpPr>
        <p:spPr>
          <a:xfrm>
            <a:off x="9198864" y="118872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4. Characterisation</a:t>
            </a:r>
            <a:endParaRPr lang="en-US" sz="1250" dirty="0"/>
          </a:p>
          <a:p>
            <a:pPr algn="ctr" indent="0" marL="0">
              <a:buNone/>
            </a:pPr>
            <a:r>
              <a:rPr lang="en-US" sz="1050" dirty="0">
                <a:solidFill>
                  <a:srgbClr val="333333"/>
                </a:solidFill>
              </a:rPr>
              <a:t>FDR tests, J-M, red edge, PCA, PERMANOVA, LMM</a:t>
            </a:r>
            <a:endParaRPr lang="en-US" sz="1250" dirty="0"/>
          </a:p>
        </p:txBody>
      </p:sp>
      <p:sp>
        <p:nvSpPr>
          <p:cNvPr id="11" name="Shape 9"/>
          <p:cNvSpPr/>
          <p:nvPr/>
        </p:nvSpPr>
        <p:spPr>
          <a:xfrm>
            <a:off x="9144000" y="2834640"/>
            <a:ext cx="2514600" cy="1097280"/>
          </a:xfrm>
          <a:prstGeom prst="roundRect">
            <a:avLst>
              <a:gd name="adj" fmla="val 5000"/>
            </a:avLst>
          </a:prstGeom>
          <a:solidFill>
            <a:srgbClr val="E6EFE3"/>
          </a:solidFill>
          <a:ln w="9525">
            <a:solidFill>
              <a:srgbClr val="C9D3C6"/>
            </a:solidFill>
            <a:prstDash val="solid"/>
          </a:ln>
        </p:spPr>
      </p:sp>
      <p:sp>
        <p:nvSpPr>
          <p:cNvPr id="12" name="Text 10"/>
          <p:cNvSpPr txBox="1"/>
          <p:nvPr/>
        </p:nvSpPr>
        <p:spPr>
          <a:xfrm>
            <a:off x="9198864" y="283464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5. Features F1-F6</a:t>
            </a:r>
            <a:endParaRPr lang="en-US" sz="1250" dirty="0"/>
          </a:p>
          <a:p>
            <a:pPr algn="ctr" indent="0" marL="0">
              <a:buNone/>
            </a:pPr>
            <a:r>
              <a:rPr lang="en-US" sz="1050" dirty="0">
                <a:solidFill>
                  <a:srgbClr val="333333"/>
                </a:solidFill>
              </a:rPr>
              <a:t>bands, 46 VIs, NDSI, derivatives, CR, CWT (~2100)</a:t>
            </a:r>
            <a:endParaRPr lang="en-US" sz="1250" dirty="0"/>
          </a:p>
        </p:txBody>
      </p:sp>
      <p:sp>
        <p:nvSpPr>
          <p:cNvPr id="13" name="Shape 11"/>
          <p:cNvSpPr/>
          <p:nvPr/>
        </p:nvSpPr>
        <p:spPr>
          <a:xfrm>
            <a:off x="6263640" y="2834640"/>
            <a:ext cx="2514600" cy="1097280"/>
          </a:xfrm>
          <a:prstGeom prst="roundRect">
            <a:avLst>
              <a:gd name="adj" fmla="val 5000"/>
            </a:avLst>
          </a:prstGeom>
          <a:solidFill>
            <a:srgbClr val="E6EFE3"/>
          </a:solidFill>
          <a:ln w="9525">
            <a:solidFill>
              <a:srgbClr val="C9D3C6"/>
            </a:solidFill>
            <a:prstDash val="solid"/>
          </a:ln>
        </p:spPr>
      </p:sp>
      <p:sp>
        <p:nvSpPr>
          <p:cNvPr id="14" name="Text 12"/>
          <p:cNvSpPr txBox="1"/>
          <p:nvPr/>
        </p:nvSpPr>
        <p:spPr>
          <a:xfrm>
            <a:off x="6318504" y="283464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6. Feature selection</a:t>
            </a:r>
            <a:endParaRPr lang="en-US" sz="1250" dirty="0"/>
          </a:p>
          <a:p>
            <a:pPr algn="ctr" indent="0" marL="0">
              <a:buNone/>
            </a:pPr>
            <a:r>
              <a:rPr lang="en-US" sz="1050" dirty="0">
                <a:solidFill>
                  <a:srgbClr val="333333"/>
                </a:solidFill>
              </a:rPr>
              <a:t>robust (S2-S8), OFC (E7), 6 published selectors (E8), SPA, GA-PLS</a:t>
            </a:r>
            <a:endParaRPr lang="en-US" sz="1250" dirty="0"/>
          </a:p>
        </p:txBody>
      </p:sp>
      <p:sp>
        <p:nvSpPr>
          <p:cNvPr id="15" name="Shape 13"/>
          <p:cNvSpPr/>
          <p:nvPr/>
        </p:nvSpPr>
        <p:spPr>
          <a:xfrm>
            <a:off x="3383280" y="2834640"/>
            <a:ext cx="2514600" cy="1097280"/>
          </a:xfrm>
          <a:prstGeom prst="roundRect">
            <a:avLst>
              <a:gd name="adj" fmla="val 5000"/>
            </a:avLst>
          </a:prstGeom>
          <a:solidFill>
            <a:srgbClr val="E6EFE3"/>
          </a:solidFill>
          <a:ln w="9525">
            <a:solidFill>
              <a:srgbClr val="C9D3C6"/>
            </a:solidFill>
            <a:prstDash val="solid"/>
          </a:ln>
        </p:spPr>
      </p:sp>
      <p:sp>
        <p:nvSpPr>
          <p:cNvPr id="16" name="Text 14"/>
          <p:cNvSpPr txBox="1"/>
          <p:nvPr/>
        </p:nvSpPr>
        <p:spPr>
          <a:xfrm>
            <a:off x="3438144" y="283464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7. Classification</a:t>
            </a:r>
            <a:endParaRPr lang="en-US" sz="1250" dirty="0"/>
          </a:p>
          <a:p>
            <a:pPr algn="ctr" indent="0" marL="0">
              <a:buNone/>
            </a:pPr>
            <a:r>
              <a:rPr lang="en-US" sz="1050" dirty="0">
                <a:solidFill>
                  <a:srgbClr val="333333"/>
                </a:solidFill>
              </a:rPr>
              <a:t>10 classifiers, inner-CV tuning, class weights</a:t>
            </a:r>
            <a:endParaRPr lang="en-US" sz="1250" dirty="0"/>
          </a:p>
        </p:txBody>
      </p:sp>
      <p:sp>
        <p:nvSpPr>
          <p:cNvPr id="17" name="Shape 15"/>
          <p:cNvSpPr/>
          <p:nvPr/>
        </p:nvSpPr>
        <p:spPr>
          <a:xfrm>
            <a:off x="502920" y="2834640"/>
            <a:ext cx="2514600" cy="1097280"/>
          </a:xfrm>
          <a:prstGeom prst="roundRect">
            <a:avLst>
              <a:gd name="adj" fmla="val 5000"/>
            </a:avLst>
          </a:prstGeom>
          <a:solidFill>
            <a:srgbClr val="E6EFE3"/>
          </a:solidFill>
          <a:ln w="9525">
            <a:solidFill>
              <a:srgbClr val="C9D3C6"/>
            </a:solidFill>
            <a:prstDash val="solid"/>
          </a:ln>
        </p:spPr>
      </p:sp>
      <p:sp>
        <p:nvSpPr>
          <p:cNvPr id="18" name="Text 16"/>
          <p:cNvSpPr txBox="1"/>
          <p:nvPr/>
        </p:nvSpPr>
        <p:spPr>
          <a:xfrm>
            <a:off x="557784" y="283464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8. Validation</a:t>
            </a:r>
            <a:endParaRPr lang="en-US" sz="1250" dirty="0"/>
          </a:p>
          <a:p>
            <a:pPr algn="ctr" indent="0" marL="0">
              <a:buNone/>
            </a:pPr>
            <a:r>
              <a:rPr lang="en-US" sz="1050" dirty="0">
                <a:solidFill>
                  <a:srgbClr val="333333"/>
                </a:solidFill>
              </a:rPr>
              <a:t>nested plot-grouped 4-fold CV x 25 repeats</a:t>
            </a:r>
            <a:endParaRPr lang="en-US" sz="1250" dirty="0"/>
          </a:p>
        </p:txBody>
      </p:sp>
      <p:sp>
        <p:nvSpPr>
          <p:cNvPr id="19" name="Shape 17"/>
          <p:cNvSpPr/>
          <p:nvPr/>
        </p:nvSpPr>
        <p:spPr>
          <a:xfrm>
            <a:off x="502920" y="4480560"/>
            <a:ext cx="2514600" cy="1097280"/>
          </a:xfrm>
          <a:prstGeom prst="roundRect">
            <a:avLst>
              <a:gd name="adj" fmla="val 5000"/>
            </a:avLst>
          </a:prstGeom>
          <a:solidFill>
            <a:srgbClr val="E3ECF5"/>
          </a:solidFill>
          <a:ln w="9525">
            <a:solidFill>
              <a:srgbClr val="C9D3C6"/>
            </a:solidFill>
            <a:prstDash val="solid"/>
          </a:ln>
        </p:spPr>
      </p:sp>
      <p:sp>
        <p:nvSpPr>
          <p:cNvPr id="20" name="Text 18"/>
          <p:cNvSpPr txBox="1"/>
          <p:nvPr/>
        </p:nvSpPr>
        <p:spPr>
          <a:xfrm>
            <a:off x="557784" y="448056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9. Experiments E1-E8</a:t>
            </a:r>
            <a:endParaRPr lang="en-US" sz="1250" dirty="0"/>
          </a:p>
          <a:p>
            <a:pPr algn="ctr" indent="0" marL="0">
              <a:buNone/>
            </a:pPr>
            <a:r>
              <a:rPr lang="en-US" sz="1050" dirty="0">
                <a:solidFill>
                  <a:srgbClr val="333333"/>
                </a:solidFill>
              </a:rPr>
              <a:t>preprocessing, transfer, metadata, learning curve, sensors, outliers, OFC, selectors</a:t>
            </a:r>
            <a:endParaRPr lang="en-US" sz="1250" dirty="0"/>
          </a:p>
        </p:txBody>
      </p:sp>
      <p:sp>
        <p:nvSpPr>
          <p:cNvPr id="21" name="Shape 19"/>
          <p:cNvSpPr/>
          <p:nvPr/>
        </p:nvSpPr>
        <p:spPr>
          <a:xfrm>
            <a:off x="3383280" y="4480560"/>
            <a:ext cx="2514600" cy="1097280"/>
          </a:xfrm>
          <a:prstGeom prst="roundRect">
            <a:avLst>
              <a:gd name="adj" fmla="val 5000"/>
            </a:avLst>
          </a:prstGeom>
          <a:solidFill>
            <a:srgbClr val="E3ECF5"/>
          </a:solidFill>
          <a:ln w="9525">
            <a:solidFill>
              <a:srgbClr val="C9D3C6"/>
            </a:solidFill>
            <a:prstDash val="solid"/>
          </a:ln>
        </p:spPr>
      </p:sp>
      <p:sp>
        <p:nvSpPr>
          <p:cNvPr id="22" name="Text 20"/>
          <p:cNvSpPr txBox="1"/>
          <p:nvPr/>
        </p:nvSpPr>
        <p:spPr>
          <a:xfrm>
            <a:off x="3438144" y="448056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10. Statistics</a:t>
            </a:r>
            <a:endParaRPr lang="en-US" sz="1250" dirty="0"/>
          </a:p>
          <a:p>
            <a:pPr algn="ctr" indent="0" marL="0">
              <a:buNone/>
            </a:pPr>
            <a:r>
              <a:rPr lang="en-US" sz="1050" dirty="0">
                <a:solidFill>
                  <a:srgbClr val="333333"/>
                </a:solidFill>
              </a:rPr>
              <a:t>Friedman-Nemenyi, corrected t, Wilcoxon-Holm</a:t>
            </a:r>
            <a:endParaRPr lang="en-US" sz="1250" dirty="0"/>
          </a:p>
        </p:txBody>
      </p:sp>
      <p:sp>
        <p:nvSpPr>
          <p:cNvPr id="23" name="Shape 21"/>
          <p:cNvSpPr/>
          <p:nvPr/>
        </p:nvSpPr>
        <p:spPr>
          <a:xfrm>
            <a:off x="6263640" y="4480560"/>
            <a:ext cx="2514600" cy="1097280"/>
          </a:xfrm>
          <a:prstGeom prst="roundRect">
            <a:avLst>
              <a:gd name="adj" fmla="val 5000"/>
            </a:avLst>
          </a:prstGeom>
          <a:solidFill>
            <a:srgbClr val="E3ECF5"/>
          </a:solidFill>
          <a:ln w="9525">
            <a:solidFill>
              <a:srgbClr val="C9D3C6"/>
            </a:solidFill>
            <a:prstDash val="solid"/>
          </a:ln>
        </p:spPr>
      </p:sp>
      <p:sp>
        <p:nvSpPr>
          <p:cNvPr id="24" name="Text 22"/>
          <p:cNvSpPr txBox="1"/>
          <p:nvPr/>
        </p:nvSpPr>
        <p:spPr>
          <a:xfrm>
            <a:off x="6318504" y="4480560"/>
            <a:ext cx="2404872" cy="1097280"/>
          </a:xfrm>
          <a:prstGeom prst="rect">
            <a:avLst/>
          </a:prstGeom>
          <a:noFill/>
          <a:ln/>
        </p:spPr>
        <p:txBody>
          <a:bodyPr wrap="square" lIns="254" tIns="254" rIns="254" bIns="254" rtlCol="0" anchor="ctr"/>
          <a:lstStyle/>
          <a:p>
            <a:pPr algn="ctr" indent="0" marL="0">
              <a:buNone/>
            </a:pPr>
            <a:r>
              <a:rPr lang="en-US" sz="1250" b="1" dirty="0">
                <a:solidFill>
                  <a:srgbClr val="1F3D2B"/>
                </a:solidFill>
              </a:rPr>
              <a:t>Step 11. Interpretation</a:t>
            </a:r>
            <a:endParaRPr lang="en-US" sz="1250" dirty="0"/>
          </a:p>
          <a:p>
            <a:pPr algn="ctr" indent="0" marL="0">
              <a:buNone/>
            </a:pPr>
            <a:r>
              <a:rPr lang="en-US" sz="1050" dirty="0">
                <a:solidFill>
                  <a:srgbClr val="333333"/>
                </a:solidFill>
              </a:rPr>
              <a:t>selection frequency, permutation importance, SHAP, physiology</a:t>
            </a:r>
            <a:endParaRPr lang="en-US" sz="1250" dirty="0"/>
          </a:p>
        </p:txBody>
      </p:sp>
      <p:sp>
        <p:nvSpPr>
          <p:cNvPr id="25" name="Shape 23"/>
          <p:cNvSpPr/>
          <p:nvPr/>
        </p:nvSpPr>
        <p:spPr>
          <a:xfrm>
            <a:off x="9144000" y="4480560"/>
            <a:ext cx="2514600" cy="1097280"/>
          </a:xfrm>
          <a:prstGeom prst="roundRect">
            <a:avLst>
              <a:gd name="adj" fmla="val 5000"/>
            </a:avLst>
          </a:prstGeom>
          <a:solidFill>
            <a:srgbClr val="1F3D2B"/>
          </a:solidFill>
          <a:ln w="9525">
            <a:solidFill>
              <a:srgbClr val="1F3D2B"/>
            </a:solidFill>
            <a:prstDash val="solid"/>
          </a:ln>
        </p:spPr>
      </p:sp>
      <p:sp>
        <p:nvSpPr>
          <p:cNvPr id="26" name="Text 24"/>
          <p:cNvSpPr txBox="1"/>
          <p:nvPr/>
        </p:nvSpPr>
        <p:spPr>
          <a:xfrm>
            <a:off x="9198864" y="4480560"/>
            <a:ext cx="2404872" cy="1097280"/>
          </a:xfrm>
          <a:prstGeom prst="rect">
            <a:avLst/>
          </a:prstGeom>
          <a:noFill/>
          <a:ln/>
        </p:spPr>
        <p:txBody>
          <a:bodyPr wrap="square" lIns="254" tIns="254" rIns="254" bIns="254" rtlCol="0" anchor="ctr"/>
          <a:lstStyle/>
          <a:p>
            <a:pPr algn="ctr" indent="0" marL="0">
              <a:buNone/>
            </a:pPr>
            <a:r>
              <a:rPr lang="en-US" sz="1250" b="1" dirty="0">
                <a:solidFill>
                  <a:srgbClr val="FFFFFF"/>
                </a:solidFill>
              </a:rPr>
              <a:t>Outcome</a:t>
            </a:r>
            <a:endParaRPr lang="en-US" sz="1250" dirty="0"/>
          </a:p>
          <a:p>
            <a:pPr algn="ctr" indent="0" marL="0">
              <a:buNone/>
            </a:pPr>
            <a:r>
              <a:rPr lang="en-US" sz="1050" dirty="0">
                <a:solidFill>
                  <a:srgbClr val="F2F2F2"/>
                </a:solidFill>
              </a:rPr>
              <a:t>best pooled model, compact sensor set, MWRI index</a:t>
            </a:r>
            <a:endParaRPr lang="en-US" sz="1250" dirty="0"/>
          </a:p>
        </p:txBody>
      </p:sp>
      <p:sp>
        <p:nvSpPr>
          <p:cNvPr id="27" name="Shape 25"/>
          <p:cNvSpPr/>
          <p:nvPr/>
        </p:nvSpPr>
        <p:spPr>
          <a:xfrm>
            <a:off x="3017520" y="1737360"/>
            <a:ext cx="365760" cy="0"/>
          </a:xfrm>
          <a:prstGeom prst="line">
            <a:avLst/>
          </a:prstGeom>
          <a:noFill/>
          <a:ln w="19050">
            <a:solidFill>
              <a:srgbClr val="7A7A7A"/>
            </a:solidFill>
            <a:prstDash val="solid"/>
            <a:tailEnd type="triangle"/>
          </a:ln>
        </p:spPr>
      </p:sp>
      <p:sp>
        <p:nvSpPr>
          <p:cNvPr id="28" name="Shape 26"/>
          <p:cNvSpPr/>
          <p:nvPr/>
        </p:nvSpPr>
        <p:spPr>
          <a:xfrm flipH="1">
            <a:off x="8778240" y="3383280"/>
            <a:ext cx="365760" cy="0"/>
          </a:xfrm>
          <a:prstGeom prst="line">
            <a:avLst/>
          </a:prstGeom>
          <a:noFill/>
          <a:ln w="19050">
            <a:solidFill>
              <a:srgbClr val="7A7A7A"/>
            </a:solidFill>
            <a:prstDash val="solid"/>
            <a:tailEnd type="triangle"/>
          </a:ln>
        </p:spPr>
      </p:sp>
      <p:sp>
        <p:nvSpPr>
          <p:cNvPr id="29" name="Shape 27"/>
          <p:cNvSpPr/>
          <p:nvPr/>
        </p:nvSpPr>
        <p:spPr>
          <a:xfrm>
            <a:off x="3017520" y="5029200"/>
            <a:ext cx="365760" cy="0"/>
          </a:xfrm>
          <a:prstGeom prst="line">
            <a:avLst/>
          </a:prstGeom>
          <a:noFill/>
          <a:ln w="19050">
            <a:solidFill>
              <a:srgbClr val="7A7A7A"/>
            </a:solidFill>
            <a:prstDash val="solid"/>
            <a:tailEnd type="triangle"/>
          </a:ln>
        </p:spPr>
      </p:sp>
      <p:sp>
        <p:nvSpPr>
          <p:cNvPr id="30" name="Shape 28"/>
          <p:cNvSpPr/>
          <p:nvPr/>
        </p:nvSpPr>
        <p:spPr>
          <a:xfrm>
            <a:off x="5897880" y="1737360"/>
            <a:ext cx="365760" cy="0"/>
          </a:xfrm>
          <a:prstGeom prst="line">
            <a:avLst/>
          </a:prstGeom>
          <a:noFill/>
          <a:ln w="19050">
            <a:solidFill>
              <a:srgbClr val="7A7A7A"/>
            </a:solidFill>
            <a:prstDash val="solid"/>
            <a:tailEnd type="triangle"/>
          </a:ln>
        </p:spPr>
      </p:sp>
      <p:sp>
        <p:nvSpPr>
          <p:cNvPr id="31" name="Shape 29"/>
          <p:cNvSpPr/>
          <p:nvPr/>
        </p:nvSpPr>
        <p:spPr>
          <a:xfrm flipH="1">
            <a:off x="5897880" y="3383280"/>
            <a:ext cx="365760" cy="0"/>
          </a:xfrm>
          <a:prstGeom prst="line">
            <a:avLst/>
          </a:prstGeom>
          <a:noFill/>
          <a:ln w="19050">
            <a:solidFill>
              <a:srgbClr val="7A7A7A"/>
            </a:solidFill>
            <a:prstDash val="solid"/>
            <a:tailEnd type="triangle"/>
          </a:ln>
        </p:spPr>
      </p:sp>
      <p:sp>
        <p:nvSpPr>
          <p:cNvPr id="32" name="Shape 30"/>
          <p:cNvSpPr/>
          <p:nvPr/>
        </p:nvSpPr>
        <p:spPr>
          <a:xfrm>
            <a:off x="5897880" y="5029200"/>
            <a:ext cx="365760" cy="0"/>
          </a:xfrm>
          <a:prstGeom prst="line">
            <a:avLst/>
          </a:prstGeom>
          <a:noFill/>
          <a:ln w="19050">
            <a:solidFill>
              <a:srgbClr val="7A7A7A"/>
            </a:solidFill>
            <a:prstDash val="solid"/>
            <a:tailEnd type="triangle"/>
          </a:ln>
        </p:spPr>
      </p:sp>
      <p:sp>
        <p:nvSpPr>
          <p:cNvPr id="33" name="Shape 31"/>
          <p:cNvSpPr/>
          <p:nvPr/>
        </p:nvSpPr>
        <p:spPr>
          <a:xfrm>
            <a:off x="8778240" y="1737360"/>
            <a:ext cx="365760" cy="0"/>
          </a:xfrm>
          <a:prstGeom prst="line">
            <a:avLst/>
          </a:prstGeom>
          <a:noFill/>
          <a:ln w="19050">
            <a:solidFill>
              <a:srgbClr val="7A7A7A"/>
            </a:solidFill>
            <a:prstDash val="solid"/>
            <a:tailEnd type="triangle"/>
          </a:ln>
        </p:spPr>
      </p:sp>
      <p:sp>
        <p:nvSpPr>
          <p:cNvPr id="34" name="Shape 32"/>
          <p:cNvSpPr/>
          <p:nvPr/>
        </p:nvSpPr>
        <p:spPr>
          <a:xfrm flipH="1">
            <a:off x="3017520" y="3383280"/>
            <a:ext cx="365760" cy="0"/>
          </a:xfrm>
          <a:prstGeom prst="line">
            <a:avLst/>
          </a:prstGeom>
          <a:noFill/>
          <a:ln w="19050">
            <a:solidFill>
              <a:srgbClr val="7A7A7A"/>
            </a:solidFill>
            <a:prstDash val="solid"/>
            <a:tailEnd type="triangle"/>
          </a:ln>
        </p:spPr>
      </p:sp>
      <p:sp>
        <p:nvSpPr>
          <p:cNvPr id="35" name="Shape 33"/>
          <p:cNvSpPr/>
          <p:nvPr/>
        </p:nvSpPr>
        <p:spPr>
          <a:xfrm>
            <a:off x="8778240" y="5029200"/>
            <a:ext cx="365760" cy="0"/>
          </a:xfrm>
          <a:prstGeom prst="line">
            <a:avLst/>
          </a:prstGeom>
          <a:noFill/>
          <a:ln w="19050">
            <a:solidFill>
              <a:srgbClr val="7A7A7A"/>
            </a:solidFill>
            <a:prstDash val="solid"/>
            <a:tailEnd type="triangle"/>
          </a:ln>
        </p:spPr>
      </p:sp>
      <p:sp>
        <p:nvSpPr>
          <p:cNvPr id="36" name="Shape 34"/>
          <p:cNvSpPr/>
          <p:nvPr/>
        </p:nvSpPr>
        <p:spPr>
          <a:xfrm>
            <a:off x="10401300" y="2286000"/>
            <a:ext cx="0" cy="548640"/>
          </a:xfrm>
          <a:prstGeom prst="line">
            <a:avLst/>
          </a:prstGeom>
          <a:noFill/>
          <a:ln w="19050">
            <a:solidFill>
              <a:srgbClr val="7A7A7A"/>
            </a:solidFill>
            <a:prstDash val="solid"/>
            <a:tailEnd type="triangle"/>
          </a:ln>
        </p:spPr>
      </p:sp>
      <p:sp>
        <p:nvSpPr>
          <p:cNvPr id="37" name="Shape 35"/>
          <p:cNvSpPr/>
          <p:nvPr/>
        </p:nvSpPr>
        <p:spPr>
          <a:xfrm>
            <a:off x="1760220" y="3931920"/>
            <a:ext cx="0" cy="548640"/>
          </a:xfrm>
          <a:prstGeom prst="line">
            <a:avLst/>
          </a:prstGeom>
          <a:noFill/>
          <a:ln w="19050">
            <a:solidFill>
              <a:srgbClr val="7A7A7A"/>
            </a:solidFill>
            <a:prstDash val="solid"/>
            <a:tailEnd type="triangle"/>
          </a:ln>
        </p:spPr>
      </p:sp>
      <p:sp>
        <p:nvSpPr>
          <p:cNvPr id="38" name="Text 36"/>
          <p:cNvSpPr txBox="1"/>
          <p:nvPr/>
        </p:nvSpPr>
        <p:spPr>
          <a:xfrm>
            <a:off x="502920" y="5760720"/>
            <a:ext cx="11155680" cy="320040"/>
          </a:xfrm>
          <a:prstGeom prst="rect">
            <a:avLst/>
          </a:prstGeom>
          <a:noFill/>
          <a:ln/>
        </p:spPr>
        <p:txBody>
          <a:bodyPr wrap="square" lIns="0" tIns="0" rIns="0" bIns="0" rtlCol="0" anchor="ctr"/>
          <a:lstStyle/>
          <a:p>
            <a:pPr indent="0" marL="0">
              <a:buNone/>
            </a:pPr>
            <a:r>
              <a:rPr lang="en-US" sz="1100" i="1" dirty="0">
                <a:solidFill>
                  <a:schemeClr val="accent6"/>
                </a:solidFill>
              </a:rPr>
              <a:t>Colour: tan = data handling; green = features and models; blue = evaluation; dark = outputs. Every learning step sits inside the training plots of each fold (Step 8).</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Steps 1-2 flowchart: data assembly and quality control</a:t>
            </a:r>
            <a:endParaRPr lang="en-US" sz="2800" dirty="0"/>
          </a:p>
        </p:txBody>
      </p:sp>
      <p:sp>
        <p:nvSpPr>
          <p:cNvPr id="3" name="Shape 1"/>
          <p:cNvSpPr/>
          <p:nvPr/>
        </p:nvSpPr>
        <p:spPr>
          <a:xfrm>
            <a:off x="548640" y="1188720"/>
            <a:ext cx="3840480" cy="603504"/>
          </a:xfrm>
          <a:prstGeom prst="roundRect">
            <a:avLst>
              <a:gd name="adj" fmla="val 9091"/>
            </a:avLst>
          </a:prstGeom>
          <a:solidFill>
            <a:srgbClr val="F7F1E1"/>
          </a:solidFill>
          <a:ln w="9525">
            <a:solidFill>
              <a:srgbClr val="C9D3C6"/>
            </a:solidFill>
            <a:prstDash val="solid"/>
          </a:ln>
        </p:spPr>
      </p:sp>
      <p:sp>
        <p:nvSpPr>
          <p:cNvPr id="4" name="Text 2"/>
          <p:cNvSpPr txBox="1"/>
          <p:nvPr/>
        </p:nvSpPr>
        <p:spPr>
          <a:xfrm>
            <a:off x="603504" y="1188720"/>
            <a:ext cx="3730752" cy="603504"/>
          </a:xfrm>
          <a:prstGeom prst="rect">
            <a:avLst/>
          </a:prstGeom>
          <a:noFill/>
          <a:ln/>
        </p:spPr>
        <p:txBody>
          <a:bodyPr wrap="square" lIns="254" tIns="254" rIns="254" bIns="254" rtlCol="0" anchor="ctr"/>
          <a:lstStyle/>
          <a:p>
            <a:pPr algn="ctr" indent="0" marL="0">
              <a:buNone/>
            </a:pPr>
            <a:r>
              <a:rPr lang="en-US" sz="1250" b="1" dirty="0">
                <a:solidFill>
                  <a:srgbClr val="1F3D2B"/>
                </a:solidFill>
              </a:rPr>
              <a:t>4 ASD Excel workbooks</a:t>
            </a:r>
            <a:endParaRPr lang="en-US" sz="1250" dirty="0"/>
          </a:p>
          <a:p>
            <a:pPr algn="ctr" indent="0" marL="0">
              <a:buNone/>
            </a:pPr>
            <a:r>
              <a:rPr lang="en-US" sz="1050" dirty="0">
                <a:solidFill>
                  <a:srgbClr val="333333"/>
                </a:solidFill>
              </a:rPr>
              <a:t>11 Feb, 24 Feb, 03 Mar, 13 Mar 2026</a:t>
            </a:r>
            <a:endParaRPr lang="en-US" sz="1250" dirty="0"/>
          </a:p>
        </p:txBody>
      </p:sp>
      <p:sp>
        <p:nvSpPr>
          <p:cNvPr id="5" name="Shape 3"/>
          <p:cNvSpPr/>
          <p:nvPr/>
        </p:nvSpPr>
        <p:spPr>
          <a:xfrm>
            <a:off x="2468880" y="1792224"/>
            <a:ext cx="0" cy="182880"/>
          </a:xfrm>
          <a:prstGeom prst="line">
            <a:avLst/>
          </a:prstGeom>
          <a:noFill/>
          <a:ln w="19050">
            <a:solidFill>
              <a:srgbClr val="7A7A7A"/>
            </a:solidFill>
            <a:prstDash val="solid"/>
            <a:tailEnd type="triangle"/>
          </a:ln>
        </p:spPr>
      </p:sp>
      <p:sp>
        <p:nvSpPr>
          <p:cNvPr id="6" name="Shape 4"/>
          <p:cNvSpPr/>
          <p:nvPr/>
        </p:nvSpPr>
        <p:spPr>
          <a:xfrm>
            <a:off x="548640" y="1975104"/>
            <a:ext cx="3840480" cy="603504"/>
          </a:xfrm>
          <a:prstGeom prst="roundRect">
            <a:avLst>
              <a:gd name="adj" fmla="val 9091"/>
            </a:avLst>
          </a:prstGeom>
          <a:solidFill>
            <a:srgbClr val="F7F1E1"/>
          </a:solidFill>
          <a:ln w="9525">
            <a:solidFill>
              <a:srgbClr val="C9D3C6"/>
            </a:solidFill>
            <a:prstDash val="solid"/>
          </a:ln>
        </p:spPr>
      </p:sp>
      <p:sp>
        <p:nvSpPr>
          <p:cNvPr id="7" name="Text 5"/>
          <p:cNvSpPr txBox="1"/>
          <p:nvPr/>
        </p:nvSpPr>
        <p:spPr>
          <a:xfrm>
            <a:off x="603504" y="1975104"/>
            <a:ext cx="3730752" cy="603504"/>
          </a:xfrm>
          <a:prstGeom prst="rect">
            <a:avLst/>
          </a:prstGeom>
          <a:noFill/>
          <a:ln/>
        </p:spPr>
        <p:txBody>
          <a:bodyPr wrap="square" lIns="254" tIns="254" rIns="254" bIns="254" rtlCol="0" anchor="ctr"/>
          <a:lstStyle/>
          <a:p>
            <a:pPr algn="ctr" indent="0" marL="0">
              <a:buNone/>
            </a:pPr>
            <a:r>
              <a:rPr lang="en-US" sz="1250" b="1" dirty="0">
                <a:solidFill>
                  <a:srgbClr val="1F3D2B"/>
                </a:solidFill>
              </a:rPr>
              <a:t>Data assembly</a:t>
            </a:r>
            <a:endParaRPr lang="en-US" sz="1250" dirty="0"/>
          </a:p>
          <a:p>
            <a:pPr algn="ctr" indent="0" marL="0">
              <a:buNone/>
            </a:pPr>
            <a:r>
              <a:rPr lang="en-US" sz="1050" dirty="0">
                <a:solidFill>
                  <a:srgbClr val="333333"/>
                </a:solidFill>
              </a:rPr>
              <a:t>2339 raw spectra + plot, variety, stage, label</a:t>
            </a:r>
            <a:endParaRPr lang="en-US" sz="1250" dirty="0"/>
          </a:p>
        </p:txBody>
      </p:sp>
      <p:sp>
        <p:nvSpPr>
          <p:cNvPr id="8" name="Shape 6"/>
          <p:cNvSpPr/>
          <p:nvPr/>
        </p:nvSpPr>
        <p:spPr>
          <a:xfrm>
            <a:off x="2468880" y="2578608"/>
            <a:ext cx="0" cy="182880"/>
          </a:xfrm>
          <a:prstGeom prst="line">
            <a:avLst/>
          </a:prstGeom>
          <a:noFill/>
          <a:ln w="19050">
            <a:solidFill>
              <a:srgbClr val="7A7A7A"/>
            </a:solidFill>
            <a:prstDash val="solid"/>
            <a:tailEnd type="triangle"/>
          </a:ln>
        </p:spPr>
      </p:sp>
      <p:sp>
        <p:nvSpPr>
          <p:cNvPr id="9" name="Shape 7"/>
          <p:cNvSpPr/>
          <p:nvPr/>
        </p:nvSpPr>
        <p:spPr>
          <a:xfrm>
            <a:off x="548640" y="2761488"/>
            <a:ext cx="3840480" cy="603504"/>
          </a:xfrm>
          <a:prstGeom prst="roundRect">
            <a:avLst>
              <a:gd name="adj" fmla="val 9091"/>
            </a:avLst>
          </a:prstGeom>
          <a:solidFill>
            <a:srgbClr val="F7F1E1"/>
          </a:solidFill>
          <a:ln w="9525">
            <a:solidFill>
              <a:srgbClr val="C9D3C6"/>
            </a:solidFill>
            <a:prstDash val="solid"/>
          </a:ln>
        </p:spPr>
      </p:sp>
      <p:sp>
        <p:nvSpPr>
          <p:cNvPr id="10" name="Text 8"/>
          <p:cNvSpPr txBox="1"/>
          <p:nvPr/>
        </p:nvSpPr>
        <p:spPr>
          <a:xfrm>
            <a:off x="603504" y="2761488"/>
            <a:ext cx="3730752" cy="603504"/>
          </a:xfrm>
          <a:prstGeom prst="rect">
            <a:avLst/>
          </a:prstGeom>
          <a:noFill/>
          <a:ln/>
        </p:spPr>
        <p:txBody>
          <a:bodyPr wrap="square" lIns="254" tIns="254" rIns="254" bIns="254" rtlCol="0" anchor="ctr"/>
          <a:lstStyle/>
          <a:p>
            <a:pPr algn="ctr" indent="0" marL="0">
              <a:buNone/>
            </a:pPr>
            <a:r>
              <a:rPr lang="en-US" sz="1250" b="1" dirty="0">
                <a:solidFill>
                  <a:srgbClr val="1F3D2B"/>
                </a:solidFill>
              </a:rPr>
              <a:t>Splice correction</a:t>
            </a:r>
            <a:endParaRPr lang="en-US" sz="1250" dirty="0"/>
          </a:p>
          <a:p>
            <a:pPr algn="ctr" indent="0" marL="0">
              <a:buNone/>
            </a:pPr>
            <a:r>
              <a:rPr lang="en-US" sz="1050" dirty="0">
                <a:solidFill>
                  <a:srgbClr val="333333"/>
                </a:solidFill>
              </a:rPr>
              <a:t>detector joins at 1000 / 1800 nm (Hueni &amp; Bialek 2017)</a:t>
            </a:r>
            <a:endParaRPr lang="en-US" sz="1250" dirty="0"/>
          </a:p>
        </p:txBody>
      </p:sp>
      <p:sp>
        <p:nvSpPr>
          <p:cNvPr id="11" name="Shape 9"/>
          <p:cNvSpPr/>
          <p:nvPr/>
        </p:nvSpPr>
        <p:spPr>
          <a:xfrm>
            <a:off x="2468880" y="3364992"/>
            <a:ext cx="0" cy="182880"/>
          </a:xfrm>
          <a:prstGeom prst="line">
            <a:avLst/>
          </a:prstGeom>
          <a:noFill/>
          <a:ln w="19050">
            <a:solidFill>
              <a:srgbClr val="7A7A7A"/>
            </a:solidFill>
            <a:prstDash val="solid"/>
            <a:tailEnd type="triangle"/>
          </a:ln>
        </p:spPr>
      </p:sp>
      <p:sp>
        <p:nvSpPr>
          <p:cNvPr id="12" name="Shape 10"/>
          <p:cNvSpPr/>
          <p:nvPr/>
        </p:nvSpPr>
        <p:spPr>
          <a:xfrm>
            <a:off x="548640" y="3547872"/>
            <a:ext cx="3840480" cy="603504"/>
          </a:xfrm>
          <a:prstGeom prst="roundRect">
            <a:avLst>
              <a:gd name="adj" fmla="val 9091"/>
            </a:avLst>
          </a:prstGeom>
          <a:solidFill>
            <a:srgbClr val="F7F1E1"/>
          </a:solidFill>
          <a:ln w="9525">
            <a:solidFill>
              <a:srgbClr val="C9D3C6"/>
            </a:solidFill>
            <a:prstDash val="solid"/>
          </a:ln>
        </p:spPr>
      </p:sp>
      <p:sp>
        <p:nvSpPr>
          <p:cNvPr id="13" name="Text 11"/>
          <p:cNvSpPr txBox="1"/>
          <p:nvPr/>
        </p:nvSpPr>
        <p:spPr>
          <a:xfrm>
            <a:off x="603504" y="3547872"/>
            <a:ext cx="3730752" cy="603504"/>
          </a:xfrm>
          <a:prstGeom prst="rect">
            <a:avLst/>
          </a:prstGeom>
          <a:noFill/>
          <a:ln/>
        </p:spPr>
        <p:txBody>
          <a:bodyPr wrap="square" lIns="254" tIns="254" rIns="254" bIns="254" rtlCol="0" anchor="ctr"/>
          <a:lstStyle/>
          <a:p>
            <a:pPr algn="ctr" indent="0" marL="0">
              <a:buNone/>
            </a:pPr>
            <a:r>
              <a:rPr lang="en-US" sz="1250" b="1" dirty="0">
                <a:solidFill>
                  <a:srgbClr val="1F3D2B"/>
                </a:solidFill>
              </a:rPr>
              <a:t>Trim to 400-2400 nm</a:t>
            </a:r>
            <a:endParaRPr lang="en-US" sz="1250" dirty="0"/>
          </a:p>
          <a:p>
            <a:pPr algn="ctr" indent="0" marL="0">
              <a:buNone/>
            </a:pPr>
            <a:r>
              <a:rPr lang="en-US" sz="1050" dirty="0">
                <a:solidFill>
                  <a:srgbClr val="333333"/>
                </a:solidFill>
              </a:rPr>
              <a:t>drop low-SNR 350-400 nm (SNR 40)</a:t>
            </a:r>
            <a:endParaRPr lang="en-US" sz="1250" dirty="0"/>
          </a:p>
        </p:txBody>
      </p:sp>
      <p:sp>
        <p:nvSpPr>
          <p:cNvPr id="14" name="Shape 12"/>
          <p:cNvSpPr/>
          <p:nvPr/>
        </p:nvSpPr>
        <p:spPr>
          <a:xfrm>
            <a:off x="2468880" y="4151376"/>
            <a:ext cx="0" cy="182880"/>
          </a:xfrm>
          <a:prstGeom prst="line">
            <a:avLst/>
          </a:prstGeom>
          <a:noFill/>
          <a:ln w="19050">
            <a:solidFill>
              <a:srgbClr val="7A7A7A"/>
            </a:solidFill>
            <a:prstDash val="solid"/>
            <a:tailEnd type="triangle"/>
          </a:ln>
        </p:spPr>
      </p:sp>
      <p:sp>
        <p:nvSpPr>
          <p:cNvPr id="15" name="Shape 13"/>
          <p:cNvSpPr/>
          <p:nvPr/>
        </p:nvSpPr>
        <p:spPr>
          <a:xfrm>
            <a:off x="548640" y="4334256"/>
            <a:ext cx="3840480" cy="603504"/>
          </a:xfrm>
          <a:prstGeom prst="roundRect">
            <a:avLst>
              <a:gd name="adj" fmla="val 9091"/>
            </a:avLst>
          </a:prstGeom>
          <a:solidFill>
            <a:srgbClr val="F7F1E1"/>
          </a:solidFill>
          <a:ln w="9525">
            <a:solidFill>
              <a:srgbClr val="C9D3C6"/>
            </a:solidFill>
            <a:prstDash val="solid"/>
          </a:ln>
        </p:spPr>
      </p:sp>
      <p:sp>
        <p:nvSpPr>
          <p:cNvPr id="16" name="Text 14"/>
          <p:cNvSpPr txBox="1"/>
          <p:nvPr/>
        </p:nvSpPr>
        <p:spPr>
          <a:xfrm>
            <a:off x="603504" y="4334256"/>
            <a:ext cx="3730752" cy="603504"/>
          </a:xfrm>
          <a:prstGeom prst="rect">
            <a:avLst/>
          </a:prstGeom>
          <a:noFill/>
          <a:ln/>
        </p:spPr>
        <p:txBody>
          <a:bodyPr wrap="square" lIns="254" tIns="254" rIns="254" bIns="254" rtlCol="0" anchor="ctr"/>
          <a:lstStyle/>
          <a:p>
            <a:pPr algn="ctr" indent="0" marL="0">
              <a:buNone/>
            </a:pPr>
            <a:r>
              <a:rPr lang="en-US" sz="1250" b="1" dirty="0">
                <a:solidFill>
                  <a:srgbClr val="1F3D2B"/>
                </a:solidFill>
              </a:rPr>
              <a:t>Outlier screening</a:t>
            </a:r>
            <a:endParaRPr lang="en-US" sz="1250" dirty="0"/>
          </a:p>
          <a:p>
            <a:pPr algn="ctr" indent="0" marL="0">
              <a:buNone/>
            </a:pPr>
            <a:r>
              <a:rPr lang="en-US" sz="1050" dirty="0">
                <a:solidFill>
                  <a:srgbClr val="333333"/>
                </a:solidFill>
              </a:rPr>
              <a:t>&gt;= 3 of 4 rules -&gt; 49 removed</a:t>
            </a:r>
            <a:endParaRPr lang="en-US" sz="1250" dirty="0"/>
          </a:p>
        </p:txBody>
      </p:sp>
      <p:sp>
        <p:nvSpPr>
          <p:cNvPr id="17" name="Shape 15"/>
          <p:cNvSpPr/>
          <p:nvPr/>
        </p:nvSpPr>
        <p:spPr>
          <a:xfrm>
            <a:off x="2468880" y="4937760"/>
            <a:ext cx="0" cy="182880"/>
          </a:xfrm>
          <a:prstGeom prst="line">
            <a:avLst/>
          </a:prstGeom>
          <a:noFill/>
          <a:ln w="19050">
            <a:solidFill>
              <a:srgbClr val="7A7A7A"/>
            </a:solidFill>
            <a:prstDash val="solid"/>
            <a:tailEnd type="triangle"/>
          </a:ln>
        </p:spPr>
      </p:sp>
      <p:sp>
        <p:nvSpPr>
          <p:cNvPr id="18" name="Shape 16"/>
          <p:cNvSpPr/>
          <p:nvPr/>
        </p:nvSpPr>
        <p:spPr>
          <a:xfrm>
            <a:off x="548640" y="5120640"/>
            <a:ext cx="3840480" cy="603504"/>
          </a:xfrm>
          <a:prstGeom prst="roundRect">
            <a:avLst>
              <a:gd name="adj" fmla="val 9091"/>
            </a:avLst>
          </a:prstGeom>
          <a:solidFill>
            <a:srgbClr val="1F3D2B"/>
          </a:solidFill>
          <a:ln w="9525">
            <a:solidFill>
              <a:srgbClr val="1F3D2B"/>
            </a:solidFill>
            <a:prstDash val="solid"/>
          </a:ln>
        </p:spPr>
      </p:sp>
      <p:sp>
        <p:nvSpPr>
          <p:cNvPr id="19" name="Text 17"/>
          <p:cNvSpPr txBox="1"/>
          <p:nvPr/>
        </p:nvSpPr>
        <p:spPr>
          <a:xfrm>
            <a:off x="603504" y="5120640"/>
            <a:ext cx="3730752" cy="603504"/>
          </a:xfrm>
          <a:prstGeom prst="rect">
            <a:avLst/>
          </a:prstGeom>
          <a:noFill/>
          <a:ln/>
        </p:spPr>
        <p:txBody>
          <a:bodyPr wrap="square" lIns="254" tIns="254" rIns="254" bIns="254" rtlCol="0" anchor="ctr"/>
          <a:lstStyle/>
          <a:p>
            <a:pPr algn="ctr" indent="0" marL="0">
              <a:buNone/>
            </a:pPr>
            <a:r>
              <a:rPr lang="en-US" sz="1250" b="1" dirty="0">
                <a:solidFill>
                  <a:srgbClr val="FFFFFF"/>
                </a:solidFill>
              </a:rPr>
              <a:t>Clean dataset</a:t>
            </a:r>
            <a:endParaRPr lang="en-US" sz="1250" dirty="0"/>
          </a:p>
          <a:p>
            <a:pPr algn="ctr" indent="0" marL="0">
              <a:buNone/>
            </a:pPr>
            <a:r>
              <a:rPr lang="en-US" sz="1050" dirty="0">
                <a:solidFill>
                  <a:srgbClr val="F2F2F2"/>
                </a:solidFill>
              </a:rPr>
              <a:t>2290 spectra (378 H / 1912 D)</a:t>
            </a:r>
            <a:endParaRPr lang="en-US" sz="1250" dirty="0"/>
          </a:p>
        </p:txBody>
      </p:sp>
      <p:sp>
        <p:nvSpPr>
          <p:cNvPr id="20" name="Shape 18"/>
          <p:cNvSpPr/>
          <p:nvPr/>
        </p:nvSpPr>
        <p:spPr>
          <a:xfrm>
            <a:off x="5486400" y="1188720"/>
            <a:ext cx="3017520" cy="685800"/>
          </a:xfrm>
          <a:prstGeom prst="roundRect">
            <a:avLst>
              <a:gd name="adj" fmla="val 8000"/>
            </a:avLst>
          </a:prstGeom>
          <a:solidFill>
            <a:srgbClr val="E3ECF5"/>
          </a:solidFill>
          <a:ln w="9525">
            <a:solidFill>
              <a:srgbClr val="C9D3C6"/>
            </a:solidFill>
            <a:prstDash val="solid"/>
          </a:ln>
        </p:spPr>
      </p:sp>
      <p:sp>
        <p:nvSpPr>
          <p:cNvPr id="21" name="Text 19"/>
          <p:cNvSpPr txBox="1"/>
          <p:nvPr/>
        </p:nvSpPr>
        <p:spPr>
          <a:xfrm>
            <a:off x="5541264" y="1188720"/>
            <a:ext cx="2907792" cy="685800"/>
          </a:xfrm>
          <a:prstGeom prst="rect">
            <a:avLst/>
          </a:prstGeom>
          <a:noFill/>
          <a:ln/>
        </p:spPr>
        <p:txBody>
          <a:bodyPr wrap="square" lIns="254" tIns="254" rIns="254" bIns="254" rtlCol="0" anchor="ctr"/>
          <a:lstStyle/>
          <a:p>
            <a:pPr algn="ctr" indent="0" marL="0">
              <a:buNone/>
            </a:pPr>
            <a:r>
              <a:rPr lang="en-US" sz="1250" b="1" dirty="0">
                <a:solidFill>
                  <a:srgbClr val="1F3D2B"/>
                </a:solidFill>
              </a:rPr>
              <a:t>Hotelling T² &gt; 99% limit</a:t>
            </a:r>
            <a:endParaRPr lang="en-US" sz="1250" dirty="0"/>
          </a:p>
          <a:p>
            <a:pPr algn="ctr" indent="0" marL="0">
              <a:buNone/>
            </a:pPr>
            <a:r>
              <a:rPr lang="en-US" sz="1050" dirty="0">
                <a:solidFill>
                  <a:srgbClr val="333333"/>
                </a:solidFill>
              </a:rPr>
              <a:t>PCA, 5 PCs (71 flagged)</a:t>
            </a:r>
            <a:endParaRPr lang="en-US" sz="1250" dirty="0"/>
          </a:p>
        </p:txBody>
      </p:sp>
      <p:sp>
        <p:nvSpPr>
          <p:cNvPr id="22" name="Shape 20"/>
          <p:cNvSpPr/>
          <p:nvPr/>
        </p:nvSpPr>
        <p:spPr>
          <a:xfrm>
            <a:off x="8503920" y="1536192"/>
            <a:ext cx="548640" cy="1161288"/>
          </a:xfrm>
          <a:prstGeom prst="line">
            <a:avLst/>
          </a:prstGeom>
          <a:noFill/>
          <a:ln w="19050">
            <a:solidFill>
              <a:srgbClr val="7A7A7A"/>
            </a:solidFill>
            <a:prstDash val="solid"/>
            <a:tailEnd type="triangle"/>
          </a:ln>
        </p:spPr>
      </p:sp>
      <p:sp>
        <p:nvSpPr>
          <p:cNvPr id="23" name="Shape 21"/>
          <p:cNvSpPr/>
          <p:nvPr/>
        </p:nvSpPr>
        <p:spPr>
          <a:xfrm>
            <a:off x="5486400" y="2057400"/>
            <a:ext cx="3017520" cy="685800"/>
          </a:xfrm>
          <a:prstGeom prst="roundRect">
            <a:avLst>
              <a:gd name="adj" fmla="val 8000"/>
            </a:avLst>
          </a:prstGeom>
          <a:solidFill>
            <a:srgbClr val="E3ECF5"/>
          </a:solidFill>
          <a:ln w="9525">
            <a:solidFill>
              <a:srgbClr val="C9D3C6"/>
            </a:solidFill>
            <a:prstDash val="solid"/>
          </a:ln>
        </p:spPr>
      </p:sp>
      <p:sp>
        <p:nvSpPr>
          <p:cNvPr id="24" name="Text 22"/>
          <p:cNvSpPr txBox="1"/>
          <p:nvPr/>
        </p:nvSpPr>
        <p:spPr>
          <a:xfrm>
            <a:off x="5541264" y="2057400"/>
            <a:ext cx="2907792" cy="685800"/>
          </a:xfrm>
          <a:prstGeom prst="rect">
            <a:avLst/>
          </a:prstGeom>
          <a:noFill/>
          <a:ln/>
        </p:spPr>
        <p:txBody>
          <a:bodyPr wrap="square" lIns="254" tIns="254" rIns="254" bIns="254" rtlCol="0" anchor="ctr"/>
          <a:lstStyle/>
          <a:p>
            <a:pPr algn="ctr" indent="0" marL="0">
              <a:buNone/>
            </a:pPr>
            <a:r>
              <a:rPr lang="en-US" sz="1250" b="1" dirty="0">
                <a:solidFill>
                  <a:srgbClr val="1F3D2B"/>
                </a:solidFill>
              </a:rPr>
              <a:t>Q residual &gt; 99% limit</a:t>
            </a:r>
            <a:endParaRPr lang="en-US" sz="1250" dirty="0"/>
          </a:p>
          <a:p>
            <a:pPr algn="ctr" indent="0" marL="0">
              <a:buNone/>
            </a:pPr>
            <a:r>
              <a:rPr lang="en-US" sz="1050" dirty="0">
                <a:solidFill>
                  <a:srgbClr val="333333"/>
                </a:solidFill>
              </a:rPr>
              <a:t>113 flagged</a:t>
            </a:r>
            <a:endParaRPr lang="en-US" sz="1250" dirty="0"/>
          </a:p>
        </p:txBody>
      </p:sp>
      <p:sp>
        <p:nvSpPr>
          <p:cNvPr id="25" name="Shape 23"/>
          <p:cNvSpPr/>
          <p:nvPr/>
        </p:nvSpPr>
        <p:spPr>
          <a:xfrm>
            <a:off x="8503920" y="2404872"/>
            <a:ext cx="548640" cy="292608"/>
          </a:xfrm>
          <a:prstGeom prst="line">
            <a:avLst/>
          </a:prstGeom>
          <a:noFill/>
          <a:ln w="19050">
            <a:solidFill>
              <a:srgbClr val="7A7A7A"/>
            </a:solidFill>
            <a:prstDash val="solid"/>
            <a:tailEnd type="triangle"/>
          </a:ln>
        </p:spPr>
      </p:sp>
      <p:sp>
        <p:nvSpPr>
          <p:cNvPr id="26" name="Shape 24"/>
          <p:cNvSpPr/>
          <p:nvPr/>
        </p:nvSpPr>
        <p:spPr>
          <a:xfrm>
            <a:off x="5486400" y="2926080"/>
            <a:ext cx="3017520" cy="685800"/>
          </a:xfrm>
          <a:prstGeom prst="roundRect">
            <a:avLst>
              <a:gd name="adj" fmla="val 8000"/>
            </a:avLst>
          </a:prstGeom>
          <a:solidFill>
            <a:srgbClr val="E3ECF5"/>
          </a:solidFill>
          <a:ln w="9525">
            <a:solidFill>
              <a:srgbClr val="C9D3C6"/>
            </a:solidFill>
            <a:prstDash val="solid"/>
          </a:ln>
        </p:spPr>
      </p:sp>
      <p:sp>
        <p:nvSpPr>
          <p:cNvPr id="27" name="Text 25"/>
          <p:cNvSpPr txBox="1"/>
          <p:nvPr/>
        </p:nvSpPr>
        <p:spPr>
          <a:xfrm>
            <a:off x="5541264" y="2926080"/>
            <a:ext cx="2907792" cy="685800"/>
          </a:xfrm>
          <a:prstGeom prst="rect">
            <a:avLst/>
          </a:prstGeom>
          <a:noFill/>
          <a:ln/>
        </p:spPr>
        <p:txBody>
          <a:bodyPr wrap="square" lIns="254" tIns="254" rIns="254" bIns="254" rtlCol="0" anchor="ctr"/>
          <a:lstStyle/>
          <a:p>
            <a:pPr algn="ctr" indent="0" marL="0">
              <a:buNone/>
            </a:pPr>
            <a:r>
              <a:rPr lang="en-US" sz="1250" b="1" dirty="0">
                <a:solidFill>
                  <a:srgbClr val="1F3D2B"/>
                </a:solidFill>
              </a:rPr>
              <a:t>Isolation Forest</a:t>
            </a:r>
            <a:endParaRPr lang="en-US" sz="1250" dirty="0"/>
          </a:p>
          <a:p>
            <a:pPr algn="ctr" indent="0" marL="0">
              <a:buNone/>
            </a:pPr>
            <a:r>
              <a:rPr lang="en-US" sz="1050" dirty="0">
                <a:solidFill>
                  <a:srgbClr val="333333"/>
                </a:solidFill>
              </a:rPr>
              <a:t>2% contamination (47 flagged)</a:t>
            </a:r>
            <a:endParaRPr lang="en-US" sz="1250" dirty="0"/>
          </a:p>
        </p:txBody>
      </p:sp>
      <p:sp>
        <p:nvSpPr>
          <p:cNvPr id="28" name="Shape 26"/>
          <p:cNvSpPr/>
          <p:nvPr/>
        </p:nvSpPr>
        <p:spPr>
          <a:xfrm flipV="1">
            <a:off x="8503920" y="2697480"/>
            <a:ext cx="548640" cy="576072"/>
          </a:xfrm>
          <a:prstGeom prst="line">
            <a:avLst/>
          </a:prstGeom>
          <a:noFill/>
          <a:ln w="19050">
            <a:solidFill>
              <a:srgbClr val="7A7A7A"/>
            </a:solidFill>
            <a:prstDash val="solid"/>
            <a:tailEnd type="triangle"/>
          </a:ln>
        </p:spPr>
      </p:sp>
      <p:sp>
        <p:nvSpPr>
          <p:cNvPr id="29" name="Shape 27"/>
          <p:cNvSpPr/>
          <p:nvPr/>
        </p:nvSpPr>
        <p:spPr>
          <a:xfrm>
            <a:off x="5486400" y="3794760"/>
            <a:ext cx="3017520" cy="685800"/>
          </a:xfrm>
          <a:prstGeom prst="roundRect">
            <a:avLst>
              <a:gd name="adj" fmla="val 8000"/>
            </a:avLst>
          </a:prstGeom>
          <a:solidFill>
            <a:srgbClr val="E3ECF5"/>
          </a:solidFill>
          <a:ln w="9525">
            <a:solidFill>
              <a:srgbClr val="C9D3C6"/>
            </a:solidFill>
            <a:prstDash val="solid"/>
          </a:ln>
        </p:spPr>
      </p:sp>
      <p:sp>
        <p:nvSpPr>
          <p:cNvPr id="30" name="Text 28"/>
          <p:cNvSpPr txBox="1"/>
          <p:nvPr/>
        </p:nvSpPr>
        <p:spPr>
          <a:xfrm>
            <a:off x="5541264" y="3794760"/>
            <a:ext cx="2907792" cy="685800"/>
          </a:xfrm>
          <a:prstGeom prst="rect">
            <a:avLst/>
          </a:prstGeom>
          <a:noFill/>
          <a:ln/>
        </p:spPr>
        <p:txBody>
          <a:bodyPr wrap="square" lIns="254" tIns="254" rIns="254" bIns="254" rtlCol="0" anchor="ctr"/>
          <a:lstStyle/>
          <a:p>
            <a:pPr algn="ctr" indent="0" marL="0">
              <a:buNone/>
            </a:pPr>
            <a:r>
              <a:rPr lang="en-US" sz="1250" b="1" dirty="0">
                <a:solidFill>
                  <a:srgbClr val="1F3D2B"/>
                </a:solidFill>
              </a:rPr>
              <a:t>SAM to plot-date median</a:t>
            </a:r>
            <a:endParaRPr lang="en-US" sz="1250" dirty="0"/>
          </a:p>
          <a:p>
            <a:pPr algn="ctr" indent="0" marL="0">
              <a:buNone/>
            </a:pPr>
            <a:r>
              <a:rPr lang="en-US" sz="1050" dirty="0">
                <a:solidFill>
                  <a:srgbClr val="333333"/>
                </a:solidFill>
              </a:rPr>
              <a:t>robust z &gt; 3.5 (90 flagged)</a:t>
            </a:r>
            <a:endParaRPr lang="en-US" sz="1250" dirty="0"/>
          </a:p>
        </p:txBody>
      </p:sp>
      <p:sp>
        <p:nvSpPr>
          <p:cNvPr id="31" name="Shape 29"/>
          <p:cNvSpPr/>
          <p:nvPr/>
        </p:nvSpPr>
        <p:spPr>
          <a:xfrm flipV="1">
            <a:off x="8503920" y="2697480"/>
            <a:ext cx="548640" cy="1444752"/>
          </a:xfrm>
          <a:prstGeom prst="line">
            <a:avLst/>
          </a:prstGeom>
          <a:noFill/>
          <a:ln w="19050">
            <a:solidFill>
              <a:srgbClr val="7A7A7A"/>
            </a:solidFill>
            <a:prstDash val="solid"/>
            <a:tailEnd type="triangle"/>
          </a:ln>
        </p:spPr>
      </p:sp>
      <p:sp>
        <p:nvSpPr>
          <p:cNvPr id="32" name="Shape 30"/>
          <p:cNvSpPr/>
          <p:nvPr/>
        </p:nvSpPr>
        <p:spPr>
          <a:xfrm>
            <a:off x="9052560" y="2240280"/>
            <a:ext cx="2651760" cy="914400"/>
          </a:xfrm>
          <a:prstGeom prst="roundRect">
            <a:avLst>
              <a:gd name="adj" fmla="val 6000"/>
            </a:avLst>
          </a:prstGeom>
          <a:solidFill>
            <a:srgbClr val="B03A2E"/>
          </a:solidFill>
          <a:ln w="9525">
            <a:solidFill>
              <a:srgbClr val="B03A2E"/>
            </a:solidFill>
            <a:prstDash val="solid"/>
          </a:ln>
        </p:spPr>
      </p:sp>
      <p:sp>
        <p:nvSpPr>
          <p:cNvPr id="33" name="Text 31"/>
          <p:cNvSpPr txBox="1"/>
          <p:nvPr/>
        </p:nvSpPr>
        <p:spPr>
          <a:xfrm>
            <a:off x="9107424" y="2240280"/>
            <a:ext cx="2542032" cy="914400"/>
          </a:xfrm>
          <a:prstGeom prst="rect">
            <a:avLst/>
          </a:prstGeom>
          <a:noFill/>
          <a:ln/>
        </p:spPr>
        <p:txBody>
          <a:bodyPr wrap="square" lIns="254" tIns="254" rIns="254" bIns="254" rtlCol="0" anchor="ctr"/>
          <a:lstStyle/>
          <a:p>
            <a:pPr algn="ctr" indent="0" marL="0">
              <a:buNone/>
            </a:pPr>
            <a:r>
              <a:rPr lang="en-US" sz="1250" b="1" dirty="0">
                <a:solidFill>
                  <a:srgbClr val="FFFFFF"/>
                </a:solidFill>
              </a:rPr>
              <a:t>Consensus vote</a:t>
            </a:r>
            <a:endParaRPr lang="en-US" sz="1250" dirty="0"/>
          </a:p>
          <a:p>
            <a:pPr algn="ctr" indent="0" marL="0">
              <a:buNone/>
            </a:pPr>
            <a:r>
              <a:rPr lang="en-US" sz="1050" dirty="0">
                <a:solidFill>
                  <a:srgbClr val="F2F2F2"/>
                </a:solidFill>
              </a:rPr>
              <a:t>remove if &gt;= 3 of 4 rules flag a spectrum</a:t>
            </a:r>
            <a:endParaRPr lang="en-US" sz="1250" dirty="0"/>
          </a:p>
        </p:txBody>
      </p:sp>
      <p:sp>
        <p:nvSpPr>
          <p:cNvPr id="34" name="Shape 32"/>
          <p:cNvSpPr/>
          <p:nvPr/>
        </p:nvSpPr>
        <p:spPr>
          <a:xfrm>
            <a:off x="10378440" y="3154680"/>
            <a:ext cx="0" cy="1389888"/>
          </a:xfrm>
          <a:prstGeom prst="line">
            <a:avLst/>
          </a:prstGeom>
          <a:noFill/>
          <a:ln w="19050">
            <a:solidFill>
              <a:srgbClr val="7A7A7A"/>
            </a:solidFill>
            <a:prstDash val="solid"/>
          </a:ln>
        </p:spPr>
      </p:sp>
      <p:sp>
        <p:nvSpPr>
          <p:cNvPr id="35" name="Shape 33"/>
          <p:cNvSpPr/>
          <p:nvPr/>
        </p:nvSpPr>
        <p:spPr>
          <a:xfrm flipH="1">
            <a:off x="4389120" y="4544568"/>
            <a:ext cx="5989320" cy="0"/>
          </a:xfrm>
          <a:prstGeom prst="line">
            <a:avLst/>
          </a:prstGeom>
          <a:noFill/>
          <a:ln w="19050">
            <a:solidFill>
              <a:srgbClr val="7A7A7A"/>
            </a:solidFill>
            <a:prstDash val="solid"/>
            <a:tailEnd type="triangle"/>
          </a:ln>
        </p:spPr>
      </p:sp>
      <p:sp>
        <p:nvSpPr>
          <p:cNvPr id="36" name="Text 34"/>
          <p:cNvSpPr txBox="1"/>
          <p:nvPr/>
        </p:nvSpPr>
        <p:spPr>
          <a:xfrm>
            <a:off x="5486400" y="4846320"/>
            <a:ext cx="6217920" cy="822960"/>
          </a:xfrm>
          <a:prstGeom prst="rect">
            <a:avLst/>
          </a:prstGeom>
          <a:noFill/>
          <a:ln/>
        </p:spPr>
        <p:txBody>
          <a:bodyPr wrap="square" lIns="0" tIns="0" rIns="0" bIns="0" rtlCol="0" anchor="ctr"/>
          <a:lstStyle/>
          <a:p>
            <a:pPr indent="0" marL="0">
              <a:buNone/>
            </a:pPr>
            <a:r>
              <a:rPr lang="en-US" sz="1200" i="1" dirty="0">
                <a:solidFill>
                  <a:schemeClr val="accent6"/>
                </a:solidFill>
              </a:rPr>
              <a:t>Label-free screening (no class information), so it can be applied before cross-validation; E6 repeats the main models without removal.</a:t>
            </a:r>
            <a:endParaRPr lang="en-US" sz="1200" dirty="0"/>
          </a:p>
        </p:txBody>
      </p:sp>
      <p:sp>
        <p:nvSpPr>
          <p:cNvPr id="37" name="Text 3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Hueni &amp; Bialek 2017; Liu et al. 2008; Selvaprakash et al. 2026; Mandal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 3 flowchart: spectral preprocessing</a:t>
            </a:r>
            <a:endParaRPr lang="en-US" sz="2800" dirty="0"/>
          </a:p>
        </p:txBody>
      </p:sp>
      <p:sp>
        <p:nvSpPr>
          <p:cNvPr id="3" name="Shape 1"/>
          <p:cNvSpPr/>
          <p:nvPr/>
        </p:nvSpPr>
        <p:spPr>
          <a:xfrm>
            <a:off x="457200" y="1234440"/>
            <a:ext cx="2377440" cy="822960"/>
          </a:xfrm>
          <a:prstGeom prst="roundRect">
            <a:avLst>
              <a:gd name="adj" fmla="val 6667"/>
            </a:avLst>
          </a:prstGeom>
          <a:solidFill>
            <a:srgbClr val="F7F1E1"/>
          </a:solidFill>
          <a:ln w="9525">
            <a:solidFill>
              <a:srgbClr val="C9D3C6"/>
            </a:solidFill>
            <a:prstDash val="solid"/>
          </a:ln>
        </p:spPr>
      </p:sp>
      <p:sp>
        <p:nvSpPr>
          <p:cNvPr id="4" name="Text 2"/>
          <p:cNvSpPr txBox="1"/>
          <p:nvPr/>
        </p:nvSpPr>
        <p:spPr>
          <a:xfrm>
            <a:off x="512064" y="1234440"/>
            <a:ext cx="226771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Clean 1-nm spectra</a:t>
            </a:r>
            <a:endParaRPr lang="en-US" sz="1250" dirty="0"/>
          </a:p>
          <a:p>
            <a:pPr algn="ctr" indent="0" marL="0">
              <a:buNone/>
            </a:pPr>
            <a:r>
              <a:rPr lang="en-US" sz="1050" dirty="0">
                <a:solidFill>
                  <a:srgbClr val="333333"/>
                </a:solidFill>
              </a:rPr>
              <a:t>400-2400 nm</a:t>
            </a:r>
            <a:endParaRPr lang="en-US" sz="1250" dirty="0"/>
          </a:p>
        </p:txBody>
      </p:sp>
      <p:sp>
        <p:nvSpPr>
          <p:cNvPr id="5" name="Shape 3"/>
          <p:cNvSpPr/>
          <p:nvPr/>
        </p:nvSpPr>
        <p:spPr>
          <a:xfrm>
            <a:off x="2834640" y="1645920"/>
            <a:ext cx="365760" cy="0"/>
          </a:xfrm>
          <a:prstGeom prst="line">
            <a:avLst/>
          </a:prstGeom>
          <a:noFill/>
          <a:ln w="19050">
            <a:solidFill>
              <a:srgbClr val="7A7A7A"/>
            </a:solidFill>
            <a:prstDash val="solid"/>
            <a:tailEnd type="triangle"/>
          </a:ln>
        </p:spPr>
      </p:sp>
      <p:sp>
        <p:nvSpPr>
          <p:cNvPr id="6" name="Shape 4"/>
          <p:cNvSpPr/>
          <p:nvPr/>
        </p:nvSpPr>
        <p:spPr>
          <a:xfrm>
            <a:off x="3200400" y="1234440"/>
            <a:ext cx="2651760" cy="822960"/>
          </a:xfrm>
          <a:prstGeom prst="roundRect">
            <a:avLst>
              <a:gd name="adj" fmla="val 6667"/>
            </a:avLst>
          </a:prstGeom>
          <a:solidFill>
            <a:srgbClr val="F7F1E1"/>
          </a:solidFill>
          <a:ln w="9525">
            <a:solidFill>
              <a:srgbClr val="C9D3C6"/>
            </a:solidFill>
            <a:prstDash val="solid"/>
          </a:ln>
        </p:spPr>
      </p:sp>
      <p:sp>
        <p:nvSpPr>
          <p:cNvPr id="7" name="Text 5"/>
          <p:cNvSpPr txBox="1"/>
          <p:nvPr/>
        </p:nvSpPr>
        <p:spPr>
          <a:xfrm>
            <a:off x="3255264" y="1234440"/>
            <a:ext cx="254203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Savitzky-Golay smoothing</a:t>
            </a:r>
            <a:endParaRPr lang="en-US" sz="1250" dirty="0"/>
          </a:p>
          <a:p>
            <a:pPr algn="ctr" indent="0" marL="0">
              <a:buNone/>
            </a:pPr>
            <a:r>
              <a:rPr lang="en-US" sz="1050" dirty="0">
                <a:solidFill>
                  <a:srgbClr val="333333"/>
                </a:solidFill>
              </a:rPr>
              <a:t>11-nm window, 2nd order</a:t>
            </a:r>
            <a:endParaRPr lang="en-US" sz="1250" dirty="0"/>
          </a:p>
        </p:txBody>
      </p:sp>
      <p:sp>
        <p:nvSpPr>
          <p:cNvPr id="8" name="Shape 6"/>
          <p:cNvSpPr/>
          <p:nvPr/>
        </p:nvSpPr>
        <p:spPr>
          <a:xfrm>
            <a:off x="5852160" y="1645920"/>
            <a:ext cx="365760" cy="0"/>
          </a:xfrm>
          <a:prstGeom prst="line">
            <a:avLst/>
          </a:prstGeom>
          <a:noFill/>
          <a:ln w="19050">
            <a:solidFill>
              <a:srgbClr val="7A7A7A"/>
            </a:solidFill>
            <a:prstDash val="solid"/>
            <a:tailEnd type="triangle"/>
          </a:ln>
        </p:spPr>
      </p:sp>
      <p:sp>
        <p:nvSpPr>
          <p:cNvPr id="9" name="Shape 7"/>
          <p:cNvSpPr/>
          <p:nvPr/>
        </p:nvSpPr>
        <p:spPr>
          <a:xfrm>
            <a:off x="6217920" y="1234440"/>
            <a:ext cx="2651760" cy="822960"/>
          </a:xfrm>
          <a:prstGeom prst="roundRect">
            <a:avLst>
              <a:gd name="adj" fmla="val 6667"/>
            </a:avLst>
          </a:prstGeom>
          <a:solidFill>
            <a:srgbClr val="E6EFE3"/>
          </a:solidFill>
          <a:ln w="9525">
            <a:solidFill>
              <a:srgbClr val="C9D3C6"/>
            </a:solidFill>
            <a:prstDash val="solid"/>
          </a:ln>
        </p:spPr>
      </p:sp>
      <p:sp>
        <p:nvSpPr>
          <p:cNvPr id="10" name="Text 8"/>
          <p:cNvSpPr txBox="1"/>
          <p:nvPr/>
        </p:nvSpPr>
        <p:spPr>
          <a:xfrm>
            <a:off x="6272784" y="1234440"/>
            <a:ext cx="254203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1-nm smoothed reflectance</a:t>
            </a:r>
            <a:endParaRPr lang="en-US" sz="1250" dirty="0"/>
          </a:p>
          <a:p>
            <a:pPr algn="ctr" indent="0" marL="0">
              <a:buNone/>
            </a:pPr>
            <a:r>
              <a:rPr lang="en-US" sz="1050" dirty="0">
                <a:solidFill>
                  <a:srgbClr val="333333"/>
                </a:solidFill>
              </a:rPr>
              <a:t>input for VIs, derivatives, CR, CWT</a:t>
            </a:r>
            <a:endParaRPr lang="en-US" sz="1250" dirty="0"/>
          </a:p>
        </p:txBody>
      </p:sp>
      <p:sp>
        <p:nvSpPr>
          <p:cNvPr id="11" name="Shape 9"/>
          <p:cNvSpPr/>
          <p:nvPr/>
        </p:nvSpPr>
        <p:spPr>
          <a:xfrm>
            <a:off x="8869680" y="1645920"/>
            <a:ext cx="365760" cy="0"/>
          </a:xfrm>
          <a:prstGeom prst="line">
            <a:avLst/>
          </a:prstGeom>
          <a:noFill/>
          <a:ln w="19050">
            <a:solidFill>
              <a:srgbClr val="7A7A7A"/>
            </a:solidFill>
            <a:prstDash val="solid"/>
            <a:tailEnd type="triangle"/>
          </a:ln>
        </p:spPr>
      </p:sp>
      <p:sp>
        <p:nvSpPr>
          <p:cNvPr id="12" name="Shape 10"/>
          <p:cNvSpPr/>
          <p:nvPr/>
        </p:nvSpPr>
        <p:spPr>
          <a:xfrm>
            <a:off x="9235440" y="1234440"/>
            <a:ext cx="2468880" cy="822960"/>
          </a:xfrm>
          <a:prstGeom prst="roundRect">
            <a:avLst>
              <a:gd name="adj" fmla="val 6667"/>
            </a:avLst>
          </a:prstGeom>
          <a:solidFill>
            <a:srgbClr val="1F3D2B"/>
          </a:solidFill>
          <a:ln w="9525">
            <a:solidFill>
              <a:srgbClr val="1F3D2B"/>
            </a:solidFill>
            <a:prstDash val="solid"/>
          </a:ln>
        </p:spPr>
      </p:sp>
      <p:sp>
        <p:nvSpPr>
          <p:cNvPr id="13" name="Text 11"/>
          <p:cNvSpPr txBox="1"/>
          <p:nvPr/>
        </p:nvSpPr>
        <p:spPr>
          <a:xfrm>
            <a:off x="9290304" y="1234440"/>
            <a:ext cx="2359152" cy="822960"/>
          </a:xfrm>
          <a:prstGeom prst="rect">
            <a:avLst/>
          </a:prstGeom>
          <a:noFill/>
          <a:ln/>
        </p:spPr>
        <p:txBody>
          <a:bodyPr wrap="square" lIns="254" tIns="254" rIns="254" bIns="254" rtlCol="0" anchor="ctr"/>
          <a:lstStyle/>
          <a:p>
            <a:pPr algn="ctr" indent="0" marL="0">
              <a:buNone/>
            </a:pPr>
            <a:r>
              <a:rPr lang="en-US" sz="1250" b="1" dirty="0">
                <a:solidFill>
                  <a:srgbClr val="FFFFFF"/>
                </a:solidFill>
              </a:rPr>
              <a:t>Step 5: features</a:t>
            </a:r>
            <a:endParaRPr lang="en-US" sz="1250" dirty="0"/>
          </a:p>
          <a:p>
            <a:pPr algn="ctr" indent="0" marL="0">
              <a:buNone/>
            </a:pPr>
            <a:r>
              <a:rPr lang="en-US" sz="1050" dirty="0">
                <a:solidFill>
                  <a:srgbClr val="F2F2F2"/>
                </a:solidFill>
              </a:rPr>
              <a:t>F2, F4, F5, F6</a:t>
            </a:r>
            <a:endParaRPr lang="en-US" sz="1250" dirty="0"/>
          </a:p>
        </p:txBody>
      </p:sp>
      <p:sp>
        <p:nvSpPr>
          <p:cNvPr id="14" name="Shape 12"/>
          <p:cNvSpPr/>
          <p:nvPr/>
        </p:nvSpPr>
        <p:spPr>
          <a:xfrm>
            <a:off x="4526280" y="2057400"/>
            <a:ext cx="0" cy="457200"/>
          </a:xfrm>
          <a:prstGeom prst="line">
            <a:avLst/>
          </a:prstGeom>
          <a:noFill/>
          <a:ln w="19050">
            <a:solidFill>
              <a:srgbClr val="7A7A7A"/>
            </a:solidFill>
            <a:prstDash val="solid"/>
            <a:tailEnd type="triangle"/>
          </a:ln>
        </p:spPr>
      </p:sp>
      <p:sp>
        <p:nvSpPr>
          <p:cNvPr id="15" name="Shape 13"/>
          <p:cNvSpPr/>
          <p:nvPr/>
        </p:nvSpPr>
        <p:spPr>
          <a:xfrm>
            <a:off x="3200400" y="2514600"/>
            <a:ext cx="2651760" cy="731520"/>
          </a:xfrm>
          <a:prstGeom prst="roundRect">
            <a:avLst>
              <a:gd name="adj" fmla="val 7500"/>
            </a:avLst>
          </a:prstGeom>
          <a:solidFill>
            <a:srgbClr val="F7F1E1"/>
          </a:solidFill>
          <a:ln w="9525">
            <a:solidFill>
              <a:srgbClr val="C9D3C6"/>
            </a:solidFill>
            <a:prstDash val="solid"/>
          </a:ln>
        </p:spPr>
      </p:sp>
      <p:sp>
        <p:nvSpPr>
          <p:cNvPr id="16" name="Text 14"/>
          <p:cNvSpPr txBox="1"/>
          <p:nvPr/>
        </p:nvSpPr>
        <p:spPr>
          <a:xfrm>
            <a:off x="3255264" y="2514600"/>
            <a:ext cx="2542032" cy="731520"/>
          </a:xfrm>
          <a:prstGeom prst="rect">
            <a:avLst/>
          </a:prstGeom>
          <a:noFill/>
          <a:ln/>
        </p:spPr>
        <p:txBody>
          <a:bodyPr wrap="square" lIns="254" tIns="254" rIns="254" bIns="254" rtlCol="0" anchor="ctr"/>
          <a:lstStyle/>
          <a:p>
            <a:pPr algn="ctr" indent="0" marL="0">
              <a:buNone/>
            </a:pPr>
            <a:r>
              <a:rPr lang="en-US" sz="1250" b="1" dirty="0">
                <a:solidFill>
                  <a:srgbClr val="1F3D2B"/>
                </a:solidFill>
              </a:rPr>
              <a:t>10-nm resampling</a:t>
            </a:r>
            <a:endParaRPr lang="en-US" sz="1250" dirty="0"/>
          </a:p>
          <a:p>
            <a:pPr algn="ctr" indent="0" marL="0">
              <a:buNone/>
            </a:pPr>
            <a:r>
              <a:rPr lang="en-US" sz="1050" dirty="0">
                <a:solidFill>
                  <a:srgbClr val="333333"/>
                </a:solidFill>
              </a:rPr>
              <a:t>201 bands</a:t>
            </a:r>
            <a:endParaRPr lang="en-US" sz="1250" dirty="0"/>
          </a:p>
        </p:txBody>
      </p:sp>
      <p:sp>
        <p:nvSpPr>
          <p:cNvPr id="17" name="Shape 15"/>
          <p:cNvSpPr/>
          <p:nvPr/>
        </p:nvSpPr>
        <p:spPr>
          <a:xfrm>
            <a:off x="457200" y="3703320"/>
            <a:ext cx="1737360" cy="777240"/>
          </a:xfrm>
          <a:prstGeom prst="roundRect">
            <a:avLst>
              <a:gd name="adj" fmla="val 7059"/>
            </a:avLst>
          </a:prstGeom>
          <a:solidFill>
            <a:srgbClr val="E3ECF5"/>
          </a:solidFill>
          <a:ln w="9525">
            <a:solidFill>
              <a:srgbClr val="C9D3C6"/>
            </a:solidFill>
            <a:prstDash val="solid"/>
          </a:ln>
        </p:spPr>
      </p:sp>
      <p:sp>
        <p:nvSpPr>
          <p:cNvPr id="18" name="Text 16"/>
          <p:cNvSpPr txBox="1"/>
          <p:nvPr/>
        </p:nvSpPr>
        <p:spPr>
          <a:xfrm>
            <a:off x="512064"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Reflectance</a:t>
            </a:r>
            <a:endParaRPr lang="en-US" sz="1250" dirty="0"/>
          </a:p>
          <a:p>
            <a:pPr algn="ctr" indent="0" marL="0">
              <a:buNone/>
            </a:pPr>
            <a:r>
              <a:rPr lang="en-US" sz="1050" dirty="0">
                <a:solidFill>
                  <a:srgbClr val="333333"/>
                </a:solidFill>
              </a:rPr>
              <a:t>smoothed only</a:t>
            </a:r>
            <a:endParaRPr lang="en-US" sz="1250" dirty="0"/>
          </a:p>
        </p:txBody>
      </p:sp>
      <p:sp>
        <p:nvSpPr>
          <p:cNvPr id="19" name="Shape 17"/>
          <p:cNvSpPr/>
          <p:nvPr/>
        </p:nvSpPr>
        <p:spPr>
          <a:xfrm flipH="1">
            <a:off x="1325880" y="3246120"/>
            <a:ext cx="3200400" cy="457200"/>
          </a:xfrm>
          <a:prstGeom prst="line">
            <a:avLst/>
          </a:prstGeom>
          <a:noFill/>
          <a:ln w="19050">
            <a:solidFill>
              <a:srgbClr val="7A7A7A"/>
            </a:solidFill>
            <a:prstDash val="solid"/>
            <a:tailEnd type="triangle"/>
          </a:ln>
        </p:spPr>
      </p:sp>
      <p:sp>
        <p:nvSpPr>
          <p:cNvPr id="20" name="Shape 18"/>
          <p:cNvSpPr/>
          <p:nvPr/>
        </p:nvSpPr>
        <p:spPr>
          <a:xfrm>
            <a:off x="1325880" y="4480560"/>
            <a:ext cx="4754880" cy="411480"/>
          </a:xfrm>
          <a:prstGeom prst="line">
            <a:avLst/>
          </a:prstGeom>
          <a:noFill/>
          <a:ln w="19050">
            <a:solidFill>
              <a:srgbClr val="7A7A7A"/>
            </a:solidFill>
            <a:prstDash val="solid"/>
            <a:tailEnd type="triangle"/>
          </a:ln>
        </p:spPr>
      </p:sp>
      <p:sp>
        <p:nvSpPr>
          <p:cNvPr id="21" name="Shape 19"/>
          <p:cNvSpPr/>
          <p:nvPr/>
        </p:nvSpPr>
        <p:spPr>
          <a:xfrm>
            <a:off x="2350008" y="3703320"/>
            <a:ext cx="1737360" cy="777240"/>
          </a:xfrm>
          <a:prstGeom prst="roundRect">
            <a:avLst>
              <a:gd name="adj" fmla="val 7059"/>
            </a:avLst>
          </a:prstGeom>
          <a:solidFill>
            <a:srgbClr val="E3ECF5"/>
          </a:solidFill>
          <a:ln w="9525">
            <a:solidFill>
              <a:srgbClr val="C9D3C6"/>
            </a:solidFill>
            <a:prstDash val="solid"/>
          </a:ln>
        </p:spPr>
      </p:sp>
      <p:sp>
        <p:nvSpPr>
          <p:cNvPr id="22" name="Text 20"/>
          <p:cNvSpPr txBox="1"/>
          <p:nvPr/>
        </p:nvSpPr>
        <p:spPr>
          <a:xfrm>
            <a:off x="2404872"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SNV</a:t>
            </a:r>
            <a:endParaRPr lang="en-US" sz="1250" dirty="0"/>
          </a:p>
          <a:p>
            <a:pPr algn="ctr" indent="0" marL="0">
              <a:buNone/>
            </a:pPr>
            <a:r>
              <a:rPr lang="en-US" sz="1050" dirty="0">
                <a:solidFill>
                  <a:srgbClr val="333333"/>
                </a:solidFill>
              </a:rPr>
              <a:t>per spectrum</a:t>
            </a:r>
            <a:endParaRPr lang="en-US" sz="1250" dirty="0"/>
          </a:p>
        </p:txBody>
      </p:sp>
      <p:sp>
        <p:nvSpPr>
          <p:cNvPr id="23" name="Shape 21"/>
          <p:cNvSpPr/>
          <p:nvPr/>
        </p:nvSpPr>
        <p:spPr>
          <a:xfrm flipH="1">
            <a:off x="3218688" y="3246120"/>
            <a:ext cx="1307592" cy="457200"/>
          </a:xfrm>
          <a:prstGeom prst="line">
            <a:avLst/>
          </a:prstGeom>
          <a:noFill/>
          <a:ln w="19050">
            <a:solidFill>
              <a:srgbClr val="7A7A7A"/>
            </a:solidFill>
            <a:prstDash val="solid"/>
            <a:tailEnd type="triangle"/>
          </a:ln>
        </p:spPr>
      </p:sp>
      <p:sp>
        <p:nvSpPr>
          <p:cNvPr id="24" name="Shape 22"/>
          <p:cNvSpPr/>
          <p:nvPr/>
        </p:nvSpPr>
        <p:spPr>
          <a:xfrm>
            <a:off x="3218688" y="4480560"/>
            <a:ext cx="2862072" cy="411480"/>
          </a:xfrm>
          <a:prstGeom prst="line">
            <a:avLst/>
          </a:prstGeom>
          <a:noFill/>
          <a:ln w="19050">
            <a:solidFill>
              <a:srgbClr val="7A7A7A"/>
            </a:solidFill>
            <a:prstDash val="solid"/>
            <a:tailEnd type="triangle"/>
          </a:ln>
        </p:spPr>
      </p:sp>
      <p:sp>
        <p:nvSpPr>
          <p:cNvPr id="25" name="Shape 23"/>
          <p:cNvSpPr/>
          <p:nvPr/>
        </p:nvSpPr>
        <p:spPr>
          <a:xfrm>
            <a:off x="4242816" y="3703320"/>
            <a:ext cx="1737360" cy="777240"/>
          </a:xfrm>
          <a:prstGeom prst="roundRect">
            <a:avLst>
              <a:gd name="adj" fmla="val 7059"/>
            </a:avLst>
          </a:prstGeom>
          <a:solidFill>
            <a:srgbClr val="E3ECF5"/>
          </a:solidFill>
          <a:ln w="9525">
            <a:solidFill>
              <a:srgbClr val="C9D3C6"/>
            </a:solidFill>
            <a:prstDash val="solid"/>
          </a:ln>
        </p:spPr>
      </p:sp>
      <p:sp>
        <p:nvSpPr>
          <p:cNvPr id="26" name="Text 24"/>
          <p:cNvSpPr txBox="1"/>
          <p:nvPr/>
        </p:nvSpPr>
        <p:spPr>
          <a:xfrm>
            <a:off x="4297680"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MSC*</a:t>
            </a:r>
            <a:endParaRPr lang="en-US" sz="1250" dirty="0"/>
          </a:p>
          <a:p>
            <a:pPr algn="ctr" indent="0" marL="0">
              <a:buNone/>
            </a:pPr>
            <a:r>
              <a:rPr lang="en-US" sz="1050" dirty="0">
                <a:solidFill>
                  <a:srgbClr val="333333"/>
                </a:solidFill>
              </a:rPr>
              <a:t>reference = training mean</a:t>
            </a:r>
            <a:endParaRPr lang="en-US" sz="1250" dirty="0"/>
          </a:p>
        </p:txBody>
      </p:sp>
      <p:sp>
        <p:nvSpPr>
          <p:cNvPr id="27" name="Shape 25"/>
          <p:cNvSpPr/>
          <p:nvPr/>
        </p:nvSpPr>
        <p:spPr>
          <a:xfrm>
            <a:off x="4526280" y="3246120"/>
            <a:ext cx="585216" cy="457200"/>
          </a:xfrm>
          <a:prstGeom prst="line">
            <a:avLst/>
          </a:prstGeom>
          <a:noFill/>
          <a:ln w="19050">
            <a:solidFill>
              <a:srgbClr val="7A7A7A"/>
            </a:solidFill>
            <a:prstDash val="solid"/>
            <a:tailEnd type="triangle"/>
          </a:ln>
        </p:spPr>
      </p:sp>
      <p:sp>
        <p:nvSpPr>
          <p:cNvPr id="28" name="Shape 26"/>
          <p:cNvSpPr/>
          <p:nvPr/>
        </p:nvSpPr>
        <p:spPr>
          <a:xfrm>
            <a:off x="5111496" y="4480560"/>
            <a:ext cx="969264" cy="411480"/>
          </a:xfrm>
          <a:prstGeom prst="line">
            <a:avLst/>
          </a:prstGeom>
          <a:noFill/>
          <a:ln w="19050">
            <a:solidFill>
              <a:srgbClr val="7A7A7A"/>
            </a:solidFill>
            <a:prstDash val="solid"/>
            <a:tailEnd type="triangle"/>
          </a:ln>
        </p:spPr>
      </p:sp>
      <p:sp>
        <p:nvSpPr>
          <p:cNvPr id="29" name="Shape 27"/>
          <p:cNvSpPr/>
          <p:nvPr/>
        </p:nvSpPr>
        <p:spPr>
          <a:xfrm>
            <a:off x="6135624" y="3703320"/>
            <a:ext cx="1737360" cy="777240"/>
          </a:xfrm>
          <a:prstGeom prst="roundRect">
            <a:avLst>
              <a:gd name="adj" fmla="val 7059"/>
            </a:avLst>
          </a:prstGeom>
          <a:solidFill>
            <a:srgbClr val="E3ECF5"/>
          </a:solidFill>
          <a:ln w="9525">
            <a:solidFill>
              <a:srgbClr val="C9D3C6"/>
            </a:solidFill>
            <a:prstDash val="solid"/>
          </a:ln>
        </p:spPr>
      </p:sp>
      <p:sp>
        <p:nvSpPr>
          <p:cNvPr id="30" name="Text 28"/>
          <p:cNvSpPr txBox="1"/>
          <p:nvPr/>
        </p:nvSpPr>
        <p:spPr>
          <a:xfrm>
            <a:off x="6190488"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First derivative</a:t>
            </a:r>
            <a:endParaRPr lang="en-US" sz="1250" dirty="0"/>
          </a:p>
          <a:p>
            <a:pPr algn="ctr" indent="0" marL="0">
              <a:buNone/>
            </a:pPr>
            <a:r>
              <a:rPr lang="en-US" sz="1050" dirty="0">
                <a:solidFill>
                  <a:srgbClr val="333333"/>
                </a:solidFill>
              </a:rPr>
              <a:t>SG, 11 nm</a:t>
            </a:r>
            <a:endParaRPr lang="en-US" sz="1250" dirty="0"/>
          </a:p>
        </p:txBody>
      </p:sp>
      <p:sp>
        <p:nvSpPr>
          <p:cNvPr id="31" name="Shape 29"/>
          <p:cNvSpPr/>
          <p:nvPr/>
        </p:nvSpPr>
        <p:spPr>
          <a:xfrm>
            <a:off x="4526280" y="3246120"/>
            <a:ext cx="2478024" cy="457200"/>
          </a:xfrm>
          <a:prstGeom prst="line">
            <a:avLst/>
          </a:prstGeom>
          <a:noFill/>
          <a:ln w="19050">
            <a:solidFill>
              <a:srgbClr val="7A7A7A"/>
            </a:solidFill>
            <a:prstDash val="solid"/>
            <a:tailEnd type="triangle"/>
          </a:ln>
        </p:spPr>
      </p:sp>
      <p:sp>
        <p:nvSpPr>
          <p:cNvPr id="32" name="Shape 30"/>
          <p:cNvSpPr/>
          <p:nvPr/>
        </p:nvSpPr>
        <p:spPr>
          <a:xfrm flipH="1">
            <a:off x="6080760" y="4480560"/>
            <a:ext cx="923544" cy="411480"/>
          </a:xfrm>
          <a:prstGeom prst="line">
            <a:avLst/>
          </a:prstGeom>
          <a:noFill/>
          <a:ln w="19050">
            <a:solidFill>
              <a:srgbClr val="7A7A7A"/>
            </a:solidFill>
            <a:prstDash val="solid"/>
            <a:tailEnd type="triangle"/>
          </a:ln>
        </p:spPr>
      </p:sp>
      <p:sp>
        <p:nvSpPr>
          <p:cNvPr id="33" name="Shape 31"/>
          <p:cNvSpPr/>
          <p:nvPr/>
        </p:nvSpPr>
        <p:spPr>
          <a:xfrm>
            <a:off x="8028432" y="3703320"/>
            <a:ext cx="1737360" cy="777240"/>
          </a:xfrm>
          <a:prstGeom prst="roundRect">
            <a:avLst>
              <a:gd name="adj" fmla="val 7059"/>
            </a:avLst>
          </a:prstGeom>
          <a:solidFill>
            <a:srgbClr val="E3ECF5"/>
          </a:solidFill>
          <a:ln w="9525">
            <a:solidFill>
              <a:srgbClr val="C9D3C6"/>
            </a:solidFill>
            <a:prstDash val="solid"/>
          </a:ln>
        </p:spPr>
      </p:sp>
      <p:sp>
        <p:nvSpPr>
          <p:cNvPr id="34" name="Text 32"/>
          <p:cNvSpPr txBox="1"/>
          <p:nvPr/>
        </p:nvSpPr>
        <p:spPr>
          <a:xfrm>
            <a:off x="8083296"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Date normalisation*</a:t>
            </a:r>
            <a:endParaRPr lang="en-US" sz="1250" dirty="0"/>
          </a:p>
          <a:p>
            <a:pPr algn="ctr" indent="0" marL="0">
              <a:buNone/>
            </a:pPr>
            <a:r>
              <a:rPr lang="en-US" sz="1050" dirty="0">
                <a:solidFill>
                  <a:srgbClr val="333333"/>
                </a:solidFill>
              </a:rPr>
              <a:t>Lv et al. 2023</a:t>
            </a:r>
            <a:endParaRPr lang="en-US" sz="1250" dirty="0"/>
          </a:p>
        </p:txBody>
      </p:sp>
      <p:sp>
        <p:nvSpPr>
          <p:cNvPr id="35" name="Shape 33"/>
          <p:cNvSpPr/>
          <p:nvPr/>
        </p:nvSpPr>
        <p:spPr>
          <a:xfrm>
            <a:off x="4526280" y="3246120"/>
            <a:ext cx="4370832" cy="457200"/>
          </a:xfrm>
          <a:prstGeom prst="line">
            <a:avLst/>
          </a:prstGeom>
          <a:noFill/>
          <a:ln w="19050">
            <a:solidFill>
              <a:srgbClr val="7A7A7A"/>
            </a:solidFill>
            <a:prstDash val="solid"/>
            <a:tailEnd type="triangle"/>
          </a:ln>
        </p:spPr>
      </p:sp>
      <p:sp>
        <p:nvSpPr>
          <p:cNvPr id="36" name="Shape 34"/>
          <p:cNvSpPr/>
          <p:nvPr/>
        </p:nvSpPr>
        <p:spPr>
          <a:xfrm flipH="1">
            <a:off x="6080760" y="4480560"/>
            <a:ext cx="2816352" cy="411480"/>
          </a:xfrm>
          <a:prstGeom prst="line">
            <a:avLst/>
          </a:prstGeom>
          <a:noFill/>
          <a:ln w="19050">
            <a:solidFill>
              <a:srgbClr val="7A7A7A"/>
            </a:solidFill>
            <a:prstDash val="solid"/>
            <a:tailEnd type="triangle"/>
          </a:ln>
        </p:spPr>
      </p:sp>
      <p:sp>
        <p:nvSpPr>
          <p:cNvPr id="37" name="Shape 35"/>
          <p:cNvSpPr/>
          <p:nvPr/>
        </p:nvSpPr>
        <p:spPr>
          <a:xfrm>
            <a:off x="9921240" y="3703320"/>
            <a:ext cx="1737360" cy="777240"/>
          </a:xfrm>
          <a:prstGeom prst="roundRect">
            <a:avLst>
              <a:gd name="adj" fmla="val 7059"/>
            </a:avLst>
          </a:prstGeom>
          <a:solidFill>
            <a:srgbClr val="E3ECF5"/>
          </a:solidFill>
          <a:ln w="9525">
            <a:solidFill>
              <a:srgbClr val="C9D3C6"/>
            </a:solidFill>
            <a:prstDash val="solid"/>
          </a:ln>
        </p:spPr>
      </p:sp>
      <p:sp>
        <p:nvSpPr>
          <p:cNvPr id="38" name="Text 36"/>
          <p:cNvSpPr txBox="1"/>
          <p:nvPr/>
        </p:nvSpPr>
        <p:spPr>
          <a:xfrm>
            <a:off x="9976104" y="3703320"/>
            <a:ext cx="1627632" cy="777240"/>
          </a:xfrm>
          <a:prstGeom prst="rect">
            <a:avLst/>
          </a:prstGeom>
          <a:noFill/>
          <a:ln/>
        </p:spPr>
        <p:txBody>
          <a:bodyPr wrap="square" lIns="254" tIns="254" rIns="254" bIns="254" rtlCol="0" anchor="ctr"/>
          <a:lstStyle/>
          <a:p>
            <a:pPr algn="ctr" indent="0" marL="0">
              <a:buNone/>
            </a:pPr>
            <a:r>
              <a:rPr lang="en-US" sz="1250" b="1" dirty="0">
                <a:solidFill>
                  <a:srgbClr val="1F3D2B"/>
                </a:solidFill>
              </a:rPr>
              <a:t>Date norm. + SNV*</a:t>
            </a:r>
            <a:endParaRPr lang="en-US" sz="1250" dirty="0"/>
          </a:p>
          <a:p>
            <a:pPr algn="ctr" indent="0" marL="0">
              <a:buNone/>
            </a:pPr>
            <a:r>
              <a:rPr lang="en-US" sz="1050" dirty="0">
                <a:solidFill>
                  <a:srgbClr val="333333"/>
                </a:solidFill>
              </a:rPr>
              <a:t>combined</a:t>
            </a:r>
            <a:endParaRPr lang="en-US" sz="1250" dirty="0"/>
          </a:p>
        </p:txBody>
      </p:sp>
      <p:sp>
        <p:nvSpPr>
          <p:cNvPr id="39" name="Shape 37"/>
          <p:cNvSpPr/>
          <p:nvPr/>
        </p:nvSpPr>
        <p:spPr>
          <a:xfrm>
            <a:off x="4526280" y="3246120"/>
            <a:ext cx="6263640" cy="457200"/>
          </a:xfrm>
          <a:prstGeom prst="line">
            <a:avLst/>
          </a:prstGeom>
          <a:noFill/>
          <a:ln w="19050">
            <a:solidFill>
              <a:srgbClr val="7A7A7A"/>
            </a:solidFill>
            <a:prstDash val="solid"/>
            <a:tailEnd type="triangle"/>
          </a:ln>
        </p:spPr>
      </p:sp>
      <p:sp>
        <p:nvSpPr>
          <p:cNvPr id="40" name="Shape 38"/>
          <p:cNvSpPr/>
          <p:nvPr/>
        </p:nvSpPr>
        <p:spPr>
          <a:xfrm flipH="1">
            <a:off x="6080760" y="4480560"/>
            <a:ext cx="4709160" cy="411480"/>
          </a:xfrm>
          <a:prstGeom prst="line">
            <a:avLst/>
          </a:prstGeom>
          <a:noFill/>
          <a:ln w="19050">
            <a:solidFill>
              <a:srgbClr val="7A7A7A"/>
            </a:solidFill>
            <a:prstDash val="solid"/>
            <a:tailEnd type="triangle"/>
          </a:ln>
        </p:spPr>
      </p:sp>
      <p:sp>
        <p:nvSpPr>
          <p:cNvPr id="41" name="Shape 39"/>
          <p:cNvSpPr/>
          <p:nvPr/>
        </p:nvSpPr>
        <p:spPr>
          <a:xfrm>
            <a:off x="4023360" y="4892040"/>
            <a:ext cx="4114800" cy="777240"/>
          </a:xfrm>
          <a:prstGeom prst="roundRect">
            <a:avLst>
              <a:gd name="adj" fmla="val 7059"/>
            </a:avLst>
          </a:prstGeom>
          <a:solidFill>
            <a:srgbClr val="1F3D2B"/>
          </a:solidFill>
          <a:ln w="9525">
            <a:solidFill>
              <a:srgbClr val="1F3D2B"/>
            </a:solidFill>
            <a:prstDash val="solid"/>
          </a:ln>
        </p:spPr>
      </p:sp>
      <p:sp>
        <p:nvSpPr>
          <p:cNvPr id="42" name="Text 40"/>
          <p:cNvSpPr txBox="1"/>
          <p:nvPr/>
        </p:nvSpPr>
        <p:spPr>
          <a:xfrm>
            <a:off x="4078224" y="4892040"/>
            <a:ext cx="4005072" cy="777240"/>
          </a:xfrm>
          <a:prstGeom prst="rect">
            <a:avLst/>
          </a:prstGeom>
          <a:noFill/>
          <a:ln/>
        </p:spPr>
        <p:txBody>
          <a:bodyPr wrap="square" lIns="254" tIns="254" rIns="254" bIns="254" rtlCol="0" anchor="ctr"/>
          <a:lstStyle/>
          <a:p>
            <a:pPr algn="ctr" indent="0" marL="0">
              <a:buNone/>
            </a:pPr>
            <a:r>
              <a:rPr lang="en-US" sz="1250" b="1" dirty="0">
                <a:solidFill>
                  <a:srgbClr val="FFFFFF"/>
                </a:solidFill>
              </a:rPr>
              <a:t>E1: compare in plot-grouped nested CV</a:t>
            </a:r>
            <a:endParaRPr lang="en-US" sz="1250" dirty="0"/>
          </a:p>
          <a:p>
            <a:pPr algn="ctr" indent="0" marL="0">
              <a:buNone/>
            </a:pPr>
            <a:r>
              <a:rPr lang="en-US" sz="1050" dirty="0">
                <a:solidFill>
                  <a:srgbClr val="F2F2F2"/>
                </a:solidFill>
              </a:rPr>
              <a:t>best: first derivative (LR 0.946, SVM 0.940); SNV LR 0.921</a:t>
            </a:r>
            <a:endParaRPr lang="en-US" sz="1250" dirty="0"/>
          </a:p>
        </p:txBody>
      </p:sp>
      <p:sp>
        <p:nvSpPr>
          <p:cNvPr id="43" name="Text 41"/>
          <p:cNvSpPr txBox="1"/>
          <p:nvPr/>
        </p:nvSpPr>
        <p:spPr>
          <a:xfrm>
            <a:off x="8321040" y="4983480"/>
            <a:ext cx="3383280" cy="640080"/>
          </a:xfrm>
          <a:prstGeom prst="rect">
            <a:avLst/>
          </a:prstGeom>
          <a:noFill/>
          <a:ln/>
        </p:spPr>
        <p:txBody>
          <a:bodyPr wrap="square" lIns="0" tIns="0" rIns="0" bIns="0" rtlCol="0" anchor="ctr"/>
          <a:lstStyle/>
          <a:p>
            <a:pPr indent="0" marL="0">
              <a:buNone/>
            </a:pPr>
            <a:r>
              <a:rPr lang="en-US" sz="1050" i="1" dirty="0">
                <a:solidFill>
                  <a:schemeClr val="accent6"/>
                </a:solidFill>
              </a:rPr>
              <a:t>* fitted on training plots only (uses the training mean or the healthy training plots of each date)</a:t>
            </a:r>
            <a:endParaRPr lang="en-US" sz="1050" dirty="0"/>
          </a:p>
        </p:txBody>
      </p:sp>
      <p:sp>
        <p:nvSpPr>
          <p:cNvPr id="44" name="Text 42"/>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Savitzky &amp; Golay 1964; Barnes et al. 1989; Geladi et al. 1985; Tsai &amp; Philpot 1998;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Quality control and preprocessing</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2194560"/>
                <a:gridCol w="6035040"/>
                <a:gridCol w="3017520"/>
              </a:tblGrid>
              <a:tr h="502920">
                <a:tc>
                  <a:txBody>
                    <a:bodyPr/>
                    <a:lstStyle/>
                    <a:p>
                      <a:pPr algn="ctr" indent="0" marL="0">
                        <a:buNone/>
                      </a:pPr>
                      <a:r>
                        <a:rPr lang="en-US" sz="1200" b="1" dirty="0">
                          <a:solidFill>
                            <a:srgbClr val="FFFFFF"/>
                          </a:solidFill>
                        </a:rPr>
                        <a:t>Step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Implementation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Reference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502920">
                <a:tc>
                  <a:txBody>
                    <a:bodyPr/>
                    <a:lstStyle/>
                    <a:p>
                      <a:pPr indent="0" marL="0">
                        <a:buNone/>
                      </a:pPr>
                      <a:r>
                        <a:rPr lang="en-US" sz="1200" dirty="0">
                          <a:solidFill>
                            <a:srgbClr val="1A1A1A"/>
                          </a:solidFill>
                        </a:rPr>
                        <a:t>Splice correction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Additive offset at 1000/1001 and 1800/1801 nm detector joins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Hueni &amp; Bialek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A1A1A"/>
                          </a:solidFill>
                        </a:rPr>
                        <a:t>Edge trimming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Keep 400-2400 nm (noisy 350-400 nm removed)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Mandal et 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02920">
                <a:tc>
                  <a:txBody>
                    <a:bodyPr/>
                    <a:lstStyle/>
                    <a:p>
                      <a:pPr indent="0" marL="0">
                        <a:buNone/>
                      </a:pPr>
                      <a:r>
                        <a:rPr lang="en-US" sz="1200" dirty="0">
                          <a:solidFill>
                            <a:srgbClr val="1A1A1A"/>
                          </a:solidFill>
                        </a:rPr>
                        <a:t>Outlier screening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Hotelling T², Q residual, Isolation Forest, SAM to plot median; removed if &gt;= 3 of 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Selvaprakash et al. 2026; Liu et al. 2008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A1A1A"/>
                          </a:solidFill>
                        </a:rPr>
                        <a:t>Smoothing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Savitzky-Golay, 11 nm window, 2nd-order polynomial</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Savitzky &amp; Golay 1964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02920">
                <a:tc>
                  <a:txBody>
                    <a:bodyPr/>
                    <a:lstStyle/>
                    <a:p>
                      <a:pPr indent="0" marL="0">
                        <a:buNone/>
                      </a:pPr>
                      <a:r>
                        <a:rPr lang="en-US" sz="1200" dirty="0">
                          <a:solidFill>
                            <a:srgbClr val="1A1A1A"/>
                          </a:solidFill>
                        </a:rPr>
                        <a:t>Resampling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10-nm band averages (201 bands)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Mandal et 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A1A1A"/>
                          </a:solidFill>
                        </a:rPr>
                        <a:t>Scatter correction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SNV; MSC (reference from training folds)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Barnes et al. 1989; Geladi et al. 1985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02920">
                <a:tc>
                  <a:txBody>
                    <a:bodyPr/>
                    <a:lstStyle/>
                    <a:p>
                      <a:pPr indent="0" marL="0">
                        <a:buNone/>
                      </a:pPr>
                      <a:r>
                        <a:rPr lang="en-US" sz="1200" dirty="0">
                          <a:solidFill>
                            <a:srgbClr val="1A1A1A"/>
                          </a:solidFill>
                        </a:rPr>
                        <a:t>Derivatives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SG first and second derivatives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Tsai &amp; Philpot 1998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A1A1A"/>
                          </a:solidFill>
                        </a:rPr>
                        <a:t>Date normalisation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Ratio of training healthy mean per date to baseline date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Lv et 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Text 1"/>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Methods adapted from the reviewed papers; parameters fixed before modelling</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 4 flowchart: statistical characterisation of the spectra</a:t>
            </a:r>
            <a:endParaRPr lang="en-US" sz="2800" dirty="0"/>
          </a:p>
        </p:txBody>
      </p:sp>
      <p:sp>
        <p:nvSpPr>
          <p:cNvPr id="3" name="Shape 1"/>
          <p:cNvSpPr/>
          <p:nvPr/>
        </p:nvSpPr>
        <p:spPr>
          <a:xfrm>
            <a:off x="457200" y="1234440"/>
            <a:ext cx="2377440" cy="822960"/>
          </a:xfrm>
          <a:prstGeom prst="roundRect">
            <a:avLst>
              <a:gd name="adj" fmla="val 6667"/>
            </a:avLst>
          </a:prstGeom>
          <a:solidFill>
            <a:srgbClr val="F7F1E1"/>
          </a:solidFill>
          <a:ln w="9525">
            <a:solidFill>
              <a:srgbClr val="C9D3C6"/>
            </a:solidFill>
            <a:prstDash val="solid"/>
          </a:ln>
        </p:spPr>
      </p:sp>
      <p:sp>
        <p:nvSpPr>
          <p:cNvPr id="4" name="Text 2"/>
          <p:cNvSpPr txBox="1"/>
          <p:nvPr/>
        </p:nvSpPr>
        <p:spPr>
          <a:xfrm>
            <a:off x="512064" y="1234440"/>
            <a:ext cx="226771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Clean spectra</a:t>
            </a:r>
            <a:endParaRPr lang="en-US" sz="1250" dirty="0"/>
          </a:p>
          <a:p>
            <a:pPr algn="ctr" indent="0" marL="0">
              <a:buNone/>
            </a:pPr>
            <a:r>
              <a:rPr lang="en-US" sz="1050" dirty="0">
                <a:solidFill>
                  <a:srgbClr val="333333"/>
                </a:solidFill>
              </a:rPr>
              <a:t>2290 spectra</a:t>
            </a:r>
            <a:endParaRPr lang="en-US" sz="1250" dirty="0"/>
          </a:p>
        </p:txBody>
      </p:sp>
      <p:sp>
        <p:nvSpPr>
          <p:cNvPr id="5" name="Shape 3"/>
          <p:cNvSpPr/>
          <p:nvPr/>
        </p:nvSpPr>
        <p:spPr>
          <a:xfrm>
            <a:off x="2834640" y="1645920"/>
            <a:ext cx="457200" cy="0"/>
          </a:xfrm>
          <a:prstGeom prst="line">
            <a:avLst/>
          </a:prstGeom>
          <a:noFill/>
          <a:ln w="19050">
            <a:solidFill>
              <a:srgbClr val="7A7A7A"/>
            </a:solidFill>
            <a:prstDash val="solid"/>
            <a:tailEnd type="triangle"/>
          </a:ln>
        </p:spPr>
      </p:sp>
      <p:sp>
        <p:nvSpPr>
          <p:cNvPr id="6" name="Shape 4"/>
          <p:cNvSpPr/>
          <p:nvPr/>
        </p:nvSpPr>
        <p:spPr>
          <a:xfrm>
            <a:off x="3291840" y="1234440"/>
            <a:ext cx="3291840" cy="822960"/>
          </a:xfrm>
          <a:prstGeom prst="roundRect">
            <a:avLst>
              <a:gd name="adj" fmla="val 6667"/>
            </a:avLst>
          </a:prstGeom>
          <a:solidFill>
            <a:srgbClr val="F7F1E1"/>
          </a:solidFill>
          <a:ln w="9525">
            <a:solidFill>
              <a:srgbClr val="C9D3C6"/>
            </a:solidFill>
            <a:prstDash val="solid"/>
          </a:ln>
        </p:spPr>
      </p:sp>
      <p:sp>
        <p:nvSpPr>
          <p:cNvPr id="7" name="Text 5"/>
          <p:cNvSpPr txBox="1"/>
          <p:nvPr/>
        </p:nvSpPr>
        <p:spPr>
          <a:xfrm>
            <a:off x="3346704" y="1234440"/>
            <a:ext cx="318211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Plot-date mean spectra (n = 192)</a:t>
            </a:r>
            <a:endParaRPr lang="en-US" sz="1250" dirty="0"/>
          </a:p>
          <a:p>
            <a:pPr algn="ctr" indent="0" marL="0">
              <a:buNone/>
            </a:pPr>
            <a:r>
              <a:rPr lang="en-US" sz="1050" dirty="0">
                <a:solidFill>
                  <a:srgbClr val="333333"/>
                </a:solidFill>
              </a:rPr>
              <a:t>avoids pseudo-replication of repeated scans</a:t>
            </a:r>
            <a:endParaRPr lang="en-US" sz="1250" dirty="0"/>
          </a:p>
        </p:txBody>
      </p:sp>
      <p:sp>
        <p:nvSpPr>
          <p:cNvPr id="8" name="Shape 6"/>
          <p:cNvSpPr/>
          <p:nvPr/>
        </p:nvSpPr>
        <p:spPr>
          <a:xfrm>
            <a:off x="457200" y="2743200"/>
            <a:ext cx="1737360" cy="1005840"/>
          </a:xfrm>
          <a:prstGeom prst="roundRect">
            <a:avLst>
              <a:gd name="adj" fmla="val 5455"/>
            </a:avLst>
          </a:prstGeom>
          <a:solidFill>
            <a:srgbClr val="E6EFE3"/>
          </a:solidFill>
          <a:ln w="9525">
            <a:solidFill>
              <a:srgbClr val="C9D3C6"/>
            </a:solidFill>
            <a:prstDash val="solid"/>
          </a:ln>
        </p:spPr>
      </p:sp>
      <p:sp>
        <p:nvSpPr>
          <p:cNvPr id="9" name="Text 7"/>
          <p:cNvSpPr txBox="1"/>
          <p:nvPr/>
        </p:nvSpPr>
        <p:spPr>
          <a:xfrm>
            <a:off x="512064"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Band-wise tests</a:t>
            </a:r>
            <a:endParaRPr lang="en-US" sz="1250" dirty="0"/>
          </a:p>
          <a:p>
            <a:pPr algn="ctr" indent="0" marL="0">
              <a:buNone/>
            </a:pPr>
            <a:r>
              <a:rPr lang="en-US" sz="1050" dirty="0">
                <a:solidFill>
                  <a:srgbClr val="333333"/>
                </a:solidFill>
              </a:rPr>
              <a:t>Welch t, Mann-Whitney, FDR, Cohen d, r</a:t>
            </a:r>
            <a:endParaRPr lang="en-US" sz="1250" dirty="0"/>
          </a:p>
        </p:txBody>
      </p:sp>
      <p:sp>
        <p:nvSpPr>
          <p:cNvPr id="10" name="Shape 8"/>
          <p:cNvSpPr/>
          <p:nvPr/>
        </p:nvSpPr>
        <p:spPr>
          <a:xfrm flipH="1">
            <a:off x="1325880" y="2057400"/>
            <a:ext cx="3611880" cy="685800"/>
          </a:xfrm>
          <a:prstGeom prst="line">
            <a:avLst/>
          </a:prstGeom>
          <a:noFill/>
          <a:ln w="19050">
            <a:solidFill>
              <a:srgbClr val="7A7A7A"/>
            </a:solidFill>
            <a:prstDash val="solid"/>
            <a:tailEnd type="triangle"/>
          </a:ln>
        </p:spPr>
      </p:sp>
      <p:sp>
        <p:nvSpPr>
          <p:cNvPr id="11" name="Shape 9"/>
          <p:cNvSpPr/>
          <p:nvPr/>
        </p:nvSpPr>
        <p:spPr>
          <a:xfrm>
            <a:off x="2350008" y="2743200"/>
            <a:ext cx="1737360" cy="1005840"/>
          </a:xfrm>
          <a:prstGeom prst="roundRect">
            <a:avLst>
              <a:gd name="adj" fmla="val 5455"/>
            </a:avLst>
          </a:prstGeom>
          <a:solidFill>
            <a:srgbClr val="E6EFE3"/>
          </a:solidFill>
          <a:ln w="9525">
            <a:solidFill>
              <a:srgbClr val="C9D3C6"/>
            </a:solidFill>
            <a:prstDash val="solid"/>
          </a:ln>
        </p:spPr>
      </p:sp>
      <p:sp>
        <p:nvSpPr>
          <p:cNvPr id="12" name="Text 10"/>
          <p:cNvSpPr txBox="1"/>
          <p:nvPr/>
        </p:nvSpPr>
        <p:spPr>
          <a:xfrm>
            <a:off x="2404872"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Separability</a:t>
            </a:r>
            <a:endParaRPr lang="en-US" sz="1250" dirty="0"/>
          </a:p>
          <a:p>
            <a:pPr algn="ctr" indent="0" marL="0">
              <a:buNone/>
            </a:pPr>
            <a:r>
              <a:rPr lang="en-US" sz="1050" dirty="0">
                <a:solidFill>
                  <a:srgbClr val="333333"/>
                </a:solidFill>
              </a:rPr>
              <a:t>Jeffries-Matusita per band / index</a:t>
            </a:r>
            <a:endParaRPr lang="en-US" sz="1250" dirty="0"/>
          </a:p>
        </p:txBody>
      </p:sp>
      <p:sp>
        <p:nvSpPr>
          <p:cNvPr id="13" name="Shape 11"/>
          <p:cNvSpPr/>
          <p:nvPr/>
        </p:nvSpPr>
        <p:spPr>
          <a:xfrm flipH="1">
            <a:off x="3218688" y="2057400"/>
            <a:ext cx="1719072" cy="685800"/>
          </a:xfrm>
          <a:prstGeom prst="line">
            <a:avLst/>
          </a:prstGeom>
          <a:noFill/>
          <a:ln w="19050">
            <a:solidFill>
              <a:srgbClr val="7A7A7A"/>
            </a:solidFill>
            <a:prstDash val="solid"/>
            <a:tailEnd type="triangle"/>
          </a:ln>
        </p:spPr>
      </p:sp>
      <p:sp>
        <p:nvSpPr>
          <p:cNvPr id="14" name="Shape 12"/>
          <p:cNvSpPr/>
          <p:nvPr/>
        </p:nvSpPr>
        <p:spPr>
          <a:xfrm>
            <a:off x="4242816" y="2743200"/>
            <a:ext cx="1737360" cy="1005840"/>
          </a:xfrm>
          <a:prstGeom prst="roundRect">
            <a:avLst>
              <a:gd name="adj" fmla="val 5455"/>
            </a:avLst>
          </a:prstGeom>
          <a:solidFill>
            <a:srgbClr val="E6EFE3"/>
          </a:solidFill>
          <a:ln w="9525">
            <a:solidFill>
              <a:srgbClr val="C9D3C6"/>
            </a:solidFill>
            <a:prstDash val="solid"/>
          </a:ln>
        </p:spPr>
      </p:sp>
      <p:sp>
        <p:nvSpPr>
          <p:cNvPr id="15" name="Text 13"/>
          <p:cNvSpPr txBox="1"/>
          <p:nvPr/>
        </p:nvSpPr>
        <p:spPr>
          <a:xfrm>
            <a:off x="4297680"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Red-edge parameters</a:t>
            </a:r>
            <a:endParaRPr lang="en-US" sz="1250" dirty="0"/>
          </a:p>
          <a:p>
            <a:pPr algn="ctr" indent="0" marL="0">
              <a:buNone/>
            </a:pPr>
            <a:r>
              <a:rPr lang="en-US" sz="1050" dirty="0">
                <a:solidFill>
                  <a:srgbClr val="333333"/>
                </a:solidFill>
              </a:rPr>
              <a:t>REP, REV, edge amplitudes</a:t>
            </a:r>
            <a:endParaRPr lang="en-US" sz="1250" dirty="0"/>
          </a:p>
        </p:txBody>
      </p:sp>
      <p:sp>
        <p:nvSpPr>
          <p:cNvPr id="16" name="Shape 14"/>
          <p:cNvSpPr/>
          <p:nvPr/>
        </p:nvSpPr>
        <p:spPr>
          <a:xfrm>
            <a:off x="4937760" y="2057400"/>
            <a:ext cx="173736" cy="685800"/>
          </a:xfrm>
          <a:prstGeom prst="line">
            <a:avLst/>
          </a:prstGeom>
          <a:noFill/>
          <a:ln w="19050">
            <a:solidFill>
              <a:srgbClr val="7A7A7A"/>
            </a:solidFill>
            <a:prstDash val="solid"/>
            <a:tailEnd type="triangle"/>
          </a:ln>
        </p:spPr>
      </p:sp>
      <p:sp>
        <p:nvSpPr>
          <p:cNvPr id="17" name="Shape 15"/>
          <p:cNvSpPr/>
          <p:nvPr/>
        </p:nvSpPr>
        <p:spPr>
          <a:xfrm>
            <a:off x="6135624" y="2743200"/>
            <a:ext cx="1737360" cy="1005840"/>
          </a:xfrm>
          <a:prstGeom prst="roundRect">
            <a:avLst>
              <a:gd name="adj" fmla="val 5455"/>
            </a:avLst>
          </a:prstGeom>
          <a:solidFill>
            <a:srgbClr val="E6EFE3"/>
          </a:solidFill>
          <a:ln w="9525">
            <a:solidFill>
              <a:srgbClr val="C9D3C6"/>
            </a:solidFill>
            <a:prstDash val="solid"/>
          </a:ln>
        </p:spPr>
      </p:sp>
      <p:sp>
        <p:nvSpPr>
          <p:cNvPr id="18" name="Text 16"/>
          <p:cNvSpPr txBox="1"/>
          <p:nvPr/>
        </p:nvSpPr>
        <p:spPr>
          <a:xfrm>
            <a:off x="6190488"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Unsupervised views</a:t>
            </a:r>
            <a:endParaRPr lang="en-US" sz="1250" dirty="0"/>
          </a:p>
          <a:p>
            <a:pPr algn="ctr" indent="0" marL="0">
              <a:buNone/>
            </a:pPr>
            <a:r>
              <a:rPr lang="en-US" sz="1050" dirty="0">
                <a:solidFill>
                  <a:srgbClr val="333333"/>
                </a:solidFill>
              </a:rPr>
              <a:t>PCA, t-SNE, η² by factor</a:t>
            </a:r>
            <a:endParaRPr lang="en-US" sz="1250" dirty="0"/>
          </a:p>
        </p:txBody>
      </p:sp>
      <p:sp>
        <p:nvSpPr>
          <p:cNvPr id="19" name="Shape 17"/>
          <p:cNvSpPr/>
          <p:nvPr/>
        </p:nvSpPr>
        <p:spPr>
          <a:xfrm>
            <a:off x="4937760" y="2057400"/>
            <a:ext cx="2066544" cy="685800"/>
          </a:xfrm>
          <a:prstGeom prst="line">
            <a:avLst/>
          </a:prstGeom>
          <a:noFill/>
          <a:ln w="19050">
            <a:solidFill>
              <a:srgbClr val="7A7A7A"/>
            </a:solidFill>
            <a:prstDash val="solid"/>
            <a:tailEnd type="triangle"/>
          </a:ln>
        </p:spPr>
      </p:sp>
      <p:sp>
        <p:nvSpPr>
          <p:cNvPr id="20" name="Shape 18"/>
          <p:cNvSpPr/>
          <p:nvPr/>
        </p:nvSpPr>
        <p:spPr>
          <a:xfrm>
            <a:off x="8028432" y="2743200"/>
            <a:ext cx="1737360" cy="1005840"/>
          </a:xfrm>
          <a:prstGeom prst="roundRect">
            <a:avLst>
              <a:gd name="adj" fmla="val 5455"/>
            </a:avLst>
          </a:prstGeom>
          <a:solidFill>
            <a:srgbClr val="E6EFE3"/>
          </a:solidFill>
          <a:ln w="9525">
            <a:solidFill>
              <a:srgbClr val="C9D3C6"/>
            </a:solidFill>
            <a:prstDash val="solid"/>
          </a:ln>
        </p:spPr>
      </p:sp>
      <p:sp>
        <p:nvSpPr>
          <p:cNvPr id="21" name="Text 19"/>
          <p:cNvSpPr txBox="1"/>
          <p:nvPr/>
        </p:nvSpPr>
        <p:spPr>
          <a:xfrm>
            <a:off x="8083296"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Variance partitioning</a:t>
            </a:r>
            <a:endParaRPr lang="en-US" sz="1250" dirty="0"/>
          </a:p>
          <a:p>
            <a:pPr algn="ctr" indent="0" marL="0">
              <a:buNone/>
            </a:pPr>
            <a:r>
              <a:rPr lang="en-US" sz="1050" dirty="0">
                <a:solidFill>
                  <a:srgbClr val="333333"/>
                </a:solidFill>
              </a:rPr>
              <a:t>PERMANOVA (999 permutations)</a:t>
            </a:r>
            <a:endParaRPr lang="en-US" sz="1250" dirty="0"/>
          </a:p>
        </p:txBody>
      </p:sp>
      <p:sp>
        <p:nvSpPr>
          <p:cNvPr id="22" name="Shape 20"/>
          <p:cNvSpPr/>
          <p:nvPr/>
        </p:nvSpPr>
        <p:spPr>
          <a:xfrm>
            <a:off x="4937760" y="2057400"/>
            <a:ext cx="3959352" cy="685800"/>
          </a:xfrm>
          <a:prstGeom prst="line">
            <a:avLst/>
          </a:prstGeom>
          <a:noFill/>
          <a:ln w="19050">
            <a:solidFill>
              <a:srgbClr val="7A7A7A"/>
            </a:solidFill>
            <a:prstDash val="solid"/>
            <a:tailEnd type="triangle"/>
          </a:ln>
        </p:spPr>
      </p:sp>
      <p:sp>
        <p:nvSpPr>
          <p:cNvPr id="23" name="Shape 21"/>
          <p:cNvSpPr/>
          <p:nvPr/>
        </p:nvSpPr>
        <p:spPr>
          <a:xfrm>
            <a:off x="9921240" y="2743200"/>
            <a:ext cx="1737360" cy="1005840"/>
          </a:xfrm>
          <a:prstGeom prst="roundRect">
            <a:avLst>
              <a:gd name="adj" fmla="val 5455"/>
            </a:avLst>
          </a:prstGeom>
          <a:solidFill>
            <a:srgbClr val="E6EFE3"/>
          </a:solidFill>
          <a:ln w="9525">
            <a:solidFill>
              <a:srgbClr val="C9D3C6"/>
            </a:solidFill>
            <a:prstDash val="solid"/>
          </a:ln>
        </p:spPr>
      </p:sp>
      <p:sp>
        <p:nvSpPr>
          <p:cNvPr id="24" name="Text 22"/>
          <p:cNvSpPr txBox="1"/>
          <p:nvPr/>
        </p:nvSpPr>
        <p:spPr>
          <a:xfrm>
            <a:off x="9976104" y="2743200"/>
            <a:ext cx="1627632" cy="1005840"/>
          </a:xfrm>
          <a:prstGeom prst="rect">
            <a:avLst/>
          </a:prstGeom>
          <a:noFill/>
          <a:ln/>
        </p:spPr>
        <p:txBody>
          <a:bodyPr wrap="square" lIns="254" tIns="254" rIns="254" bIns="254" rtlCol="0" anchor="ctr"/>
          <a:lstStyle/>
          <a:p>
            <a:pPr algn="ctr" indent="0" marL="0">
              <a:buNone/>
            </a:pPr>
            <a:r>
              <a:rPr lang="en-US" sz="1250" b="1" dirty="0">
                <a:solidFill>
                  <a:srgbClr val="1F3D2B"/>
                </a:solidFill>
              </a:rPr>
              <a:t>Mixed models</a:t>
            </a:r>
            <a:endParaRPr lang="en-US" sz="1250" dirty="0"/>
          </a:p>
          <a:p>
            <a:pPr algn="ctr" indent="0" marL="0">
              <a:buNone/>
            </a:pPr>
            <a:r>
              <a:rPr lang="en-US" sz="1050" dirty="0">
                <a:solidFill>
                  <a:srgbClr val="333333"/>
                </a:solidFill>
              </a:rPr>
              <a:t>feature ~ disease + date + variety + (1|plot)</a:t>
            </a:r>
            <a:endParaRPr lang="en-US" sz="1250" dirty="0"/>
          </a:p>
        </p:txBody>
      </p:sp>
      <p:sp>
        <p:nvSpPr>
          <p:cNvPr id="25" name="Shape 23"/>
          <p:cNvSpPr/>
          <p:nvPr/>
        </p:nvSpPr>
        <p:spPr>
          <a:xfrm>
            <a:off x="4937760" y="2057400"/>
            <a:ext cx="5852160" cy="685800"/>
          </a:xfrm>
          <a:prstGeom prst="line">
            <a:avLst/>
          </a:prstGeom>
          <a:noFill/>
          <a:ln w="19050">
            <a:solidFill>
              <a:srgbClr val="7A7A7A"/>
            </a:solidFill>
            <a:prstDash val="solid"/>
            <a:tailEnd type="triangle"/>
          </a:ln>
        </p:spPr>
      </p:sp>
      <p:sp>
        <p:nvSpPr>
          <p:cNvPr id="26" name="Shape 24"/>
          <p:cNvSpPr/>
          <p:nvPr/>
        </p:nvSpPr>
        <p:spPr>
          <a:xfrm>
            <a:off x="822960" y="4480560"/>
            <a:ext cx="3291840" cy="914400"/>
          </a:xfrm>
          <a:prstGeom prst="roundRect">
            <a:avLst>
              <a:gd name="adj" fmla="val 6000"/>
            </a:avLst>
          </a:prstGeom>
          <a:solidFill>
            <a:srgbClr val="1F3D2B"/>
          </a:solidFill>
          <a:ln w="9525">
            <a:solidFill>
              <a:srgbClr val="1F3D2B"/>
            </a:solidFill>
            <a:prstDash val="solid"/>
          </a:ln>
        </p:spPr>
      </p:sp>
      <p:sp>
        <p:nvSpPr>
          <p:cNvPr id="27" name="Text 25"/>
          <p:cNvSpPr txBox="1"/>
          <p:nvPr/>
        </p:nvSpPr>
        <p:spPr>
          <a:xfrm>
            <a:off x="877824" y="4480560"/>
            <a:ext cx="3182112" cy="914400"/>
          </a:xfrm>
          <a:prstGeom prst="rect">
            <a:avLst/>
          </a:prstGeom>
          <a:noFill/>
          <a:ln/>
        </p:spPr>
        <p:txBody>
          <a:bodyPr wrap="square" lIns="254" tIns="254" rIns="254" bIns="254" rtlCol="0" anchor="ctr"/>
          <a:lstStyle/>
          <a:p>
            <a:pPr algn="ctr" indent="0" marL="0">
              <a:buNone/>
            </a:pPr>
            <a:r>
              <a:rPr lang="en-US" sz="1250" b="1" dirty="0">
                <a:solidFill>
                  <a:srgbClr val="FFFFFF"/>
                </a:solidFill>
              </a:rPr>
              <a:t>Sensitive regions</a:t>
            </a:r>
            <a:endParaRPr lang="en-US" sz="1250" dirty="0"/>
          </a:p>
          <a:p>
            <a:pPr algn="ctr" indent="0" marL="0">
              <a:buNone/>
            </a:pPr>
            <a:r>
              <a:rPr lang="en-US" sz="1050" dirty="0">
                <a:solidFill>
                  <a:srgbClr val="F2F2F2"/>
                </a:solidFill>
              </a:rPr>
              <a:t>where white rust changes reflectance (R4)</a:t>
            </a:r>
            <a:endParaRPr lang="en-US" sz="1250" dirty="0"/>
          </a:p>
        </p:txBody>
      </p:sp>
      <p:sp>
        <p:nvSpPr>
          <p:cNvPr id="28" name="Shape 26"/>
          <p:cNvSpPr/>
          <p:nvPr/>
        </p:nvSpPr>
        <p:spPr>
          <a:xfrm>
            <a:off x="4572000" y="4480560"/>
            <a:ext cx="3291840" cy="914400"/>
          </a:xfrm>
          <a:prstGeom prst="roundRect">
            <a:avLst>
              <a:gd name="adj" fmla="val 6000"/>
            </a:avLst>
          </a:prstGeom>
          <a:solidFill>
            <a:srgbClr val="1F3D2B"/>
          </a:solidFill>
          <a:ln w="9525">
            <a:solidFill>
              <a:srgbClr val="1F3D2B"/>
            </a:solidFill>
            <a:prstDash val="solid"/>
          </a:ln>
        </p:spPr>
      </p:sp>
      <p:sp>
        <p:nvSpPr>
          <p:cNvPr id="29" name="Text 27"/>
          <p:cNvSpPr txBox="1"/>
          <p:nvPr/>
        </p:nvSpPr>
        <p:spPr>
          <a:xfrm>
            <a:off x="4626864" y="4480560"/>
            <a:ext cx="3182112" cy="914400"/>
          </a:xfrm>
          <a:prstGeom prst="rect">
            <a:avLst/>
          </a:prstGeom>
          <a:noFill/>
          <a:ln/>
        </p:spPr>
        <p:txBody>
          <a:bodyPr wrap="square" lIns="254" tIns="254" rIns="254" bIns="254" rtlCol="0" anchor="ctr"/>
          <a:lstStyle/>
          <a:p>
            <a:pPr algn="ctr" indent="0" marL="0">
              <a:buNone/>
            </a:pPr>
            <a:r>
              <a:rPr lang="en-US" sz="1250" b="1" dirty="0">
                <a:solidFill>
                  <a:srgbClr val="FFFFFF"/>
                </a:solidFill>
              </a:rPr>
              <a:t>Date vs disease variance</a:t>
            </a:r>
            <a:endParaRPr lang="en-US" sz="1250" dirty="0"/>
          </a:p>
          <a:p>
            <a:pPr algn="ctr" indent="0" marL="0">
              <a:buNone/>
            </a:pPr>
            <a:r>
              <a:rPr lang="en-US" sz="1050" dirty="0">
                <a:solidFill>
                  <a:srgbClr val="F2F2F2"/>
                </a:solidFill>
              </a:rPr>
              <a:t>why a pooled model needs care (R6-R7)</a:t>
            </a:r>
            <a:endParaRPr lang="en-US" sz="1250" dirty="0"/>
          </a:p>
        </p:txBody>
      </p:sp>
      <p:sp>
        <p:nvSpPr>
          <p:cNvPr id="30" name="Shape 28"/>
          <p:cNvSpPr/>
          <p:nvPr/>
        </p:nvSpPr>
        <p:spPr>
          <a:xfrm>
            <a:off x="8321040" y="4480560"/>
            <a:ext cx="3291840" cy="914400"/>
          </a:xfrm>
          <a:prstGeom prst="roundRect">
            <a:avLst>
              <a:gd name="adj" fmla="val 6000"/>
            </a:avLst>
          </a:prstGeom>
          <a:solidFill>
            <a:srgbClr val="1F3D2B"/>
          </a:solidFill>
          <a:ln w="9525">
            <a:solidFill>
              <a:srgbClr val="1F3D2B"/>
            </a:solidFill>
            <a:prstDash val="solid"/>
          </a:ln>
        </p:spPr>
      </p:sp>
      <p:sp>
        <p:nvSpPr>
          <p:cNvPr id="31" name="Text 29"/>
          <p:cNvSpPr txBox="1"/>
          <p:nvPr/>
        </p:nvSpPr>
        <p:spPr>
          <a:xfrm>
            <a:off x="8375904" y="4480560"/>
            <a:ext cx="3182112" cy="914400"/>
          </a:xfrm>
          <a:prstGeom prst="rect">
            <a:avLst/>
          </a:prstGeom>
          <a:noFill/>
          <a:ln/>
        </p:spPr>
        <p:txBody>
          <a:bodyPr wrap="square" lIns="254" tIns="254" rIns="254" bIns="254" rtlCol="0" anchor="ctr"/>
          <a:lstStyle/>
          <a:p>
            <a:pPr algn="ctr" indent="0" marL="0">
              <a:buNone/>
            </a:pPr>
            <a:r>
              <a:rPr lang="en-US" sz="1250" b="1" dirty="0">
                <a:solidFill>
                  <a:srgbClr val="FFFFFF"/>
                </a:solidFill>
              </a:rPr>
              <a:t>Candidate features</a:t>
            </a:r>
            <a:endParaRPr lang="en-US" sz="1250" dirty="0"/>
          </a:p>
          <a:p>
            <a:pPr algn="ctr" indent="0" marL="0">
              <a:buNone/>
            </a:pPr>
            <a:r>
              <a:rPr lang="en-US" sz="1050" dirty="0">
                <a:solidFill>
                  <a:srgbClr val="F2F2F2"/>
                </a:solidFill>
              </a:rPr>
              <a:t>stable effects for Steps 5-6 (R5, R8)</a:t>
            </a:r>
            <a:endParaRPr lang="en-US" sz="1250" dirty="0"/>
          </a:p>
        </p:txBody>
      </p:sp>
      <p:sp>
        <p:nvSpPr>
          <p:cNvPr id="32" name="Shape 30"/>
          <p:cNvSpPr/>
          <p:nvPr/>
        </p:nvSpPr>
        <p:spPr>
          <a:xfrm>
            <a:off x="1325880" y="3749040"/>
            <a:ext cx="1143000" cy="731520"/>
          </a:xfrm>
          <a:prstGeom prst="line">
            <a:avLst/>
          </a:prstGeom>
          <a:noFill/>
          <a:ln w="19050">
            <a:solidFill>
              <a:srgbClr val="7A7A7A"/>
            </a:solidFill>
            <a:prstDash val="solid"/>
            <a:tailEnd type="triangle"/>
          </a:ln>
        </p:spPr>
      </p:sp>
      <p:sp>
        <p:nvSpPr>
          <p:cNvPr id="33" name="Shape 31"/>
          <p:cNvSpPr/>
          <p:nvPr/>
        </p:nvSpPr>
        <p:spPr>
          <a:xfrm flipH="1">
            <a:off x="2468880" y="3749040"/>
            <a:ext cx="749808" cy="731520"/>
          </a:xfrm>
          <a:prstGeom prst="line">
            <a:avLst/>
          </a:prstGeom>
          <a:noFill/>
          <a:ln w="19050">
            <a:solidFill>
              <a:srgbClr val="7A7A7A"/>
            </a:solidFill>
            <a:prstDash val="solid"/>
            <a:tailEnd type="triangle"/>
          </a:ln>
        </p:spPr>
      </p:sp>
      <p:sp>
        <p:nvSpPr>
          <p:cNvPr id="34" name="Shape 32"/>
          <p:cNvSpPr/>
          <p:nvPr/>
        </p:nvSpPr>
        <p:spPr>
          <a:xfrm>
            <a:off x="5111496" y="3749040"/>
            <a:ext cx="1106424" cy="731520"/>
          </a:xfrm>
          <a:prstGeom prst="line">
            <a:avLst/>
          </a:prstGeom>
          <a:noFill/>
          <a:ln w="19050">
            <a:solidFill>
              <a:srgbClr val="7A7A7A"/>
            </a:solidFill>
            <a:prstDash val="solid"/>
            <a:tailEnd type="triangle"/>
          </a:ln>
        </p:spPr>
      </p:sp>
      <p:sp>
        <p:nvSpPr>
          <p:cNvPr id="35" name="Shape 33"/>
          <p:cNvSpPr/>
          <p:nvPr/>
        </p:nvSpPr>
        <p:spPr>
          <a:xfrm flipH="1">
            <a:off x="6217920" y="3749040"/>
            <a:ext cx="786384" cy="731520"/>
          </a:xfrm>
          <a:prstGeom prst="line">
            <a:avLst/>
          </a:prstGeom>
          <a:noFill/>
          <a:ln w="19050">
            <a:solidFill>
              <a:srgbClr val="7A7A7A"/>
            </a:solidFill>
            <a:prstDash val="solid"/>
            <a:tailEnd type="triangle"/>
          </a:ln>
        </p:spPr>
      </p:sp>
      <p:sp>
        <p:nvSpPr>
          <p:cNvPr id="36" name="Shape 34"/>
          <p:cNvSpPr/>
          <p:nvPr/>
        </p:nvSpPr>
        <p:spPr>
          <a:xfrm>
            <a:off x="8897112" y="3749040"/>
            <a:ext cx="1069848" cy="731520"/>
          </a:xfrm>
          <a:prstGeom prst="line">
            <a:avLst/>
          </a:prstGeom>
          <a:noFill/>
          <a:ln w="19050">
            <a:solidFill>
              <a:srgbClr val="7A7A7A"/>
            </a:solidFill>
            <a:prstDash val="solid"/>
            <a:tailEnd type="triangle"/>
          </a:ln>
        </p:spPr>
      </p:sp>
      <p:sp>
        <p:nvSpPr>
          <p:cNvPr id="37" name="Shape 35"/>
          <p:cNvSpPr/>
          <p:nvPr/>
        </p:nvSpPr>
        <p:spPr>
          <a:xfrm flipH="1">
            <a:off x="9966960" y="3749040"/>
            <a:ext cx="822960" cy="731520"/>
          </a:xfrm>
          <a:prstGeom prst="line">
            <a:avLst/>
          </a:prstGeom>
          <a:noFill/>
          <a:ln w="19050">
            <a:solidFill>
              <a:srgbClr val="7A7A7A"/>
            </a:solidFill>
            <a:prstDash val="solid"/>
            <a:tailEnd type="triangle"/>
          </a:ln>
        </p:spPr>
      </p:sp>
      <p:sp>
        <p:nvSpPr>
          <p:cNvPr id="38" name="Text 36"/>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Benjamini &amp; Hochberg 1995; Richards &amp; Jia 2006; Guyot &amp; Baret 1988; Anderson 2001; Bates et al. 2015; Mandal et al. 2022</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Statistical characterisation of the spectra</a:t>
            </a:r>
            <a:endParaRPr lang="en-US" sz="2800" dirty="0"/>
          </a:p>
        </p:txBody>
      </p:sp>
      <p:sp>
        <p:nvSpPr>
          <p:cNvPr id="3" name="Shape 1"/>
          <p:cNvSpPr/>
          <p:nvPr/>
        </p:nvSpPr>
        <p:spPr>
          <a:xfrm>
            <a:off x="457200" y="1188720"/>
            <a:ext cx="3657600" cy="2331720"/>
          </a:xfrm>
          <a:prstGeom prst="roundRect">
            <a:avLst>
              <a:gd name="adj" fmla="val 3137"/>
            </a:avLst>
          </a:prstGeom>
          <a:solidFill>
            <a:schemeClr val="bg2"/>
          </a:solidFill>
          <a:ln w="12700">
            <a:solidFill>
              <a:schemeClr val="bg2"/>
            </a:solidFill>
            <a:prstDash val="solid"/>
          </a:ln>
        </p:spPr>
      </p:sp>
      <p:sp>
        <p:nvSpPr>
          <p:cNvPr id="4" name="Shape 2"/>
          <p:cNvSpPr/>
          <p:nvPr/>
        </p:nvSpPr>
        <p:spPr>
          <a:xfrm>
            <a:off x="621792" y="1371600"/>
            <a:ext cx="384048" cy="384048"/>
          </a:xfrm>
          <a:prstGeom prst="ellipse">
            <a:avLst/>
          </a:prstGeom>
          <a:solidFill>
            <a:srgbClr val="2E7D32"/>
          </a:solidFill>
          <a:ln w="12700">
            <a:solidFill>
              <a:srgbClr val="2E7D32"/>
            </a:solidFill>
            <a:prstDash val="solid"/>
          </a:ln>
        </p:spPr>
      </p:sp>
      <p:sp>
        <p:nvSpPr>
          <p:cNvPr id="5" name="Text 3"/>
          <p:cNvSpPr txBox="1"/>
          <p:nvPr/>
        </p:nvSpPr>
        <p:spPr>
          <a:xfrm>
            <a:off x="1115568" y="130759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Band-wise tests</a:t>
            </a:r>
            <a:endParaRPr lang="en-US" sz="1500" dirty="0"/>
          </a:p>
        </p:txBody>
      </p:sp>
      <p:sp>
        <p:nvSpPr>
          <p:cNvPr id="6" name="Text 4"/>
          <p:cNvSpPr txBox="1"/>
          <p:nvPr/>
        </p:nvSpPr>
        <p:spPr>
          <a:xfrm>
            <a:off x="640080" y="1901952"/>
            <a:ext cx="3291840" cy="1508760"/>
          </a:xfrm>
          <a:prstGeom prst="rect">
            <a:avLst/>
          </a:prstGeom>
          <a:noFill/>
          <a:ln/>
        </p:spPr>
        <p:txBody>
          <a:bodyPr wrap="square" lIns="0" tIns="0" rIns="0" bIns="0" rtlCol="0" anchor="t"/>
          <a:lstStyle/>
          <a:p>
            <a:pPr indent="0" marL="0">
              <a:buNone/>
            </a:pPr>
            <a:r>
              <a:rPr lang="en-US" sz="1300" dirty="0">
                <a:solidFill>
                  <a:schemeClr val="tx1"/>
                </a:solidFill>
              </a:rPr>
              <a:t>Welch t and Mann-Whitney on plot-date means (n = 192) to avoid pseudo-replication; Benjamini-Hochberg FDR; Cohen d; point-biserial r.</a:t>
            </a:r>
            <a:endParaRPr lang="en-US" sz="1300" dirty="0"/>
          </a:p>
        </p:txBody>
      </p:sp>
      <p:sp>
        <p:nvSpPr>
          <p:cNvPr id="7" name="Shape 5"/>
          <p:cNvSpPr/>
          <p:nvPr/>
        </p:nvSpPr>
        <p:spPr>
          <a:xfrm>
            <a:off x="4251960" y="1188720"/>
            <a:ext cx="3657600" cy="2331720"/>
          </a:xfrm>
          <a:prstGeom prst="roundRect">
            <a:avLst>
              <a:gd name="adj" fmla="val 3137"/>
            </a:avLst>
          </a:prstGeom>
          <a:solidFill>
            <a:schemeClr val="bg2"/>
          </a:solidFill>
          <a:ln w="12700">
            <a:solidFill>
              <a:schemeClr val="bg2"/>
            </a:solidFill>
            <a:prstDash val="solid"/>
          </a:ln>
        </p:spPr>
      </p:sp>
      <p:sp>
        <p:nvSpPr>
          <p:cNvPr id="8" name="Shape 6"/>
          <p:cNvSpPr/>
          <p:nvPr/>
        </p:nvSpPr>
        <p:spPr>
          <a:xfrm>
            <a:off x="4416552" y="1371600"/>
            <a:ext cx="384048" cy="384048"/>
          </a:xfrm>
          <a:prstGeom prst="ellipse">
            <a:avLst/>
          </a:prstGeom>
          <a:solidFill>
            <a:srgbClr val="2A6FB0"/>
          </a:solidFill>
          <a:ln w="12700">
            <a:solidFill>
              <a:srgbClr val="2A6FB0"/>
            </a:solidFill>
            <a:prstDash val="solid"/>
          </a:ln>
        </p:spPr>
      </p:sp>
      <p:sp>
        <p:nvSpPr>
          <p:cNvPr id="9" name="Text 7"/>
          <p:cNvSpPr txBox="1"/>
          <p:nvPr/>
        </p:nvSpPr>
        <p:spPr>
          <a:xfrm>
            <a:off x="4910328" y="130759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Separability</a:t>
            </a:r>
            <a:endParaRPr lang="en-US" sz="1500" dirty="0"/>
          </a:p>
        </p:txBody>
      </p:sp>
      <p:sp>
        <p:nvSpPr>
          <p:cNvPr id="10" name="Text 8"/>
          <p:cNvSpPr txBox="1"/>
          <p:nvPr/>
        </p:nvSpPr>
        <p:spPr>
          <a:xfrm>
            <a:off x="4434840" y="1901952"/>
            <a:ext cx="3291840" cy="1508760"/>
          </a:xfrm>
          <a:prstGeom prst="rect">
            <a:avLst/>
          </a:prstGeom>
          <a:noFill/>
          <a:ln/>
        </p:spPr>
        <p:txBody>
          <a:bodyPr wrap="square" lIns="0" tIns="0" rIns="0" bIns="0" rtlCol="0" anchor="t"/>
          <a:lstStyle/>
          <a:p>
            <a:pPr indent="0" marL="0">
              <a:buNone/>
            </a:pPr>
            <a:r>
              <a:rPr lang="en-US" sz="1300" dirty="0">
                <a:solidFill>
                  <a:schemeClr val="tx1"/>
                </a:solidFill>
              </a:rPr>
              <a:t>Jeffries-Matusita distance per band, per index and for the final feature set (0 = none, 2 = complete).</a:t>
            </a:r>
            <a:endParaRPr lang="en-US" sz="1300" dirty="0"/>
          </a:p>
        </p:txBody>
      </p:sp>
      <p:sp>
        <p:nvSpPr>
          <p:cNvPr id="11" name="Shape 9"/>
          <p:cNvSpPr/>
          <p:nvPr/>
        </p:nvSpPr>
        <p:spPr>
          <a:xfrm>
            <a:off x="8046720" y="1188720"/>
            <a:ext cx="3657600" cy="2331720"/>
          </a:xfrm>
          <a:prstGeom prst="roundRect">
            <a:avLst>
              <a:gd name="adj" fmla="val 3137"/>
            </a:avLst>
          </a:prstGeom>
          <a:solidFill>
            <a:schemeClr val="bg2"/>
          </a:solidFill>
          <a:ln w="12700">
            <a:solidFill>
              <a:schemeClr val="bg2"/>
            </a:solidFill>
            <a:prstDash val="solid"/>
          </a:ln>
        </p:spPr>
      </p:sp>
      <p:sp>
        <p:nvSpPr>
          <p:cNvPr id="12" name="Shape 10"/>
          <p:cNvSpPr/>
          <p:nvPr/>
        </p:nvSpPr>
        <p:spPr>
          <a:xfrm>
            <a:off x="8211312" y="1371600"/>
            <a:ext cx="384048" cy="384048"/>
          </a:xfrm>
          <a:prstGeom prst="ellipse">
            <a:avLst/>
          </a:prstGeom>
          <a:solidFill>
            <a:srgbClr val="D08A00"/>
          </a:solidFill>
          <a:ln w="12700">
            <a:solidFill>
              <a:srgbClr val="D08A00"/>
            </a:solidFill>
            <a:prstDash val="solid"/>
          </a:ln>
        </p:spPr>
      </p:sp>
      <p:sp>
        <p:nvSpPr>
          <p:cNvPr id="13" name="Text 11"/>
          <p:cNvSpPr txBox="1"/>
          <p:nvPr/>
        </p:nvSpPr>
        <p:spPr>
          <a:xfrm>
            <a:off x="8705088" y="130759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Red-edge parameters</a:t>
            </a:r>
            <a:endParaRPr lang="en-US" sz="1500" dirty="0"/>
          </a:p>
        </p:txBody>
      </p:sp>
      <p:sp>
        <p:nvSpPr>
          <p:cNvPr id="14" name="Text 12"/>
          <p:cNvSpPr txBox="1"/>
          <p:nvPr/>
        </p:nvSpPr>
        <p:spPr>
          <a:xfrm>
            <a:off x="8229600" y="1901952"/>
            <a:ext cx="3291840" cy="1508760"/>
          </a:xfrm>
          <a:prstGeom prst="rect">
            <a:avLst/>
          </a:prstGeom>
          <a:noFill/>
          <a:ln/>
        </p:spPr>
        <p:txBody>
          <a:bodyPr wrap="square" lIns="0" tIns="0" rIns="0" bIns="0" rtlCol="0" anchor="t"/>
          <a:lstStyle/>
          <a:p>
            <a:pPr indent="0" marL="0">
              <a:buNone/>
            </a:pPr>
            <a:r>
              <a:rPr lang="en-US" sz="1300" dirty="0">
                <a:solidFill>
                  <a:schemeClr val="tx1"/>
                </a:solidFill>
              </a:rPr>
              <a:t>REP (linear interpolation and derivative maximum), REV, edge amplitudes/positions/sums for blue, yellow and red edges.</a:t>
            </a:r>
            <a:endParaRPr lang="en-US" sz="1300" dirty="0"/>
          </a:p>
        </p:txBody>
      </p:sp>
      <p:sp>
        <p:nvSpPr>
          <p:cNvPr id="15" name="Shape 13"/>
          <p:cNvSpPr/>
          <p:nvPr/>
        </p:nvSpPr>
        <p:spPr>
          <a:xfrm>
            <a:off x="457200" y="3657600"/>
            <a:ext cx="3657600" cy="2331720"/>
          </a:xfrm>
          <a:prstGeom prst="roundRect">
            <a:avLst>
              <a:gd name="adj" fmla="val 3137"/>
            </a:avLst>
          </a:prstGeom>
          <a:solidFill>
            <a:schemeClr val="bg2"/>
          </a:solidFill>
          <a:ln w="12700">
            <a:solidFill>
              <a:schemeClr val="bg2"/>
            </a:solidFill>
            <a:prstDash val="solid"/>
          </a:ln>
        </p:spPr>
      </p:sp>
      <p:sp>
        <p:nvSpPr>
          <p:cNvPr id="16" name="Shape 14"/>
          <p:cNvSpPr/>
          <p:nvPr/>
        </p:nvSpPr>
        <p:spPr>
          <a:xfrm>
            <a:off x="621792" y="3840480"/>
            <a:ext cx="384048" cy="384048"/>
          </a:xfrm>
          <a:prstGeom prst="ellipse">
            <a:avLst/>
          </a:prstGeom>
          <a:solidFill>
            <a:srgbClr val="B03A2E"/>
          </a:solidFill>
          <a:ln w="12700">
            <a:solidFill>
              <a:srgbClr val="B03A2E"/>
            </a:solidFill>
            <a:prstDash val="solid"/>
          </a:ln>
        </p:spPr>
      </p:sp>
      <p:sp>
        <p:nvSpPr>
          <p:cNvPr id="17" name="Text 15"/>
          <p:cNvSpPr txBox="1"/>
          <p:nvPr/>
        </p:nvSpPr>
        <p:spPr>
          <a:xfrm>
            <a:off x="1115568" y="377647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Unsupervised views</a:t>
            </a:r>
            <a:endParaRPr lang="en-US" sz="1500" dirty="0"/>
          </a:p>
        </p:txBody>
      </p:sp>
      <p:sp>
        <p:nvSpPr>
          <p:cNvPr id="18" name="Text 16"/>
          <p:cNvSpPr txBox="1"/>
          <p:nvPr/>
        </p:nvSpPr>
        <p:spPr>
          <a:xfrm>
            <a:off x="640080" y="4370832"/>
            <a:ext cx="3291840" cy="1508760"/>
          </a:xfrm>
          <a:prstGeom prst="rect">
            <a:avLst/>
          </a:prstGeom>
          <a:noFill/>
          <a:ln/>
        </p:spPr>
        <p:txBody>
          <a:bodyPr wrap="square" lIns="0" tIns="0" rIns="0" bIns="0" rtlCol="0" anchor="t"/>
          <a:lstStyle/>
          <a:p>
            <a:pPr indent="0" marL="0">
              <a:buNone/>
            </a:pPr>
            <a:r>
              <a:rPr lang="en-US" sz="1300" dirty="0">
                <a:solidFill>
                  <a:schemeClr val="tx1"/>
                </a:solidFill>
              </a:rPr>
              <a:t>PCA and t-SNE on SNV spectra coloured by class, date, variety and stage; eta² of PC scores per factor.</a:t>
            </a:r>
            <a:endParaRPr lang="en-US" sz="1300" dirty="0"/>
          </a:p>
        </p:txBody>
      </p:sp>
      <p:sp>
        <p:nvSpPr>
          <p:cNvPr id="19" name="Shape 17"/>
          <p:cNvSpPr/>
          <p:nvPr/>
        </p:nvSpPr>
        <p:spPr>
          <a:xfrm>
            <a:off x="4251960" y="3657600"/>
            <a:ext cx="3657600" cy="2331720"/>
          </a:xfrm>
          <a:prstGeom prst="roundRect">
            <a:avLst>
              <a:gd name="adj" fmla="val 3137"/>
            </a:avLst>
          </a:prstGeom>
          <a:solidFill>
            <a:schemeClr val="bg2"/>
          </a:solidFill>
          <a:ln w="12700">
            <a:solidFill>
              <a:schemeClr val="bg2"/>
            </a:solidFill>
            <a:prstDash val="solid"/>
          </a:ln>
        </p:spPr>
      </p:sp>
      <p:sp>
        <p:nvSpPr>
          <p:cNvPr id="20" name="Shape 18"/>
          <p:cNvSpPr/>
          <p:nvPr/>
        </p:nvSpPr>
        <p:spPr>
          <a:xfrm>
            <a:off x="4416552" y="3840480"/>
            <a:ext cx="384048" cy="384048"/>
          </a:xfrm>
          <a:prstGeom prst="ellipse">
            <a:avLst/>
          </a:prstGeom>
          <a:solidFill>
            <a:srgbClr val="2E7D32"/>
          </a:solidFill>
          <a:ln w="12700">
            <a:solidFill>
              <a:srgbClr val="2E7D32"/>
            </a:solidFill>
            <a:prstDash val="solid"/>
          </a:ln>
        </p:spPr>
      </p:sp>
      <p:sp>
        <p:nvSpPr>
          <p:cNvPr id="21" name="Text 19"/>
          <p:cNvSpPr txBox="1"/>
          <p:nvPr/>
        </p:nvSpPr>
        <p:spPr>
          <a:xfrm>
            <a:off x="4910328" y="377647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PERMANOVA</a:t>
            </a:r>
            <a:endParaRPr lang="en-US" sz="1500" dirty="0"/>
          </a:p>
        </p:txBody>
      </p:sp>
      <p:sp>
        <p:nvSpPr>
          <p:cNvPr id="22" name="Text 20"/>
          <p:cNvSpPr txBox="1"/>
          <p:nvPr/>
        </p:nvSpPr>
        <p:spPr>
          <a:xfrm>
            <a:off x="4434840" y="4370832"/>
            <a:ext cx="3291840" cy="1508760"/>
          </a:xfrm>
          <a:prstGeom prst="rect">
            <a:avLst/>
          </a:prstGeom>
          <a:noFill/>
          <a:ln/>
        </p:spPr>
        <p:txBody>
          <a:bodyPr wrap="square" lIns="0" tIns="0" rIns="0" bIns="0" rtlCol="0" anchor="t"/>
          <a:lstStyle/>
          <a:p>
            <a:pPr indent="0" marL="0">
              <a:buNone/>
            </a:pPr>
            <a:r>
              <a:rPr lang="en-US" sz="1300" dirty="0">
                <a:solidFill>
                  <a:schemeClr val="tx1"/>
                </a:solidFill>
              </a:rPr>
              <a:t>Variance partitioning of SNV spectra: disease, date, variety, stage and interactions; restricted permutations (999).</a:t>
            </a:r>
            <a:endParaRPr lang="en-US" sz="1300" dirty="0"/>
          </a:p>
        </p:txBody>
      </p:sp>
      <p:sp>
        <p:nvSpPr>
          <p:cNvPr id="23" name="Shape 21"/>
          <p:cNvSpPr/>
          <p:nvPr/>
        </p:nvSpPr>
        <p:spPr>
          <a:xfrm>
            <a:off x="8046720" y="3657600"/>
            <a:ext cx="3657600" cy="2331720"/>
          </a:xfrm>
          <a:prstGeom prst="roundRect">
            <a:avLst>
              <a:gd name="adj" fmla="val 3137"/>
            </a:avLst>
          </a:prstGeom>
          <a:solidFill>
            <a:schemeClr val="bg2"/>
          </a:solidFill>
          <a:ln w="12700">
            <a:solidFill>
              <a:schemeClr val="bg2"/>
            </a:solidFill>
            <a:prstDash val="solid"/>
          </a:ln>
        </p:spPr>
      </p:sp>
      <p:sp>
        <p:nvSpPr>
          <p:cNvPr id="24" name="Shape 22"/>
          <p:cNvSpPr/>
          <p:nvPr/>
        </p:nvSpPr>
        <p:spPr>
          <a:xfrm>
            <a:off x="8211312" y="3840480"/>
            <a:ext cx="384048" cy="384048"/>
          </a:xfrm>
          <a:prstGeom prst="ellipse">
            <a:avLst/>
          </a:prstGeom>
          <a:solidFill>
            <a:srgbClr val="2A6FB0"/>
          </a:solidFill>
          <a:ln w="12700">
            <a:solidFill>
              <a:srgbClr val="2A6FB0"/>
            </a:solidFill>
            <a:prstDash val="solid"/>
          </a:ln>
        </p:spPr>
      </p:sp>
      <p:sp>
        <p:nvSpPr>
          <p:cNvPr id="25" name="Text 23"/>
          <p:cNvSpPr txBox="1"/>
          <p:nvPr/>
        </p:nvSpPr>
        <p:spPr>
          <a:xfrm>
            <a:off x="8705088" y="377647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Mixed models</a:t>
            </a:r>
            <a:endParaRPr lang="en-US" sz="1500" dirty="0"/>
          </a:p>
        </p:txBody>
      </p:sp>
      <p:sp>
        <p:nvSpPr>
          <p:cNvPr id="26" name="Text 24"/>
          <p:cNvSpPr txBox="1"/>
          <p:nvPr/>
        </p:nvSpPr>
        <p:spPr>
          <a:xfrm>
            <a:off x="8229600" y="4370832"/>
            <a:ext cx="3291840" cy="1508760"/>
          </a:xfrm>
          <a:prstGeom prst="rect">
            <a:avLst/>
          </a:prstGeom>
          <a:noFill/>
          <a:ln/>
        </p:spPr>
        <p:txBody>
          <a:bodyPr wrap="square" lIns="0" tIns="0" rIns="0" bIns="0" rtlCol="0" anchor="t"/>
          <a:lstStyle/>
          <a:p>
            <a:pPr indent="0" marL="0">
              <a:buNone/>
            </a:pPr>
            <a:r>
              <a:rPr lang="en-US" sz="1300" dirty="0">
                <a:solidFill>
                  <a:schemeClr val="tx1"/>
                </a:solidFill>
              </a:rPr>
              <a:t>feature ~ disease + date + variety + (1 | plot); LRT for disease x date interaction.</a:t>
            </a:r>
            <a:endParaRPr lang="en-US" sz="1300" dirty="0"/>
          </a:p>
        </p:txBody>
      </p:sp>
      <p:sp>
        <p:nvSpPr>
          <p:cNvPr id="27" name="Text 2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Benjamini &amp; Hochberg 1995; Richards &amp; Jia 2006; Mandal et al. 2022, 2023; Zhang et al. 2012; Anderson 2001; Bates et al. 2015; van der Maaten &amp; Hinton 2008</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 5 flowchart: feature engineering (six families)</a:t>
            </a:r>
            <a:endParaRPr lang="en-US" sz="2800" dirty="0"/>
          </a:p>
        </p:txBody>
      </p:sp>
      <p:sp>
        <p:nvSpPr>
          <p:cNvPr id="3" name="Shape 1"/>
          <p:cNvSpPr/>
          <p:nvPr/>
        </p:nvSpPr>
        <p:spPr>
          <a:xfrm>
            <a:off x="4206240" y="1188720"/>
            <a:ext cx="3749040" cy="731520"/>
          </a:xfrm>
          <a:prstGeom prst="roundRect">
            <a:avLst>
              <a:gd name="adj" fmla="val 7500"/>
            </a:avLst>
          </a:prstGeom>
          <a:solidFill>
            <a:srgbClr val="F7F1E1"/>
          </a:solidFill>
          <a:ln w="9525">
            <a:solidFill>
              <a:srgbClr val="C9D3C6"/>
            </a:solidFill>
            <a:prstDash val="solid"/>
          </a:ln>
        </p:spPr>
      </p:sp>
      <p:sp>
        <p:nvSpPr>
          <p:cNvPr id="4" name="Text 2"/>
          <p:cNvSpPr txBox="1"/>
          <p:nvPr/>
        </p:nvSpPr>
        <p:spPr>
          <a:xfrm>
            <a:off x="4261104" y="1188720"/>
            <a:ext cx="3639312" cy="731520"/>
          </a:xfrm>
          <a:prstGeom prst="rect">
            <a:avLst/>
          </a:prstGeom>
          <a:noFill/>
          <a:ln/>
        </p:spPr>
        <p:txBody>
          <a:bodyPr wrap="square" lIns="254" tIns="254" rIns="254" bIns="254" rtlCol="0" anchor="ctr"/>
          <a:lstStyle/>
          <a:p>
            <a:pPr algn="ctr" indent="0" marL="0">
              <a:buNone/>
            </a:pPr>
            <a:r>
              <a:rPr lang="en-US" sz="1250" b="1" dirty="0">
                <a:solidFill>
                  <a:srgbClr val="1F3D2B"/>
                </a:solidFill>
              </a:rPr>
              <a:t>Smoothed reflectance, 400-2400 nm</a:t>
            </a:r>
            <a:endParaRPr lang="en-US" sz="1250" dirty="0"/>
          </a:p>
          <a:p>
            <a:pPr algn="ctr" indent="0" marL="0">
              <a:buNone/>
            </a:pPr>
            <a:r>
              <a:rPr lang="en-US" sz="1050" dirty="0">
                <a:solidFill>
                  <a:srgbClr val="333333"/>
                </a:solidFill>
              </a:rPr>
              <a:t>1-nm and 10-nm versions</a:t>
            </a:r>
            <a:endParaRPr lang="en-US" sz="1250" dirty="0"/>
          </a:p>
        </p:txBody>
      </p:sp>
      <p:sp>
        <p:nvSpPr>
          <p:cNvPr id="5" name="Shape 3"/>
          <p:cNvSpPr/>
          <p:nvPr/>
        </p:nvSpPr>
        <p:spPr>
          <a:xfrm>
            <a:off x="457200" y="2514600"/>
            <a:ext cx="1737360" cy="1051560"/>
          </a:xfrm>
          <a:prstGeom prst="roundRect">
            <a:avLst>
              <a:gd name="adj" fmla="val 5217"/>
            </a:avLst>
          </a:prstGeom>
          <a:solidFill>
            <a:srgbClr val="E6EFE3"/>
          </a:solidFill>
          <a:ln w="9525">
            <a:solidFill>
              <a:srgbClr val="C9D3C6"/>
            </a:solidFill>
            <a:prstDash val="solid"/>
          </a:ln>
        </p:spPr>
      </p:sp>
      <p:sp>
        <p:nvSpPr>
          <p:cNvPr id="6" name="Text 4"/>
          <p:cNvSpPr txBox="1"/>
          <p:nvPr/>
        </p:nvSpPr>
        <p:spPr>
          <a:xfrm>
            <a:off x="512064"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F1 Bands</a:t>
            </a:r>
            <a:endParaRPr lang="en-US" sz="1250" dirty="0"/>
          </a:p>
          <a:p>
            <a:pPr algn="ctr" indent="0" marL="0">
              <a:buNone/>
            </a:pPr>
            <a:r>
              <a:rPr lang="en-US" sz="1050" dirty="0">
                <a:solidFill>
                  <a:srgbClr val="333333"/>
                </a:solidFill>
              </a:rPr>
              <a:t>SNV, 10 nm: 201</a:t>
            </a:r>
            <a:endParaRPr lang="en-US" sz="1250" dirty="0"/>
          </a:p>
        </p:txBody>
      </p:sp>
      <p:sp>
        <p:nvSpPr>
          <p:cNvPr id="7" name="Shape 5"/>
          <p:cNvSpPr/>
          <p:nvPr/>
        </p:nvSpPr>
        <p:spPr>
          <a:xfrm flipH="1">
            <a:off x="1325880" y="1920240"/>
            <a:ext cx="4754880" cy="594360"/>
          </a:xfrm>
          <a:prstGeom prst="line">
            <a:avLst/>
          </a:prstGeom>
          <a:noFill/>
          <a:ln w="19050">
            <a:solidFill>
              <a:srgbClr val="7A7A7A"/>
            </a:solidFill>
            <a:prstDash val="solid"/>
            <a:tailEnd type="triangle"/>
          </a:ln>
        </p:spPr>
      </p:sp>
      <p:sp>
        <p:nvSpPr>
          <p:cNvPr id="8" name="Shape 6"/>
          <p:cNvSpPr/>
          <p:nvPr/>
        </p:nvSpPr>
        <p:spPr>
          <a:xfrm>
            <a:off x="1325880" y="3566160"/>
            <a:ext cx="4754880" cy="640080"/>
          </a:xfrm>
          <a:prstGeom prst="line">
            <a:avLst/>
          </a:prstGeom>
          <a:noFill/>
          <a:ln w="19050">
            <a:solidFill>
              <a:srgbClr val="7A7A7A"/>
            </a:solidFill>
            <a:prstDash val="solid"/>
            <a:tailEnd type="triangle"/>
          </a:ln>
        </p:spPr>
      </p:sp>
      <p:sp>
        <p:nvSpPr>
          <p:cNvPr id="9" name="Shape 7"/>
          <p:cNvSpPr/>
          <p:nvPr/>
        </p:nvSpPr>
        <p:spPr>
          <a:xfrm>
            <a:off x="2350008" y="2514600"/>
            <a:ext cx="1737360" cy="1051560"/>
          </a:xfrm>
          <a:prstGeom prst="roundRect">
            <a:avLst>
              <a:gd name="adj" fmla="val 5217"/>
            </a:avLst>
          </a:prstGeom>
          <a:solidFill>
            <a:srgbClr val="E6EFE3"/>
          </a:solidFill>
          <a:ln w="9525">
            <a:solidFill>
              <a:srgbClr val="C9D3C6"/>
            </a:solidFill>
            <a:prstDash val="solid"/>
          </a:ln>
        </p:spPr>
      </p:sp>
      <p:sp>
        <p:nvSpPr>
          <p:cNvPr id="10" name="Text 8"/>
          <p:cNvSpPr txBox="1"/>
          <p:nvPr/>
        </p:nvSpPr>
        <p:spPr>
          <a:xfrm>
            <a:off x="2404872"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F2 Indices</a:t>
            </a:r>
            <a:endParaRPr lang="en-US" sz="1250" dirty="0"/>
          </a:p>
          <a:p>
            <a:pPr algn="ctr" indent="0" marL="0">
              <a:buNone/>
            </a:pPr>
            <a:r>
              <a:rPr lang="en-US" sz="1050" dirty="0">
                <a:solidFill>
                  <a:srgbClr val="333333"/>
                </a:solidFill>
              </a:rPr>
              <a:t>46 VIs + red-edge</a:t>
            </a:r>
            <a:endParaRPr lang="en-US" sz="1250" dirty="0"/>
          </a:p>
        </p:txBody>
      </p:sp>
      <p:sp>
        <p:nvSpPr>
          <p:cNvPr id="11" name="Shape 9"/>
          <p:cNvSpPr/>
          <p:nvPr/>
        </p:nvSpPr>
        <p:spPr>
          <a:xfrm flipH="1">
            <a:off x="3218688" y="1920240"/>
            <a:ext cx="2862072" cy="594360"/>
          </a:xfrm>
          <a:prstGeom prst="line">
            <a:avLst/>
          </a:prstGeom>
          <a:noFill/>
          <a:ln w="19050">
            <a:solidFill>
              <a:srgbClr val="7A7A7A"/>
            </a:solidFill>
            <a:prstDash val="solid"/>
            <a:tailEnd type="triangle"/>
          </a:ln>
        </p:spPr>
      </p:sp>
      <p:sp>
        <p:nvSpPr>
          <p:cNvPr id="12" name="Shape 10"/>
          <p:cNvSpPr/>
          <p:nvPr/>
        </p:nvSpPr>
        <p:spPr>
          <a:xfrm>
            <a:off x="3218688" y="3566160"/>
            <a:ext cx="2862072" cy="640080"/>
          </a:xfrm>
          <a:prstGeom prst="line">
            <a:avLst/>
          </a:prstGeom>
          <a:noFill/>
          <a:ln w="19050">
            <a:solidFill>
              <a:srgbClr val="7A7A7A"/>
            </a:solidFill>
            <a:prstDash val="solid"/>
            <a:tailEnd type="triangle"/>
          </a:ln>
        </p:spPr>
      </p:sp>
      <p:sp>
        <p:nvSpPr>
          <p:cNvPr id="13" name="Shape 11"/>
          <p:cNvSpPr/>
          <p:nvPr/>
        </p:nvSpPr>
        <p:spPr>
          <a:xfrm>
            <a:off x="4242816" y="2514600"/>
            <a:ext cx="1737360" cy="1051560"/>
          </a:xfrm>
          <a:prstGeom prst="roundRect">
            <a:avLst>
              <a:gd name="adj" fmla="val 5217"/>
            </a:avLst>
          </a:prstGeom>
          <a:solidFill>
            <a:srgbClr val="E6EFE3"/>
          </a:solidFill>
          <a:ln w="9525">
            <a:solidFill>
              <a:srgbClr val="C9D3C6"/>
            </a:solidFill>
            <a:prstDash val="solid"/>
          </a:ln>
        </p:spPr>
      </p:sp>
      <p:sp>
        <p:nvSpPr>
          <p:cNvPr id="14" name="Text 12"/>
          <p:cNvSpPr txBox="1"/>
          <p:nvPr/>
        </p:nvSpPr>
        <p:spPr>
          <a:xfrm>
            <a:off x="4297680"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F3 NDSI</a:t>
            </a:r>
            <a:endParaRPr lang="en-US" sz="1250" dirty="0"/>
          </a:p>
          <a:p>
            <a:pPr algn="ctr" indent="0" marL="0">
              <a:buNone/>
            </a:pPr>
            <a:r>
              <a:rPr lang="en-US" sz="1050" dirty="0">
                <a:solidFill>
                  <a:srgbClr val="333333"/>
                </a:solidFill>
              </a:rPr>
              <a:t>all band pairs, in-fold top 3</a:t>
            </a:r>
            <a:endParaRPr lang="en-US" sz="1250" dirty="0"/>
          </a:p>
        </p:txBody>
      </p:sp>
      <p:sp>
        <p:nvSpPr>
          <p:cNvPr id="15" name="Shape 13"/>
          <p:cNvSpPr/>
          <p:nvPr/>
        </p:nvSpPr>
        <p:spPr>
          <a:xfrm flipH="1">
            <a:off x="5111496" y="1920240"/>
            <a:ext cx="969264" cy="594360"/>
          </a:xfrm>
          <a:prstGeom prst="line">
            <a:avLst/>
          </a:prstGeom>
          <a:noFill/>
          <a:ln w="19050">
            <a:solidFill>
              <a:srgbClr val="7A7A7A"/>
            </a:solidFill>
            <a:prstDash val="solid"/>
            <a:tailEnd type="triangle"/>
          </a:ln>
        </p:spPr>
      </p:sp>
      <p:sp>
        <p:nvSpPr>
          <p:cNvPr id="16" name="Shape 14"/>
          <p:cNvSpPr/>
          <p:nvPr/>
        </p:nvSpPr>
        <p:spPr>
          <a:xfrm>
            <a:off x="5111496" y="3566160"/>
            <a:ext cx="969264" cy="640080"/>
          </a:xfrm>
          <a:prstGeom prst="line">
            <a:avLst/>
          </a:prstGeom>
          <a:noFill/>
          <a:ln w="19050">
            <a:solidFill>
              <a:srgbClr val="7A7A7A"/>
            </a:solidFill>
            <a:prstDash val="solid"/>
            <a:tailEnd type="triangle"/>
          </a:ln>
        </p:spPr>
      </p:sp>
      <p:sp>
        <p:nvSpPr>
          <p:cNvPr id="17" name="Shape 15"/>
          <p:cNvSpPr/>
          <p:nvPr/>
        </p:nvSpPr>
        <p:spPr>
          <a:xfrm>
            <a:off x="6135624" y="2514600"/>
            <a:ext cx="1737360" cy="1051560"/>
          </a:xfrm>
          <a:prstGeom prst="roundRect">
            <a:avLst>
              <a:gd name="adj" fmla="val 5217"/>
            </a:avLst>
          </a:prstGeom>
          <a:solidFill>
            <a:srgbClr val="E6EFE3"/>
          </a:solidFill>
          <a:ln w="9525">
            <a:solidFill>
              <a:srgbClr val="C9D3C6"/>
            </a:solidFill>
            <a:prstDash val="solid"/>
          </a:ln>
        </p:spPr>
      </p:sp>
      <p:sp>
        <p:nvSpPr>
          <p:cNvPr id="18" name="Text 16"/>
          <p:cNvSpPr txBox="1"/>
          <p:nvPr/>
        </p:nvSpPr>
        <p:spPr>
          <a:xfrm>
            <a:off x="6190488"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F4 Derivatives</a:t>
            </a:r>
            <a:endParaRPr lang="en-US" sz="1250" dirty="0"/>
          </a:p>
          <a:p>
            <a:pPr algn="ctr" indent="0" marL="0">
              <a:buNone/>
            </a:pPr>
            <a:r>
              <a:rPr lang="en-US" sz="1050" dirty="0">
                <a:solidFill>
                  <a:srgbClr val="333333"/>
                </a:solidFill>
              </a:rPr>
              <a:t>FD bands + indices: 221</a:t>
            </a:r>
            <a:endParaRPr lang="en-US" sz="1250" dirty="0"/>
          </a:p>
        </p:txBody>
      </p:sp>
      <p:sp>
        <p:nvSpPr>
          <p:cNvPr id="19" name="Shape 17"/>
          <p:cNvSpPr/>
          <p:nvPr/>
        </p:nvSpPr>
        <p:spPr>
          <a:xfrm>
            <a:off x="6080760" y="1920240"/>
            <a:ext cx="923544" cy="594360"/>
          </a:xfrm>
          <a:prstGeom prst="line">
            <a:avLst/>
          </a:prstGeom>
          <a:noFill/>
          <a:ln w="19050">
            <a:solidFill>
              <a:srgbClr val="7A7A7A"/>
            </a:solidFill>
            <a:prstDash val="solid"/>
            <a:tailEnd type="triangle"/>
          </a:ln>
        </p:spPr>
      </p:sp>
      <p:sp>
        <p:nvSpPr>
          <p:cNvPr id="20" name="Shape 18"/>
          <p:cNvSpPr/>
          <p:nvPr/>
        </p:nvSpPr>
        <p:spPr>
          <a:xfrm flipH="1">
            <a:off x="6080760" y="3566160"/>
            <a:ext cx="923544" cy="640080"/>
          </a:xfrm>
          <a:prstGeom prst="line">
            <a:avLst/>
          </a:prstGeom>
          <a:noFill/>
          <a:ln w="19050">
            <a:solidFill>
              <a:srgbClr val="7A7A7A"/>
            </a:solidFill>
            <a:prstDash val="solid"/>
            <a:tailEnd type="triangle"/>
          </a:ln>
        </p:spPr>
      </p:sp>
      <p:sp>
        <p:nvSpPr>
          <p:cNvPr id="21" name="Shape 19"/>
          <p:cNvSpPr/>
          <p:nvPr/>
        </p:nvSpPr>
        <p:spPr>
          <a:xfrm>
            <a:off x="8028432" y="2514600"/>
            <a:ext cx="1737360" cy="1051560"/>
          </a:xfrm>
          <a:prstGeom prst="roundRect">
            <a:avLst>
              <a:gd name="adj" fmla="val 5217"/>
            </a:avLst>
          </a:prstGeom>
          <a:solidFill>
            <a:srgbClr val="E6EFE3"/>
          </a:solidFill>
          <a:ln w="9525">
            <a:solidFill>
              <a:srgbClr val="C9D3C6"/>
            </a:solidFill>
            <a:prstDash val="solid"/>
          </a:ln>
        </p:spPr>
      </p:sp>
      <p:sp>
        <p:nvSpPr>
          <p:cNvPr id="22" name="Text 20"/>
          <p:cNvSpPr txBox="1"/>
          <p:nvPr/>
        </p:nvSpPr>
        <p:spPr>
          <a:xfrm>
            <a:off x="8083296"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F5 Continuum removal</a:t>
            </a:r>
            <a:endParaRPr lang="en-US" sz="1250" dirty="0"/>
          </a:p>
          <a:p>
            <a:pPr algn="ctr" indent="0" marL="0">
              <a:buNone/>
            </a:pPr>
            <a:r>
              <a:rPr lang="en-US" sz="1050" dirty="0">
                <a:solidFill>
                  <a:srgbClr val="333333"/>
                </a:solidFill>
              </a:rPr>
              <a:t>6 features x 4: 24</a:t>
            </a:r>
            <a:endParaRPr lang="en-US" sz="1250" dirty="0"/>
          </a:p>
        </p:txBody>
      </p:sp>
      <p:sp>
        <p:nvSpPr>
          <p:cNvPr id="23" name="Shape 21"/>
          <p:cNvSpPr/>
          <p:nvPr/>
        </p:nvSpPr>
        <p:spPr>
          <a:xfrm>
            <a:off x="6080760" y="1920240"/>
            <a:ext cx="2816352" cy="594360"/>
          </a:xfrm>
          <a:prstGeom prst="line">
            <a:avLst/>
          </a:prstGeom>
          <a:noFill/>
          <a:ln w="19050">
            <a:solidFill>
              <a:srgbClr val="7A7A7A"/>
            </a:solidFill>
            <a:prstDash val="solid"/>
            <a:tailEnd type="triangle"/>
          </a:ln>
        </p:spPr>
      </p:sp>
      <p:sp>
        <p:nvSpPr>
          <p:cNvPr id="24" name="Shape 22"/>
          <p:cNvSpPr/>
          <p:nvPr/>
        </p:nvSpPr>
        <p:spPr>
          <a:xfrm flipH="1">
            <a:off x="6080760" y="3566160"/>
            <a:ext cx="2816352" cy="640080"/>
          </a:xfrm>
          <a:prstGeom prst="line">
            <a:avLst/>
          </a:prstGeom>
          <a:noFill/>
          <a:ln w="19050">
            <a:solidFill>
              <a:srgbClr val="7A7A7A"/>
            </a:solidFill>
            <a:prstDash val="solid"/>
            <a:tailEnd type="triangle"/>
          </a:ln>
        </p:spPr>
      </p:sp>
      <p:sp>
        <p:nvSpPr>
          <p:cNvPr id="25" name="Shape 23"/>
          <p:cNvSpPr/>
          <p:nvPr/>
        </p:nvSpPr>
        <p:spPr>
          <a:xfrm>
            <a:off x="9921240" y="2514600"/>
            <a:ext cx="1737360" cy="1051560"/>
          </a:xfrm>
          <a:prstGeom prst="roundRect">
            <a:avLst>
              <a:gd name="adj" fmla="val 5217"/>
            </a:avLst>
          </a:prstGeom>
          <a:solidFill>
            <a:srgbClr val="E6EFE3"/>
          </a:solidFill>
          <a:ln w="9525">
            <a:solidFill>
              <a:srgbClr val="C9D3C6"/>
            </a:solidFill>
            <a:prstDash val="solid"/>
          </a:ln>
        </p:spPr>
      </p:sp>
      <p:sp>
        <p:nvSpPr>
          <p:cNvPr id="26" name="Text 24"/>
          <p:cNvSpPr txBox="1"/>
          <p:nvPr/>
        </p:nvSpPr>
        <p:spPr>
          <a:xfrm>
            <a:off x="9976104" y="2514600"/>
            <a:ext cx="1627632" cy="1051560"/>
          </a:xfrm>
          <a:prstGeom prst="rect">
            <a:avLst/>
          </a:prstGeom>
          <a:noFill/>
          <a:ln/>
        </p:spPr>
        <p:txBody>
          <a:bodyPr wrap="square" lIns="254" tIns="254" rIns="254" bIns="254" rtlCol="0" anchor="ctr"/>
          <a:lstStyle/>
          <a:p>
            <a:pPr algn="ctr" indent="0" marL="0">
              <a:buNone/>
            </a:pPr>
            <a:r>
              <a:rPr lang="en-US" sz="1250" b="1" dirty="0">
                <a:solidFill>
                  <a:srgbClr val="1F3D2B"/>
                </a:solidFill>
              </a:rPr>
              <a:t>F6 Wavelets</a:t>
            </a:r>
            <a:endParaRPr lang="en-US" sz="1250" dirty="0"/>
          </a:p>
          <a:p>
            <a:pPr algn="ctr" indent="0" marL="0">
              <a:buNone/>
            </a:pPr>
            <a:r>
              <a:rPr lang="en-US" sz="1050" dirty="0">
                <a:solidFill>
                  <a:srgbClr val="333333"/>
                </a:solidFill>
              </a:rPr>
              <a:t>Mexican hat, 8 scales: 1608</a:t>
            </a:r>
            <a:endParaRPr lang="en-US" sz="1250" dirty="0"/>
          </a:p>
        </p:txBody>
      </p:sp>
      <p:sp>
        <p:nvSpPr>
          <p:cNvPr id="27" name="Shape 25"/>
          <p:cNvSpPr/>
          <p:nvPr/>
        </p:nvSpPr>
        <p:spPr>
          <a:xfrm>
            <a:off x="6080760" y="1920240"/>
            <a:ext cx="4709160" cy="594360"/>
          </a:xfrm>
          <a:prstGeom prst="line">
            <a:avLst/>
          </a:prstGeom>
          <a:noFill/>
          <a:ln w="19050">
            <a:solidFill>
              <a:srgbClr val="7A7A7A"/>
            </a:solidFill>
            <a:prstDash val="solid"/>
            <a:tailEnd type="triangle"/>
          </a:ln>
        </p:spPr>
      </p:sp>
      <p:sp>
        <p:nvSpPr>
          <p:cNvPr id="28" name="Shape 26"/>
          <p:cNvSpPr/>
          <p:nvPr/>
        </p:nvSpPr>
        <p:spPr>
          <a:xfrm flipH="1">
            <a:off x="6080760" y="3566160"/>
            <a:ext cx="4709160" cy="640080"/>
          </a:xfrm>
          <a:prstGeom prst="line">
            <a:avLst/>
          </a:prstGeom>
          <a:noFill/>
          <a:ln w="19050">
            <a:solidFill>
              <a:srgbClr val="7A7A7A"/>
            </a:solidFill>
            <a:prstDash val="solid"/>
            <a:tailEnd type="triangle"/>
          </a:ln>
        </p:spPr>
      </p:sp>
      <p:sp>
        <p:nvSpPr>
          <p:cNvPr id="29" name="Shape 27"/>
          <p:cNvSpPr/>
          <p:nvPr/>
        </p:nvSpPr>
        <p:spPr>
          <a:xfrm>
            <a:off x="3749040" y="4206240"/>
            <a:ext cx="4663440" cy="868680"/>
          </a:xfrm>
          <a:prstGeom prst="roundRect">
            <a:avLst>
              <a:gd name="adj" fmla="val 6316"/>
            </a:avLst>
          </a:prstGeom>
          <a:solidFill>
            <a:srgbClr val="1F3D2B"/>
          </a:solidFill>
          <a:ln w="9525">
            <a:solidFill>
              <a:srgbClr val="1F3D2B"/>
            </a:solidFill>
            <a:prstDash val="solid"/>
          </a:ln>
        </p:spPr>
      </p:sp>
      <p:sp>
        <p:nvSpPr>
          <p:cNvPr id="30" name="Text 28"/>
          <p:cNvSpPr txBox="1"/>
          <p:nvPr/>
        </p:nvSpPr>
        <p:spPr>
          <a:xfrm>
            <a:off x="3803904" y="4206240"/>
            <a:ext cx="4553712" cy="868680"/>
          </a:xfrm>
          <a:prstGeom prst="rect">
            <a:avLst/>
          </a:prstGeom>
          <a:noFill/>
          <a:ln/>
        </p:spPr>
        <p:txBody>
          <a:bodyPr wrap="square" lIns="254" tIns="254" rIns="254" bIns="254" rtlCol="0" anchor="ctr"/>
          <a:lstStyle/>
          <a:p>
            <a:pPr algn="ctr" indent="0" marL="0">
              <a:buNone/>
            </a:pPr>
            <a:r>
              <a:rPr lang="en-US" sz="1250" b="1" dirty="0">
                <a:solidFill>
                  <a:srgbClr val="FFFFFF"/>
                </a:solidFill>
              </a:rPr>
              <a:t>Combined feature pool (~2,100 features)</a:t>
            </a:r>
            <a:endParaRPr lang="en-US" sz="1250" dirty="0"/>
          </a:p>
          <a:p>
            <a:pPr algn="ctr" indent="0" marL="0">
              <a:buNone/>
            </a:pPr>
            <a:r>
              <a:rPr lang="en-US" sz="1050" dirty="0">
                <a:solidFill>
                  <a:srgbClr val="F2F2F2"/>
                </a:solidFill>
              </a:rPr>
              <a:t>single families -&gt; scenarios S2-S7; all -&gt; S8, E7, E8</a:t>
            </a:r>
            <a:endParaRPr lang="en-US" sz="1250" dirty="0"/>
          </a:p>
        </p:txBody>
      </p:sp>
      <p:sp>
        <p:nvSpPr>
          <p:cNvPr id="31" name="Shape 29"/>
          <p:cNvSpPr/>
          <p:nvPr/>
        </p:nvSpPr>
        <p:spPr>
          <a:xfrm>
            <a:off x="6080760" y="5074920"/>
            <a:ext cx="0" cy="365760"/>
          </a:xfrm>
          <a:prstGeom prst="line">
            <a:avLst/>
          </a:prstGeom>
          <a:noFill/>
          <a:ln w="19050">
            <a:solidFill>
              <a:srgbClr val="7A7A7A"/>
            </a:solidFill>
            <a:prstDash val="solid"/>
            <a:tailEnd type="triangle"/>
          </a:ln>
        </p:spPr>
      </p:sp>
      <p:sp>
        <p:nvSpPr>
          <p:cNvPr id="32" name="Text 30"/>
          <p:cNvSpPr txBox="1"/>
          <p:nvPr/>
        </p:nvSpPr>
        <p:spPr>
          <a:xfrm>
            <a:off x="3749040" y="5440680"/>
            <a:ext cx="4663440" cy="365760"/>
          </a:xfrm>
          <a:prstGeom prst="rect">
            <a:avLst/>
          </a:prstGeom>
          <a:noFill/>
          <a:ln/>
        </p:spPr>
        <p:txBody>
          <a:bodyPr wrap="square" lIns="0" tIns="0" rIns="0" bIns="0" rtlCol="0" anchor="ctr"/>
          <a:lstStyle/>
          <a:p>
            <a:pPr algn="ctr" indent="0" marL="0">
              <a:buNone/>
            </a:pPr>
            <a:r>
              <a:rPr lang="en-US" sz="1200" b="1" dirty="0">
                <a:solidFill>
                  <a:schemeClr val="tx2"/>
                </a:solidFill>
              </a:rPr>
              <a:t>-&gt; Step 6: feature selection inside each training fold</a:t>
            </a:r>
            <a:endParaRPr lang="en-US" sz="1200" dirty="0"/>
          </a:p>
        </p:txBody>
      </p:sp>
      <p:sp>
        <p:nvSpPr>
          <p:cNvPr id="33" name="Text 31"/>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Mandal et al. 2023; Mahlein et al. 2013; Zhang et al. 2012; Lv et al. 2023; Tian et al. 2021; Cheng et al. 2011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Feature families (F1-F6)</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315200" cy="914400"/>
        </p:xfrm>
        <a:graphic>
          <a:graphicData uri="http://schemas.openxmlformats.org/drawingml/2006/table">
            <a:tbl>
              <a:tblPr/>
              <a:tblGrid>
                <a:gridCol w="457200"/>
                <a:gridCol w="4023360"/>
                <a:gridCol w="640080"/>
                <a:gridCol w="2194560"/>
              </a:tblGrid>
              <a:tr h="566928">
                <a:tc>
                  <a:txBody>
                    <a:bodyPr/>
                    <a:lstStyle/>
                    <a:p>
                      <a:pPr algn="ctr" indent="0" marL="0">
                        <a:buNone/>
                      </a:pP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Feature family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Reference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566928">
                <a:tc>
                  <a:txBody>
                    <a:bodyPr/>
                    <a:lstStyle/>
                    <a:p>
                      <a:pPr indent="0" marL="0">
                        <a:buNone/>
                      </a:pPr>
                      <a:r>
                        <a:rPr lang="en-US" sz="1200" dirty="0">
                          <a:solidFill>
                            <a:srgbClr val="1A1A1A"/>
                          </a:solidFill>
                        </a:rPr>
                        <a:t>F1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Reflectance bands (SNV, 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201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Mandal 2023; Terentev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A1A1A"/>
                          </a:solidFill>
                        </a:rPr>
                        <a:t>F2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Published vegetation indices + red-edge parameters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46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Mandal 2023; Tian 2021; Mahlein 2013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66928">
                <a:tc>
                  <a:txBody>
                    <a:bodyPr/>
                    <a:lstStyle/>
                    <a:p>
                      <a:pPr indent="0" marL="0">
                        <a:buNone/>
                      </a:pPr>
                      <a:r>
                        <a:rPr lang="en-US" sz="1200" dirty="0">
                          <a:solidFill>
                            <a:srgbClr val="1A1A1A"/>
                          </a:solidFill>
                        </a:rPr>
                        <a:t>F3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Novel NDSI from exhaustive band-pair search (in-fold)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Mandal 2023; Selvaprakash 2026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A1A1A"/>
                          </a:solidFill>
                        </a:rPr>
                        <a:t>F4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First-derivative bands, derivative indices, edge features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221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Lv 2023; Zhang 2012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566928">
                <a:tc>
                  <a:txBody>
                    <a:bodyPr/>
                    <a:lstStyle/>
                    <a:p>
                      <a:pPr indent="0" marL="0">
                        <a:buNone/>
                      </a:pPr>
                      <a:r>
                        <a:rPr lang="en-US" sz="1200" dirty="0">
                          <a:solidFill>
                            <a:srgbClr val="1A1A1A"/>
                          </a:solidFill>
                        </a:rPr>
                        <a:t>F5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Continuum removal: depth, width, area, position (6 features)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24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Zhang 2012; Kokaly &amp; Clark 1999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A1A1A"/>
                          </a:solidFill>
                        </a:rPr>
                        <a:t>F6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CWT, Mexican hat, scales 2^1-2^8, every 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1608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Tian 2021; Lv 2023; Cheng et al. 2011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Shape 1"/>
          <p:cNvSpPr/>
          <p:nvPr/>
        </p:nvSpPr>
        <p:spPr>
          <a:xfrm>
            <a:off x="8046720" y="1188720"/>
            <a:ext cx="3657600" cy="2194560"/>
          </a:xfrm>
          <a:prstGeom prst="roundRect">
            <a:avLst>
              <a:gd name="adj" fmla="val 3333"/>
            </a:avLst>
          </a:prstGeom>
          <a:solidFill>
            <a:schemeClr val="bg2"/>
          </a:solidFill>
          <a:ln w="12700">
            <a:solidFill>
              <a:schemeClr val="bg2"/>
            </a:solidFill>
            <a:prstDash val="solid"/>
          </a:ln>
        </p:spPr>
      </p:sp>
      <p:sp>
        <p:nvSpPr>
          <p:cNvPr id="5" name="Shape 2"/>
          <p:cNvSpPr/>
          <p:nvPr/>
        </p:nvSpPr>
        <p:spPr>
          <a:xfrm>
            <a:off x="8211312" y="1371600"/>
            <a:ext cx="384048" cy="384048"/>
          </a:xfrm>
          <a:prstGeom prst="ellipse">
            <a:avLst/>
          </a:prstGeom>
          <a:solidFill>
            <a:srgbClr val="2E7D32"/>
          </a:solidFill>
          <a:ln w="12700">
            <a:solidFill>
              <a:srgbClr val="2E7D32"/>
            </a:solidFill>
            <a:prstDash val="solid"/>
          </a:ln>
        </p:spPr>
      </p:sp>
      <p:sp>
        <p:nvSpPr>
          <p:cNvPr id="6" name="Text 3"/>
          <p:cNvSpPr txBox="1"/>
          <p:nvPr/>
        </p:nvSpPr>
        <p:spPr>
          <a:xfrm>
            <a:off x="8705088" y="130759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Index groups (F2)</a:t>
            </a:r>
            <a:endParaRPr lang="en-US" sz="1500" dirty="0"/>
          </a:p>
        </p:txBody>
      </p:sp>
      <p:sp>
        <p:nvSpPr>
          <p:cNvPr id="7" name="Text 4"/>
          <p:cNvSpPr txBox="1"/>
          <p:nvPr/>
        </p:nvSpPr>
        <p:spPr>
          <a:xfrm>
            <a:off x="8229600" y="1901952"/>
            <a:ext cx="3291840" cy="1371600"/>
          </a:xfrm>
          <a:prstGeom prst="rect">
            <a:avLst/>
          </a:prstGeom>
          <a:noFill/>
          <a:ln/>
        </p:spPr>
        <p:txBody>
          <a:bodyPr wrap="square" lIns="0" tIns="0" rIns="0" bIns="0" rtlCol="0" anchor="t"/>
          <a:lstStyle/>
          <a:p>
            <a:pPr indent="0" marL="0">
              <a:buNone/>
            </a:pPr>
            <a:r>
              <a:rPr lang="en-US" sz="1300" dirty="0">
                <a:solidFill>
                  <a:schemeClr val="tx1"/>
                </a:solidFill>
              </a:rPr>
              <a:t>Chlorophyll (NDVI, MCARI, MTCI...), carotenoid/anthocyanin (PRI, CRI, ARI, PSRI), red edge (REP, Vog), water (WI, NDWI, MSI, DWSI), dry matter (CAI, NDLI) and disease indices (HI, PMI, LRDSI, RBI).</a:t>
            </a:r>
            <a:endParaRPr lang="en-US" sz="1300" dirty="0"/>
          </a:p>
        </p:txBody>
      </p:sp>
      <p:sp>
        <p:nvSpPr>
          <p:cNvPr id="8" name="Shape 5"/>
          <p:cNvSpPr/>
          <p:nvPr/>
        </p:nvSpPr>
        <p:spPr>
          <a:xfrm>
            <a:off x="8046720" y="3520440"/>
            <a:ext cx="3657600" cy="2468880"/>
          </a:xfrm>
          <a:prstGeom prst="roundRect">
            <a:avLst>
              <a:gd name="adj" fmla="val 2963"/>
            </a:avLst>
          </a:prstGeom>
          <a:solidFill>
            <a:schemeClr val="bg2"/>
          </a:solidFill>
          <a:ln w="12700">
            <a:solidFill>
              <a:schemeClr val="bg2"/>
            </a:solidFill>
            <a:prstDash val="solid"/>
          </a:ln>
        </p:spPr>
      </p:sp>
      <p:sp>
        <p:nvSpPr>
          <p:cNvPr id="9" name="Shape 6"/>
          <p:cNvSpPr/>
          <p:nvPr/>
        </p:nvSpPr>
        <p:spPr>
          <a:xfrm>
            <a:off x="8211312" y="3703320"/>
            <a:ext cx="384048" cy="384048"/>
          </a:xfrm>
          <a:prstGeom prst="ellipse">
            <a:avLst/>
          </a:prstGeom>
          <a:solidFill>
            <a:srgbClr val="6E6E6E"/>
          </a:solidFill>
          <a:ln w="12700">
            <a:solidFill>
              <a:srgbClr val="6E6E6E"/>
            </a:solidFill>
            <a:prstDash val="solid"/>
          </a:ln>
        </p:spPr>
      </p:sp>
      <p:sp>
        <p:nvSpPr>
          <p:cNvPr id="10" name="Text 7"/>
          <p:cNvSpPr txBox="1"/>
          <p:nvPr/>
        </p:nvSpPr>
        <p:spPr>
          <a:xfrm>
            <a:off x="8705088" y="3639312"/>
            <a:ext cx="2880360" cy="512064"/>
          </a:xfrm>
          <a:prstGeom prst="rect">
            <a:avLst/>
          </a:prstGeom>
          <a:noFill/>
          <a:ln/>
        </p:spPr>
        <p:txBody>
          <a:bodyPr wrap="square" lIns="0" tIns="0" rIns="0" bIns="0" rtlCol="0" anchor="ctr"/>
          <a:lstStyle/>
          <a:p>
            <a:pPr indent="0" marL="0">
              <a:buNone/>
            </a:pPr>
            <a:r>
              <a:rPr lang="en-US" sz="1500" b="1" dirty="0">
                <a:solidFill>
                  <a:schemeClr val="tx2"/>
                </a:solidFill>
              </a:rPr>
              <a:t>Not used</a:t>
            </a:r>
            <a:endParaRPr lang="en-US" sz="1500" dirty="0"/>
          </a:p>
        </p:txBody>
      </p:sp>
      <p:sp>
        <p:nvSpPr>
          <p:cNvPr id="11" name="Text 8"/>
          <p:cNvSpPr txBox="1"/>
          <p:nvPr/>
        </p:nvSpPr>
        <p:spPr>
          <a:xfrm>
            <a:off x="8229600" y="4233672"/>
            <a:ext cx="3291840" cy="1645920"/>
          </a:xfrm>
          <a:prstGeom prst="rect">
            <a:avLst/>
          </a:prstGeom>
          <a:noFill/>
          <a:ln/>
        </p:spPr>
        <p:txBody>
          <a:bodyPr wrap="square" lIns="0" tIns="0" rIns="0" bIns="0" rtlCol="0" anchor="t"/>
          <a:lstStyle/>
          <a:p>
            <a:pPr indent="0" marL="0">
              <a:buNone/>
            </a:pPr>
            <a:r>
              <a:rPr lang="en-US" sz="1300" dirty="0">
                <a:solidFill>
                  <a:schemeClr val="tx1"/>
                </a:solidFill>
              </a:rPr>
              <a:t>Image texture and colour features (GLCM, colour moments) need images; the contact probe gives point spectra. PROSPECT inversion left for future work.</a:t>
            </a:r>
            <a:endParaRPr lang="en-US" sz="1300" dirty="0"/>
          </a:p>
        </p:txBody>
      </p:sp>
      <p:sp>
        <p:nvSpPr>
          <p:cNvPr id="12" name="Text 9"/>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Feature definitions in workbook sheets 13 and 16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 6 flowchart: four feature-selection routes</a:t>
            </a:r>
            <a:endParaRPr lang="en-US" sz="2800" dirty="0"/>
          </a:p>
        </p:txBody>
      </p:sp>
      <p:sp>
        <p:nvSpPr>
          <p:cNvPr id="3" name="Shape 1"/>
          <p:cNvSpPr/>
          <p:nvPr/>
        </p:nvSpPr>
        <p:spPr>
          <a:xfrm>
            <a:off x="3749040" y="1170432"/>
            <a:ext cx="4663440" cy="658368"/>
          </a:xfrm>
          <a:prstGeom prst="roundRect">
            <a:avLst>
              <a:gd name="adj" fmla="val 8333"/>
            </a:avLst>
          </a:prstGeom>
          <a:solidFill>
            <a:srgbClr val="F7F1E1"/>
          </a:solidFill>
          <a:ln w="9525">
            <a:solidFill>
              <a:srgbClr val="C9D3C6"/>
            </a:solidFill>
            <a:prstDash val="solid"/>
          </a:ln>
        </p:spPr>
      </p:sp>
      <p:sp>
        <p:nvSpPr>
          <p:cNvPr id="4" name="Text 2"/>
          <p:cNvSpPr txBox="1"/>
          <p:nvPr/>
        </p:nvSpPr>
        <p:spPr>
          <a:xfrm>
            <a:off x="3803904" y="1170432"/>
            <a:ext cx="4553712" cy="658368"/>
          </a:xfrm>
          <a:prstGeom prst="rect">
            <a:avLst/>
          </a:prstGeom>
          <a:noFill/>
          <a:ln/>
        </p:spPr>
        <p:txBody>
          <a:bodyPr wrap="square" lIns="254" tIns="254" rIns="254" bIns="254" rtlCol="0" anchor="ctr"/>
          <a:lstStyle/>
          <a:p>
            <a:pPr algn="ctr" indent="0" marL="0">
              <a:buNone/>
            </a:pPr>
            <a:r>
              <a:rPr lang="en-US" sz="1250" b="1" dirty="0">
                <a:solidFill>
                  <a:srgbClr val="1F3D2B"/>
                </a:solidFill>
              </a:rPr>
              <a:t>Training plots of one outer fold</a:t>
            </a:r>
            <a:endParaRPr lang="en-US" sz="1250" dirty="0"/>
          </a:p>
          <a:p>
            <a:pPr algn="ctr" indent="0" marL="0">
              <a:buNone/>
            </a:pPr>
            <a:r>
              <a:rPr lang="en-US" sz="1050" dirty="0">
                <a:solidFill>
                  <a:srgbClr val="333333"/>
                </a:solidFill>
              </a:rPr>
              <a:t>combined pool F1-F6 (no test-plot information)</a:t>
            </a:r>
            <a:endParaRPr lang="en-US" sz="1250" dirty="0"/>
          </a:p>
        </p:txBody>
      </p:sp>
      <p:sp>
        <p:nvSpPr>
          <p:cNvPr id="5" name="Shape 3"/>
          <p:cNvSpPr/>
          <p:nvPr/>
        </p:nvSpPr>
        <p:spPr>
          <a:xfrm>
            <a:off x="457200" y="2103120"/>
            <a:ext cx="2651760" cy="502920"/>
          </a:xfrm>
          <a:prstGeom prst="roundRect">
            <a:avLst>
              <a:gd name="adj" fmla="val 10909"/>
            </a:avLst>
          </a:prstGeom>
          <a:solidFill>
            <a:srgbClr val="2E7D32"/>
          </a:solidFill>
          <a:ln w="9525">
            <a:solidFill>
              <a:srgbClr val="2E7D32"/>
            </a:solidFill>
            <a:prstDash val="solid"/>
          </a:ln>
        </p:spPr>
      </p:sp>
      <p:sp>
        <p:nvSpPr>
          <p:cNvPr id="6" name="Text 4"/>
          <p:cNvSpPr txBox="1"/>
          <p:nvPr/>
        </p:nvSpPr>
        <p:spPr>
          <a:xfrm>
            <a:off x="512064" y="2103120"/>
            <a:ext cx="2542032" cy="502920"/>
          </a:xfrm>
          <a:prstGeom prst="rect">
            <a:avLst/>
          </a:prstGeom>
          <a:noFill/>
          <a:ln/>
        </p:spPr>
        <p:txBody>
          <a:bodyPr wrap="square" lIns="254" tIns="254" rIns="254" bIns="254" rtlCol="0" anchor="ctr"/>
          <a:lstStyle/>
          <a:p>
            <a:pPr algn="ctr" indent="0" marL="0">
              <a:buNone/>
            </a:pPr>
            <a:r>
              <a:rPr lang="en-US" sz="1250" b="1" dirty="0">
                <a:solidFill>
                  <a:srgbClr val="FFFFFF"/>
                </a:solidFill>
              </a:rPr>
              <a:t>A. Robust selection</a:t>
            </a:r>
            <a:endParaRPr lang="en-US" sz="1250" dirty="0"/>
          </a:p>
        </p:txBody>
      </p:sp>
      <p:sp>
        <p:nvSpPr>
          <p:cNvPr id="7" name="Shape 5"/>
          <p:cNvSpPr/>
          <p:nvPr/>
        </p:nvSpPr>
        <p:spPr>
          <a:xfrm flipH="1">
            <a:off x="1783080" y="1828800"/>
            <a:ext cx="4297680" cy="274320"/>
          </a:xfrm>
          <a:prstGeom prst="line">
            <a:avLst/>
          </a:prstGeom>
          <a:noFill/>
          <a:ln w="19050">
            <a:solidFill>
              <a:srgbClr val="7A7A7A"/>
            </a:solidFill>
            <a:prstDash val="solid"/>
            <a:tailEnd type="triangle"/>
          </a:ln>
        </p:spPr>
      </p:sp>
      <p:sp>
        <p:nvSpPr>
          <p:cNvPr id="8" name="Shape 6"/>
          <p:cNvSpPr/>
          <p:nvPr/>
        </p:nvSpPr>
        <p:spPr>
          <a:xfrm>
            <a:off x="594360" y="2743200"/>
            <a:ext cx="2377440" cy="457200"/>
          </a:xfrm>
          <a:prstGeom prst="roundRect">
            <a:avLst>
              <a:gd name="adj" fmla="val 12000"/>
            </a:avLst>
          </a:prstGeom>
          <a:solidFill>
            <a:srgbClr val="F6F8F5"/>
          </a:solidFill>
          <a:ln w="9525">
            <a:solidFill>
              <a:srgbClr val="C9D3C6"/>
            </a:solidFill>
            <a:prstDash val="solid"/>
          </a:ln>
        </p:spPr>
      </p:sp>
      <p:sp>
        <p:nvSpPr>
          <p:cNvPr id="9" name="Text 7"/>
          <p:cNvSpPr txBox="1"/>
          <p:nvPr/>
        </p:nvSpPr>
        <p:spPr>
          <a:xfrm>
            <a:off x="649224" y="2743200"/>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ReliefF within each date</a:t>
            </a:r>
            <a:endParaRPr lang="en-US" sz="1250" dirty="0"/>
          </a:p>
        </p:txBody>
      </p:sp>
      <p:sp>
        <p:nvSpPr>
          <p:cNvPr id="10" name="Shape 8"/>
          <p:cNvSpPr/>
          <p:nvPr/>
        </p:nvSpPr>
        <p:spPr>
          <a:xfrm>
            <a:off x="1783080" y="3200400"/>
            <a:ext cx="0" cy="109728"/>
          </a:xfrm>
          <a:prstGeom prst="line">
            <a:avLst/>
          </a:prstGeom>
          <a:noFill/>
          <a:ln w="19050">
            <a:solidFill>
              <a:srgbClr val="7A7A7A"/>
            </a:solidFill>
            <a:prstDash val="solid"/>
            <a:tailEnd type="triangle"/>
          </a:ln>
        </p:spPr>
      </p:sp>
      <p:sp>
        <p:nvSpPr>
          <p:cNvPr id="11" name="Shape 9"/>
          <p:cNvSpPr/>
          <p:nvPr/>
        </p:nvSpPr>
        <p:spPr>
          <a:xfrm>
            <a:off x="594360" y="3310128"/>
            <a:ext cx="2377440" cy="457200"/>
          </a:xfrm>
          <a:prstGeom prst="roundRect">
            <a:avLst>
              <a:gd name="adj" fmla="val 12000"/>
            </a:avLst>
          </a:prstGeom>
          <a:solidFill>
            <a:srgbClr val="F6F8F5"/>
          </a:solidFill>
          <a:ln w="9525">
            <a:solidFill>
              <a:srgbClr val="C9D3C6"/>
            </a:solidFill>
            <a:prstDash val="solid"/>
          </a:ln>
        </p:spPr>
      </p:sp>
      <p:sp>
        <p:nvSpPr>
          <p:cNvPr id="12" name="Text 10"/>
          <p:cNvSpPr txBox="1"/>
          <p:nvPr/>
        </p:nvSpPr>
        <p:spPr>
          <a:xfrm>
            <a:off x="649224" y="3310128"/>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top 10% on &gt;= 3 of 4 dates</a:t>
            </a:r>
            <a:endParaRPr lang="en-US" sz="1250" dirty="0"/>
          </a:p>
        </p:txBody>
      </p:sp>
      <p:sp>
        <p:nvSpPr>
          <p:cNvPr id="13" name="Shape 11"/>
          <p:cNvSpPr/>
          <p:nvPr/>
        </p:nvSpPr>
        <p:spPr>
          <a:xfrm>
            <a:off x="1783080" y="3767328"/>
            <a:ext cx="0" cy="109728"/>
          </a:xfrm>
          <a:prstGeom prst="line">
            <a:avLst/>
          </a:prstGeom>
          <a:noFill/>
          <a:ln w="19050">
            <a:solidFill>
              <a:srgbClr val="7A7A7A"/>
            </a:solidFill>
            <a:prstDash val="solid"/>
            <a:tailEnd type="triangle"/>
          </a:ln>
        </p:spPr>
      </p:sp>
      <p:sp>
        <p:nvSpPr>
          <p:cNvPr id="14" name="Shape 12"/>
          <p:cNvSpPr/>
          <p:nvPr/>
        </p:nvSpPr>
        <p:spPr>
          <a:xfrm>
            <a:off x="594360" y="3877056"/>
            <a:ext cx="2377440" cy="457200"/>
          </a:xfrm>
          <a:prstGeom prst="roundRect">
            <a:avLst>
              <a:gd name="adj" fmla="val 12000"/>
            </a:avLst>
          </a:prstGeom>
          <a:solidFill>
            <a:srgbClr val="F6F8F5"/>
          </a:solidFill>
          <a:ln w="9525">
            <a:solidFill>
              <a:srgbClr val="C9D3C6"/>
            </a:solidFill>
            <a:prstDash val="solid"/>
          </a:ln>
        </p:spPr>
      </p:sp>
      <p:sp>
        <p:nvSpPr>
          <p:cNvPr id="15" name="Text 13"/>
          <p:cNvSpPr txBox="1"/>
          <p:nvPr/>
        </p:nvSpPr>
        <p:spPr>
          <a:xfrm>
            <a:off x="649224" y="3877056"/>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|r| &lt; 0.98, VIF &lt; 10</a:t>
            </a:r>
            <a:endParaRPr lang="en-US" sz="1250" dirty="0"/>
          </a:p>
        </p:txBody>
      </p:sp>
      <p:sp>
        <p:nvSpPr>
          <p:cNvPr id="16" name="Shape 14"/>
          <p:cNvSpPr/>
          <p:nvPr/>
        </p:nvSpPr>
        <p:spPr>
          <a:xfrm>
            <a:off x="1783080" y="4334256"/>
            <a:ext cx="0" cy="109728"/>
          </a:xfrm>
          <a:prstGeom prst="line">
            <a:avLst/>
          </a:prstGeom>
          <a:noFill/>
          <a:ln w="19050">
            <a:solidFill>
              <a:srgbClr val="7A7A7A"/>
            </a:solidFill>
            <a:prstDash val="solid"/>
            <a:tailEnd type="triangle"/>
          </a:ln>
        </p:spPr>
      </p:sp>
      <p:sp>
        <p:nvSpPr>
          <p:cNvPr id="17" name="Shape 15"/>
          <p:cNvSpPr/>
          <p:nvPr/>
        </p:nvSpPr>
        <p:spPr>
          <a:xfrm>
            <a:off x="594360" y="4443984"/>
            <a:ext cx="2377440" cy="457200"/>
          </a:xfrm>
          <a:prstGeom prst="roundRect">
            <a:avLst>
              <a:gd name="adj" fmla="val 12000"/>
            </a:avLst>
          </a:prstGeom>
          <a:solidFill>
            <a:srgbClr val="F6F8F5"/>
          </a:solidFill>
          <a:ln w="9525">
            <a:solidFill>
              <a:srgbClr val="C9D3C6"/>
            </a:solidFill>
            <a:prstDash val="solid"/>
          </a:ln>
        </p:spPr>
      </p:sp>
      <p:sp>
        <p:nvSpPr>
          <p:cNvPr id="18" name="Text 16"/>
          <p:cNvSpPr txBox="1"/>
          <p:nvPr/>
        </p:nvSpPr>
        <p:spPr>
          <a:xfrm>
            <a:off x="649224" y="4443984"/>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SFFS-LDA (&lt;= 10)</a:t>
            </a:r>
            <a:endParaRPr lang="en-US" sz="1250" dirty="0"/>
          </a:p>
        </p:txBody>
      </p:sp>
      <p:sp>
        <p:nvSpPr>
          <p:cNvPr id="19" name="Text 17"/>
          <p:cNvSpPr txBox="1"/>
          <p:nvPr/>
        </p:nvSpPr>
        <p:spPr>
          <a:xfrm>
            <a:off x="457200" y="5029200"/>
            <a:ext cx="2651760" cy="320040"/>
          </a:xfrm>
          <a:prstGeom prst="rect">
            <a:avLst/>
          </a:prstGeom>
          <a:noFill/>
          <a:ln/>
        </p:spPr>
        <p:txBody>
          <a:bodyPr wrap="square" lIns="0" tIns="0" rIns="0" bIns="0" rtlCol="0" anchor="ctr"/>
          <a:lstStyle/>
          <a:p>
            <a:pPr algn="ctr" indent="0" marL="0">
              <a:buNone/>
            </a:pPr>
            <a:r>
              <a:rPr lang="en-US" sz="1050" i="1" dirty="0">
                <a:solidFill>
                  <a:schemeClr val="accent6"/>
                </a:solidFill>
              </a:rPr>
              <a:t>S2-S8 (Tian 2021; Lv 2023)</a:t>
            </a:r>
            <a:endParaRPr lang="en-US" sz="1050" dirty="0"/>
          </a:p>
        </p:txBody>
      </p:sp>
      <p:sp>
        <p:nvSpPr>
          <p:cNvPr id="20" name="Shape 18"/>
          <p:cNvSpPr/>
          <p:nvPr/>
        </p:nvSpPr>
        <p:spPr>
          <a:xfrm>
            <a:off x="1783080" y="5358384"/>
            <a:ext cx="4297680" cy="237744"/>
          </a:xfrm>
          <a:prstGeom prst="line">
            <a:avLst/>
          </a:prstGeom>
          <a:noFill/>
          <a:ln w="19050">
            <a:solidFill>
              <a:srgbClr val="7A7A7A"/>
            </a:solidFill>
            <a:prstDash val="solid"/>
            <a:tailEnd type="triangle"/>
          </a:ln>
        </p:spPr>
      </p:sp>
      <p:sp>
        <p:nvSpPr>
          <p:cNvPr id="21" name="Shape 19"/>
          <p:cNvSpPr/>
          <p:nvPr/>
        </p:nvSpPr>
        <p:spPr>
          <a:xfrm>
            <a:off x="3291840" y="2103120"/>
            <a:ext cx="2651760" cy="502920"/>
          </a:xfrm>
          <a:prstGeom prst="roundRect">
            <a:avLst>
              <a:gd name="adj" fmla="val 10909"/>
            </a:avLst>
          </a:prstGeom>
          <a:solidFill>
            <a:srgbClr val="2A6FB0"/>
          </a:solidFill>
          <a:ln w="9525">
            <a:solidFill>
              <a:srgbClr val="2A6FB0"/>
            </a:solidFill>
            <a:prstDash val="solid"/>
          </a:ln>
        </p:spPr>
      </p:sp>
      <p:sp>
        <p:nvSpPr>
          <p:cNvPr id="22" name="Text 20"/>
          <p:cNvSpPr txBox="1"/>
          <p:nvPr/>
        </p:nvSpPr>
        <p:spPr>
          <a:xfrm>
            <a:off x="3346704" y="2103120"/>
            <a:ext cx="2542032" cy="502920"/>
          </a:xfrm>
          <a:prstGeom prst="rect">
            <a:avLst/>
          </a:prstGeom>
          <a:noFill/>
          <a:ln/>
        </p:spPr>
        <p:txBody>
          <a:bodyPr wrap="square" lIns="254" tIns="254" rIns="254" bIns="254" rtlCol="0" anchor="ctr"/>
          <a:lstStyle/>
          <a:p>
            <a:pPr algn="ctr" indent="0" marL="0">
              <a:buNone/>
            </a:pPr>
            <a:r>
              <a:rPr lang="en-US" sz="1250" b="1" dirty="0">
                <a:solidFill>
                  <a:srgbClr val="FFFFFF"/>
                </a:solidFill>
              </a:rPr>
              <a:t>B. OFC</a:t>
            </a:r>
            <a:endParaRPr lang="en-US" sz="1250" dirty="0"/>
          </a:p>
        </p:txBody>
      </p:sp>
      <p:sp>
        <p:nvSpPr>
          <p:cNvPr id="23" name="Shape 21"/>
          <p:cNvSpPr/>
          <p:nvPr/>
        </p:nvSpPr>
        <p:spPr>
          <a:xfrm flipH="1">
            <a:off x="4617720" y="1828800"/>
            <a:ext cx="1463040" cy="274320"/>
          </a:xfrm>
          <a:prstGeom prst="line">
            <a:avLst/>
          </a:prstGeom>
          <a:noFill/>
          <a:ln w="19050">
            <a:solidFill>
              <a:srgbClr val="7A7A7A"/>
            </a:solidFill>
            <a:prstDash val="solid"/>
            <a:tailEnd type="triangle"/>
          </a:ln>
        </p:spPr>
      </p:sp>
      <p:sp>
        <p:nvSpPr>
          <p:cNvPr id="24" name="Shape 22"/>
          <p:cNvSpPr/>
          <p:nvPr/>
        </p:nvSpPr>
        <p:spPr>
          <a:xfrm>
            <a:off x="3429000" y="2743200"/>
            <a:ext cx="2377440" cy="457200"/>
          </a:xfrm>
          <a:prstGeom prst="roundRect">
            <a:avLst>
              <a:gd name="adj" fmla="val 12000"/>
            </a:avLst>
          </a:prstGeom>
          <a:solidFill>
            <a:srgbClr val="F6F8F5"/>
          </a:solidFill>
          <a:ln w="9525">
            <a:solidFill>
              <a:srgbClr val="C9D3C6"/>
            </a:solidFill>
            <a:prstDash val="solid"/>
          </a:ln>
        </p:spPr>
      </p:sp>
      <p:sp>
        <p:nvSpPr>
          <p:cNvPr id="25" name="Text 23"/>
          <p:cNvSpPr txBox="1"/>
          <p:nvPr/>
        </p:nvSpPr>
        <p:spPr>
          <a:xfrm>
            <a:off x="3483864" y="2743200"/>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DSF pool: top 5% on &gt;= 3 dates</a:t>
            </a:r>
            <a:endParaRPr lang="en-US" sz="1250" dirty="0"/>
          </a:p>
        </p:txBody>
      </p:sp>
      <p:sp>
        <p:nvSpPr>
          <p:cNvPr id="26" name="Shape 24"/>
          <p:cNvSpPr/>
          <p:nvPr/>
        </p:nvSpPr>
        <p:spPr>
          <a:xfrm>
            <a:off x="4617720" y="3200400"/>
            <a:ext cx="0" cy="109728"/>
          </a:xfrm>
          <a:prstGeom prst="line">
            <a:avLst/>
          </a:prstGeom>
          <a:noFill/>
          <a:ln w="19050">
            <a:solidFill>
              <a:srgbClr val="7A7A7A"/>
            </a:solidFill>
            <a:prstDash val="solid"/>
            <a:tailEnd type="triangle"/>
          </a:ln>
        </p:spPr>
      </p:sp>
      <p:sp>
        <p:nvSpPr>
          <p:cNvPr id="27" name="Shape 25"/>
          <p:cNvSpPr/>
          <p:nvPr/>
        </p:nvSpPr>
        <p:spPr>
          <a:xfrm>
            <a:off x="3429000" y="3310128"/>
            <a:ext cx="2377440" cy="457200"/>
          </a:xfrm>
          <a:prstGeom prst="roundRect">
            <a:avLst>
              <a:gd name="adj" fmla="val 12000"/>
            </a:avLst>
          </a:prstGeom>
          <a:solidFill>
            <a:srgbClr val="F6F8F5"/>
          </a:solidFill>
          <a:ln w="9525">
            <a:solidFill>
              <a:srgbClr val="C9D3C6"/>
            </a:solidFill>
            <a:prstDash val="solid"/>
          </a:ln>
        </p:spPr>
      </p:sp>
      <p:sp>
        <p:nvSpPr>
          <p:cNvPr id="28" name="Text 26"/>
          <p:cNvSpPr txBox="1"/>
          <p:nvPr/>
        </p:nvSpPr>
        <p:spPr>
          <a:xfrm>
            <a:off x="3483864" y="3310128"/>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redundancy + VIF &lt; 10</a:t>
            </a:r>
            <a:endParaRPr lang="en-US" sz="1250" dirty="0"/>
          </a:p>
        </p:txBody>
      </p:sp>
      <p:sp>
        <p:nvSpPr>
          <p:cNvPr id="29" name="Shape 27"/>
          <p:cNvSpPr/>
          <p:nvPr/>
        </p:nvSpPr>
        <p:spPr>
          <a:xfrm>
            <a:off x="4617720" y="3767328"/>
            <a:ext cx="0" cy="109728"/>
          </a:xfrm>
          <a:prstGeom prst="line">
            <a:avLst/>
          </a:prstGeom>
          <a:noFill/>
          <a:ln w="19050">
            <a:solidFill>
              <a:srgbClr val="7A7A7A"/>
            </a:solidFill>
            <a:prstDash val="solid"/>
            <a:tailEnd type="triangle"/>
          </a:ln>
        </p:spPr>
      </p:sp>
      <p:sp>
        <p:nvSpPr>
          <p:cNvPr id="30" name="Shape 28"/>
          <p:cNvSpPr/>
          <p:nvPr/>
        </p:nvSpPr>
        <p:spPr>
          <a:xfrm>
            <a:off x="3429000" y="3877056"/>
            <a:ext cx="2377440" cy="457200"/>
          </a:xfrm>
          <a:prstGeom prst="roundRect">
            <a:avLst>
              <a:gd name="adj" fmla="val 12000"/>
            </a:avLst>
          </a:prstGeom>
          <a:solidFill>
            <a:srgbClr val="F6F8F5"/>
          </a:solidFill>
          <a:ln w="9525">
            <a:solidFill>
              <a:srgbClr val="C9D3C6"/>
            </a:solidFill>
            <a:prstDash val="solid"/>
          </a:ln>
        </p:spPr>
      </p:sp>
      <p:sp>
        <p:nvSpPr>
          <p:cNvPr id="31" name="Text 29"/>
          <p:cNvSpPr txBox="1"/>
          <p:nvPr/>
        </p:nvSpPr>
        <p:spPr>
          <a:xfrm>
            <a:off x="3483864" y="3877056"/>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SFFS with LDA / kNN / SVM</a:t>
            </a:r>
            <a:endParaRPr lang="en-US" sz="1250" dirty="0"/>
          </a:p>
        </p:txBody>
      </p:sp>
      <p:sp>
        <p:nvSpPr>
          <p:cNvPr id="32" name="Shape 30"/>
          <p:cNvSpPr/>
          <p:nvPr/>
        </p:nvSpPr>
        <p:spPr>
          <a:xfrm>
            <a:off x="4617720" y="4334256"/>
            <a:ext cx="0" cy="109728"/>
          </a:xfrm>
          <a:prstGeom prst="line">
            <a:avLst/>
          </a:prstGeom>
          <a:noFill/>
          <a:ln w="19050">
            <a:solidFill>
              <a:srgbClr val="7A7A7A"/>
            </a:solidFill>
            <a:prstDash val="solid"/>
            <a:tailEnd type="triangle"/>
          </a:ln>
        </p:spPr>
      </p:sp>
      <p:sp>
        <p:nvSpPr>
          <p:cNvPr id="33" name="Shape 31"/>
          <p:cNvSpPr/>
          <p:nvPr/>
        </p:nvSpPr>
        <p:spPr>
          <a:xfrm>
            <a:off x="3429000" y="4443984"/>
            <a:ext cx="2377440" cy="457200"/>
          </a:xfrm>
          <a:prstGeom prst="roundRect">
            <a:avLst>
              <a:gd name="adj" fmla="val 12000"/>
            </a:avLst>
          </a:prstGeom>
          <a:solidFill>
            <a:srgbClr val="F6F8F5"/>
          </a:solidFill>
          <a:ln w="9525">
            <a:solidFill>
              <a:srgbClr val="C9D3C6"/>
            </a:solidFill>
            <a:prstDash val="solid"/>
          </a:ln>
        </p:spPr>
      </p:sp>
      <p:sp>
        <p:nvSpPr>
          <p:cNvPr id="34" name="Text 32"/>
          <p:cNvSpPr txBox="1"/>
          <p:nvPr/>
        </p:nvSpPr>
        <p:spPr>
          <a:xfrm>
            <a:off x="3483864" y="4443984"/>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OFC-LDA, OFC-kNN, OFC-SVM</a:t>
            </a:r>
            <a:endParaRPr lang="en-US" sz="1250" dirty="0"/>
          </a:p>
        </p:txBody>
      </p:sp>
      <p:sp>
        <p:nvSpPr>
          <p:cNvPr id="35" name="Text 33"/>
          <p:cNvSpPr txBox="1"/>
          <p:nvPr/>
        </p:nvSpPr>
        <p:spPr>
          <a:xfrm>
            <a:off x="3291840" y="5029200"/>
            <a:ext cx="2651760" cy="320040"/>
          </a:xfrm>
          <a:prstGeom prst="rect">
            <a:avLst/>
          </a:prstGeom>
          <a:noFill/>
          <a:ln/>
        </p:spPr>
        <p:txBody>
          <a:bodyPr wrap="square" lIns="0" tIns="0" rIns="0" bIns="0" rtlCol="0" anchor="ctr"/>
          <a:lstStyle/>
          <a:p>
            <a:pPr algn="ctr" indent="0" marL="0">
              <a:buNone/>
            </a:pPr>
            <a:r>
              <a:rPr lang="en-US" sz="1050" i="1" dirty="0">
                <a:solidFill>
                  <a:schemeClr val="accent6"/>
                </a:solidFill>
              </a:rPr>
              <a:t>E7 (Tian et al. 2021)</a:t>
            </a:r>
            <a:endParaRPr lang="en-US" sz="1050" dirty="0"/>
          </a:p>
        </p:txBody>
      </p:sp>
      <p:sp>
        <p:nvSpPr>
          <p:cNvPr id="36" name="Shape 34"/>
          <p:cNvSpPr/>
          <p:nvPr/>
        </p:nvSpPr>
        <p:spPr>
          <a:xfrm>
            <a:off x="4617720" y="5358384"/>
            <a:ext cx="1463040" cy="237744"/>
          </a:xfrm>
          <a:prstGeom prst="line">
            <a:avLst/>
          </a:prstGeom>
          <a:noFill/>
          <a:ln w="19050">
            <a:solidFill>
              <a:srgbClr val="7A7A7A"/>
            </a:solidFill>
            <a:prstDash val="solid"/>
            <a:tailEnd type="triangle"/>
          </a:ln>
        </p:spPr>
      </p:sp>
      <p:sp>
        <p:nvSpPr>
          <p:cNvPr id="37" name="Shape 35"/>
          <p:cNvSpPr/>
          <p:nvPr/>
        </p:nvSpPr>
        <p:spPr>
          <a:xfrm>
            <a:off x="6126480" y="2103120"/>
            <a:ext cx="2651760" cy="502920"/>
          </a:xfrm>
          <a:prstGeom prst="roundRect">
            <a:avLst>
              <a:gd name="adj" fmla="val 10909"/>
            </a:avLst>
          </a:prstGeom>
          <a:solidFill>
            <a:srgbClr val="D08A00"/>
          </a:solidFill>
          <a:ln w="9525">
            <a:solidFill>
              <a:srgbClr val="D08A00"/>
            </a:solidFill>
            <a:prstDash val="solid"/>
          </a:ln>
        </p:spPr>
      </p:sp>
      <p:sp>
        <p:nvSpPr>
          <p:cNvPr id="38" name="Text 36"/>
          <p:cNvSpPr txBox="1"/>
          <p:nvPr/>
        </p:nvSpPr>
        <p:spPr>
          <a:xfrm>
            <a:off x="6181344" y="2103120"/>
            <a:ext cx="2542032" cy="502920"/>
          </a:xfrm>
          <a:prstGeom prst="rect">
            <a:avLst/>
          </a:prstGeom>
          <a:noFill/>
          <a:ln/>
        </p:spPr>
        <p:txBody>
          <a:bodyPr wrap="square" lIns="254" tIns="254" rIns="254" bIns="254" rtlCol="0" anchor="ctr"/>
          <a:lstStyle/>
          <a:p>
            <a:pPr algn="ctr" indent="0" marL="0">
              <a:buNone/>
            </a:pPr>
            <a:r>
              <a:rPr lang="en-US" sz="1250" b="1" dirty="0">
                <a:solidFill>
                  <a:srgbClr val="FFFFFF"/>
                </a:solidFill>
              </a:rPr>
              <a:t>C. Published selectors</a:t>
            </a:r>
            <a:endParaRPr lang="en-US" sz="1250" dirty="0"/>
          </a:p>
        </p:txBody>
      </p:sp>
      <p:sp>
        <p:nvSpPr>
          <p:cNvPr id="39" name="Shape 37"/>
          <p:cNvSpPr/>
          <p:nvPr/>
        </p:nvSpPr>
        <p:spPr>
          <a:xfrm>
            <a:off x="6080760" y="1828800"/>
            <a:ext cx="1371600" cy="274320"/>
          </a:xfrm>
          <a:prstGeom prst="line">
            <a:avLst/>
          </a:prstGeom>
          <a:noFill/>
          <a:ln w="19050">
            <a:solidFill>
              <a:srgbClr val="7A7A7A"/>
            </a:solidFill>
            <a:prstDash val="solid"/>
            <a:tailEnd type="triangle"/>
          </a:ln>
        </p:spPr>
      </p:sp>
      <p:sp>
        <p:nvSpPr>
          <p:cNvPr id="40" name="Shape 38"/>
          <p:cNvSpPr/>
          <p:nvPr/>
        </p:nvSpPr>
        <p:spPr>
          <a:xfrm>
            <a:off x="6263640" y="2743200"/>
            <a:ext cx="2377440" cy="457200"/>
          </a:xfrm>
          <a:prstGeom prst="roundRect">
            <a:avLst>
              <a:gd name="adj" fmla="val 12000"/>
            </a:avLst>
          </a:prstGeom>
          <a:solidFill>
            <a:srgbClr val="F6F8F5"/>
          </a:solidFill>
          <a:ln w="9525">
            <a:solidFill>
              <a:srgbClr val="C9D3C6"/>
            </a:solidFill>
            <a:prstDash val="solid"/>
          </a:ln>
        </p:spPr>
      </p:sp>
      <p:sp>
        <p:nvSpPr>
          <p:cNvPr id="41" name="Text 39"/>
          <p:cNvSpPr txBox="1"/>
          <p:nvPr/>
        </p:nvSpPr>
        <p:spPr>
          <a:xfrm>
            <a:off x="6318504" y="2743200"/>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SVM-RFE, LASSO, CARS</a:t>
            </a:r>
            <a:endParaRPr lang="en-US" sz="1250" dirty="0"/>
          </a:p>
        </p:txBody>
      </p:sp>
      <p:sp>
        <p:nvSpPr>
          <p:cNvPr id="42" name="Shape 40"/>
          <p:cNvSpPr/>
          <p:nvPr/>
        </p:nvSpPr>
        <p:spPr>
          <a:xfrm>
            <a:off x="7452360" y="3200400"/>
            <a:ext cx="0" cy="109728"/>
          </a:xfrm>
          <a:prstGeom prst="line">
            <a:avLst/>
          </a:prstGeom>
          <a:noFill/>
          <a:ln w="19050">
            <a:solidFill>
              <a:srgbClr val="7A7A7A"/>
            </a:solidFill>
            <a:prstDash val="solid"/>
            <a:tailEnd type="triangle"/>
          </a:ln>
        </p:spPr>
      </p:sp>
      <p:sp>
        <p:nvSpPr>
          <p:cNvPr id="43" name="Shape 41"/>
          <p:cNvSpPr/>
          <p:nvPr/>
        </p:nvSpPr>
        <p:spPr>
          <a:xfrm>
            <a:off x="6263640" y="3310128"/>
            <a:ext cx="2377440" cy="457200"/>
          </a:xfrm>
          <a:prstGeom prst="roundRect">
            <a:avLst>
              <a:gd name="adj" fmla="val 12000"/>
            </a:avLst>
          </a:prstGeom>
          <a:solidFill>
            <a:srgbClr val="F6F8F5"/>
          </a:solidFill>
          <a:ln w="9525">
            <a:solidFill>
              <a:srgbClr val="C9D3C6"/>
            </a:solidFill>
            <a:prstDash val="solid"/>
          </a:ln>
        </p:spPr>
      </p:sp>
      <p:sp>
        <p:nvSpPr>
          <p:cNvPr id="44" name="Text 42"/>
          <p:cNvSpPr txBox="1"/>
          <p:nvPr/>
        </p:nvSpPr>
        <p:spPr>
          <a:xfrm>
            <a:off x="6318504" y="3310128"/>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ReliefF, SFFS (QDA), Borda</a:t>
            </a:r>
            <a:endParaRPr lang="en-US" sz="1250" dirty="0"/>
          </a:p>
        </p:txBody>
      </p:sp>
      <p:sp>
        <p:nvSpPr>
          <p:cNvPr id="45" name="Shape 43"/>
          <p:cNvSpPr/>
          <p:nvPr/>
        </p:nvSpPr>
        <p:spPr>
          <a:xfrm>
            <a:off x="7452360" y="3767328"/>
            <a:ext cx="0" cy="109728"/>
          </a:xfrm>
          <a:prstGeom prst="line">
            <a:avLst/>
          </a:prstGeom>
          <a:noFill/>
          <a:ln w="19050">
            <a:solidFill>
              <a:srgbClr val="7A7A7A"/>
            </a:solidFill>
            <a:prstDash val="solid"/>
            <a:tailEnd type="triangle"/>
          </a:ln>
        </p:spPr>
      </p:sp>
      <p:sp>
        <p:nvSpPr>
          <p:cNvPr id="46" name="Shape 44"/>
          <p:cNvSpPr/>
          <p:nvPr/>
        </p:nvSpPr>
        <p:spPr>
          <a:xfrm>
            <a:off x="6263640" y="3877056"/>
            <a:ext cx="2377440" cy="457200"/>
          </a:xfrm>
          <a:prstGeom prst="roundRect">
            <a:avLst>
              <a:gd name="adj" fmla="val 12000"/>
            </a:avLst>
          </a:prstGeom>
          <a:solidFill>
            <a:srgbClr val="F6F8F5"/>
          </a:solidFill>
          <a:ln w="9525">
            <a:solidFill>
              <a:srgbClr val="C9D3C6"/>
            </a:solidFill>
            <a:prstDash val="solid"/>
          </a:ln>
        </p:spPr>
      </p:sp>
      <p:sp>
        <p:nvSpPr>
          <p:cNvPr id="47" name="Text 45"/>
          <p:cNvSpPr txBox="1"/>
          <p:nvPr/>
        </p:nvSpPr>
        <p:spPr>
          <a:xfrm>
            <a:off x="6318504" y="3877056"/>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redundancy-controlled top-k</a:t>
            </a:r>
            <a:endParaRPr lang="en-US" sz="1250" dirty="0"/>
          </a:p>
        </p:txBody>
      </p:sp>
      <p:sp>
        <p:nvSpPr>
          <p:cNvPr id="48" name="Shape 46"/>
          <p:cNvSpPr/>
          <p:nvPr/>
        </p:nvSpPr>
        <p:spPr>
          <a:xfrm>
            <a:off x="7452360" y="4334256"/>
            <a:ext cx="0" cy="109728"/>
          </a:xfrm>
          <a:prstGeom prst="line">
            <a:avLst/>
          </a:prstGeom>
          <a:noFill/>
          <a:ln w="19050">
            <a:solidFill>
              <a:srgbClr val="7A7A7A"/>
            </a:solidFill>
            <a:prstDash val="solid"/>
            <a:tailEnd type="triangle"/>
          </a:ln>
        </p:spPr>
      </p:sp>
      <p:sp>
        <p:nvSpPr>
          <p:cNvPr id="49" name="Shape 47"/>
          <p:cNvSpPr/>
          <p:nvPr/>
        </p:nvSpPr>
        <p:spPr>
          <a:xfrm>
            <a:off x="6263640" y="4443984"/>
            <a:ext cx="2377440" cy="457200"/>
          </a:xfrm>
          <a:prstGeom prst="roundRect">
            <a:avLst>
              <a:gd name="adj" fmla="val 12000"/>
            </a:avLst>
          </a:prstGeom>
          <a:solidFill>
            <a:srgbClr val="F6F8F5"/>
          </a:solidFill>
          <a:ln w="9525">
            <a:solidFill>
              <a:srgbClr val="C9D3C6"/>
            </a:solidFill>
            <a:prstDash val="solid"/>
          </a:ln>
        </p:spPr>
      </p:sp>
      <p:sp>
        <p:nvSpPr>
          <p:cNvPr id="50" name="Text 48"/>
          <p:cNvSpPr txBox="1"/>
          <p:nvPr/>
        </p:nvSpPr>
        <p:spPr>
          <a:xfrm>
            <a:off x="6318504" y="4443984"/>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k = 5, 10, 15</a:t>
            </a:r>
            <a:endParaRPr lang="en-US" sz="1250" dirty="0"/>
          </a:p>
        </p:txBody>
      </p:sp>
      <p:sp>
        <p:nvSpPr>
          <p:cNvPr id="51" name="Text 49"/>
          <p:cNvSpPr txBox="1"/>
          <p:nvPr/>
        </p:nvSpPr>
        <p:spPr>
          <a:xfrm>
            <a:off x="6126480" y="5029200"/>
            <a:ext cx="2651760" cy="320040"/>
          </a:xfrm>
          <a:prstGeom prst="rect">
            <a:avLst/>
          </a:prstGeom>
          <a:noFill/>
          <a:ln/>
        </p:spPr>
        <p:txBody>
          <a:bodyPr wrap="square" lIns="0" tIns="0" rIns="0" bIns="0" rtlCol="0" anchor="ctr"/>
          <a:lstStyle/>
          <a:p>
            <a:pPr algn="ctr" indent="0" marL="0">
              <a:buNone/>
            </a:pPr>
            <a:r>
              <a:rPr lang="en-US" sz="1050" i="1" dirty="0">
                <a:solidFill>
                  <a:schemeClr val="accent6"/>
                </a:solidFill>
              </a:rPr>
              <a:t>E8 (Panda 2026)</a:t>
            </a:r>
            <a:endParaRPr lang="en-US" sz="1050" dirty="0"/>
          </a:p>
        </p:txBody>
      </p:sp>
      <p:sp>
        <p:nvSpPr>
          <p:cNvPr id="52" name="Shape 50"/>
          <p:cNvSpPr/>
          <p:nvPr/>
        </p:nvSpPr>
        <p:spPr>
          <a:xfrm flipH="1">
            <a:off x="6080760" y="5358384"/>
            <a:ext cx="1371600" cy="237744"/>
          </a:xfrm>
          <a:prstGeom prst="line">
            <a:avLst/>
          </a:prstGeom>
          <a:noFill/>
          <a:ln w="19050">
            <a:solidFill>
              <a:srgbClr val="7A7A7A"/>
            </a:solidFill>
            <a:prstDash val="solid"/>
            <a:tailEnd type="triangle"/>
          </a:ln>
        </p:spPr>
      </p:sp>
      <p:sp>
        <p:nvSpPr>
          <p:cNvPr id="53" name="Shape 51"/>
          <p:cNvSpPr/>
          <p:nvPr/>
        </p:nvSpPr>
        <p:spPr>
          <a:xfrm>
            <a:off x="8961120" y="2103120"/>
            <a:ext cx="2651760" cy="502920"/>
          </a:xfrm>
          <a:prstGeom prst="roundRect">
            <a:avLst>
              <a:gd name="adj" fmla="val 10909"/>
            </a:avLst>
          </a:prstGeom>
          <a:solidFill>
            <a:srgbClr val="B03A2E"/>
          </a:solidFill>
          <a:ln w="9525">
            <a:solidFill>
              <a:srgbClr val="B03A2E"/>
            </a:solidFill>
            <a:prstDash val="solid"/>
          </a:ln>
        </p:spPr>
      </p:sp>
      <p:sp>
        <p:nvSpPr>
          <p:cNvPr id="54" name="Text 52"/>
          <p:cNvSpPr txBox="1"/>
          <p:nvPr/>
        </p:nvSpPr>
        <p:spPr>
          <a:xfrm>
            <a:off x="9015984" y="2103120"/>
            <a:ext cx="2542032" cy="502920"/>
          </a:xfrm>
          <a:prstGeom prst="rect">
            <a:avLst/>
          </a:prstGeom>
          <a:noFill/>
          <a:ln/>
        </p:spPr>
        <p:txBody>
          <a:bodyPr wrap="square" lIns="254" tIns="254" rIns="254" bIns="254" rtlCol="0" anchor="ctr"/>
          <a:lstStyle/>
          <a:p>
            <a:pPr algn="ctr" indent="0" marL="0">
              <a:buNone/>
            </a:pPr>
            <a:r>
              <a:rPr lang="en-US" sz="1250" b="1" dirty="0">
                <a:solidFill>
                  <a:srgbClr val="FFFFFF"/>
                </a:solidFill>
              </a:rPr>
              <a:t>D. Band selection</a:t>
            </a:r>
            <a:endParaRPr lang="en-US" sz="1250" dirty="0"/>
          </a:p>
        </p:txBody>
      </p:sp>
      <p:sp>
        <p:nvSpPr>
          <p:cNvPr id="55" name="Shape 53"/>
          <p:cNvSpPr/>
          <p:nvPr/>
        </p:nvSpPr>
        <p:spPr>
          <a:xfrm>
            <a:off x="6080760" y="1828800"/>
            <a:ext cx="4206240" cy="274320"/>
          </a:xfrm>
          <a:prstGeom prst="line">
            <a:avLst/>
          </a:prstGeom>
          <a:noFill/>
          <a:ln w="19050">
            <a:solidFill>
              <a:srgbClr val="7A7A7A"/>
            </a:solidFill>
            <a:prstDash val="solid"/>
            <a:tailEnd type="triangle"/>
          </a:ln>
        </p:spPr>
      </p:sp>
      <p:sp>
        <p:nvSpPr>
          <p:cNvPr id="56" name="Shape 54"/>
          <p:cNvSpPr/>
          <p:nvPr/>
        </p:nvSpPr>
        <p:spPr>
          <a:xfrm>
            <a:off x="9098280" y="2743200"/>
            <a:ext cx="2377440" cy="457200"/>
          </a:xfrm>
          <a:prstGeom prst="roundRect">
            <a:avLst>
              <a:gd name="adj" fmla="val 12000"/>
            </a:avLst>
          </a:prstGeom>
          <a:solidFill>
            <a:srgbClr val="F6F8F5"/>
          </a:solidFill>
          <a:ln w="9525">
            <a:solidFill>
              <a:srgbClr val="C9D3C6"/>
            </a:solidFill>
            <a:prstDash val="solid"/>
          </a:ln>
        </p:spPr>
      </p:sp>
      <p:sp>
        <p:nvSpPr>
          <p:cNvPr id="57" name="Text 55"/>
          <p:cNvSpPr txBox="1"/>
          <p:nvPr/>
        </p:nvSpPr>
        <p:spPr>
          <a:xfrm>
            <a:off x="9153144" y="2743200"/>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SNV 10-nm bands</a:t>
            </a:r>
            <a:endParaRPr lang="en-US" sz="1250" dirty="0"/>
          </a:p>
        </p:txBody>
      </p:sp>
      <p:sp>
        <p:nvSpPr>
          <p:cNvPr id="58" name="Shape 56"/>
          <p:cNvSpPr/>
          <p:nvPr/>
        </p:nvSpPr>
        <p:spPr>
          <a:xfrm>
            <a:off x="10287000" y="3200400"/>
            <a:ext cx="0" cy="109728"/>
          </a:xfrm>
          <a:prstGeom prst="line">
            <a:avLst/>
          </a:prstGeom>
          <a:noFill/>
          <a:ln w="19050">
            <a:solidFill>
              <a:srgbClr val="7A7A7A"/>
            </a:solidFill>
            <a:prstDash val="solid"/>
            <a:tailEnd type="triangle"/>
          </a:ln>
        </p:spPr>
      </p:sp>
      <p:sp>
        <p:nvSpPr>
          <p:cNvPr id="59" name="Shape 57"/>
          <p:cNvSpPr/>
          <p:nvPr/>
        </p:nvSpPr>
        <p:spPr>
          <a:xfrm>
            <a:off x="9098280" y="3310128"/>
            <a:ext cx="2377440" cy="457200"/>
          </a:xfrm>
          <a:prstGeom prst="roundRect">
            <a:avLst>
              <a:gd name="adj" fmla="val 12000"/>
            </a:avLst>
          </a:prstGeom>
          <a:solidFill>
            <a:srgbClr val="F6F8F5"/>
          </a:solidFill>
          <a:ln w="9525">
            <a:solidFill>
              <a:srgbClr val="C9D3C6"/>
            </a:solidFill>
            <a:prstDash val="solid"/>
          </a:ln>
        </p:spPr>
      </p:sp>
      <p:sp>
        <p:nvSpPr>
          <p:cNvPr id="60" name="Text 58"/>
          <p:cNvSpPr txBox="1"/>
          <p:nvPr/>
        </p:nvSpPr>
        <p:spPr>
          <a:xfrm>
            <a:off x="9153144" y="3310128"/>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SPA projections</a:t>
            </a:r>
            <a:endParaRPr lang="en-US" sz="1250" dirty="0"/>
          </a:p>
        </p:txBody>
      </p:sp>
      <p:sp>
        <p:nvSpPr>
          <p:cNvPr id="61" name="Shape 59"/>
          <p:cNvSpPr/>
          <p:nvPr/>
        </p:nvSpPr>
        <p:spPr>
          <a:xfrm>
            <a:off x="10287000" y="3767328"/>
            <a:ext cx="0" cy="109728"/>
          </a:xfrm>
          <a:prstGeom prst="line">
            <a:avLst/>
          </a:prstGeom>
          <a:noFill/>
          <a:ln w="19050">
            <a:solidFill>
              <a:srgbClr val="7A7A7A"/>
            </a:solidFill>
            <a:prstDash val="solid"/>
            <a:tailEnd type="triangle"/>
          </a:ln>
        </p:spPr>
      </p:sp>
      <p:sp>
        <p:nvSpPr>
          <p:cNvPr id="62" name="Shape 60"/>
          <p:cNvSpPr/>
          <p:nvPr/>
        </p:nvSpPr>
        <p:spPr>
          <a:xfrm>
            <a:off x="9098280" y="3877056"/>
            <a:ext cx="2377440" cy="457200"/>
          </a:xfrm>
          <a:prstGeom prst="roundRect">
            <a:avLst>
              <a:gd name="adj" fmla="val 12000"/>
            </a:avLst>
          </a:prstGeom>
          <a:solidFill>
            <a:srgbClr val="F6F8F5"/>
          </a:solidFill>
          <a:ln w="9525">
            <a:solidFill>
              <a:srgbClr val="C9D3C6"/>
            </a:solidFill>
            <a:prstDash val="solid"/>
          </a:ln>
        </p:spPr>
      </p:sp>
      <p:sp>
        <p:nvSpPr>
          <p:cNvPr id="63" name="Text 61"/>
          <p:cNvSpPr txBox="1"/>
          <p:nvPr/>
        </p:nvSpPr>
        <p:spPr>
          <a:xfrm>
            <a:off x="9153144" y="3877056"/>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GA-PLS (30 x 25)</a:t>
            </a:r>
            <a:endParaRPr lang="en-US" sz="1250" dirty="0"/>
          </a:p>
        </p:txBody>
      </p:sp>
      <p:sp>
        <p:nvSpPr>
          <p:cNvPr id="64" name="Shape 62"/>
          <p:cNvSpPr/>
          <p:nvPr/>
        </p:nvSpPr>
        <p:spPr>
          <a:xfrm>
            <a:off x="10287000" y="4334256"/>
            <a:ext cx="0" cy="109728"/>
          </a:xfrm>
          <a:prstGeom prst="line">
            <a:avLst/>
          </a:prstGeom>
          <a:noFill/>
          <a:ln w="19050">
            <a:solidFill>
              <a:srgbClr val="7A7A7A"/>
            </a:solidFill>
            <a:prstDash val="solid"/>
            <a:tailEnd type="triangle"/>
          </a:ln>
        </p:spPr>
      </p:sp>
      <p:sp>
        <p:nvSpPr>
          <p:cNvPr id="65" name="Shape 63"/>
          <p:cNvSpPr/>
          <p:nvPr/>
        </p:nvSpPr>
        <p:spPr>
          <a:xfrm>
            <a:off x="9098280" y="4443984"/>
            <a:ext cx="2377440" cy="457200"/>
          </a:xfrm>
          <a:prstGeom prst="roundRect">
            <a:avLst>
              <a:gd name="adj" fmla="val 12000"/>
            </a:avLst>
          </a:prstGeom>
          <a:solidFill>
            <a:srgbClr val="F6F8F5"/>
          </a:solidFill>
          <a:ln w="9525">
            <a:solidFill>
              <a:srgbClr val="C9D3C6"/>
            </a:solidFill>
            <a:prstDash val="solid"/>
          </a:ln>
        </p:spPr>
      </p:sp>
      <p:sp>
        <p:nvSpPr>
          <p:cNvPr id="66" name="Text 64"/>
          <p:cNvSpPr txBox="1"/>
          <p:nvPr/>
        </p:nvSpPr>
        <p:spPr>
          <a:xfrm>
            <a:off x="9153144" y="4443984"/>
            <a:ext cx="2267712" cy="457200"/>
          </a:xfrm>
          <a:prstGeom prst="rect">
            <a:avLst/>
          </a:prstGeom>
          <a:noFill/>
          <a:ln/>
        </p:spPr>
        <p:txBody>
          <a:bodyPr wrap="square" lIns="254" tIns="254" rIns="254" bIns="254" rtlCol="0" anchor="ctr"/>
          <a:lstStyle/>
          <a:p>
            <a:pPr algn="ctr" indent="0" marL="0">
              <a:buNone/>
            </a:pPr>
            <a:r>
              <a:rPr lang="en-US" sz="1250" b="1" dirty="0">
                <a:solidFill>
                  <a:srgbClr val="1F3D2B"/>
                </a:solidFill>
              </a:rPr>
              <a:t>inner-CV size</a:t>
            </a:r>
            <a:endParaRPr lang="en-US" sz="1250" dirty="0"/>
          </a:p>
        </p:txBody>
      </p:sp>
      <p:sp>
        <p:nvSpPr>
          <p:cNvPr id="67" name="Text 65"/>
          <p:cNvSpPr txBox="1"/>
          <p:nvPr/>
        </p:nvSpPr>
        <p:spPr>
          <a:xfrm>
            <a:off x="8961120" y="5029200"/>
            <a:ext cx="2651760" cy="320040"/>
          </a:xfrm>
          <a:prstGeom prst="rect">
            <a:avLst/>
          </a:prstGeom>
          <a:noFill/>
          <a:ln/>
        </p:spPr>
        <p:txBody>
          <a:bodyPr wrap="square" lIns="0" tIns="0" rIns="0" bIns="0" rtlCol="0" anchor="ctr"/>
          <a:lstStyle/>
          <a:p>
            <a:pPr algn="ctr" indent="0" marL="0">
              <a:buNone/>
            </a:pPr>
            <a:r>
              <a:rPr lang="en-US" sz="1050" i="1" dirty="0">
                <a:solidFill>
                  <a:schemeClr val="accent6"/>
                </a:solidFill>
              </a:rPr>
              <a:t>S9, S10 (Zhu 2017; Mandal 2023)</a:t>
            </a:r>
            <a:endParaRPr lang="en-US" sz="1050" dirty="0"/>
          </a:p>
        </p:txBody>
      </p:sp>
      <p:sp>
        <p:nvSpPr>
          <p:cNvPr id="68" name="Shape 66"/>
          <p:cNvSpPr/>
          <p:nvPr/>
        </p:nvSpPr>
        <p:spPr>
          <a:xfrm flipH="1">
            <a:off x="6080760" y="5358384"/>
            <a:ext cx="4206240" cy="237744"/>
          </a:xfrm>
          <a:prstGeom prst="line">
            <a:avLst/>
          </a:prstGeom>
          <a:noFill/>
          <a:ln w="19050">
            <a:solidFill>
              <a:srgbClr val="7A7A7A"/>
            </a:solidFill>
            <a:prstDash val="solid"/>
            <a:tailEnd type="triangle"/>
          </a:ln>
        </p:spPr>
      </p:sp>
      <p:sp>
        <p:nvSpPr>
          <p:cNvPr id="69" name="Shape 67"/>
          <p:cNvSpPr/>
          <p:nvPr/>
        </p:nvSpPr>
        <p:spPr>
          <a:xfrm>
            <a:off x="3291840" y="5596128"/>
            <a:ext cx="5577840" cy="502920"/>
          </a:xfrm>
          <a:prstGeom prst="roundRect">
            <a:avLst>
              <a:gd name="adj" fmla="val 10909"/>
            </a:avLst>
          </a:prstGeom>
          <a:solidFill>
            <a:srgbClr val="1F3D2B"/>
          </a:solidFill>
          <a:ln w="9525">
            <a:solidFill>
              <a:srgbClr val="1F3D2B"/>
            </a:solidFill>
            <a:prstDash val="solid"/>
          </a:ln>
        </p:spPr>
      </p:sp>
      <p:sp>
        <p:nvSpPr>
          <p:cNvPr id="70" name="Text 68"/>
          <p:cNvSpPr txBox="1"/>
          <p:nvPr/>
        </p:nvSpPr>
        <p:spPr>
          <a:xfrm>
            <a:off x="3346704" y="5596128"/>
            <a:ext cx="5468112" cy="502920"/>
          </a:xfrm>
          <a:prstGeom prst="rect">
            <a:avLst/>
          </a:prstGeom>
          <a:noFill/>
          <a:ln/>
        </p:spPr>
        <p:txBody>
          <a:bodyPr wrap="square" lIns="254" tIns="254" rIns="254" bIns="254" rtlCol="0" anchor="ctr"/>
          <a:lstStyle/>
          <a:p>
            <a:pPr algn="ctr" indent="0" marL="0">
              <a:buNone/>
            </a:pPr>
            <a:r>
              <a:rPr lang="en-US" sz="1250" b="1" dirty="0">
                <a:solidFill>
                  <a:srgbClr val="FFFFFF"/>
                </a:solidFill>
              </a:rPr>
              <a:t>Selected features -&gt; classifiers (Step 7) -&gt; tested on held-out plots (Step 8)</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Robust feature selection (inside every training fold)</a:t>
            </a:r>
            <a:endParaRPr lang="en-US" sz="2800" dirty="0"/>
          </a:p>
        </p:txBody>
      </p:sp>
      <p:sp>
        <p:nvSpPr>
          <p:cNvPr id="3" name="Shape 1"/>
          <p:cNvSpPr/>
          <p:nvPr/>
        </p:nvSpPr>
        <p:spPr>
          <a:xfrm>
            <a:off x="457200" y="1234440"/>
            <a:ext cx="566928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594360" y="138988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88720" y="1234440"/>
            <a:ext cx="4846320" cy="777240"/>
          </a:xfrm>
          <a:prstGeom prst="rect">
            <a:avLst/>
          </a:prstGeom>
          <a:noFill/>
          <a:ln/>
        </p:spPr>
        <p:txBody>
          <a:bodyPr wrap="square" lIns="0" tIns="0" rIns="0" bIns="0" rtlCol="0" anchor="ctr"/>
          <a:lstStyle/>
          <a:p>
            <a:pPr indent="0" marL="0">
              <a:buNone/>
            </a:pPr>
            <a:r>
              <a:rPr lang="en-US" sz="1300" b="1" dirty="0">
                <a:solidFill>
                  <a:srgbClr val="1F3D2B"/>
                </a:solidFill>
              </a:rPr>
              <a:t>ReliefF per date:  </a:t>
            </a:r>
            <a:pPr indent="0" marL="0">
              <a:buNone/>
            </a:pPr>
            <a:r>
              <a:rPr lang="en-US" sz="1300" dirty="0">
                <a:solidFill>
                  <a:srgbClr val="000000"/>
                </a:solidFill>
              </a:rPr>
              <a:t>Rank all features separately within each date (k = 10 neighbours)</a:t>
            </a:r>
            <a:endParaRPr lang="en-US" sz="1300" dirty="0"/>
          </a:p>
        </p:txBody>
      </p:sp>
      <p:sp>
        <p:nvSpPr>
          <p:cNvPr id="6" name="Shape 4"/>
          <p:cNvSpPr/>
          <p:nvPr/>
        </p:nvSpPr>
        <p:spPr>
          <a:xfrm>
            <a:off x="457200" y="2167128"/>
            <a:ext cx="5669280" cy="777240"/>
          </a:xfrm>
          <a:prstGeom prst="roundRect">
            <a:avLst>
              <a:gd name="adj" fmla="val 9412"/>
            </a:avLst>
          </a:prstGeom>
          <a:solidFill>
            <a:schemeClr val="bg2"/>
          </a:solidFill>
          <a:ln w="12700">
            <a:solidFill>
              <a:schemeClr val="bg2"/>
            </a:solidFill>
            <a:prstDash val="solid"/>
          </a:ln>
        </p:spPr>
      </p:sp>
      <p:sp>
        <p:nvSpPr>
          <p:cNvPr id="7" name="Text 5"/>
          <p:cNvSpPr txBox="1"/>
          <p:nvPr/>
        </p:nvSpPr>
        <p:spPr>
          <a:xfrm>
            <a:off x="594360" y="2322576"/>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188720" y="2167128"/>
            <a:ext cx="4846320" cy="777240"/>
          </a:xfrm>
          <a:prstGeom prst="rect">
            <a:avLst/>
          </a:prstGeom>
          <a:noFill/>
          <a:ln/>
        </p:spPr>
        <p:txBody>
          <a:bodyPr wrap="square" lIns="0" tIns="0" rIns="0" bIns="0" rtlCol="0" anchor="ctr"/>
          <a:lstStyle/>
          <a:p>
            <a:pPr indent="0" marL="0">
              <a:buNone/>
            </a:pPr>
            <a:r>
              <a:rPr lang="en-US" sz="1300" b="1" dirty="0">
                <a:solidFill>
                  <a:srgbClr val="1F3D2B"/>
                </a:solidFill>
              </a:rPr>
              <a:t>Temporal stability:  </a:t>
            </a:r>
            <a:pPr indent="0" marL="0">
              <a:buNone/>
            </a:pPr>
            <a:r>
              <a:rPr lang="en-US" sz="1300" dirty="0">
                <a:solidFill>
                  <a:srgbClr val="000000"/>
                </a:solidFill>
              </a:rPr>
              <a:t>Keep features in the top 10% on &gt;= 3 of 4 dates</a:t>
            </a:r>
            <a:endParaRPr lang="en-US" sz="1300" dirty="0"/>
          </a:p>
        </p:txBody>
      </p:sp>
      <p:sp>
        <p:nvSpPr>
          <p:cNvPr id="9" name="Shape 7"/>
          <p:cNvSpPr/>
          <p:nvPr/>
        </p:nvSpPr>
        <p:spPr>
          <a:xfrm>
            <a:off x="457200" y="3099816"/>
            <a:ext cx="5669280" cy="777240"/>
          </a:xfrm>
          <a:prstGeom prst="roundRect">
            <a:avLst>
              <a:gd name="adj" fmla="val 9412"/>
            </a:avLst>
          </a:prstGeom>
          <a:solidFill>
            <a:schemeClr val="bg2"/>
          </a:solidFill>
          <a:ln w="12700">
            <a:solidFill>
              <a:schemeClr val="bg2"/>
            </a:solidFill>
            <a:prstDash val="solid"/>
          </a:ln>
        </p:spPr>
      </p:sp>
      <p:sp>
        <p:nvSpPr>
          <p:cNvPr id="10" name="Text 8"/>
          <p:cNvSpPr txBox="1"/>
          <p:nvPr/>
        </p:nvSpPr>
        <p:spPr>
          <a:xfrm>
            <a:off x="594360" y="3255264"/>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188720" y="3099816"/>
            <a:ext cx="4846320" cy="777240"/>
          </a:xfrm>
          <a:prstGeom prst="rect">
            <a:avLst/>
          </a:prstGeom>
          <a:noFill/>
          <a:ln/>
        </p:spPr>
        <p:txBody>
          <a:bodyPr wrap="square" lIns="0" tIns="0" rIns="0" bIns="0" rtlCol="0" anchor="ctr"/>
          <a:lstStyle/>
          <a:p>
            <a:pPr indent="0" marL="0">
              <a:buNone/>
            </a:pPr>
            <a:r>
              <a:rPr lang="en-US" sz="1300" b="1" dirty="0">
                <a:solidFill>
                  <a:srgbClr val="1F3D2B"/>
                </a:solidFill>
              </a:rPr>
              <a:t>Redundancy:  </a:t>
            </a:r>
            <a:pPr indent="0" marL="0">
              <a:buNone/>
            </a:pPr>
            <a:r>
              <a:rPr lang="en-US" sz="1300" dirty="0">
                <a:solidFill>
                  <a:srgbClr val="000000"/>
                </a:solidFill>
              </a:rPr>
              <a:t>Drop features with |r| &gt;= 0.98 to a better-ranked feature</a:t>
            </a:r>
            <a:endParaRPr lang="en-US" sz="1300" dirty="0"/>
          </a:p>
        </p:txBody>
      </p:sp>
      <p:sp>
        <p:nvSpPr>
          <p:cNvPr id="12" name="Shape 10"/>
          <p:cNvSpPr/>
          <p:nvPr/>
        </p:nvSpPr>
        <p:spPr>
          <a:xfrm>
            <a:off x="457200" y="4032504"/>
            <a:ext cx="5669280" cy="777240"/>
          </a:xfrm>
          <a:prstGeom prst="roundRect">
            <a:avLst>
              <a:gd name="adj" fmla="val 9412"/>
            </a:avLst>
          </a:prstGeom>
          <a:solidFill>
            <a:schemeClr val="bg2"/>
          </a:solidFill>
          <a:ln w="12700">
            <a:solidFill>
              <a:schemeClr val="bg2"/>
            </a:solidFill>
            <a:prstDash val="solid"/>
          </a:ln>
        </p:spPr>
      </p:sp>
      <p:sp>
        <p:nvSpPr>
          <p:cNvPr id="13" name="Text 11"/>
          <p:cNvSpPr txBox="1"/>
          <p:nvPr/>
        </p:nvSpPr>
        <p:spPr>
          <a:xfrm>
            <a:off x="594360" y="4187952"/>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188720" y="4032504"/>
            <a:ext cx="4846320" cy="777240"/>
          </a:xfrm>
          <a:prstGeom prst="rect">
            <a:avLst/>
          </a:prstGeom>
          <a:noFill/>
          <a:ln/>
        </p:spPr>
        <p:txBody>
          <a:bodyPr wrap="square" lIns="0" tIns="0" rIns="0" bIns="0" rtlCol="0" anchor="ctr"/>
          <a:lstStyle/>
          <a:p>
            <a:pPr indent="0" marL="0">
              <a:buNone/>
            </a:pPr>
            <a:r>
              <a:rPr lang="en-US" sz="1300" b="1" dirty="0">
                <a:solidFill>
                  <a:srgbClr val="1F3D2B"/>
                </a:solidFill>
              </a:rPr>
              <a:t>VIF &lt; 10:  </a:t>
            </a:r>
            <a:pPr indent="0" marL="0">
              <a:buNone/>
            </a:pPr>
            <a:r>
              <a:rPr lang="en-US" sz="1300" dirty="0">
                <a:solidFill>
                  <a:srgbClr val="000000"/>
                </a:solidFill>
              </a:rPr>
              <a:t>Iteratively remove collinear features (diagnostics in R15g-h)</a:t>
            </a:r>
            <a:endParaRPr lang="en-US" sz="1300" dirty="0"/>
          </a:p>
        </p:txBody>
      </p:sp>
      <p:sp>
        <p:nvSpPr>
          <p:cNvPr id="15" name="Shape 13"/>
          <p:cNvSpPr/>
          <p:nvPr/>
        </p:nvSpPr>
        <p:spPr>
          <a:xfrm>
            <a:off x="457200" y="4965192"/>
            <a:ext cx="5669280" cy="777240"/>
          </a:xfrm>
          <a:prstGeom prst="roundRect">
            <a:avLst>
              <a:gd name="adj" fmla="val 9412"/>
            </a:avLst>
          </a:prstGeom>
          <a:solidFill>
            <a:schemeClr val="bg2"/>
          </a:solidFill>
          <a:ln w="12700">
            <a:solidFill>
              <a:schemeClr val="bg2"/>
            </a:solidFill>
            <a:prstDash val="solid"/>
          </a:ln>
        </p:spPr>
      </p:sp>
      <p:sp>
        <p:nvSpPr>
          <p:cNvPr id="16" name="Text 14"/>
          <p:cNvSpPr txBox="1"/>
          <p:nvPr/>
        </p:nvSpPr>
        <p:spPr>
          <a:xfrm>
            <a:off x="594360" y="512064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188720" y="4965192"/>
            <a:ext cx="4846320" cy="777240"/>
          </a:xfrm>
          <a:prstGeom prst="rect">
            <a:avLst/>
          </a:prstGeom>
          <a:noFill/>
          <a:ln/>
        </p:spPr>
        <p:txBody>
          <a:bodyPr wrap="square" lIns="0" tIns="0" rIns="0" bIns="0" rtlCol="0" anchor="ctr"/>
          <a:lstStyle/>
          <a:p>
            <a:pPr indent="0" marL="0">
              <a:buNone/>
            </a:pPr>
            <a:r>
              <a:rPr lang="en-US" sz="1300" b="1" dirty="0">
                <a:solidFill>
                  <a:srgbClr val="1F3D2B"/>
                </a:solidFill>
              </a:rPr>
              <a:t>SFFS-LDA:  </a:t>
            </a:r>
            <a:pPr indent="0" marL="0">
              <a:buNone/>
            </a:pPr>
            <a:r>
              <a:rPr lang="en-US" sz="1300" dirty="0">
                <a:solidFill>
                  <a:srgbClr val="000000"/>
                </a:solidFill>
              </a:rPr>
              <a:t>Floating forward search, inner plot-grouped CV, &lt;= 10 features</a:t>
            </a:r>
            <a:endParaRPr lang="en-US" sz="1300" dirty="0"/>
          </a:p>
        </p:txBody>
      </p:sp>
      <p:sp>
        <p:nvSpPr>
          <p:cNvPr id="18" name="Shape 16"/>
          <p:cNvSpPr/>
          <p:nvPr/>
        </p:nvSpPr>
        <p:spPr>
          <a:xfrm>
            <a:off x="6492240" y="1234440"/>
            <a:ext cx="5212080" cy="1417320"/>
          </a:xfrm>
          <a:prstGeom prst="roundRect">
            <a:avLst>
              <a:gd name="adj" fmla="val 5161"/>
            </a:avLst>
          </a:prstGeom>
          <a:solidFill>
            <a:schemeClr val="bg2"/>
          </a:solidFill>
          <a:ln w="12700">
            <a:solidFill>
              <a:schemeClr val="bg2"/>
            </a:solidFill>
            <a:prstDash val="solid"/>
          </a:ln>
        </p:spPr>
      </p:sp>
      <p:sp>
        <p:nvSpPr>
          <p:cNvPr id="19" name="Shape 17"/>
          <p:cNvSpPr/>
          <p:nvPr/>
        </p:nvSpPr>
        <p:spPr>
          <a:xfrm>
            <a:off x="6656832" y="1417320"/>
            <a:ext cx="384048" cy="384048"/>
          </a:xfrm>
          <a:prstGeom prst="ellipse">
            <a:avLst/>
          </a:prstGeom>
          <a:solidFill>
            <a:srgbClr val="2A6FB0"/>
          </a:solidFill>
          <a:ln w="12700">
            <a:solidFill>
              <a:srgbClr val="2A6FB0"/>
            </a:solidFill>
            <a:prstDash val="solid"/>
          </a:ln>
        </p:spPr>
      </p:sp>
      <p:sp>
        <p:nvSpPr>
          <p:cNvPr id="20" name="Text 18"/>
          <p:cNvSpPr txBox="1"/>
          <p:nvPr/>
        </p:nvSpPr>
        <p:spPr>
          <a:xfrm>
            <a:off x="7150608" y="135331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SPA (S9)</a:t>
            </a:r>
            <a:endParaRPr lang="en-US" sz="1500" dirty="0"/>
          </a:p>
        </p:txBody>
      </p:sp>
      <p:sp>
        <p:nvSpPr>
          <p:cNvPr id="21" name="Text 19"/>
          <p:cNvSpPr txBox="1"/>
          <p:nvPr/>
        </p:nvSpPr>
        <p:spPr>
          <a:xfrm>
            <a:off x="6675120" y="1947672"/>
            <a:ext cx="4846320" cy="594360"/>
          </a:xfrm>
          <a:prstGeom prst="rect">
            <a:avLst/>
          </a:prstGeom>
          <a:noFill/>
          <a:ln/>
        </p:spPr>
        <p:txBody>
          <a:bodyPr wrap="square" lIns="0" tIns="0" rIns="0" bIns="0" rtlCol="0" anchor="t"/>
          <a:lstStyle/>
          <a:p>
            <a:pPr indent="0" marL="0">
              <a:buNone/>
            </a:pPr>
            <a:r>
              <a:rPr lang="en-US" sz="1300" dirty="0">
                <a:solidFill>
                  <a:schemeClr val="tx1"/>
                </a:solidFill>
              </a:rPr>
              <a:t>Successive projections on SNV bands; chain length and start chosen by inner-CV MLR error (Zhu et al. 2017; Araujo et al. 2001).</a:t>
            </a:r>
            <a:endParaRPr lang="en-US" sz="1300" dirty="0"/>
          </a:p>
        </p:txBody>
      </p:sp>
      <p:sp>
        <p:nvSpPr>
          <p:cNvPr id="22" name="Shape 20"/>
          <p:cNvSpPr/>
          <p:nvPr/>
        </p:nvSpPr>
        <p:spPr>
          <a:xfrm>
            <a:off x="6492240" y="2788920"/>
            <a:ext cx="5212080" cy="1417320"/>
          </a:xfrm>
          <a:prstGeom prst="roundRect">
            <a:avLst>
              <a:gd name="adj" fmla="val 5161"/>
            </a:avLst>
          </a:prstGeom>
          <a:solidFill>
            <a:schemeClr val="bg2"/>
          </a:solidFill>
          <a:ln w="12700">
            <a:solidFill>
              <a:schemeClr val="bg2"/>
            </a:solidFill>
            <a:prstDash val="solid"/>
          </a:ln>
        </p:spPr>
      </p:sp>
      <p:sp>
        <p:nvSpPr>
          <p:cNvPr id="23" name="Shape 21"/>
          <p:cNvSpPr/>
          <p:nvPr/>
        </p:nvSpPr>
        <p:spPr>
          <a:xfrm>
            <a:off x="6656832" y="2971800"/>
            <a:ext cx="384048" cy="384048"/>
          </a:xfrm>
          <a:prstGeom prst="ellipse">
            <a:avLst/>
          </a:prstGeom>
          <a:solidFill>
            <a:srgbClr val="D08A00"/>
          </a:solidFill>
          <a:ln w="12700">
            <a:solidFill>
              <a:srgbClr val="D08A00"/>
            </a:solidFill>
            <a:prstDash val="solid"/>
          </a:ln>
        </p:spPr>
      </p:sp>
      <p:sp>
        <p:nvSpPr>
          <p:cNvPr id="24" name="Text 22"/>
          <p:cNvSpPr txBox="1"/>
          <p:nvPr/>
        </p:nvSpPr>
        <p:spPr>
          <a:xfrm>
            <a:off x="7150608" y="290779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GA-PLS (S10)</a:t>
            </a:r>
            <a:endParaRPr lang="en-US" sz="1500" dirty="0"/>
          </a:p>
        </p:txBody>
      </p:sp>
      <p:sp>
        <p:nvSpPr>
          <p:cNvPr id="25" name="Text 23"/>
          <p:cNvSpPr txBox="1"/>
          <p:nvPr/>
        </p:nvSpPr>
        <p:spPr>
          <a:xfrm>
            <a:off x="6675120" y="3502152"/>
            <a:ext cx="4846320" cy="594360"/>
          </a:xfrm>
          <a:prstGeom prst="rect">
            <a:avLst/>
          </a:prstGeom>
          <a:noFill/>
          <a:ln/>
        </p:spPr>
        <p:txBody>
          <a:bodyPr wrap="square" lIns="0" tIns="0" rIns="0" bIns="0" rtlCol="0" anchor="t"/>
          <a:lstStyle/>
          <a:p>
            <a:pPr indent="0" marL="0">
              <a:buNone/>
            </a:pPr>
            <a:r>
              <a:rPr lang="en-US" sz="1300" dirty="0">
                <a:solidFill>
                  <a:schemeClr val="tx1"/>
                </a:solidFill>
              </a:rPr>
              <a:t>Genetic algorithm, 30 chromosomes x 25 generations, PLS-DA fitness with size penalty (Mandal et al. 2023; Leardi 1998).</a:t>
            </a:r>
            <a:endParaRPr lang="en-US" sz="1300" dirty="0"/>
          </a:p>
        </p:txBody>
      </p:sp>
      <p:sp>
        <p:nvSpPr>
          <p:cNvPr id="26" name="Shape 24"/>
          <p:cNvSpPr/>
          <p:nvPr/>
        </p:nvSpPr>
        <p:spPr>
          <a:xfrm>
            <a:off x="6492240" y="4343400"/>
            <a:ext cx="5212080" cy="1600200"/>
          </a:xfrm>
          <a:prstGeom prst="roundRect">
            <a:avLst>
              <a:gd name="adj" fmla="val 4571"/>
            </a:avLst>
          </a:prstGeom>
          <a:solidFill>
            <a:schemeClr val="bg2"/>
          </a:solidFill>
          <a:ln w="12700">
            <a:solidFill>
              <a:schemeClr val="bg2"/>
            </a:solidFill>
            <a:prstDash val="solid"/>
          </a:ln>
        </p:spPr>
      </p:sp>
      <p:sp>
        <p:nvSpPr>
          <p:cNvPr id="27" name="Shape 25"/>
          <p:cNvSpPr/>
          <p:nvPr/>
        </p:nvSpPr>
        <p:spPr>
          <a:xfrm>
            <a:off x="6656832" y="4526280"/>
            <a:ext cx="384048" cy="384048"/>
          </a:xfrm>
          <a:prstGeom prst="ellipse">
            <a:avLst/>
          </a:prstGeom>
          <a:solidFill>
            <a:srgbClr val="B03A2E"/>
          </a:solidFill>
          <a:ln w="12700">
            <a:solidFill>
              <a:srgbClr val="B03A2E"/>
            </a:solidFill>
            <a:prstDash val="solid"/>
          </a:ln>
        </p:spPr>
      </p:sp>
      <p:sp>
        <p:nvSpPr>
          <p:cNvPr id="28" name="Text 26"/>
          <p:cNvSpPr txBox="1"/>
          <p:nvPr/>
        </p:nvSpPr>
        <p:spPr>
          <a:xfrm>
            <a:off x="7150608" y="4462272"/>
            <a:ext cx="4434840" cy="512064"/>
          </a:xfrm>
          <a:prstGeom prst="rect">
            <a:avLst/>
          </a:prstGeom>
          <a:noFill/>
          <a:ln/>
        </p:spPr>
        <p:txBody>
          <a:bodyPr wrap="square" lIns="0" tIns="0" rIns="0" bIns="0" rtlCol="0" anchor="ctr"/>
          <a:lstStyle/>
          <a:p>
            <a:pPr indent="0" marL="0">
              <a:buNone/>
            </a:pPr>
            <a:r>
              <a:rPr lang="en-US" sz="1500" b="1" dirty="0">
                <a:solidFill>
                  <a:schemeClr val="tx2"/>
                </a:solidFill>
              </a:rPr>
              <a:t>In-fold NDSI (S4)</a:t>
            </a:r>
            <a:endParaRPr lang="en-US" sz="1500" dirty="0"/>
          </a:p>
        </p:txBody>
      </p:sp>
      <p:sp>
        <p:nvSpPr>
          <p:cNvPr id="29" name="Text 27"/>
          <p:cNvSpPr txBox="1"/>
          <p:nvPr/>
        </p:nvSpPr>
        <p:spPr>
          <a:xfrm>
            <a:off x="6675120" y="5056632"/>
            <a:ext cx="4846320" cy="777240"/>
          </a:xfrm>
          <a:prstGeom prst="rect">
            <a:avLst/>
          </a:prstGeom>
          <a:noFill/>
          <a:ln/>
        </p:spPr>
        <p:txBody>
          <a:bodyPr wrap="square" lIns="0" tIns="0" rIns="0" bIns="0" rtlCol="0" anchor="t"/>
          <a:lstStyle/>
          <a:p>
            <a:pPr indent="0" marL="0">
              <a:buNone/>
            </a:pPr>
            <a:r>
              <a:rPr lang="en-US" sz="1300" dirty="0">
                <a:solidFill>
                  <a:schemeClr val="tx1"/>
                </a:solidFill>
              </a:rPr>
              <a:t>All 20,100 band pairs scored by mean |d| across dates, sign-consistent; top 3 disjoint pairs (Mandal et al. 2023).</a:t>
            </a:r>
            <a:endParaRPr lang="en-US" sz="1300" dirty="0"/>
          </a:p>
        </p:txBody>
      </p:sp>
      <p:sp>
        <p:nvSpPr>
          <p:cNvPr id="30" name="Text 28"/>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Tian et al. 2021; Lv et al. 2023; Robnik-Sikonja &amp; Kononenko 2003; Pudil et al. 1994</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Optimal feature combinations (OFCs) after Tian et al. (2021)</a:t>
            </a:r>
            <a:endParaRPr lang="en-US" sz="2800" dirty="0"/>
          </a:p>
        </p:txBody>
      </p:sp>
      <p:sp>
        <p:nvSpPr>
          <p:cNvPr id="3" name="Shape 1"/>
          <p:cNvSpPr/>
          <p:nvPr/>
        </p:nvSpPr>
        <p:spPr>
          <a:xfrm>
            <a:off x="457200" y="1234440"/>
            <a:ext cx="2560320" cy="118872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594360" y="1280160"/>
            <a:ext cx="2286000" cy="1097280"/>
          </a:xfrm>
          <a:prstGeom prst="rect">
            <a:avLst/>
          </a:prstGeom>
          <a:noFill/>
          <a:ln/>
        </p:spPr>
        <p:txBody>
          <a:bodyPr wrap="square" lIns="0" tIns="0" rIns="0" bIns="0" rtlCol="0" anchor="ctr"/>
          <a:lstStyle/>
          <a:p>
            <a:pPr indent="0" marL="0">
              <a:buNone/>
            </a:pPr>
            <a:r>
              <a:rPr lang="en-US" sz="1500" b="1" dirty="0">
                <a:solidFill>
                  <a:srgbClr val="1F3D2B"/>
                </a:solidFill>
              </a:rPr>
              <a:t>All features</a:t>
            </a:r>
            <a:endParaRPr lang="en-US" sz="1500" dirty="0"/>
          </a:p>
          <a:p>
            <a:pPr indent="0" marL="0">
              <a:buNone/>
            </a:pPr>
            <a:r>
              <a:rPr lang="en-US" sz="1200" dirty="0">
                <a:solidFill>
                  <a:srgbClr val="000000"/>
                </a:solidFill>
              </a:rPr>
              <a:t>F1-F6 + in-fold NDSI (~2,100)</a:t>
            </a:r>
            <a:endParaRPr lang="en-US" sz="1500" dirty="0"/>
          </a:p>
        </p:txBody>
      </p:sp>
      <p:sp>
        <p:nvSpPr>
          <p:cNvPr id="5" name="Shape 3"/>
          <p:cNvSpPr/>
          <p:nvPr/>
        </p:nvSpPr>
        <p:spPr>
          <a:xfrm>
            <a:off x="3044952" y="1691640"/>
            <a:ext cx="219456" cy="274320"/>
          </a:xfrm>
          <a:prstGeom prst="rightArrow">
            <a:avLst/>
          </a:prstGeom>
          <a:solidFill>
            <a:srgbClr val="BDBDBD"/>
          </a:solidFill>
          <a:ln w="12700">
            <a:solidFill>
              <a:srgbClr val="BDBDBD"/>
            </a:solidFill>
            <a:prstDash val="solid"/>
          </a:ln>
        </p:spPr>
      </p:sp>
      <p:sp>
        <p:nvSpPr>
          <p:cNvPr id="6" name="Shape 4"/>
          <p:cNvSpPr/>
          <p:nvPr/>
        </p:nvSpPr>
        <p:spPr>
          <a:xfrm>
            <a:off x="3291840" y="1234440"/>
            <a:ext cx="2560320" cy="1188720"/>
          </a:xfrm>
          <a:prstGeom prst="roundRect">
            <a:avLst>
              <a:gd name="adj" fmla="val 6154"/>
            </a:avLst>
          </a:prstGeom>
          <a:solidFill>
            <a:schemeClr val="bg2"/>
          </a:solidFill>
          <a:ln w="12700">
            <a:solidFill>
              <a:schemeClr val="bg2"/>
            </a:solidFill>
            <a:prstDash val="solid"/>
          </a:ln>
        </p:spPr>
      </p:sp>
      <p:sp>
        <p:nvSpPr>
          <p:cNvPr id="7" name="Text 5"/>
          <p:cNvSpPr txBox="1"/>
          <p:nvPr/>
        </p:nvSpPr>
        <p:spPr>
          <a:xfrm>
            <a:off x="3429000" y="1280160"/>
            <a:ext cx="2286000" cy="1097280"/>
          </a:xfrm>
          <a:prstGeom prst="rect">
            <a:avLst/>
          </a:prstGeom>
          <a:noFill/>
          <a:ln/>
        </p:spPr>
        <p:txBody>
          <a:bodyPr wrap="square" lIns="0" tIns="0" rIns="0" bIns="0" rtlCol="0" anchor="ctr"/>
          <a:lstStyle/>
          <a:p>
            <a:pPr indent="0" marL="0">
              <a:buNone/>
            </a:pPr>
            <a:r>
              <a:rPr lang="en-US" sz="1500" b="1" dirty="0">
                <a:solidFill>
                  <a:srgbClr val="1F3D2B"/>
                </a:solidFill>
              </a:rPr>
              <a:t>DSF screening</a:t>
            </a:r>
            <a:endParaRPr lang="en-US" sz="1500" dirty="0"/>
          </a:p>
          <a:p>
            <a:pPr indent="0" marL="0">
              <a:buNone/>
            </a:pPr>
            <a:r>
              <a:rPr lang="en-US" sz="1200" dirty="0">
                <a:solidFill>
                  <a:srgbClr val="000000"/>
                </a:solidFill>
              </a:rPr>
              <a:t>ReliefF top 5% on &gt;= 3 of 4 dates</a:t>
            </a:r>
            <a:endParaRPr lang="en-US" sz="1500" dirty="0"/>
          </a:p>
        </p:txBody>
      </p:sp>
      <p:sp>
        <p:nvSpPr>
          <p:cNvPr id="8" name="Shape 6"/>
          <p:cNvSpPr/>
          <p:nvPr/>
        </p:nvSpPr>
        <p:spPr>
          <a:xfrm>
            <a:off x="5879592" y="1691640"/>
            <a:ext cx="219456" cy="274320"/>
          </a:xfrm>
          <a:prstGeom prst="rightArrow">
            <a:avLst/>
          </a:prstGeom>
          <a:solidFill>
            <a:srgbClr val="BDBDBD"/>
          </a:solidFill>
          <a:ln w="12700">
            <a:solidFill>
              <a:srgbClr val="BDBDBD"/>
            </a:solidFill>
            <a:prstDash val="solid"/>
          </a:ln>
        </p:spPr>
      </p:sp>
      <p:sp>
        <p:nvSpPr>
          <p:cNvPr id="9" name="Shape 7"/>
          <p:cNvSpPr/>
          <p:nvPr/>
        </p:nvSpPr>
        <p:spPr>
          <a:xfrm>
            <a:off x="6126480" y="1234440"/>
            <a:ext cx="2560320" cy="1188720"/>
          </a:xfrm>
          <a:prstGeom prst="roundRect">
            <a:avLst>
              <a:gd name="adj" fmla="val 6154"/>
            </a:avLst>
          </a:prstGeom>
          <a:solidFill>
            <a:schemeClr val="bg2"/>
          </a:solidFill>
          <a:ln w="12700">
            <a:solidFill>
              <a:schemeClr val="bg2"/>
            </a:solidFill>
            <a:prstDash val="solid"/>
          </a:ln>
        </p:spPr>
      </p:sp>
      <p:sp>
        <p:nvSpPr>
          <p:cNvPr id="10" name="Text 8"/>
          <p:cNvSpPr txBox="1"/>
          <p:nvPr/>
        </p:nvSpPr>
        <p:spPr>
          <a:xfrm>
            <a:off x="6263640" y="1280160"/>
            <a:ext cx="2286000" cy="1097280"/>
          </a:xfrm>
          <a:prstGeom prst="rect">
            <a:avLst/>
          </a:prstGeom>
          <a:noFill/>
          <a:ln/>
        </p:spPr>
        <p:txBody>
          <a:bodyPr wrap="square" lIns="0" tIns="0" rIns="0" bIns="0" rtlCol="0" anchor="ctr"/>
          <a:lstStyle/>
          <a:p>
            <a:pPr indent="0" marL="0">
              <a:buNone/>
            </a:pPr>
            <a:r>
              <a:rPr lang="en-US" sz="1500" b="1" dirty="0">
                <a:solidFill>
                  <a:srgbClr val="1F3D2B"/>
                </a:solidFill>
              </a:rPr>
              <a:t>Redundancy + VIF</a:t>
            </a:r>
            <a:endParaRPr lang="en-US" sz="1500" dirty="0"/>
          </a:p>
          <a:p>
            <a:pPr indent="0" marL="0">
              <a:buNone/>
            </a:pPr>
            <a:r>
              <a:rPr lang="en-US" sz="1200" dirty="0">
                <a:solidFill>
                  <a:srgbClr val="000000"/>
                </a:solidFill>
              </a:rPr>
              <a:t>|r| &lt; 0.98, VIF &lt; 10</a:t>
            </a:r>
            <a:endParaRPr lang="en-US" sz="1500" dirty="0"/>
          </a:p>
        </p:txBody>
      </p:sp>
      <p:sp>
        <p:nvSpPr>
          <p:cNvPr id="11" name="Shape 9"/>
          <p:cNvSpPr/>
          <p:nvPr/>
        </p:nvSpPr>
        <p:spPr>
          <a:xfrm>
            <a:off x="8714232" y="1691640"/>
            <a:ext cx="219456" cy="274320"/>
          </a:xfrm>
          <a:prstGeom prst="rightArrow">
            <a:avLst/>
          </a:prstGeom>
          <a:solidFill>
            <a:srgbClr val="BDBDBD"/>
          </a:solidFill>
          <a:ln w="12700">
            <a:solidFill>
              <a:srgbClr val="BDBDBD"/>
            </a:solidFill>
            <a:prstDash val="solid"/>
          </a:ln>
        </p:spPr>
      </p:sp>
      <p:sp>
        <p:nvSpPr>
          <p:cNvPr id="12" name="Shape 10"/>
          <p:cNvSpPr/>
          <p:nvPr/>
        </p:nvSpPr>
        <p:spPr>
          <a:xfrm>
            <a:off x="8961120" y="1234440"/>
            <a:ext cx="2560320" cy="1188720"/>
          </a:xfrm>
          <a:prstGeom prst="roundRect">
            <a:avLst>
              <a:gd name="adj" fmla="val 6154"/>
            </a:avLst>
          </a:prstGeom>
          <a:solidFill>
            <a:schemeClr val="bg2"/>
          </a:solidFill>
          <a:ln w="12700">
            <a:solidFill>
              <a:schemeClr val="bg2"/>
            </a:solidFill>
            <a:prstDash val="solid"/>
          </a:ln>
        </p:spPr>
      </p:sp>
      <p:sp>
        <p:nvSpPr>
          <p:cNvPr id="13" name="Text 11"/>
          <p:cNvSpPr txBox="1"/>
          <p:nvPr/>
        </p:nvSpPr>
        <p:spPr>
          <a:xfrm>
            <a:off x="9098280" y="1280160"/>
            <a:ext cx="2286000" cy="1097280"/>
          </a:xfrm>
          <a:prstGeom prst="rect">
            <a:avLst/>
          </a:prstGeom>
          <a:noFill/>
          <a:ln/>
        </p:spPr>
        <p:txBody>
          <a:bodyPr wrap="square" lIns="0" tIns="0" rIns="0" bIns="0" rtlCol="0" anchor="ctr"/>
          <a:lstStyle/>
          <a:p>
            <a:pPr indent="0" marL="0">
              <a:buNone/>
            </a:pPr>
            <a:r>
              <a:rPr lang="en-US" sz="1500" b="1" dirty="0">
                <a:solidFill>
                  <a:srgbClr val="1F3D2B"/>
                </a:solidFill>
              </a:rPr>
              <a:t>DSF pool</a:t>
            </a:r>
            <a:endParaRPr lang="en-US" sz="1500" dirty="0"/>
          </a:p>
          <a:p>
            <a:pPr indent="0" marL="0">
              <a:buNone/>
            </a:pPr>
            <a:r>
              <a:rPr lang="en-US" sz="1200" dirty="0">
                <a:solidFill>
                  <a:srgbClr val="000000"/>
                </a:solidFill>
              </a:rPr>
              <a:t>disease-specific features (~10)</a:t>
            </a:r>
            <a:endParaRPr lang="en-US" sz="1500" dirty="0"/>
          </a:p>
        </p:txBody>
      </p:sp>
      <p:sp>
        <p:nvSpPr>
          <p:cNvPr id="14" name="Shape 12"/>
          <p:cNvSpPr/>
          <p:nvPr/>
        </p:nvSpPr>
        <p:spPr>
          <a:xfrm>
            <a:off x="457200" y="2743200"/>
            <a:ext cx="3291840" cy="822960"/>
          </a:xfrm>
          <a:prstGeom prst="roundRect">
            <a:avLst>
              <a:gd name="adj" fmla="val 8889"/>
            </a:avLst>
          </a:prstGeom>
          <a:solidFill>
            <a:srgbClr val="2A6FB0"/>
          </a:solidFill>
          <a:ln w="12700">
            <a:solidFill>
              <a:srgbClr val="2A6FB0"/>
            </a:solidFill>
            <a:prstDash val="solid"/>
          </a:ln>
        </p:spPr>
      </p:sp>
      <p:sp>
        <p:nvSpPr>
          <p:cNvPr id="15" name="Text 13"/>
          <p:cNvSpPr txBox="1"/>
          <p:nvPr/>
        </p:nvSpPr>
        <p:spPr>
          <a:xfrm>
            <a:off x="548640" y="2743200"/>
            <a:ext cx="3108960" cy="822960"/>
          </a:xfrm>
          <a:prstGeom prst="rect">
            <a:avLst/>
          </a:prstGeom>
          <a:noFill/>
          <a:ln/>
        </p:spPr>
        <p:txBody>
          <a:bodyPr wrap="square" lIns="0" tIns="0" rIns="0" bIns="0" rtlCol="0" anchor="ctr"/>
          <a:lstStyle/>
          <a:p>
            <a:pPr indent="0" marL="0">
              <a:buNone/>
            </a:pPr>
            <a:r>
              <a:rPr lang="en-US" sz="1500" b="1" dirty="0">
                <a:solidFill>
                  <a:schemeClr val="bg1"/>
                </a:solidFill>
              </a:rPr>
              <a:t>SFFS wrapped around LDA</a:t>
            </a:r>
            <a:endParaRPr lang="en-US" sz="1500" dirty="0"/>
          </a:p>
        </p:txBody>
      </p:sp>
      <p:sp>
        <p:nvSpPr>
          <p:cNvPr id="16" name="Shape 14"/>
          <p:cNvSpPr/>
          <p:nvPr/>
        </p:nvSpPr>
        <p:spPr>
          <a:xfrm>
            <a:off x="3840480" y="3017520"/>
            <a:ext cx="365760" cy="274320"/>
          </a:xfrm>
          <a:prstGeom prst="rightArrow">
            <a:avLst/>
          </a:prstGeom>
          <a:solidFill>
            <a:srgbClr val="BDBDBD"/>
          </a:solidFill>
          <a:ln w="12700">
            <a:solidFill>
              <a:srgbClr val="BDBDBD"/>
            </a:solidFill>
            <a:prstDash val="solid"/>
          </a:ln>
        </p:spPr>
      </p:sp>
      <p:sp>
        <p:nvSpPr>
          <p:cNvPr id="17" name="Text 15"/>
          <p:cNvSpPr txBox="1"/>
          <p:nvPr/>
        </p:nvSpPr>
        <p:spPr>
          <a:xfrm>
            <a:off x="4297680" y="2743200"/>
            <a:ext cx="1645920" cy="822960"/>
          </a:xfrm>
          <a:prstGeom prst="rect">
            <a:avLst/>
          </a:prstGeom>
          <a:noFill/>
          <a:ln/>
        </p:spPr>
        <p:txBody>
          <a:bodyPr wrap="square" lIns="0" tIns="0" rIns="0" bIns="0" rtlCol="0" anchor="ctr"/>
          <a:lstStyle/>
          <a:p>
            <a:pPr indent="0" marL="0">
              <a:buNone/>
            </a:pPr>
            <a:r>
              <a:rPr lang="en-US" sz="1600" b="1" dirty="0">
                <a:solidFill>
                  <a:schemeClr val="tx2"/>
                </a:solidFill>
              </a:rPr>
              <a:t>OFC-LDA</a:t>
            </a:r>
            <a:endParaRPr lang="en-US" sz="1600" dirty="0"/>
          </a:p>
        </p:txBody>
      </p:sp>
      <p:sp>
        <p:nvSpPr>
          <p:cNvPr id="18" name="Shape 16"/>
          <p:cNvSpPr/>
          <p:nvPr/>
        </p:nvSpPr>
        <p:spPr>
          <a:xfrm>
            <a:off x="457200" y="3767328"/>
            <a:ext cx="3291840" cy="822960"/>
          </a:xfrm>
          <a:prstGeom prst="roundRect">
            <a:avLst>
              <a:gd name="adj" fmla="val 8889"/>
            </a:avLst>
          </a:prstGeom>
          <a:solidFill>
            <a:srgbClr val="2E7D32"/>
          </a:solidFill>
          <a:ln w="12700">
            <a:solidFill>
              <a:srgbClr val="2E7D32"/>
            </a:solidFill>
            <a:prstDash val="solid"/>
          </a:ln>
        </p:spPr>
      </p:sp>
      <p:sp>
        <p:nvSpPr>
          <p:cNvPr id="19" name="Text 17"/>
          <p:cNvSpPr txBox="1"/>
          <p:nvPr/>
        </p:nvSpPr>
        <p:spPr>
          <a:xfrm>
            <a:off x="548640" y="3767328"/>
            <a:ext cx="3108960" cy="822960"/>
          </a:xfrm>
          <a:prstGeom prst="rect">
            <a:avLst/>
          </a:prstGeom>
          <a:noFill/>
          <a:ln/>
        </p:spPr>
        <p:txBody>
          <a:bodyPr wrap="square" lIns="0" tIns="0" rIns="0" bIns="0" rtlCol="0" anchor="ctr"/>
          <a:lstStyle/>
          <a:p>
            <a:pPr indent="0" marL="0">
              <a:buNone/>
            </a:pPr>
            <a:r>
              <a:rPr lang="en-US" sz="1500" b="1" dirty="0">
                <a:solidFill>
                  <a:schemeClr val="bg1"/>
                </a:solidFill>
              </a:rPr>
              <a:t>SFFS wrapped around kNN</a:t>
            </a:r>
            <a:endParaRPr lang="en-US" sz="1500" dirty="0"/>
          </a:p>
        </p:txBody>
      </p:sp>
      <p:sp>
        <p:nvSpPr>
          <p:cNvPr id="20" name="Shape 18"/>
          <p:cNvSpPr/>
          <p:nvPr/>
        </p:nvSpPr>
        <p:spPr>
          <a:xfrm>
            <a:off x="3840480" y="4041648"/>
            <a:ext cx="365760" cy="274320"/>
          </a:xfrm>
          <a:prstGeom prst="rightArrow">
            <a:avLst/>
          </a:prstGeom>
          <a:solidFill>
            <a:srgbClr val="BDBDBD"/>
          </a:solidFill>
          <a:ln w="12700">
            <a:solidFill>
              <a:srgbClr val="BDBDBD"/>
            </a:solidFill>
            <a:prstDash val="solid"/>
          </a:ln>
        </p:spPr>
      </p:sp>
      <p:sp>
        <p:nvSpPr>
          <p:cNvPr id="21" name="Text 19"/>
          <p:cNvSpPr txBox="1"/>
          <p:nvPr/>
        </p:nvSpPr>
        <p:spPr>
          <a:xfrm>
            <a:off x="4297680" y="3767328"/>
            <a:ext cx="1645920" cy="822960"/>
          </a:xfrm>
          <a:prstGeom prst="rect">
            <a:avLst/>
          </a:prstGeom>
          <a:noFill/>
          <a:ln/>
        </p:spPr>
        <p:txBody>
          <a:bodyPr wrap="square" lIns="0" tIns="0" rIns="0" bIns="0" rtlCol="0" anchor="ctr"/>
          <a:lstStyle/>
          <a:p>
            <a:pPr indent="0" marL="0">
              <a:buNone/>
            </a:pPr>
            <a:r>
              <a:rPr lang="en-US" sz="1600" b="1" dirty="0">
                <a:solidFill>
                  <a:schemeClr val="tx2"/>
                </a:solidFill>
              </a:rPr>
              <a:t>OFC-kNN</a:t>
            </a:r>
            <a:endParaRPr lang="en-US" sz="1600" dirty="0"/>
          </a:p>
        </p:txBody>
      </p:sp>
      <p:sp>
        <p:nvSpPr>
          <p:cNvPr id="22" name="Shape 20"/>
          <p:cNvSpPr/>
          <p:nvPr/>
        </p:nvSpPr>
        <p:spPr>
          <a:xfrm>
            <a:off x="457200" y="4791456"/>
            <a:ext cx="3291840" cy="822960"/>
          </a:xfrm>
          <a:prstGeom prst="roundRect">
            <a:avLst>
              <a:gd name="adj" fmla="val 8889"/>
            </a:avLst>
          </a:prstGeom>
          <a:solidFill>
            <a:srgbClr val="D08A00"/>
          </a:solidFill>
          <a:ln w="12700">
            <a:solidFill>
              <a:srgbClr val="D08A00"/>
            </a:solidFill>
            <a:prstDash val="solid"/>
          </a:ln>
        </p:spPr>
      </p:sp>
      <p:sp>
        <p:nvSpPr>
          <p:cNvPr id="23" name="Text 21"/>
          <p:cNvSpPr txBox="1"/>
          <p:nvPr/>
        </p:nvSpPr>
        <p:spPr>
          <a:xfrm>
            <a:off x="548640" y="4791456"/>
            <a:ext cx="3108960" cy="822960"/>
          </a:xfrm>
          <a:prstGeom prst="rect">
            <a:avLst/>
          </a:prstGeom>
          <a:noFill/>
          <a:ln/>
        </p:spPr>
        <p:txBody>
          <a:bodyPr wrap="square" lIns="0" tIns="0" rIns="0" bIns="0" rtlCol="0" anchor="ctr"/>
          <a:lstStyle/>
          <a:p>
            <a:pPr indent="0" marL="0">
              <a:buNone/>
            </a:pPr>
            <a:r>
              <a:rPr lang="en-US" sz="1500" b="1" dirty="0">
                <a:solidFill>
                  <a:schemeClr val="bg1"/>
                </a:solidFill>
              </a:rPr>
              <a:t>SFFS wrapped around SVM</a:t>
            </a:r>
            <a:endParaRPr lang="en-US" sz="1500" dirty="0"/>
          </a:p>
        </p:txBody>
      </p:sp>
      <p:sp>
        <p:nvSpPr>
          <p:cNvPr id="24" name="Shape 22"/>
          <p:cNvSpPr/>
          <p:nvPr/>
        </p:nvSpPr>
        <p:spPr>
          <a:xfrm>
            <a:off x="3840480" y="5065776"/>
            <a:ext cx="365760" cy="274320"/>
          </a:xfrm>
          <a:prstGeom prst="rightArrow">
            <a:avLst/>
          </a:prstGeom>
          <a:solidFill>
            <a:srgbClr val="BDBDBD"/>
          </a:solidFill>
          <a:ln w="12700">
            <a:solidFill>
              <a:srgbClr val="BDBDBD"/>
            </a:solidFill>
            <a:prstDash val="solid"/>
          </a:ln>
        </p:spPr>
      </p:sp>
      <p:sp>
        <p:nvSpPr>
          <p:cNvPr id="25" name="Text 23"/>
          <p:cNvSpPr txBox="1"/>
          <p:nvPr/>
        </p:nvSpPr>
        <p:spPr>
          <a:xfrm>
            <a:off x="4297680" y="4791456"/>
            <a:ext cx="1645920" cy="822960"/>
          </a:xfrm>
          <a:prstGeom prst="rect">
            <a:avLst/>
          </a:prstGeom>
          <a:noFill/>
          <a:ln/>
        </p:spPr>
        <p:txBody>
          <a:bodyPr wrap="square" lIns="0" tIns="0" rIns="0" bIns="0" rtlCol="0" anchor="ctr"/>
          <a:lstStyle/>
          <a:p>
            <a:pPr indent="0" marL="0">
              <a:buNone/>
            </a:pPr>
            <a:r>
              <a:rPr lang="en-US" sz="1600" b="1" dirty="0">
                <a:solidFill>
                  <a:schemeClr val="tx2"/>
                </a:solidFill>
              </a:rPr>
              <a:t>OFC-SVM</a:t>
            </a:r>
            <a:endParaRPr lang="en-US" sz="1600" dirty="0"/>
          </a:p>
        </p:txBody>
      </p:sp>
      <p:sp>
        <p:nvSpPr>
          <p:cNvPr id="26" name="Shape 24"/>
          <p:cNvSpPr/>
          <p:nvPr/>
        </p:nvSpPr>
        <p:spPr>
          <a:xfrm>
            <a:off x="6217920" y="2743200"/>
            <a:ext cx="5486400" cy="2971800"/>
          </a:xfrm>
          <a:prstGeom prst="roundRect">
            <a:avLst>
              <a:gd name="adj" fmla="val 2462"/>
            </a:avLst>
          </a:prstGeom>
          <a:solidFill>
            <a:schemeClr val="bg2"/>
          </a:solidFill>
          <a:ln w="12700">
            <a:solidFill>
              <a:schemeClr val="bg2"/>
            </a:solidFill>
            <a:prstDash val="solid"/>
          </a:ln>
        </p:spPr>
      </p:sp>
      <p:sp>
        <p:nvSpPr>
          <p:cNvPr id="27" name="Shape 25"/>
          <p:cNvSpPr/>
          <p:nvPr/>
        </p:nvSpPr>
        <p:spPr>
          <a:xfrm>
            <a:off x="6382512" y="2926080"/>
            <a:ext cx="384048" cy="384048"/>
          </a:xfrm>
          <a:prstGeom prst="ellipse">
            <a:avLst/>
          </a:prstGeom>
          <a:solidFill>
            <a:srgbClr val="2E7D32"/>
          </a:solidFill>
          <a:ln w="12700">
            <a:solidFill>
              <a:srgbClr val="2E7D32"/>
            </a:solidFill>
            <a:prstDash val="solid"/>
          </a:ln>
        </p:spPr>
      </p:sp>
      <p:sp>
        <p:nvSpPr>
          <p:cNvPr id="28" name="Text 26"/>
          <p:cNvSpPr txBox="1"/>
          <p:nvPr/>
        </p:nvSpPr>
        <p:spPr>
          <a:xfrm>
            <a:off x="6876288" y="286207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Comparison design (E7)</a:t>
            </a:r>
            <a:endParaRPr lang="en-US" sz="1500" dirty="0"/>
          </a:p>
        </p:txBody>
      </p:sp>
      <p:sp>
        <p:nvSpPr>
          <p:cNvPr id="29" name="Text 27"/>
          <p:cNvSpPr txBox="1"/>
          <p:nvPr/>
        </p:nvSpPr>
        <p:spPr>
          <a:xfrm>
            <a:off x="6400800" y="3456432"/>
            <a:ext cx="5120640" cy="2148840"/>
          </a:xfrm>
          <a:prstGeom prst="rect">
            <a:avLst/>
          </a:prstGeom>
          <a:noFill/>
          <a:ln/>
        </p:spPr>
        <p:txBody>
          <a:bodyPr wrap="square" lIns="0" tIns="0" rIns="0" bIns="0" rtlCol="0" anchor="t"/>
          <a:lstStyle/>
          <a:p>
            <a:pPr indent="0" marL="0">
              <a:buNone/>
            </a:pPr>
            <a:r>
              <a:rPr lang="en-US" sz="1300" dirty="0">
                <a:solidFill>
                  <a:schemeClr val="tx1"/>
                </a:solidFill>
              </a:rPr>
              <a:t>Each OFC, the whole DSF pool and the full SNV spectrum is classified with LDA, kNN and SVM (tuned in inner CV), inside the same 25 x 4-fold nested plot-grouped CV. The diagonal (OFC-LDA + LDA, OFC-kNN + kNN, OFC-SVM + SVM) reproduces the Tian et al. (2021) design; the off-diagonal tests whether an OFC transfers to other classifiers.</a:t>
            </a:r>
            <a:endParaRPr lang="en-US" sz="1300" dirty="0"/>
          </a:p>
        </p:txBody>
      </p:sp>
      <p:sp>
        <p:nvSpPr>
          <p:cNvPr id="30" name="Text 28"/>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Tian et al. 2021; Pudil et al. 1994; Robnik-Sikonja &amp; Kononenko 2003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Best selectors from the filter / wrapper / embedded comparison (E8)</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1737360"/>
                <a:gridCol w="1097280"/>
                <a:gridCol w="4572000"/>
                <a:gridCol w="2743200"/>
                <a:gridCol w="1097280"/>
              </a:tblGrid>
              <a:tr h="393192">
                <a:tc>
                  <a:txBody>
                    <a:bodyPr/>
                    <a:lstStyle/>
                    <a:p>
                      <a:pPr algn="ctr" indent="0" marL="0">
                        <a:buNone/>
                      </a:pPr>
                      <a:r>
                        <a:rPr lang="en-US" sz="1200" b="1" dirty="0">
                          <a:solidFill>
                            <a:srgbClr val="FFFFFF"/>
                          </a:solidFill>
                        </a:rPr>
                        <a:t>Selector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Family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Principle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Reference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Rank*</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93192">
                <a:tc>
                  <a:txBody>
                    <a:bodyPr/>
                    <a:lstStyle/>
                    <a:p>
                      <a:pPr indent="0" marL="0">
                        <a:buNone/>
                      </a:pPr>
                      <a:r>
                        <a:rPr lang="en-US" sz="1200" dirty="0">
                          <a:solidFill>
                            <a:srgbClr val="1A1A1A"/>
                          </a:solidFill>
                        </a:rPr>
                        <a:t>SVM-RFE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Wrapper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Recursive elimination by |w| of a linear SVM (10% per step, then 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Guyon et al. 2002; Wei et al. 2021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A1A1A"/>
                          </a:solidFill>
                        </a:rPr>
                        <a:t>LASSO</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Embedded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Order of entry along the L1-logistic regularisation path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Tibshirani 1996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93192">
                <a:tc>
                  <a:txBody>
                    <a:bodyPr/>
                    <a:lstStyle/>
                    <a:p>
                      <a:pPr indent="0" marL="0">
                        <a:buNone/>
                      </a:pPr>
                      <a:r>
                        <a:rPr lang="en-US" sz="1200" dirty="0">
                          <a:solidFill>
                            <a:srgbClr val="1A1A1A"/>
                          </a:solidFill>
                        </a:rPr>
                        <a:t>CARS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Wrapper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Monte-Carlo PLS-DA, exponential decay + adaptive reweighted sampling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Li et al. 2009; Zhu et al.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A1A1A"/>
                          </a:solidFill>
                        </a:rPr>
                        <a:t>Consensus (Borda)</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Ensemble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Rank aggregation of the redundancy-controlled top-20 lists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Saeys et al. 2008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93192">
                <a:tc>
                  <a:txBody>
                    <a:bodyPr/>
                    <a:lstStyle/>
                    <a:p>
                      <a:pPr indent="0" marL="0">
                        <a:buNone/>
                      </a:pPr>
                      <a:r>
                        <a:rPr lang="en-US" sz="1200" dirty="0">
                          <a:solidFill>
                            <a:srgbClr val="1A1A1A"/>
                          </a:solidFill>
                        </a:rPr>
                        <a:t>ReliefF</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Filter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Nearest hit / miss differences, class-balanced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Kononenko 1994; Mahlein et al. 2013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93192">
                <a:tc>
                  <a:txBody>
                    <a:bodyPr/>
                    <a:lstStyle/>
                    <a:p>
                      <a:pPr indent="0" marL="0">
                        <a:buNone/>
                      </a:pPr>
                      <a:r>
                        <a:rPr lang="en-US" sz="1200" dirty="0">
                          <a:solidFill>
                            <a:srgbClr val="1A1A1A"/>
                          </a:solidFill>
                        </a:rPr>
                        <a:t>SFFS (QDA)</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Wrapper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Floating search, inner-CV QDA balanced accuracy, 100 candidates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Pudil et al. 1994; Mustafa et al.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most accurate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Text 1"/>
          <p:cNvSpPr txBox="1"/>
          <p:nvPr/>
        </p:nvSpPr>
        <p:spPr>
          <a:xfrm>
            <a:off x="457200" y="4343400"/>
            <a:ext cx="11247120" cy="1737360"/>
          </a:xfrm>
          <a:prstGeom prst="rect">
            <a:avLst/>
          </a:prstGeom>
          <a:noFill/>
          <a:ln/>
        </p:spPr>
        <p:txBody>
          <a:bodyPr wrap="square" rtlCol="0" anchor="t"/>
          <a:lstStyle/>
          <a:p>
            <a:pPr lvl="1" marL="457200" indent="-228600">
              <a:spcAft>
                <a:spcPts val="600"/>
              </a:spcAft>
              <a:buSzPct val="100000"/>
              <a:buChar char="•"/>
            </a:pPr>
            <a:r>
              <a:rPr lang="en-US" sz="1350" dirty="0">
                <a:solidFill>
                  <a:schemeClr val="tx1"/>
                </a:solidFill>
              </a:rPr>
              <a:t>*Rank in the researcher's composite ranking of 23 methods (accuracy, stability, separability)</a:t>
            </a:r>
            <a:endParaRPr lang="en-US" sz="1350" dirty="0"/>
          </a:p>
          <a:p>
            <a:pPr lvl="1" marL="457200" indent="-228600">
              <a:spcAft>
                <a:spcPts val="600"/>
              </a:spcAft>
              <a:buSzPct val="100000"/>
              <a:buChar char="•"/>
            </a:pPr>
            <a:r>
              <a:rPr lang="en-US" sz="1350" dirty="0">
                <a:solidFill>
                  <a:schemeClr val="tx1"/>
                </a:solidFill>
              </a:rPr>
              <a:t>Re-run here on the F1-F6 pool, inside the same plot-grouped outer folds as S8, OFC-SVM and the full spectrum (5 x 4 folds = 20 test sets)</a:t>
            </a:r>
            <a:endParaRPr lang="en-US" sz="1350" dirty="0"/>
          </a:p>
          <a:p>
            <a:pPr lvl="1" marL="457200" indent="-228600">
              <a:spcAft>
                <a:spcPts val="600"/>
              </a:spcAft>
              <a:buSzPct val="100000"/>
              <a:buChar char="•"/>
            </a:pPr>
            <a:r>
              <a:rPr lang="en-US" sz="1350" dirty="0">
                <a:solidFill>
                  <a:schemeClr val="tx1"/>
                </a:solidFill>
              </a:rPr>
              <a:t>Top-k (k = 5, 10, 15) with redundancy control |r| &lt; 0.95; classified with QDA (equal priors; Das et al. 2020), LDA, SVM and RF</a:t>
            </a:r>
            <a:endParaRPr lang="en-US" sz="1350" dirty="0"/>
          </a:p>
          <a:p>
            <a:pPr lvl="1" marL="457200" indent="-228600">
              <a:spcAft>
                <a:spcPts val="600"/>
              </a:spcAft>
              <a:buSzPct val="100000"/>
              <a:buChar char="•"/>
            </a:pPr>
            <a:r>
              <a:rPr lang="en-US" sz="1350" dirty="0">
                <a:solidFill>
                  <a:schemeClr val="tx1"/>
                </a:solidFill>
              </a:rPr>
              <a:t>Detector-join check: every feature within the ASD 1000/1800 nm joins removed and the selection repeated</a:t>
            </a:r>
            <a:endParaRPr lang="en-US" sz="1350" dirty="0"/>
          </a:p>
        </p:txBody>
      </p:sp>
      <p:sp>
        <p:nvSpPr>
          <p:cNvPr id="5" name="Text 2"/>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Panda 2026 (researcher workbook); Guyon &amp; Elisseeff 2003; Kuncheva 2007</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Classifiers, tuning and class imbalance</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7498080" cy="914400"/>
        </p:xfrm>
        <a:graphic>
          <a:graphicData uri="http://schemas.openxmlformats.org/drawingml/2006/table">
            <a:tbl>
              <a:tblPr/>
              <a:tblGrid>
                <a:gridCol w="1828800"/>
                <a:gridCol w="2103120"/>
                <a:gridCol w="1645920"/>
                <a:gridCol w="1920240"/>
              </a:tblGrid>
              <a:tr h="429768">
                <a:tc>
                  <a:txBody>
                    <a:bodyPr/>
                    <a:lstStyle/>
                    <a:p>
                      <a:pPr algn="ctr" indent="0" marL="0">
                        <a:buNone/>
                      </a:pPr>
                      <a:r>
                        <a:rPr lang="en-US" sz="1200" b="1" dirty="0">
                          <a:solidFill>
                            <a:srgbClr val="FFFFFF"/>
                          </a:solidFill>
                        </a:rPr>
                        <a:t>Classifier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Tuned (inner CV)</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Imbalance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Reference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29768">
                <a:tc>
                  <a:txBody>
                    <a:bodyPr/>
                    <a:lstStyle/>
                    <a:p>
                      <a:pPr indent="0" marL="0">
                        <a:buNone/>
                      </a:pPr>
                      <a:r>
                        <a:rPr lang="en-US" sz="1200" dirty="0">
                          <a:solidFill>
                            <a:srgbClr val="1A1A1A"/>
                          </a:solidFill>
                        </a:rPr>
                        <a:t>LDA</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Shrinkage / none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Equal priors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Zhang 2012; Tian 2021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rPr>
                        <a:t>PLS-DA</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Components 1-16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Oversampling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Zhu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29768">
                <a:tc>
                  <a:txBody>
                    <a:bodyPr/>
                    <a:lstStyle/>
                    <a:p>
                      <a:pPr indent="0" marL="0">
                        <a:buNone/>
                      </a:pPr>
                      <a:r>
                        <a:rPr lang="en-US" sz="1200" dirty="0">
                          <a:solidFill>
                            <a:srgbClr val="1A1A1A"/>
                          </a:solidFill>
                        </a:rPr>
                        <a:t>Logistic regression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 = 0.01-100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Class weights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Baseline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rPr>
                        <a:t>kNN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k = 5, 15, 35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Oversampling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Tian 2021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29768">
                <a:tc>
                  <a:txBody>
                    <a:bodyPr/>
                    <a:lstStyle/>
                    <a:p>
                      <a:pPr indent="0" marL="0">
                        <a:buNone/>
                      </a:pPr>
                      <a:r>
                        <a:rPr lang="en-US" sz="1200" dirty="0">
                          <a:solidFill>
                            <a:srgbClr val="1A1A1A"/>
                          </a:solidFill>
                        </a:rPr>
                        <a:t>SVM (RBF)</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 x gamma grid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Class weights</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Cortes &amp; Vapnik 1995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rPr>
                        <a:t>LS-SVM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gamma x regularisation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Weighted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Suykens 1999; Zhu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29768">
                <a:tc>
                  <a:txBody>
                    <a:bodyPr/>
                    <a:lstStyle/>
                    <a:p>
                      <a:pPr indent="0" marL="0">
                        <a:buNone/>
                      </a:pPr>
                      <a:r>
                        <a:rPr lang="en-US" sz="1200" dirty="0">
                          <a:solidFill>
                            <a:srgbClr val="1A1A1A"/>
                          </a:solidFill>
                        </a:rPr>
                        <a:t>Random forest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Leaf size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Balanced subsample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Breiman 2001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rPr>
                        <a:t>XGBoost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Depth x learning rate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scale_pos_weight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Chen &amp; Guestrin 2016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29768">
                <a:tc>
                  <a:txBody>
                    <a:bodyPr/>
                    <a:lstStyle/>
                    <a:p>
                      <a:pPr indent="0" marL="0">
                        <a:buNone/>
                      </a:pPr>
                      <a:r>
                        <a:rPr lang="en-US" sz="1200" dirty="0">
                          <a:solidFill>
                            <a:srgbClr val="1A1A1A"/>
                          </a:solidFill>
                        </a:rPr>
                        <a:t>ELM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Hidden units x ridge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Weighted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Huang 2006; Zhu 2017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rPr>
                        <a:t>MLP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Layers x alpha</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Oversampling</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Nguyen 2023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4" name="Shape 1"/>
          <p:cNvSpPr/>
          <p:nvPr/>
        </p:nvSpPr>
        <p:spPr>
          <a:xfrm>
            <a:off x="8229600" y="1188720"/>
            <a:ext cx="3474720" cy="2286000"/>
          </a:xfrm>
          <a:prstGeom prst="roundRect">
            <a:avLst>
              <a:gd name="adj" fmla="val 3200"/>
            </a:avLst>
          </a:prstGeom>
          <a:solidFill>
            <a:schemeClr val="bg2"/>
          </a:solidFill>
          <a:ln w="12700">
            <a:solidFill>
              <a:schemeClr val="bg2"/>
            </a:solidFill>
            <a:prstDash val="solid"/>
          </a:ln>
        </p:spPr>
      </p:sp>
      <p:sp>
        <p:nvSpPr>
          <p:cNvPr id="5" name="Shape 2"/>
          <p:cNvSpPr/>
          <p:nvPr/>
        </p:nvSpPr>
        <p:spPr>
          <a:xfrm>
            <a:off x="8394192" y="1371600"/>
            <a:ext cx="384048" cy="384048"/>
          </a:xfrm>
          <a:prstGeom prst="ellipse">
            <a:avLst/>
          </a:prstGeom>
          <a:solidFill>
            <a:srgbClr val="6E6E6E"/>
          </a:solidFill>
          <a:ln w="12700">
            <a:solidFill>
              <a:srgbClr val="6E6E6E"/>
            </a:solidFill>
            <a:prstDash val="solid"/>
          </a:ln>
        </p:spPr>
      </p:sp>
      <p:sp>
        <p:nvSpPr>
          <p:cNvPr id="6" name="Text 3"/>
          <p:cNvSpPr txBox="1"/>
          <p:nvPr/>
        </p:nvSpPr>
        <p:spPr>
          <a:xfrm>
            <a:off x="8887968" y="1307592"/>
            <a:ext cx="2697480" cy="512064"/>
          </a:xfrm>
          <a:prstGeom prst="rect">
            <a:avLst/>
          </a:prstGeom>
          <a:noFill/>
          <a:ln/>
        </p:spPr>
        <p:txBody>
          <a:bodyPr wrap="square" lIns="0" tIns="0" rIns="0" bIns="0" rtlCol="0" anchor="ctr"/>
          <a:lstStyle/>
          <a:p>
            <a:pPr indent="0" marL="0">
              <a:buNone/>
            </a:pPr>
            <a:r>
              <a:rPr lang="en-US" sz="1500" b="1" dirty="0">
                <a:solidFill>
                  <a:schemeClr val="tx2"/>
                </a:solidFill>
              </a:rPr>
              <a:t>Deep learning</a:t>
            </a:r>
            <a:endParaRPr lang="en-US" sz="1500" dirty="0"/>
          </a:p>
        </p:txBody>
      </p:sp>
      <p:sp>
        <p:nvSpPr>
          <p:cNvPr id="7" name="Text 4"/>
          <p:cNvSpPr txBox="1"/>
          <p:nvPr/>
        </p:nvSpPr>
        <p:spPr>
          <a:xfrm>
            <a:off x="8412480" y="1901952"/>
            <a:ext cx="3108960" cy="1463040"/>
          </a:xfrm>
          <a:prstGeom prst="rect">
            <a:avLst/>
          </a:prstGeom>
          <a:noFill/>
          <a:ln/>
        </p:spPr>
        <p:txBody>
          <a:bodyPr wrap="square" lIns="0" tIns="0" rIns="0" bIns="0" rtlCol="0" anchor="t"/>
          <a:lstStyle/>
          <a:p>
            <a:pPr indent="0" marL="0">
              <a:buNone/>
            </a:pPr>
            <a:r>
              <a:rPr lang="en-US" sz="1300" dirty="0">
                <a:solidFill>
                  <a:schemeClr val="tx1"/>
                </a:solidFill>
              </a:rPr>
              <a:t>1D/3D-CNN not used: only 48 independent plots, so a CNN would overfit (Nguyen et al. 2023 needed hundreds of plots).</a:t>
            </a:r>
            <a:endParaRPr lang="en-US" sz="1300" dirty="0"/>
          </a:p>
        </p:txBody>
      </p:sp>
      <p:sp>
        <p:nvSpPr>
          <p:cNvPr id="8" name="Shape 5"/>
          <p:cNvSpPr/>
          <p:nvPr/>
        </p:nvSpPr>
        <p:spPr>
          <a:xfrm>
            <a:off x="8229600" y="3611880"/>
            <a:ext cx="3474720" cy="2377440"/>
          </a:xfrm>
          <a:prstGeom prst="roundRect">
            <a:avLst>
              <a:gd name="adj" fmla="val 3077"/>
            </a:avLst>
          </a:prstGeom>
          <a:solidFill>
            <a:schemeClr val="bg2"/>
          </a:solidFill>
          <a:ln w="12700">
            <a:solidFill>
              <a:schemeClr val="bg2"/>
            </a:solidFill>
            <a:prstDash val="solid"/>
          </a:ln>
        </p:spPr>
      </p:sp>
      <p:sp>
        <p:nvSpPr>
          <p:cNvPr id="9" name="Shape 6"/>
          <p:cNvSpPr/>
          <p:nvPr/>
        </p:nvSpPr>
        <p:spPr>
          <a:xfrm>
            <a:off x="8394192" y="3794760"/>
            <a:ext cx="384048" cy="384048"/>
          </a:xfrm>
          <a:prstGeom prst="ellipse">
            <a:avLst/>
          </a:prstGeom>
          <a:solidFill>
            <a:srgbClr val="2E7D32"/>
          </a:solidFill>
          <a:ln w="12700">
            <a:solidFill>
              <a:srgbClr val="2E7D32"/>
            </a:solidFill>
            <a:prstDash val="solid"/>
          </a:ln>
        </p:spPr>
      </p:sp>
      <p:sp>
        <p:nvSpPr>
          <p:cNvPr id="10" name="Text 7"/>
          <p:cNvSpPr txBox="1"/>
          <p:nvPr/>
        </p:nvSpPr>
        <p:spPr>
          <a:xfrm>
            <a:off x="8887968" y="3730752"/>
            <a:ext cx="2697480" cy="512064"/>
          </a:xfrm>
          <a:prstGeom prst="rect">
            <a:avLst/>
          </a:prstGeom>
          <a:noFill/>
          <a:ln/>
        </p:spPr>
        <p:txBody>
          <a:bodyPr wrap="square" lIns="0" tIns="0" rIns="0" bIns="0" rtlCol="0" anchor="ctr"/>
          <a:lstStyle/>
          <a:p>
            <a:pPr indent="0" marL="0">
              <a:buNone/>
            </a:pPr>
            <a:r>
              <a:rPr lang="en-US" sz="1500" b="1" dirty="0">
                <a:solidFill>
                  <a:schemeClr val="tx2"/>
                </a:solidFill>
              </a:rPr>
              <a:t>Ten feature scenarios</a:t>
            </a:r>
            <a:endParaRPr lang="en-US" sz="1500" dirty="0"/>
          </a:p>
        </p:txBody>
      </p:sp>
      <p:sp>
        <p:nvSpPr>
          <p:cNvPr id="11" name="Text 8"/>
          <p:cNvSpPr txBox="1"/>
          <p:nvPr/>
        </p:nvSpPr>
        <p:spPr>
          <a:xfrm>
            <a:off x="8412480" y="4325112"/>
            <a:ext cx="3108960" cy="1554480"/>
          </a:xfrm>
          <a:prstGeom prst="rect">
            <a:avLst/>
          </a:prstGeom>
          <a:noFill/>
          <a:ln/>
        </p:spPr>
        <p:txBody>
          <a:bodyPr wrap="square" lIns="0" tIns="0" rIns="0" bIns="0" rtlCol="0" anchor="t"/>
          <a:lstStyle/>
          <a:p>
            <a:pPr indent="0" marL="0">
              <a:buNone/>
            </a:pPr>
            <a:r>
              <a:rPr lang="en-US" sz="1300" dirty="0">
                <a:solidFill>
                  <a:schemeClr val="tx1"/>
                </a:solidFill>
              </a:rPr>
              <a:t>S1 full spectrum; S2-S7 single families with robust selection; S8 combined; S9 SPA; S10 GA-PLS.</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Validation design: nested, plot-grouped, stratified, repeated CV</a:t>
            </a:r>
            <a:endParaRPr lang="en-US" sz="2800" dirty="0"/>
          </a:p>
        </p:txBody>
      </p:sp>
      <p:sp>
        <p:nvSpPr>
          <p:cNvPr id="3" name="Shape 1"/>
          <p:cNvSpPr/>
          <p:nvPr/>
        </p:nvSpPr>
        <p:spPr>
          <a:xfrm>
            <a:off x="640080" y="1417320"/>
            <a:ext cx="1234440" cy="457200"/>
          </a:xfrm>
          <a:prstGeom prst="roundRect">
            <a:avLst>
              <a:gd name="adj" fmla="val 10000"/>
            </a:avLst>
          </a:prstGeom>
          <a:solidFill>
            <a:schemeClr val="accent2"/>
          </a:solidFill>
          <a:ln w="12700">
            <a:solidFill>
              <a:schemeClr val="accent2"/>
            </a:solidFill>
            <a:prstDash val="solid"/>
          </a:ln>
        </p:spPr>
      </p:sp>
      <p:sp>
        <p:nvSpPr>
          <p:cNvPr id="4" name="Text 2"/>
          <p:cNvSpPr txBox="1"/>
          <p:nvPr/>
        </p:nvSpPr>
        <p:spPr>
          <a:xfrm>
            <a:off x="640080" y="1417320"/>
            <a:ext cx="1234440" cy="457200"/>
          </a:xfrm>
          <a:prstGeom prst="rect">
            <a:avLst/>
          </a:prstGeom>
          <a:noFill/>
          <a:ln/>
        </p:spPr>
        <p:txBody>
          <a:bodyPr wrap="square" lIns="0" tIns="0" rIns="0" bIns="0" rtlCol="0" anchor="ctr"/>
          <a:lstStyle/>
          <a:p>
            <a:pPr algn="ctr" indent="0" marL="0">
              <a:buNone/>
            </a:pPr>
            <a:r>
              <a:rPr lang="en-US" sz="1200" b="1" dirty="0">
                <a:solidFill>
                  <a:schemeClr val="bg1"/>
                </a:solidFill>
              </a:rPr>
              <a:t>Test</a:t>
            </a:r>
            <a:endParaRPr lang="en-US" sz="1200" dirty="0"/>
          </a:p>
        </p:txBody>
      </p:sp>
      <p:sp>
        <p:nvSpPr>
          <p:cNvPr id="5" name="Shape 3"/>
          <p:cNvSpPr/>
          <p:nvPr/>
        </p:nvSpPr>
        <p:spPr>
          <a:xfrm>
            <a:off x="1965960" y="1417320"/>
            <a:ext cx="1234440" cy="457200"/>
          </a:xfrm>
          <a:prstGeom prst="roundRect">
            <a:avLst>
              <a:gd name="adj" fmla="val 10000"/>
            </a:avLst>
          </a:prstGeom>
          <a:solidFill>
            <a:schemeClr val="bg2"/>
          </a:solidFill>
          <a:ln w="12700">
            <a:solidFill>
              <a:schemeClr val="bg2"/>
            </a:solidFill>
            <a:prstDash val="solid"/>
          </a:ln>
        </p:spPr>
      </p:sp>
      <p:sp>
        <p:nvSpPr>
          <p:cNvPr id="6" name="Text 4"/>
          <p:cNvSpPr txBox="1"/>
          <p:nvPr/>
        </p:nvSpPr>
        <p:spPr>
          <a:xfrm>
            <a:off x="1965960" y="1417320"/>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7" name="Shape 5"/>
          <p:cNvSpPr/>
          <p:nvPr/>
        </p:nvSpPr>
        <p:spPr>
          <a:xfrm>
            <a:off x="3291840" y="1417320"/>
            <a:ext cx="1234440" cy="457200"/>
          </a:xfrm>
          <a:prstGeom prst="roundRect">
            <a:avLst>
              <a:gd name="adj" fmla="val 10000"/>
            </a:avLst>
          </a:prstGeom>
          <a:solidFill>
            <a:schemeClr val="bg2"/>
          </a:solidFill>
          <a:ln w="12700">
            <a:solidFill>
              <a:schemeClr val="bg2"/>
            </a:solidFill>
            <a:prstDash val="solid"/>
          </a:ln>
        </p:spPr>
      </p:sp>
      <p:sp>
        <p:nvSpPr>
          <p:cNvPr id="8" name="Text 6"/>
          <p:cNvSpPr txBox="1"/>
          <p:nvPr/>
        </p:nvSpPr>
        <p:spPr>
          <a:xfrm>
            <a:off x="3291840" y="1417320"/>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9" name="Shape 7"/>
          <p:cNvSpPr/>
          <p:nvPr/>
        </p:nvSpPr>
        <p:spPr>
          <a:xfrm>
            <a:off x="4617720" y="1417320"/>
            <a:ext cx="1234440" cy="457200"/>
          </a:xfrm>
          <a:prstGeom prst="roundRect">
            <a:avLst>
              <a:gd name="adj" fmla="val 10000"/>
            </a:avLst>
          </a:prstGeom>
          <a:solidFill>
            <a:schemeClr val="bg2"/>
          </a:solidFill>
          <a:ln w="12700">
            <a:solidFill>
              <a:schemeClr val="bg2"/>
            </a:solidFill>
            <a:prstDash val="solid"/>
          </a:ln>
        </p:spPr>
      </p:sp>
      <p:sp>
        <p:nvSpPr>
          <p:cNvPr id="10" name="Text 8"/>
          <p:cNvSpPr txBox="1"/>
          <p:nvPr/>
        </p:nvSpPr>
        <p:spPr>
          <a:xfrm>
            <a:off x="4617720" y="1417320"/>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11" name="Text 9"/>
          <p:cNvSpPr txBox="1"/>
          <p:nvPr/>
        </p:nvSpPr>
        <p:spPr>
          <a:xfrm>
            <a:off x="5989320" y="1417320"/>
            <a:ext cx="914400" cy="457200"/>
          </a:xfrm>
          <a:prstGeom prst="rect">
            <a:avLst/>
          </a:prstGeom>
          <a:noFill/>
          <a:ln/>
        </p:spPr>
        <p:txBody>
          <a:bodyPr wrap="square" lIns="0" tIns="0" rIns="0" bIns="0" rtlCol="0" anchor="ctr"/>
          <a:lstStyle/>
          <a:p>
            <a:pPr indent="0" marL="0">
              <a:buNone/>
            </a:pPr>
            <a:r>
              <a:rPr lang="en-US" sz="1200" dirty="0">
                <a:solidFill>
                  <a:schemeClr val="accent6"/>
                </a:solidFill>
              </a:rPr>
              <a:t>Fold 1</a:t>
            </a:r>
            <a:endParaRPr lang="en-US" sz="1200" dirty="0"/>
          </a:p>
        </p:txBody>
      </p:sp>
      <p:sp>
        <p:nvSpPr>
          <p:cNvPr id="12" name="Shape 10"/>
          <p:cNvSpPr/>
          <p:nvPr/>
        </p:nvSpPr>
        <p:spPr>
          <a:xfrm>
            <a:off x="640080" y="1984248"/>
            <a:ext cx="1234440" cy="457200"/>
          </a:xfrm>
          <a:prstGeom prst="roundRect">
            <a:avLst>
              <a:gd name="adj" fmla="val 10000"/>
            </a:avLst>
          </a:prstGeom>
          <a:solidFill>
            <a:schemeClr val="bg2"/>
          </a:solidFill>
          <a:ln w="12700">
            <a:solidFill>
              <a:schemeClr val="bg2"/>
            </a:solidFill>
            <a:prstDash val="solid"/>
          </a:ln>
        </p:spPr>
      </p:sp>
      <p:sp>
        <p:nvSpPr>
          <p:cNvPr id="13" name="Text 11"/>
          <p:cNvSpPr txBox="1"/>
          <p:nvPr/>
        </p:nvSpPr>
        <p:spPr>
          <a:xfrm>
            <a:off x="640080" y="1984248"/>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14" name="Shape 12"/>
          <p:cNvSpPr/>
          <p:nvPr/>
        </p:nvSpPr>
        <p:spPr>
          <a:xfrm>
            <a:off x="1965960" y="1984248"/>
            <a:ext cx="1234440" cy="457200"/>
          </a:xfrm>
          <a:prstGeom prst="roundRect">
            <a:avLst>
              <a:gd name="adj" fmla="val 10000"/>
            </a:avLst>
          </a:prstGeom>
          <a:solidFill>
            <a:schemeClr val="accent2"/>
          </a:solidFill>
          <a:ln w="12700">
            <a:solidFill>
              <a:schemeClr val="accent2"/>
            </a:solidFill>
            <a:prstDash val="solid"/>
          </a:ln>
        </p:spPr>
      </p:sp>
      <p:sp>
        <p:nvSpPr>
          <p:cNvPr id="15" name="Text 13"/>
          <p:cNvSpPr txBox="1"/>
          <p:nvPr/>
        </p:nvSpPr>
        <p:spPr>
          <a:xfrm>
            <a:off x="1965960" y="1984248"/>
            <a:ext cx="1234440" cy="457200"/>
          </a:xfrm>
          <a:prstGeom prst="rect">
            <a:avLst/>
          </a:prstGeom>
          <a:noFill/>
          <a:ln/>
        </p:spPr>
        <p:txBody>
          <a:bodyPr wrap="square" lIns="0" tIns="0" rIns="0" bIns="0" rtlCol="0" anchor="ctr"/>
          <a:lstStyle/>
          <a:p>
            <a:pPr algn="ctr" indent="0" marL="0">
              <a:buNone/>
            </a:pPr>
            <a:r>
              <a:rPr lang="en-US" sz="1200" b="1" dirty="0">
                <a:solidFill>
                  <a:schemeClr val="bg1"/>
                </a:solidFill>
              </a:rPr>
              <a:t>Test</a:t>
            </a:r>
            <a:endParaRPr lang="en-US" sz="1200" dirty="0"/>
          </a:p>
        </p:txBody>
      </p:sp>
      <p:sp>
        <p:nvSpPr>
          <p:cNvPr id="16" name="Shape 14"/>
          <p:cNvSpPr/>
          <p:nvPr/>
        </p:nvSpPr>
        <p:spPr>
          <a:xfrm>
            <a:off x="3291840" y="1984248"/>
            <a:ext cx="1234440" cy="457200"/>
          </a:xfrm>
          <a:prstGeom prst="roundRect">
            <a:avLst>
              <a:gd name="adj" fmla="val 10000"/>
            </a:avLst>
          </a:prstGeom>
          <a:solidFill>
            <a:schemeClr val="bg2"/>
          </a:solidFill>
          <a:ln w="12700">
            <a:solidFill>
              <a:schemeClr val="bg2"/>
            </a:solidFill>
            <a:prstDash val="solid"/>
          </a:ln>
        </p:spPr>
      </p:sp>
      <p:sp>
        <p:nvSpPr>
          <p:cNvPr id="17" name="Text 15"/>
          <p:cNvSpPr txBox="1"/>
          <p:nvPr/>
        </p:nvSpPr>
        <p:spPr>
          <a:xfrm>
            <a:off x="3291840" y="1984248"/>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18" name="Shape 16"/>
          <p:cNvSpPr/>
          <p:nvPr/>
        </p:nvSpPr>
        <p:spPr>
          <a:xfrm>
            <a:off x="4617720" y="1984248"/>
            <a:ext cx="1234440" cy="457200"/>
          </a:xfrm>
          <a:prstGeom prst="roundRect">
            <a:avLst>
              <a:gd name="adj" fmla="val 10000"/>
            </a:avLst>
          </a:prstGeom>
          <a:solidFill>
            <a:schemeClr val="bg2"/>
          </a:solidFill>
          <a:ln w="12700">
            <a:solidFill>
              <a:schemeClr val="bg2"/>
            </a:solidFill>
            <a:prstDash val="solid"/>
          </a:ln>
        </p:spPr>
      </p:sp>
      <p:sp>
        <p:nvSpPr>
          <p:cNvPr id="19" name="Text 17"/>
          <p:cNvSpPr txBox="1"/>
          <p:nvPr/>
        </p:nvSpPr>
        <p:spPr>
          <a:xfrm>
            <a:off x="4617720" y="1984248"/>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20" name="Text 18"/>
          <p:cNvSpPr txBox="1"/>
          <p:nvPr/>
        </p:nvSpPr>
        <p:spPr>
          <a:xfrm>
            <a:off x="5989320" y="1984248"/>
            <a:ext cx="914400" cy="457200"/>
          </a:xfrm>
          <a:prstGeom prst="rect">
            <a:avLst/>
          </a:prstGeom>
          <a:noFill/>
          <a:ln/>
        </p:spPr>
        <p:txBody>
          <a:bodyPr wrap="square" lIns="0" tIns="0" rIns="0" bIns="0" rtlCol="0" anchor="ctr"/>
          <a:lstStyle/>
          <a:p>
            <a:pPr indent="0" marL="0">
              <a:buNone/>
            </a:pPr>
            <a:r>
              <a:rPr lang="en-US" sz="1200" dirty="0">
                <a:solidFill>
                  <a:schemeClr val="accent6"/>
                </a:solidFill>
              </a:rPr>
              <a:t>Fold 2</a:t>
            </a:r>
            <a:endParaRPr lang="en-US" sz="1200" dirty="0"/>
          </a:p>
        </p:txBody>
      </p:sp>
      <p:sp>
        <p:nvSpPr>
          <p:cNvPr id="21" name="Shape 19"/>
          <p:cNvSpPr/>
          <p:nvPr/>
        </p:nvSpPr>
        <p:spPr>
          <a:xfrm>
            <a:off x="640080" y="2551176"/>
            <a:ext cx="1234440" cy="457200"/>
          </a:xfrm>
          <a:prstGeom prst="roundRect">
            <a:avLst>
              <a:gd name="adj" fmla="val 10000"/>
            </a:avLst>
          </a:prstGeom>
          <a:solidFill>
            <a:schemeClr val="bg2"/>
          </a:solidFill>
          <a:ln w="12700">
            <a:solidFill>
              <a:schemeClr val="bg2"/>
            </a:solidFill>
            <a:prstDash val="solid"/>
          </a:ln>
        </p:spPr>
      </p:sp>
      <p:sp>
        <p:nvSpPr>
          <p:cNvPr id="22" name="Text 20"/>
          <p:cNvSpPr txBox="1"/>
          <p:nvPr/>
        </p:nvSpPr>
        <p:spPr>
          <a:xfrm>
            <a:off x="640080" y="2551176"/>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23" name="Shape 21"/>
          <p:cNvSpPr/>
          <p:nvPr/>
        </p:nvSpPr>
        <p:spPr>
          <a:xfrm>
            <a:off x="1965960" y="2551176"/>
            <a:ext cx="1234440" cy="457200"/>
          </a:xfrm>
          <a:prstGeom prst="roundRect">
            <a:avLst>
              <a:gd name="adj" fmla="val 10000"/>
            </a:avLst>
          </a:prstGeom>
          <a:solidFill>
            <a:schemeClr val="bg2"/>
          </a:solidFill>
          <a:ln w="12700">
            <a:solidFill>
              <a:schemeClr val="bg2"/>
            </a:solidFill>
            <a:prstDash val="solid"/>
          </a:ln>
        </p:spPr>
      </p:sp>
      <p:sp>
        <p:nvSpPr>
          <p:cNvPr id="24" name="Text 22"/>
          <p:cNvSpPr txBox="1"/>
          <p:nvPr/>
        </p:nvSpPr>
        <p:spPr>
          <a:xfrm>
            <a:off x="1965960" y="2551176"/>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25" name="Shape 23"/>
          <p:cNvSpPr/>
          <p:nvPr/>
        </p:nvSpPr>
        <p:spPr>
          <a:xfrm>
            <a:off x="3291840" y="2551176"/>
            <a:ext cx="1234440" cy="457200"/>
          </a:xfrm>
          <a:prstGeom prst="roundRect">
            <a:avLst>
              <a:gd name="adj" fmla="val 10000"/>
            </a:avLst>
          </a:prstGeom>
          <a:solidFill>
            <a:schemeClr val="accent2"/>
          </a:solidFill>
          <a:ln w="12700">
            <a:solidFill>
              <a:schemeClr val="accent2"/>
            </a:solidFill>
            <a:prstDash val="solid"/>
          </a:ln>
        </p:spPr>
      </p:sp>
      <p:sp>
        <p:nvSpPr>
          <p:cNvPr id="26" name="Text 24"/>
          <p:cNvSpPr txBox="1"/>
          <p:nvPr/>
        </p:nvSpPr>
        <p:spPr>
          <a:xfrm>
            <a:off x="3291840" y="2551176"/>
            <a:ext cx="1234440" cy="457200"/>
          </a:xfrm>
          <a:prstGeom prst="rect">
            <a:avLst/>
          </a:prstGeom>
          <a:noFill/>
          <a:ln/>
        </p:spPr>
        <p:txBody>
          <a:bodyPr wrap="square" lIns="0" tIns="0" rIns="0" bIns="0" rtlCol="0" anchor="ctr"/>
          <a:lstStyle/>
          <a:p>
            <a:pPr algn="ctr" indent="0" marL="0">
              <a:buNone/>
            </a:pPr>
            <a:r>
              <a:rPr lang="en-US" sz="1200" b="1" dirty="0">
                <a:solidFill>
                  <a:schemeClr val="bg1"/>
                </a:solidFill>
              </a:rPr>
              <a:t>Test</a:t>
            </a:r>
            <a:endParaRPr lang="en-US" sz="1200" dirty="0"/>
          </a:p>
        </p:txBody>
      </p:sp>
      <p:sp>
        <p:nvSpPr>
          <p:cNvPr id="27" name="Shape 25"/>
          <p:cNvSpPr/>
          <p:nvPr/>
        </p:nvSpPr>
        <p:spPr>
          <a:xfrm>
            <a:off x="4617720" y="2551176"/>
            <a:ext cx="1234440" cy="457200"/>
          </a:xfrm>
          <a:prstGeom prst="roundRect">
            <a:avLst>
              <a:gd name="adj" fmla="val 10000"/>
            </a:avLst>
          </a:prstGeom>
          <a:solidFill>
            <a:schemeClr val="bg2"/>
          </a:solidFill>
          <a:ln w="12700">
            <a:solidFill>
              <a:schemeClr val="bg2"/>
            </a:solidFill>
            <a:prstDash val="solid"/>
          </a:ln>
        </p:spPr>
      </p:sp>
      <p:sp>
        <p:nvSpPr>
          <p:cNvPr id="28" name="Text 26"/>
          <p:cNvSpPr txBox="1"/>
          <p:nvPr/>
        </p:nvSpPr>
        <p:spPr>
          <a:xfrm>
            <a:off x="4617720" y="2551176"/>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29" name="Text 27"/>
          <p:cNvSpPr txBox="1"/>
          <p:nvPr/>
        </p:nvSpPr>
        <p:spPr>
          <a:xfrm>
            <a:off x="5989320" y="2551176"/>
            <a:ext cx="914400" cy="457200"/>
          </a:xfrm>
          <a:prstGeom prst="rect">
            <a:avLst/>
          </a:prstGeom>
          <a:noFill/>
          <a:ln/>
        </p:spPr>
        <p:txBody>
          <a:bodyPr wrap="square" lIns="0" tIns="0" rIns="0" bIns="0" rtlCol="0" anchor="ctr"/>
          <a:lstStyle/>
          <a:p>
            <a:pPr indent="0" marL="0">
              <a:buNone/>
            </a:pPr>
            <a:r>
              <a:rPr lang="en-US" sz="1200" dirty="0">
                <a:solidFill>
                  <a:schemeClr val="accent6"/>
                </a:solidFill>
              </a:rPr>
              <a:t>Fold 3</a:t>
            </a:r>
            <a:endParaRPr lang="en-US" sz="1200" dirty="0"/>
          </a:p>
        </p:txBody>
      </p:sp>
      <p:sp>
        <p:nvSpPr>
          <p:cNvPr id="30" name="Shape 28"/>
          <p:cNvSpPr/>
          <p:nvPr/>
        </p:nvSpPr>
        <p:spPr>
          <a:xfrm>
            <a:off x="640080" y="3118104"/>
            <a:ext cx="1234440" cy="457200"/>
          </a:xfrm>
          <a:prstGeom prst="roundRect">
            <a:avLst>
              <a:gd name="adj" fmla="val 10000"/>
            </a:avLst>
          </a:prstGeom>
          <a:solidFill>
            <a:schemeClr val="bg2"/>
          </a:solidFill>
          <a:ln w="12700">
            <a:solidFill>
              <a:schemeClr val="bg2"/>
            </a:solidFill>
            <a:prstDash val="solid"/>
          </a:ln>
        </p:spPr>
      </p:sp>
      <p:sp>
        <p:nvSpPr>
          <p:cNvPr id="31" name="Text 29"/>
          <p:cNvSpPr txBox="1"/>
          <p:nvPr/>
        </p:nvSpPr>
        <p:spPr>
          <a:xfrm>
            <a:off x="640080" y="3118104"/>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32" name="Shape 30"/>
          <p:cNvSpPr/>
          <p:nvPr/>
        </p:nvSpPr>
        <p:spPr>
          <a:xfrm>
            <a:off x="1965960" y="3118104"/>
            <a:ext cx="1234440" cy="457200"/>
          </a:xfrm>
          <a:prstGeom prst="roundRect">
            <a:avLst>
              <a:gd name="adj" fmla="val 10000"/>
            </a:avLst>
          </a:prstGeom>
          <a:solidFill>
            <a:schemeClr val="bg2"/>
          </a:solidFill>
          <a:ln w="12700">
            <a:solidFill>
              <a:schemeClr val="bg2"/>
            </a:solidFill>
            <a:prstDash val="solid"/>
          </a:ln>
        </p:spPr>
      </p:sp>
      <p:sp>
        <p:nvSpPr>
          <p:cNvPr id="33" name="Text 31"/>
          <p:cNvSpPr txBox="1"/>
          <p:nvPr/>
        </p:nvSpPr>
        <p:spPr>
          <a:xfrm>
            <a:off x="1965960" y="3118104"/>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34" name="Shape 32"/>
          <p:cNvSpPr/>
          <p:nvPr/>
        </p:nvSpPr>
        <p:spPr>
          <a:xfrm>
            <a:off x="3291840" y="3118104"/>
            <a:ext cx="1234440" cy="457200"/>
          </a:xfrm>
          <a:prstGeom prst="roundRect">
            <a:avLst>
              <a:gd name="adj" fmla="val 10000"/>
            </a:avLst>
          </a:prstGeom>
          <a:solidFill>
            <a:schemeClr val="bg2"/>
          </a:solidFill>
          <a:ln w="12700">
            <a:solidFill>
              <a:schemeClr val="bg2"/>
            </a:solidFill>
            <a:prstDash val="solid"/>
          </a:ln>
        </p:spPr>
      </p:sp>
      <p:sp>
        <p:nvSpPr>
          <p:cNvPr id="35" name="Text 33"/>
          <p:cNvSpPr txBox="1"/>
          <p:nvPr/>
        </p:nvSpPr>
        <p:spPr>
          <a:xfrm>
            <a:off x="3291840" y="3118104"/>
            <a:ext cx="1234440" cy="457200"/>
          </a:xfrm>
          <a:prstGeom prst="rect">
            <a:avLst/>
          </a:prstGeom>
          <a:noFill/>
          <a:ln/>
        </p:spPr>
        <p:txBody>
          <a:bodyPr wrap="square" lIns="0" tIns="0" rIns="0" bIns="0" rtlCol="0" anchor="ctr"/>
          <a:lstStyle/>
          <a:p>
            <a:pPr algn="ctr" indent="0" marL="0">
              <a:buNone/>
            </a:pPr>
            <a:r>
              <a:rPr lang="en-US" sz="1200" dirty="0">
                <a:solidFill>
                  <a:schemeClr val="tx2"/>
                </a:solidFill>
              </a:rPr>
              <a:t>Train</a:t>
            </a:r>
            <a:endParaRPr lang="en-US" sz="1200" dirty="0"/>
          </a:p>
        </p:txBody>
      </p:sp>
      <p:sp>
        <p:nvSpPr>
          <p:cNvPr id="36" name="Shape 34"/>
          <p:cNvSpPr/>
          <p:nvPr/>
        </p:nvSpPr>
        <p:spPr>
          <a:xfrm>
            <a:off x="4617720" y="3118104"/>
            <a:ext cx="1234440" cy="457200"/>
          </a:xfrm>
          <a:prstGeom prst="roundRect">
            <a:avLst>
              <a:gd name="adj" fmla="val 10000"/>
            </a:avLst>
          </a:prstGeom>
          <a:solidFill>
            <a:schemeClr val="accent2"/>
          </a:solidFill>
          <a:ln w="12700">
            <a:solidFill>
              <a:schemeClr val="accent2"/>
            </a:solidFill>
            <a:prstDash val="solid"/>
          </a:ln>
        </p:spPr>
      </p:sp>
      <p:sp>
        <p:nvSpPr>
          <p:cNvPr id="37" name="Text 35"/>
          <p:cNvSpPr txBox="1"/>
          <p:nvPr/>
        </p:nvSpPr>
        <p:spPr>
          <a:xfrm>
            <a:off x="4617720" y="3118104"/>
            <a:ext cx="1234440" cy="457200"/>
          </a:xfrm>
          <a:prstGeom prst="rect">
            <a:avLst/>
          </a:prstGeom>
          <a:noFill/>
          <a:ln/>
        </p:spPr>
        <p:txBody>
          <a:bodyPr wrap="square" lIns="0" tIns="0" rIns="0" bIns="0" rtlCol="0" anchor="ctr"/>
          <a:lstStyle/>
          <a:p>
            <a:pPr algn="ctr" indent="0" marL="0">
              <a:buNone/>
            </a:pPr>
            <a:r>
              <a:rPr lang="en-US" sz="1200" b="1" dirty="0">
                <a:solidFill>
                  <a:schemeClr val="bg1"/>
                </a:solidFill>
              </a:rPr>
              <a:t>Test</a:t>
            </a:r>
            <a:endParaRPr lang="en-US" sz="1200" dirty="0"/>
          </a:p>
        </p:txBody>
      </p:sp>
      <p:sp>
        <p:nvSpPr>
          <p:cNvPr id="38" name="Text 36"/>
          <p:cNvSpPr txBox="1"/>
          <p:nvPr/>
        </p:nvSpPr>
        <p:spPr>
          <a:xfrm>
            <a:off x="5989320" y="3118104"/>
            <a:ext cx="914400" cy="457200"/>
          </a:xfrm>
          <a:prstGeom prst="rect">
            <a:avLst/>
          </a:prstGeom>
          <a:noFill/>
          <a:ln/>
        </p:spPr>
        <p:txBody>
          <a:bodyPr wrap="square" lIns="0" tIns="0" rIns="0" bIns="0" rtlCol="0" anchor="ctr"/>
          <a:lstStyle/>
          <a:p>
            <a:pPr indent="0" marL="0">
              <a:buNone/>
            </a:pPr>
            <a:r>
              <a:rPr lang="en-US" sz="1200" dirty="0">
                <a:solidFill>
                  <a:schemeClr val="accent6"/>
                </a:solidFill>
              </a:rPr>
              <a:t>Fold 4</a:t>
            </a:r>
            <a:endParaRPr lang="en-US" sz="1200" dirty="0"/>
          </a:p>
        </p:txBody>
      </p:sp>
      <p:sp>
        <p:nvSpPr>
          <p:cNvPr id="39" name="Text 37"/>
          <p:cNvSpPr txBox="1"/>
          <p:nvPr/>
        </p:nvSpPr>
        <p:spPr>
          <a:xfrm>
            <a:off x="457200" y="3794760"/>
            <a:ext cx="6583680" cy="2194560"/>
          </a:xfrm>
          <a:prstGeom prst="rect">
            <a:avLst/>
          </a:prstGeom>
          <a:noFill/>
          <a:ln/>
        </p:spPr>
        <p:txBody>
          <a:bodyPr wrap="square" rtlCol="0" anchor="t"/>
          <a:lstStyle/>
          <a:p>
            <a:pPr lvl="1" marL="457200" indent="-228600">
              <a:spcAft>
                <a:spcPts val="600"/>
              </a:spcAft>
              <a:buSzPct val="100000"/>
              <a:buChar char="•"/>
            </a:pPr>
            <a:r>
              <a:rPr lang="en-US" sz="1400" dirty="0">
                <a:solidFill>
                  <a:schemeClr val="tx1"/>
                </a:solidFill>
              </a:rPr>
              <a:t>Outer: 4 folds of whole plots; each test fold = 1 healthy + 3 diseased plots per variety</a:t>
            </a:r>
            <a:endParaRPr lang="en-US" sz="1400" dirty="0"/>
          </a:p>
          <a:p>
            <a:pPr lvl="1" marL="457200" indent="-228600">
              <a:spcAft>
                <a:spcPts val="600"/>
              </a:spcAft>
              <a:buSzPct val="100000"/>
              <a:buChar char="•"/>
            </a:pPr>
            <a:r>
              <a:rPr lang="en-US" sz="1400" dirty="0">
                <a:solidFill>
                  <a:schemeClr val="tx1"/>
                </a:solidFill>
              </a:rPr>
              <a:t>Inner: 3-fold plot-grouped CV for selection and tuning</a:t>
            </a:r>
            <a:endParaRPr lang="en-US" sz="1400" dirty="0"/>
          </a:p>
          <a:p>
            <a:pPr lvl="1" marL="457200" indent="-228600">
              <a:spcAft>
                <a:spcPts val="600"/>
              </a:spcAft>
              <a:buSzPct val="100000"/>
              <a:buChar char="•"/>
            </a:pPr>
            <a:r>
              <a:rPr lang="en-US" sz="1400" dirty="0">
                <a:solidFill>
                  <a:schemeClr val="tx1"/>
                </a:solidFill>
              </a:rPr>
              <a:t>25 repeats -&gt; 100 outer test folds (cf. 4-fold x 100 in Tian 2021; Lv 2023)</a:t>
            </a:r>
            <a:endParaRPr lang="en-US" sz="1400" dirty="0"/>
          </a:p>
          <a:p>
            <a:pPr lvl="1" marL="457200" indent="-228600">
              <a:spcAft>
                <a:spcPts val="600"/>
              </a:spcAft>
              <a:buSzPct val="100000"/>
              <a:buChar char="•"/>
            </a:pPr>
            <a:r>
              <a:rPr lang="en-US" sz="1400" dirty="0">
                <a:solidFill>
                  <a:schemeClr val="tx1"/>
                </a:solidFill>
              </a:rPr>
              <a:t>Plot-date predictions by majority vote of spectra</a:t>
            </a:r>
            <a:endParaRPr lang="en-US" sz="1400" dirty="0"/>
          </a:p>
        </p:txBody>
      </p:sp>
      <p:sp>
        <p:nvSpPr>
          <p:cNvPr id="40" name="Shape 38"/>
          <p:cNvSpPr/>
          <p:nvPr/>
        </p:nvSpPr>
        <p:spPr>
          <a:xfrm>
            <a:off x="7315200" y="1188720"/>
            <a:ext cx="4389120" cy="2148840"/>
          </a:xfrm>
          <a:prstGeom prst="roundRect">
            <a:avLst>
              <a:gd name="adj" fmla="val 3404"/>
            </a:avLst>
          </a:prstGeom>
          <a:solidFill>
            <a:schemeClr val="bg2"/>
          </a:solidFill>
          <a:ln w="12700">
            <a:solidFill>
              <a:schemeClr val="bg2"/>
            </a:solidFill>
            <a:prstDash val="solid"/>
          </a:ln>
        </p:spPr>
      </p:sp>
      <p:sp>
        <p:nvSpPr>
          <p:cNvPr id="41" name="Shape 39"/>
          <p:cNvSpPr/>
          <p:nvPr/>
        </p:nvSpPr>
        <p:spPr>
          <a:xfrm>
            <a:off x="7479792" y="1371600"/>
            <a:ext cx="384048" cy="384048"/>
          </a:xfrm>
          <a:prstGeom prst="ellipse">
            <a:avLst/>
          </a:prstGeom>
          <a:solidFill>
            <a:srgbClr val="2A6FB0"/>
          </a:solidFill>
          <a:ln w="12700">
            <a:solidFill>
              <a:srgbClr val="2A6FB0"/>
            </a:solidFill>
            <a:prstDash val="solid"/>
          </a:ln>
        </p:spPr>
      </p:sp>
      <p:sp>
        <p:nvSpPr>
          <p:cNvPr id="42" name="Text 40"/>
          <p:cNvSpPr txBox="1"/>
          <p:nvPr/>
        </p:nvSpPr>
        <p:spPr>
          <a:xfrm>
            <a:off x="7973568" y="1307592"/>
            <a:ext cx="3611880" cy="512064"/>
          </a:xfrm>
          <a:prstGeom prst="rect">
            <a:avLst/>
          </a:prstGeom>
          <a:noFill/>
          <a:ln/>
        </p:spPr>
        <p:txBody>
          <a:bodyPr wrap="square" lIns="0" tIns="0" rIns="0" bIns="0" rtlCol="0" anchor="ctr"/>
          <a:lstStyle/>
          <a:p>
            <a:pPr indent="0" marL="0">
              <a:buNone/>
            </a:pPr>
            <a:r>
              <a:rPr lang="en-US" sz="1500" b="1" dirty="0">
                <a:solidFill>
                  <a:schemeClr val="tx2"/>
                </a:solidFill>
              </a:rPr>
              <a:t>Transfer tests (E2)</a:t>
            </a:r>
            <a:endParaRPr lang="en-US" sz="1500" dirty="0"/>
          </a:p>
        </p:txBody>
      </p:sp>
      <p:sp>
        <p:nvSpPr>
          <p:cNvPr id="43" name="Text 41"/>
          <p:cNvSpPr txBox="1"/>
          <p:nvPr/>
        </p:nvSpPr>
        <p:spPr>
          <a:xfrm>
            <a:off x="7498080" y="1901952"/>
            <a:ext cx="4023360" cy="1325880"/>
          </a:xfrm>
          <a:prstGeom prst="rect">
            <a:avLst/>
          </a:prstGeom>
          <a:noFill/>
          <a:ln/>
        </p:spPr>
        <p:txBody>
          <a:bodyPr wrap="square" lIns="0" tIns="0" rIns="0" bIns="0" rtlCol="0" anchor="t"/>
          <a:lstStyle/>
          <a:p>
            <a:pPr indent="0" marL="0">
              <a:buNone/>
            </a:pPr>
            <a:r>
              <a:rPr lang="en-US" sz="1300" dirty="0">
                <a:solidFill>
                  <a:schemeClr val="tx1"/>
                </a:solidFill>
              </a:rPr>
              <a:t>Leave-one-date-out and leave-one-stage-out with plots kept apart; leave-one-variety-out (train 2 varieties, test the third).</a:t>
            </a:r>
            <a:endParaRPr lang="en-US" sz="1300" dirty="0"/>
          </a:p>
        </p:txBody>
      </p:sp>
      <p:sp>
        <p:nvSpPr>
          <p:cNvPr id="44" name="Shape 42"/>
          <p:cNvSpPr/>
          <p:nvPr/>
        </p:nvSpPr>
        <p:spPr>
          <a:xfrm>
            <a:off x="7315200" y="3474720"/>
            <a:ext cx="4389120" cy="2514600"/>
          </a:xfrm>
          <a:prstGeom prst="roundRect">
            <a:avLst>
              <a:gd name="adj" fmla="val 2909"/>
            </a:avLst>
          </a:prstGeom>
          <a:solidFill>
            <a:schemeClr val="bg2"/>
          </a:solidFill>
          <a:ln w="12700">
            <a:solidFill>
              <a:schemeClr val="bg2"/>
            </a:solidFill>
            <a:prstDash val="solid"/>
          </a:ln>
        </p:spPr>
      </p:sp>
      <p:sp>
        <p:nvSpPr>
          <p:cNvPr id="45" name="Shape 43"/>
          <p:cNvSpPr/>
          <p:nvPr/>
        </p:nvSpPr>
        <p:spPr>
          <a:xfrm>
            <a:off x="7479792" y="3657600"/>
            <a:ext cx="384048" cy="384048"/>
          </a:xfrm>
          <a:prstGeom prst="ellipse">
            <a:avLst/>
          </a:prstGeom>
          <a:solidFill>
            <a:srgbClr val="2E7D32"/>
          </a:solidFill>
          <a:ln w="12700">
            <a:solidFill>
              <a:srgbClr val="2E7D32"/>
            </a:solidFill>
            <a:prstDash val="solid"/>
          </a:ln>
        </p:spPr>
      </p:sp>
      <p:sp>
        <p:nvSpPr>
          <p:cNvPr id="46" name="Text 44"/>
          <p:cNvSpPr txBox="1"/>
          <p:nvPr/>
        </p:nvSpPr>
        <p:spPr>
          <a:xfrm>
            <a:off x="7973568" y="3593592"/>
            <a:ext cx="3611880" cy="512064"/>
          </a:xfrm>
          <a:prstGeom prst="rect">
            <a:avLst/>
          </a:prstGeom>
          <a:noFill/>
          <a:ln/>
        </p:spPr>
        <p:txBody>
          <a:bodyPr wrap="square" lIns="0" tIns="0" rIns="0" bIns="0" rtlCol="0" anchor="ctr"/>
          <a:lstStyle/>
          <a:p>
            <a:pPr indent="0" marL="0">
              <a:buNone/>
            </a:pPr>
            <a:r>
              <a:rPr lang="en-US" sz="1500" b="1" dirty="0">
                <a:solidFill>
                  <a:schemeClr val="tx2"/>
                </a:solidFill>
              </a:rPr>
              <a:t>Metrics</a:t>
            </a:r>
            <a:endParaRPr lang="en-US" sz="1500" dirty="0"/>
          </a:p>
        </p:txBody>
      </p:sp>
      <p:sp>
        <p:nvSpPr>
          <p:cNvPr id="47" name="Text 45"/>
          <p:cNvSpPr txBox="1"/>
          <p:nvPr/>
        </p:nvSpPr>
        <p:spPr>
          <a:xfrm>
            <a:off x="7498080" y="4187952"/>
            <a:ext cx="4023360" cy="1691640"/>
          </a:xfrm>
          <a:prstGeom prst="rect">
            <a:avLst/>
          </a:prstGeom>
          <a:noFill/>
          <a:ln/>
        </p:spPr>
        <p:txBody>
          <a:bodyPr wrap="square" lIns="0" tIns="0" rIns="0" bIns="0" rtlCol="0" anchor="t"/>
          <a:lstStyle/>
          <a:p>
            <a:pPr indent="0" marL="0">
              <a:buNone/>
            </a:pPr>
            <a:r>
              <a:rPr lang="en-US" sz="1300" dirty="0">
                <a:solidFill>
                  <a:schemeClr val="tx1"/>
                </a:solidFill>
              </a:rPr>
              <a:t>OA, balanced accuracy (BA), sensitivity, specificity, macro-F1, Cohen κ, MCC, ROC-AUC, PR-AUC; Friedman-Nemenyi and corrected resampled t-tests.</a:t>
            </a:r>
            <a:endParaRPr lang="en-US" sz="1300" dirty="0"/>
          </a:p>
        </p:txBody>
      </p:sp>
      <p:sp>
        <p:nvSpPr>
          <p:cNvPr id="48" name="Text 46"/>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Roberts et al. 2017; Varma &amp; Simon 2006; Demsar 2006; Nadeau &amp; Bengio 2003; Chicco &amp; Jurman 2020</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Steps 7-8 flowchart: nested plot-grouped cross-validation</a:t>
            </a:r>
            <a:endParaRPr lang="en-US" sz="2800" dirty="0"/>
          </a:p>
        </p:txBody>
      </p:sp>
      <p:sp>
        <p:nvSpPr>
          <p:cNvPr id="3" name="Shape 1"/>
          <p:cNvSpPr/>
          <p:nvPr/>
        </p:nvSpPr>
        <p:spPr>
          <a:xfrm>
            <a:off x="457200" y="1188720"/>
            <a:ext cx="2377440" cy="822960"/>
          </a:xfrm>
          <a:prstGeom prst="roundRect">
            <a:avLst>
              <a:gd name="adj" fmla="val 6667"/>
            </a:avLst>
          </a:prstGeom>
          <a:solidFill>
            <a:srgbClr val="F7F1E1"/>
          </a:solidFill>
          <a:ln w="9525">
            <a:solidFill>
              <a:srgbClr val="C9D3C6"/>
            </a:solidFill>
            <a:prstDash val="solid"/>
          </a:ln>
        </p:spPr>
      </p:sp>
      <p:sp>
        <p:nvSpPr>
          <p:cNvPr id="4" name="Text 2"/>
          <p:cNvSpPr txBox="1"/>
          <p:nvPr/>
        </p:nvSpPr>
        <p:spPr>
          <a:xfrm>
            <a:off x="512064" y="1188720"/>
            <a:ext cx="226771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48 plots</a:t>
            </a:r>
            <a:endParaRPr lang="en-US" sz="1250" dirty="0"/>
          </a:p>
          <a:p>
            <a:pPr algn="ctr" indent="0" marL="0">
              <a:buNone/>
            </a:pPr>
            <a:r>
              <a:rPr lang="en-US" sz="1050" dirty="0">
                <a:solidFill>
                  <a:srgbClr val="333333"/>
                </a:solidFill>
              </a:rPr>
              <a:t>12 healthy, 36 diseased</a:t>
            </a:r>
            <a:endParaRPr lang="en-US" sz="1250" dirty="0"/>
          </a:p>
        </p:txBody>
      </p:sp>
      <p:sp>
        <p:nvSpPr>
          <p:cNvPr id="5" name="Shape 3"/>
          <p:cNvSpPr/>
          <p:nvPr/>
        </p:nvSpPr>
        <p:spPr>
          <a:xfrm>
            <a:off x="2834640" y="1600200"/>
            <a:ext cx="365760" cy="0"/>
          </a:xfrm>
          <a:prstGeom prst="line">
            <a:avLst/>
          </a:prstGeom>
          <a:noFill/>
          <a:ln w="19050">
            <a:solidFill>
              <a:srgbClr val="7A7A7A"/>
            </a:solidFill>
            <a:prstDash val="solid"/>
            <a:tailEnd type="triangle"/>
          </a:ln>
        </p:spPr>
      </p:sp>
      <p:sp>
        <p:nvSpPr>
          <p:cNvPr id="6" name="Shape 4"/>
          <p:cNvSpPr/>
          <p:nvPr/>
        </p:nvSpPr>
        <p:spPr>
          <a:xfrm>
            <a:off x="3200400" y="1188720"/>
            <a:ext cx="3566160" cy="822960"/>
          </a:xfrm>
          <a:prstGeom prst="roundRect">
            <a:avLst>
              <a:gd name="adj" fmla="val 6667"/>
            </a:avLst>
          </a:prstGeom>
          <a:solidFill>
            <a:srgbClr val="F7F1E1"/>
          </a:solidFill>
          <a:ln w="9525">
            <a:solidFill>
              <a:srgbClr val="C9D3C6"/>
            </a:solidFill>
            <a:prstDash val="solid"/>
          </a:ln>
        </p:spPr>
      </p:sp>
      <p:sp>
        <p:nvSpPr>
          <p:cNvPr id="7" name="Text 5"/>
          <p:cNvSpPr txBox="1"/>
          <p:nvPr/>
        </p:nvSpPr>
        <p:spPr>
          <a:xfrm>
            <a:off x="3255264" y="1188720"/>
            <a:ext cx="3456432" cy="822960"/>
          </a:xfrm>
          <a:prstGeom prst="rect">
            <a:avLst/>
          </a:prstGeom>
          <a:noFill/>
          <a:ln/>
        </p:spPr>
        <p:txBody>
          <a:bodyPr wrap="square" lIns="254" tIns="254" rIns="254" bIns="254" rtlCol="0" anchor="ctr"/>
          <a:lstStyle/>
          <a:p>
            <a:pPr algn="ctr" indent="0" marL="0">
              <a:buNone/>
            </a:pPr>
            <a:r>
              <a:rPr lang="en-US" sz="1250" b="1" dirty="0">
                <a:solidFill>
                  <a:srgbClr val="1F3D2B"/>
                </a:solidFill>
              </a:rPr>
              <a:t>Outer split: 4 folds of whole plots</a:t>
            </a:r>
            <a:endParaRPr lang="en-US" sz="1250" dirty="0"/>
          </a:p>
          <a:p>
            <a:pPr algn="ctr" indent="0" marL="0">
              <a:buNone/>
            </a:pPr>
            <a:r>
              <a:rPr lang="en-US" sz="1050" dirty="0">
                <a:solidFill>
                  <a:srgbClr val="333333"/>
                </a:solidFill>
              </a:rPr>
              <a:t>1 healthy + 3 diseased plots per variety per fold</a:t>
            </a:r>
            <a:endParaRPr lang="en-US" sz="1250" dirty="0"/>
          </a:p>
        </p:txBody>
      </p:sp>
      <p:sp>
        <p:nvSpPr>
          <p:cNvPr id="8" name="Shape 6"/>
          <p:cNvSpPr/>
          <p:nvPr/>
        </p:nvSpPr>
        <p:spPr>
          <a:xfrm flipH="1">
            <a:off x="2194560" y="2011680"/>
            <a:ext cx="2788920" cy="502920"/>
          </a:xfrm>
          <a:prstGeom prst="line">
            <a:avLst/>
          </a:prstGeom>
          <a:noFill/>
          <a:ln w="19050">
            <a:solidFill>
              <a:srgbClr val="7A7A7A"/>
            </a:solidFill>
            <a:prstDash val="solid"/>
            <a:tailEnd type="triangle"/>
          </a:ln>
        </p:spPr>
      </p:sp>
      <p:sp>
        <p:nvSpPr>
          <p:cNvPr id="9" name="Shape 7"/>
          <p:cNvSpPr/>
          <p:nvPr/>
        </p:nvSpPr>
        <p:spPr>
          <a:xfrm>
            <a:off x="4983480" y="2011680"/>
            <a:ext cx="3931920" cy="502920"/>
          </a:xfrm>
          <a:prstGeom prst="line">
            <a:avLst/>
          </a:prstGeom>
          <a:noFill/>
          <a:ln w="19050">
            <a:solidFill>
              <a:srgbClr val="7A7A7A"/>
            </a:solidFill>
            <a:prstDash val="solid"/>
            <a:tailEnd type="triangle"/>
          </a:ln>
        </p:spPr>
      </p:sp>
      <p:sp>
        <p:nvSpPr>
          <p:cNvPr id="10" name="Shape 8"/>
          <p:cNvSpPr/>
          <p:nvPr/>
        </p:nvSpPr>
        <p:spPr>
          <a:xfrm>
            <a:off x="457200" y="2514600"/>
            <a:ext cx="3474720" cy="731520"/>
          </a:xfrm>
          <a:prstGeom prst="roundRect">
            <a:avLst>
              <a:gd name="adj" fmla="val 7500"/>
            </a:avLst>
          </a:prstGeom>
          <a:solidFill>
            <a:srgbClr val="E6EFE3"/>
          </a:solidFill>
          <a:ln w="9525">
            <a:solidFill>
              <a:srgbClr val="C9D3C6"/>
            </a:solidFill>
            <a:prstDash val="solid"/>
          </a:ln>
        </p:spPr>
      </p:sp>
      <p:sp>
        <p:nvSpPr>
          <p:cNvPr id="11" name="Text 9"/>
          <p:cNvSpPr txBox="1"/>
          <p:nvPr/>
        </p:nvSpPr>
        <p:spPr>
          <a:xfrm>
            <a:off x="512064" y="2514600"/>
            <a:ext cx="3364992" cy="731520"/>
          </a:xfrm>
          <a:prstGeom prst="rect">
            <a:avLst/>
          </a:prstGeom>
          <a:noFill/>
          <a:ln/>
        </p:spPr>
        <p:txBody>
          <a:bodyPr wrap="square" lIns="254" tIns="254" rIns="254" bIns="254" rtlCol="0" anchor="ctr"/>
          <a:lstStyle/>
          <a:p>
            <a:pPr algn="ctr" indent="0" marL="0">
              <a:buNone/>
            </a:pPr>
            <a:r>
              <a:rPr lang="en-US" sz="1250" b="1" dirty="0">
                <a:solidFill>
                  <a:srgbClr val="1F3D2B"/>
                </a:solidFill>
              </a:rPr>
              <a:t>Training plots (36)</a:t>
            </a:r>
            <a:endParaRPr lang="en-US" sz="1250" dirty="0"/>
          </a:p>
          <a:p>
            <a:pPr algn="ctr" indent="0" marL="0">
              <a:buNone/>
            </a:pPr>
            <a:r>
              <a:rPr lang="en-US" sz="1050" dirty="0">
                <a:solidFill>
                  <a:srgbClr val="333333"/>
                </a:solidFill>
              </a:rPr>
              <a:t>all dates of these plots</a:t>
            </a:r>
            <a:endParaRPr lang="en-US" sz="1250" dirty="0"/>
          </a:p>
        </p:txBody>
      </p:sp>
      <p:sp>
        <p:nvSpPr>
          <p:cNvPr id="12" name="Shape 10"/>
          <p:cNvSpPr/>
          <p:nvPr/>
        </p:nvSpPr>
        <p:spPr>
          <a:xfrm>
            <a:off x="7498080" y="2514600"/>
            <a:ext cx="2834640" cy="731520"/>
          </a:xfrm>
          <a:prstGeom prst="roundRect">
            <a:avLst>
              <a:gd name="adj" fmla="val 7500"/>
            </a:avLst>
          </a:prstGeom>
          <a:solidFill>
            <a:srgbClr val="E3ECF5"/>
          </a:solidFill>
          <a:ln w="9525">
            <a:solidFill>
              <a:srgbClr val="C9D3C6"/>
            </a:solidFill>
            <a:prstDash val="solid"/>
          </a:ln>
        </p:spPr>
      </p:sp>
      <p:sp>
        <p:nvSpPr>
          <p:cNvPr id="13" name="Text 11"/>
          <p:cNvSpPr txBox="1"/>
          <p:nvPr/>
        </p:nvSpPr>
        <p:spPr>
          <a:xfrm>
            <a:off x="7552944" y="2514600"/>
            <a:ext cx="2724912" cy="731520"/>
          </a:xfrm>
          <a:prstGeom prst="rect">
            <a:avLst/>
          </a:prstGeom>
          <a:noFill/>
          <a:ln/>
        </p:spPr>
        <p:txBody>
          <a:bodyPr wrap="square" lIns="254" tIns="254" rIns="254" bIns="254" rtlCol="0" anchor="ctr"/>
          <a:lstStyle/>
          <a:p>
            <a:pPr algn="ctr" indent="0" marL="0">
              <a:buNone/>
            </a:pPr>
            <a:r>
              <a:rPr lang="en-US" sz="1250" b="1" dirty="0">
                <a:solidFill>
                  <a:srgbClr val="1F3D2B"/>
                </a:solidFill>
              </a:rPr>
              <a:t>Test plots (12)</a:t>
            </a:r>
            <a:endParaRPr lang="en-US" sz="1250" dirty="0"/>
          </a:p>
          <a:p>
            <a:pPr algn="ctr" indent="0" marL="0">
              <a:buNone/>
            </a:pPr>
            <a:r>
              <a:rPr lang="en-US" sz="1050" dirty="0">
                <a:solidFill>
                  <a:srgbClr val="333333"/>
                </a:solidFill>
              </a:rPr>
              <a:t>never seen during training</a:t>
            </a:r>
            <a:endParaRPr lang="en-US" sz="1250" dirty="0"/>
          </a:p>
        </p:txBody>
      </p:sp>
      <p:sp>
        <p:nvSpPr>
          <p:cNvPr id="14" name="Shape 12"/>
          <p:cNvSpPr/>
          <p:nvPr/>
        </p:nvSpPr>
        <p:spPr>
          <a:xfrm>
            <a:off x="365760" y="3429000"/>
            <a:ext cx="6675120" cy="1691640"/>
          </a:xfrm>
          <a:prstGeom prst="roundRect">
            <a:avLst>
              <a:gd name="adj" fmla="val 3243"/>
            </a:avLst>
          </a:prstGeom>
          <a:solidFill>
            <a:srgbClr val="FFFFFF"/>
          </a:solidFill>
          <a:ln w="15875">
            <a:solidFill>
              <a:srgbClr val="2E7D32"/>
            </a:solidFill>
            <a:prstDash val="dash"/>
          </a:ln>
        </p:spPr>
      </p:sp>
      <p:sp>
        <p:nvSpPr>
          <p:cNvPr id="15" name="Text 13"/>
          <p:cNvSpPr txBox="1"/>
          <p:nvPr/>
        </p:nvSpPr>
        <p:spPr>
          <a:xfrm>
            <a:off x="502920" y="3456432"/>
            <a:ext cx="3657600" cy="274320"/>
          </a:xfrm>
          <a:prstGeom prst="rect">
            <a:avLst/>
          </a:prstGeom>
          <a:noFill/>
          <a:ln/>
        </p:spPr>
        <p:txBody>
          <a:bodyPr wrap="square" lIns="0" tIns="0" rIns="0" bIns="0" rtlCol="0" anchor="ctr"/>
          <a:lstStyle/>
          <a:p>
            <a:pPr indent="0" marL="0">
              <a:buNone/>
            </a:pPr>
            <a:r>
              <a:rPr lang="en-US" sz="1100" b="1" dirty="0">
                <a:solidFill>
                  <a:srgbClr val="2E7D32"/>
                </a:solidFill>
              </a:rPr>
              <a:t>Inner loop (training plots only)</a:t>
            </a:r>
            <a:endParaRPr lang="en-US" sz="1100" dirty="0"/>
          </a:p>
        </p:txBody>
      </p:sp>
      <p:sp>
        <p:nvSpPr>
          <p:cNvPr id="16" name="Shape 14"/>
          <p:cNvSpPr/>
          <p:nvPr/>
        </p:nvSpPr>
        <p:spPr>
          <a:xfrm>
            <a:off x="2194560" y="3246120"/>
            <a:ext cx="0" cy="548640"/>
          </a:xfrm>
          <a:prstGeom prst="line">
            <a:avLst/>
          </a:prstGeom>
          <a:noFill/>
          <a:ln w="19050">
            <a:solidFill>
              <a:srgbClr val="7A7A7A"/>
            </a:solidFill>
            <a:prstDash val="solid"/>
            <a:tailEnd type="triangle"/>
          </a:ln>
        </p:spPr>
      </p:sp>
      <p:sp>
        <p:nvSpPr>
          <p:cNvPr id="17" name="Shape 15"/>
          <p:cNvSpPr/>
          <p:nvPr/>
        </p:nvSpPr>
        <p:spPr>
          <a:xfrm>
            <a:off x="548640" y="3794760"/>
            <a:ext cx="3108960" cy="1188720"/>
          </a:xfrm>
          <a:prstGeom prst="roundRect">
            <a:avLst>
              <a:gd name="adj" fmla="val 4615"/>
            </a:avLst>
          </a:prstGeom>
          <a:solidFill>
            <a:srgbClr val="E6EFE3"/>
          </a:solidFill>
          <a:ln w="9525">
            <a:solidFill>
              <a:srgbClr val="C9D3C6"/>
            </a:solidFill>
            <a:prstDash val="solid"/>
          </a:ln>
        </p:spPr>
      </p:sp>
      <p:sp>
        <p:nvSpPr>
          <p:cNvPr id="18" name="Text 16"/>
          <p:cNvSpPr txBox="1"/>
          <p:nvPr/>
        </p:nvSpPr>
        <p:spPr>
          <a:xfrm>
            <a:off x="603504" y="3794760"/>
            <a:ext cx="2999232" cy="1188720"/>
          </a:xfrm>
          <a:prstGeom prst="rect">
            <a:avLst/>
          </a:prstGeom>
          <a:noFill/>
          <a:ln/>
        </p:spPr>
        <p:txBody>
          <a:bodyPr wrap="square" lIns="254" tIns="254" rIns="254" bIns="254" rtlCol="0" anchor="ctr"/>
          <a:lstStyle/>
          <a:p>
            <a:pPr algn="ctr" indent="0" marL="0">
              <a:buNone/>
            </a:pPr>
            <a:r>
              <a:rPr lang="en-US" sz="1250" b="1" dirty="0">
                <a:solidFill>
                  <a:srgbClr val="1F3D2B"/>
                </a:solidFill>
              </a:rPr>
              <a:t>Inner 3-fold plot-grouped CV</a:t>
            </a:r>
            <a:endParaRPr lang="en-US" sz="1250" dirty="0"/>
          </a:p>
          <a:p>
            <a:pPr algn="ctr" indent="0" marL="0">
              <a:buNone/>
            </a:pPr>
            <a:r>
              <a:rPr lang="en-US" sz="1050" dirty="0">
                <a:solidFill>
                  <a:srgbClr val="333333"/>
                </a:solidFill>
              </a:rPr>
              <a:t>fit MSC / date-norm., NDSI search, feature selection, hyper-parameter grid</a:t>
            </a:r>
            <a:endParaRPr lang="en-US" sz="1250" dirty="0"/>
          </a:p>
        </p:txBody>
      </p:sp>
      <p:sp>
        <p:nvSpPr>
          <p:cNvPr id="19" name="Shape 17"/>
          <p:cNvSpPr/>
          <p:nvPr/>
        </p:nvSpPr>
        <p:spPr>
          <a:xfrm>
            <a:off x="3657600" y="4389120"/>
            <a:ext cx="274320" cy="0"/>
          </a:xfrm>
          <a:prstGeom prst="line">
            <a:avLst/>
          </a:prstGeom>
          <a:noFill/>
          <a:ln w="19050">
            <a:solidFill>
              <a:srgbClr val="7A7A7A"/>
            </a:solidFill>
            <a:prstDash val="solid"/>
            <a:tailEnd type="triangle"/>
          </a:ln>
        </p:spPr>
      </p:sp>
      <p:sp>
        <p:nvSpPr>
          <p:cNvPr id="20" name="Shape 18"/>
          <p:cNvSpPr/>
          <p:nvPr/>
        </p:nvSpPr>
        <p:spPr>
          <a:xfrm>
            <a:off x="3931920" y="3794760"/>
            <a:ext cx="2971800" cy="1188720"/>
          </a:xfrm>
          <a:prstGeom prst="roundRect">
            <a:avLst>
              <a:gd name="adj" fmla="val 4615"/>
            </a:avLst>
          </a:prstGeom>
          <a:solidFill>
            <a:srgbClr val="E6EFE3"/>
          </a:solidFill>
          <a:ln w="9525">
            <a:solidFill>
              <a:srgbClr val="C9D3C6"/>
            </a:solidFill>
            <a:prstDash val="solid"/>
          </a:ln>
        </p:spPr>
      </p:sp>
      <p:sp>
        <p:nvSpPr>
          <p:cNvPr id="21" name="Text 19"/>
          <p:cNvSpPr txBox="1"/>
          <p:nvPr/>
        </p:nvSpPr>
        <p:spPr>
          <a:xfrm>
            <a:off x="3986784" y="3794760"/>
            <a:ext cx="2862072" cy="1188720"/>
          </a:xfrm>
          <a:prstGeom prst="rect">
            <a:avLst/>
          </a:prstGeom>
          <a:noFill/>
          <a:ln/>
        </p:spPr>
        <p:txBody>
          <a:bodyPr wrap="square" lIns="254" tIns="254" rIns="254" bIns="254" rtlCol="0" anchor="ctr"/>
          <a:lstStyle/>
          <a:p>
            <a:pPr algn="ctr" indent="0" marL="0">
              <a:buNone/>
            </a:pPr>
            <a:r>
              <a:rPr lang="en-US" sz="1250" b="1" dirty="0">
                <a:solidFill>
                  <a:srgbClr val="1F3D2B"/>
                </a:solidFill>
              </a:rPr>
              <a:t>Refit on all 36 training plots</a:t>
            </a:r>
            <a:endParaRPr lang="en-US" sz="1250" dirty="0"/>
          </a:p>
          <a:p>
            <a:pPr algn="ctr" indent="0" marL="0">
              <a:buNone/>
            </a:pPr>
            <a:r>
              <a:rPr lang="en-US" sz="1050" dirty="0">
                <a:solidFill>
                  <a:srgbClr val="333333"/>
                </a:solidFill>
              </a:rPr>
              <a:t>best features + best hyper-parameters</a:t>
            </a:r>
            <a:endParaRPr lang="en-US" sz="1250" dirty="0"/>
          </a:p>
        </p:txBody>
      </p:sp>
      <p:sp>
        <p:nvSpPr>
          <p:cNvPr id="22" name="Shape 20"/>
          <p:cNvSpPr/>
          <p:nvPr/>
        </p:nvSpPr>
        <p:spPr>
          <a:xfrm>
            <a:off x="6903720" y="4389120"/>
            <a:ext cx="594360" cy="0"/>
          </a:xfrm>
          <a:prstGeom prst="line">
            <a:avLst/>
          </a:prstGeom>
          <a:noFill/>
          <a:ln w="19050">
            <a:solidFill>
              <a:srgbClr val="7A7A7A"/>
            </a:solidFill>
            <a:prstDash val="solid"/>
            <a:tailEnd type="triangle"/>
          </a:ln>
        </p:spPr>
      </p:sp>
      <p:sp>
        <p:nvSpPr>
          <p:cNvPr id="23" name="Shape 21"/>
          <p:cNvSpPr/>
          <p:nvPr/>
        </p:nvSpPr>
        <p:spPr>
          <a:xfrm>
            <a:off x="8915400" y="3246120"/>
            <a:ext cx="0" cy="731520"/>
          </a:xfrm>
          <a:prstGeom prst="line">
            <a:avLst/>
          </a:prstGeom>
          <a:noFill/>
          <a:ln w="19050">
            <a:solidFill>
              <a:srgbClr val="7A7A7A"/>
            </a:solidFill>
            <a:prstDash val="solid"/>
            <a:tailEnd type="triangle"/>
          </a:ln>
        </p:spPr>
      </p:sp>
      <p:sp>
        <p:nvSpPr>
          <p:cNvPr id="24" name="Shape 22"/>
          <p:cNvSpPr/>
          <p:nvPr/>
        </p:nvSpPr>
        <p:spPr>
          <a:xfrm>
            <a:off x="7498080" y="3977640"/>
            <a:ext cx="2834640" cy="822960"/>
          </a:xfrm>
          <a:prstGeom prst="roundRect">
            <a:avLst>
              <a:gd name="adj" fmla="val 6667"/>
            </a:avLst>
          </a:prstGeom>
          <a:solidFill>
            <a:srgbClr val="B03A2E"/>
          </a:solidFill>
          <a:ln w="9525">
            <a:solidFill>
              <a:srgbClr val="B03A2E"/>
            </a:solidFill>
            <a:prstDash val="solid"/>
          </a:ln>
        </p:spPr>
      </p:sp>
      <p:sp>
        <p:nvSpPr>
          <p:cNvPr id="25" name="Text 23"/>
          <p:cNvSpPr txBox="1"/>
          <p:nvPr/>
        </p:nvSpPr>
        <p:spPr>
          <a:xfrm>
            <a:off x="7552944" y="3977640"/>
            <a:ext cx="2724912" cy="822960"/>
          </a:xfrm>
          <a:prstGeom prst="rect">
            <a:avLst/>
          </a:prstGeom>
          <a:noFill/>
          <a:ln/>
        </p:spPr>
        <p:txBody>
          <a:bodyPr wrap="square" lIns="254" tIns="254" rIns="254" bIns="254" rtlCol="0" anchor="ctr"/>
          <a:lstStyle/>
          <a:p>
            <a:pPr algn="ctr" indent="0" marL="0">
              <a:buNone/>
            </a:pPr>
            <a:r>
              <a:rPr lang="en-US" sz="1250" b="1" dirty="0">
                <a:solidFill>
                  <a:srgbClr val="FFFFFF"/>
                </a:solidFill>
              </a:rPr>
              <a:t>Predict test spectra</a:t>
            </a:r>
            <a:endParaRPr lang="en-US" sz="1250" dirty="0"/>
          </a:p>
          <a:p>
            <a:pPr algn="ctr" indent="0" marL="0">
              <a:buNone/>
            </a:pPr>
            <a:r>
              <a:rPr lang="en-US" sz="1050" dirty="0">
                <a:solidFill>
                  <a:srgbClr val="F2F2F2"/>
                </a:solidFill>
              </a:rPr>
              <a:t>spectrum level + plot-date majority vote</a:t>
            </a:r>
            <a:endParaRPr lang="en-US" sz="1250" dirty="0"/>
          </a:p>
        </p:txBody>
      </p:sp>
      <p:sp>
        <p:nvSpPr>
          <p:cNvPr id="26" name="Shape 24"/>
          <p:cNvSpPr/>
          <p:nvPr/>
        </p:nvSpPr>
        <p:spPr>
          <a:xfrm>
            <a:off x="8915400" y="4800600"/>
            <a:ext cx="0" cy="411480"/>
          </a:xfrm>
          <a:prstGeom prst="line">
            <a:avLst/>
          </a:prstGeom>
          <a:noFill/>
          <a:ln w="19050">
            <a:solidFill>
              <a:srgbClr val="7A7A7A"/>
            </a:solidFill>
            <a:prstDash val="solid"/>
            <a:tailEnd type="triangle"/>
          </a:ln>
        </p:spPr>
      </p:sp>
      <p:sp>
        <p:nvSpPr>
          <p:cNvPr id="27" name="Shape 25"/>
          <p:cNvSpPr/>
          <p:nvPr/>
        </p:nvSpPr>
        <p:spPr>
          <a:xfrm>
            <a:off x="7498080" y="5212080"/>
            <a:ext cx="2834640" cy="777240"/>
          </a:xfrm>
          <a:prstGeom prst="roundRect">
            <a:avLst>
              <a:gd name="adj" fmla="val 7059"/>
            </a:avLst>
          </a:prstGeom>
          <a:solidFill>
            <a:srgbClr val="1F3D2B"/>
          </a:solidFill>
          <a:ln w="9525">
            <a:solidFill>
              <a:srgbClr val="1F3D2B"/>
            </a:solidFill>
            <a:prstDash val="solid"/>
          </a:ln>
        </p:spPr>
      </p:sp>
      <p:sp>
        <p:nvSpPr>
          <p:cNvPr id="28" name="Text 26"/>
          <p:cNvSpPr txBox="1"/>
          <p:nvPr/>
        </p:nvSpPr>
        <p:spPr>
          <a:xfrm>
            <a:off x="7552944" y="5212080"/>
            <a:ext cx="2724912" cy="777240"/>
          </a:xfrm>
          <a:prstGeom prst="rect">
            <a:avLst/>
          </a:prstGeom>
          <a:noFill/>
          <a:ln/>
        </p:spPr>
        <p:txBody>
          <a:bodyPr wrap="square" lIns="254" tIns="254" rIns="254" bIns="254" rtlCol="0" anchor="ctr"/>
          <a:lstStyle/>
          <a:p>
            <a:pPr algn="ctr" indent="0" marL="0">
              <a:buNone/>
            </a:pPr>
            <a:r>
              <a:rPr lang="en-US" sz="1250" b="1" dirty="0">
                <a:solidFill>
                  <a:srgbClr val="FFFFFF"/>
                </a:solidFill>
              </a:rPr>
              <a:t>Metrics</a:t>
            </a:r>
            <a:endParaRPr lang="en-US" sz="1250" dirty="0"/>
          </a:p>
          <a:p>
            <a:pPr algn="ctr" indent="0" marL="0">
              <a:buNone/>
            </a:pPr>
            <a:r>
              <a:rPr lang="en-US" sz="1050" dirty="0">
                <a:solidFill>
                  <a:srgbClr val="F2F2F2"/>
                </a:solidFill>
              </a:rPr>
              <a:t>BA, sens., spec., F1, κ, MCC, AUC</a:t>
            </a:r>
            <a:endParaRPr lang="en-US" sz="1250" dirty="0"/>
          </a:p>
        </p:txBody>
      </p:sp>
      <p:sp>
        <p:nvSpPr>
          <p:cNvPr id="29" name="Text 27"/>
          <p:cNvSpPr txBox="1"/>
          <p:nvPr/>
        </p:nvSpPr>
        <p:spPr>
          <a:xfrm>
            <a:off x="457200" y="5303520"/>
            <a:ext cx="6766560" cy="640080"/>
          </a:xfrm>
          <a:prstGeom prst="rect">
            <a:avLst/>
          </a:prstGeom>
          <a:noFill/>
          <a:ln/>
        </p:spPr>
        <p:txBody>
          <a:bodyPr wrap="square" lIns="0" tIns="0" rIns="0" bIns="0" rtlCol="0" anchor="ctr"/>
          <a:lstStyle/>
          <a:p>
            <a:pPr indent="0" marL="0">
              <a:buNone/>
            </a:pPr>
            <a:r>
              <a:rPr lang="en-US" sz="1200" b="1" dirty="0">
                <a:solidFill>
                  <a:srgbClr val="D08A00"/>
                </a:solidFill>
              </a:rPr>
              <a:t>Repeat: </a:t>
            </a:r>
            <a:pPr indent="0" marL="0">
              <a:buNone/>
            </a:pPr>
            <a:r>
              <a:rPr lang="en-US" sz="1200" dirty="0">
                <a:solidFill>
                  <a:schemeClr val="tx1"/>
                </a:solidFill>
              </a:rPr>
              <a:t>4 folds x 25 random plot shuffles = 100 outer test sets; results = mean ± SD of the 25 repeats (each repeat predicts every spectrum once).</a:t>
            </a:r>
            <a:endParaRPr lang="en-US" sz="1200" dirty="0"/>
          </a:p>
        </p:txBody>
      </p:sp>
      <p:sp>
        <p:nvSpPr>
          <p:cNvPr id="30" name="Shape 28"/>
          <p:cNvSpPr/>
          <p:nvPr/>
        </p:nvSpPr>
        <p:spPr>
          <a:xfrm>
            <a:off x="10469880" y="1600200"/>
            <a:ext cx="0" cy="3977640"/>
          </a:xfrm>
          <a:prstGeom prst="line">
            <a:avLst/>
          </a:prstGeom>
          <a:noFill/>
          <a:ln w="15875">
            <a:solidFill>
              <a:srgbClr val="D08A00"/>
            </a:solidFill>
            <a:prstDash val="dash"/>
          </a:ln>
        </p:spPr>
      </p:sp>
      <p:sp>
        <p:nvSpPr>
          <p:cNvPr id="31" name="Shape 29"/>
          <p:cNvSpPr/>
          <p:nvPr/>
        </p:nvSpPr>
        <p:spPr>
          <a:xfrm>
            <a:off x="6766560" y="1600200"/>
            <a:ext cx="3703320" cy="0"/>
          </a:xfrm>
          <a:prstGeom prst="line">
            <a:avLst/>
          </a:prstGeom>
          <a:noFill/>
          <a:ln w="15875">
            <a:solidFill>
              <a:srgbClr val="D08A00"/>
            </a:solidFill>
            <a:prstDash val="dash"/>
            <a:headEnd type="triangle"/>
          </a:ln>
        </p:spPr>
      </p:sp>
      <p:sp>
        <p:nvSpPr>
          <p:cNvPr id="32" name="Shape 30"/>
          <p:cNvSpPr/>
          <p:nvPr/>
        </p:nvSpPr>
        <p:spPr>
          <a:xfrm>
            <a:off x="10332720" y="5577840"/>
            <a:ext cx="137160" cy="0"/>
          </a:xfrm>
          <a:prstGeom prst="line">
            <a:avLst/>
          </a:prstGeom>
          <a:noFill/>
          <a:ln w="15875">
            <a:solidFill>
              <a:srgbClr val="D08A00"/>
            </a:solidFill>
            <a:prstDash val="dash"/>
          </a:ln>
        </p:spPr>
      </p:sp>
      <p:sp>
        <p:nvSpPr>
          <p:cNvPr id="33" name="Text 31"/>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Varma &amp; Simon 2006; Roberts et al. 2017; Tian et al. 2021;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Step 9 flowchart: experiments and the question each one answers</a:t>
            </a:r>
            <a:endParaRPr lang="en-US" sz="2800" dirty="0"/>
          </a:p>
        </p:txBody>
      </p:sp>
      <p:sp>
        <p:nvSpPr>
          <p:cNvPr id="3" name="Shape 1"/>
          <p:cNvSpPr/>
          <p:nvPr/>
        </p:nvSpPr>
        <p:spPr>
          <a:xfrm>
            <a:off x="3977640" y="3063240"/>
            <a:ext cx="4206240" cy="868680"/>
          </a:xfrm>
          <a:prstGeom prst="roundRect">
            <a:avLst>
              <a:gd name="adj" fmla="val 6316"/>
            </a:avLst>
          </a:prstGeom>
          <a:solidFill>
            <a:srgbClr val="1F3D2B"/>
          </a:solidFill>
          <a:ln w="9525">
            <a:solidFill>
              <a:srgbClr val="1F3D2B"/>
            </a:solidFill>
            <a:prstDash val="solid"/>
          </a:ln>
        </p:spPr>
      </p:sp>
      <p:sp>
        <p:nvSpPr>
          <p:cNvPr id="4" name="Text 2"/>
          <p:cNvSpPr txBox="1"/>
          <p:nvPr/>
        </p:nvSpPr>
        <p:spPr>
          <a:xfrm>
            <a:off x="4032504" y="3063240"/>
            <a:ext cx="4096512" cy="868680"/>
          </a:xfrm>
          <a:prstGeom prst="rect">
            <a:avLst/>
          </a:prstGeom>
          <a:noFill/>
          <a:ln/>
        </p:spPr>
        <p:txBody>
          <a:bodyPr wrap="square" lIns="254" tIns="254" rIns="254" bIns="254" rtlCol="0" anchor="ctr"/>
          <a:lstStyle/>
          <a:p>
            <a:pPr algn="ctr" indent="0" marL="0">
              <a:buNone/>
            </a:pPr>
            <a:r>
              <a:rPr lang="en-US" sz="1250" b="1" dirty="0">
                <a:solidFill>
                  <a:srgbClr val="FFFFFF"/>
                </a:solidFill>
              </a:rPr>
              <a:t>Main experiment</a:t>
            </a:r>
            <a:endParaRPr lang="en-US" sz="1250" dirty="0"/>
          </a:p>
          <a:p>
            <a:pPr algn="ctr" indent="0" marL="0">
              <a:buNone/>
            </a:pPr>
            <a:r>
              <a:rPr lang="en-US" sz="1050" dirty="0">
                <a:solidFill>
                  <a:srgbClr val="F2F2F2"/>
                </a:solidFill>
              </a:rPr>
              <a:t>10 feature scenarios x 10 classifiers, 25 x 4-fold nested CV (R12-R16)</a:t>
            </a:r>
            <a:endParaRPr lang="en-US" sz="1250" dirty="0"/>
          </a:p>
        </p:txBody>
      </p:sp>
      <p:sp>
        <p:nvSpPr>
          <p:cNvPr id="5" name="Shape 3"/>
          <p:cNvSpPr/>
          <p:nvPr/>
        </p:nvSpPr>
        <p:spPr>
          <a:xfrm>
            <a:off x="457200" y="1188720"/>
            <a:ext cx="2651760" cy="1280160"/>
          </a:xfrm>
          <a:prstGeom prst="roundRect">
            <a:avLst>
              <a:gd name="adj" fmla="val 4286"/>
            </a:avLst>
          </a:prstGeom>
          <a:solidFill>
            <a:srgbClr val="E3ECF5"/>
          </a:solidFill>
          <a:ln w="9525">
            <a:solidFill>
              <a:srgbClr val="C9D3C6"/>
            </a:solidFill>
            <a:prstDash val="solid"/>
          </a:ln>
        </p:spPr>
      </p:sp>
      <p:sp>
        <p:nvSpPr>
          <p:cNvPr id="6" name="Text 4"/>
          <p:cNvSpPr txBox="1"/>
          <p:nvPr/>
        </p:nvSpPr>
        <p:spPr>
          <a:xfrm>
            <a:off x="512064" y="118872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E1 Preprocessing</a:t>
            </a:r>
            <a:endParaRPr lang="en-US" sz="1250" dirty="0"/>
          </a:p>
          <a:p>
            <a:pPr algn="ctr" indent="0" marL="0">
              <a:buNone/>
            </a:pPr>
            <a:r>
              <a:rPr lang="en-US" sz="1050" dirty="0">
                <a:solidFill>
                  <a:srgbClr val="333333"/>
                </a:solidFill>
              </a:rPr>
              <a:t>Which spectral pretreatment is best?</a:t>
            </a:r>
            <a:endParaRPr lang="en-US" sz="1250" dirty="0"/>
          </a:p>
        </p:txBody>
      </p:sp>
      <p:sp>
        <p:nvSpPr>
          <p:cNvPr id="7" name="Shape 5"/>
          <p:cNvSpPr/>
          <p:nvPr/>
        </p:nvSpPr>
        <p:spPr>
          <a:xfrm flipH="1" flipV="1">
            <a:off x="1783080" y="2468880"/>
            <a:ext cx="4297680" cy="594360"/>
          </a:xfrm>
          <a:prstGeom prst="line">
            <a:avLst/>
          </a:prstGeom>
          <a:noFill/>
          <a:ln w="19050">
            <a:solidFill>
              <a:srgbClr val="7A7A7A"/>
            </a:solidFill>
            <a:prstDash val="solid"/>
            <a:tailEnd type="triangle"/>
          </a:ln>
        </p:spPr>
      </p:sp>
      <p:sp>
        <p:nvSpPr>
          <p:cNvPr id="8" name="Shape 6"/>
          <p:cNvSpPr/>
          <p:nvPr/>
        </p:nvSpPr>
        <p:spPr>
          <a:xfrm>
            <a:off x="3291840" y="1188720"/>
            <a:ext cx="2651760" cy="1280160"/>
          </a:xfrm>
          <a:prstGeom prst="roundRect">
            <a:avLst>
              <a:gd name="adj" fmla="val 4286"/>
            </a:avLst>
          </a:prstGeom>
          <a:solidFill>
            <a:srgbClr val="E3ECF5"/>
          </a:solidFill>
          <a:ln w="9525">
            <a:solidFill>
              <a:srgbClr val="C9D3C6"/>
            </a:solidFill>
            <a:prstDash val="solid"/>
          </a:ln>
        </p:spPr>
      </p:sp>
      <p:sp>
        <p:nvSpPr>
          <p:cNvPr id="9" name="Text 7"/>
          <p:cNvSpPr txBox="1"/>
          <p:nvPr/>
        </p:nvSpPr>
        <p:spPr>
          <a:xfrm>
            <a:off x="3346704" y="118872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E2 Transfer</a:t>
            </a:r>
            <a:endParaRPr lang="en-US" sz="1250" dirty="0"/>
          </a:p>
          <a:p>
            <a:pPr algn="ctr" indent="0" marL="0">
              <a:buNone/>
            </a:pPr>
            <a:r>
              <a:rPr lang="en-US" sz="1050" dirty="0">
                <a:solidFill>
                  <a:srgbClr val="333333"/>
                </a:solidFill>
              </a:rPr>
              <a:t>Does the model work on an unseen date, variety or stage?</a:t>
            </a:r>
            <a:endParaRPr lang="en-US" sz="1250" dirty="0"/>
          </a:p>
        </p:txBody>
      </p:sp>
      <p:sp>
        <p:nvSpPr>
          <p:cNvPr id="10" name="Shape 8"/>
          <p:cNvSpPr/>
          <p:nvPr/>
        </p:nvSpPr>
        <p:spPr>
          <a:xfrm flipH="1" flipV="1">
            <a:off x="4617720" y="2468880"/>
            <a:ext cx="1463040" cy="594360"/>
          </a:xfrm>
          <a:prstGeom prst="line">
            <a:avLst/>
          </a:prstGeom>
          <a:noFill/>
          <a:ln w="19050">
            <a:solidFill>
              <a:srgbClr val="7A7A7A"/>
            </a:solidFill>
            <a:prstDash val="solid"/>
            <a:tailEnd type="triangle"/>
          </a:ln>
        </p:spPr>
      </p:sp>
      <p:sp>
        <p:nvSpPr>
          <p:cNvPr id="11" name="Shape 9"/>
          <p:cNvSpPr/>
          <p:nvPr/>
        </p:nvSpPr>
        <p:spPr>
          <a:xfrm>
            <a:off x="6126480" y="1188720"/>
            <a:ext cx="2651760" cy="1280160"/>
          </a:xfrm>
          <a:prstGeom prst="roundRect">
            <a:avLst>
              <a:gd name="adj" fmla="val 4286"/>
            </a:avLst>
          </a:prstGeom>
          <a:solidFill>
            <a:srgbClr val="E3ECF5"/>
          </a:solidFill>
          <a:ln w="9525">
            <a:solidFill>
              <a:srgbClr val="C9D3C6"/>
            </a:solidFill>
            <a:prstDash val="solid"/>
          </a:ln>
        </p:spPr>
      </p:sp>
      <p:sp>
        <p:nvSpPr>
          <p:cNvPr id="12" name="Text 10"/>
          <p:cNvSpPr txBox="1"/>
          <p:nvPr/>
        </p:nvSpPr>
        <p:spPr>
          <a:xfrm>
            <a:off x="6181344" y="118872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E3 Metadata</a:t>
            </a:r>
            <a:endParaRPr lang="en-US" sz="1250" dirty="0"/>
          </a:p>
          <a:p>
            <a:pPr algn="ctr" indent="0" marL="0">
              <a:buNone/>
            </a:pPr>
            <a:r>
              <a:rPr lang="en-US" sz="1050" dirty="0">
                <a:solidFill>
                  <a:srgbClr val="333333"/>
                </a:solidFill>
              </a:rPr>
              <a:t>Does knowing date/variety/stage help?</a:t>
            </a:r>
            <a:endParaRPr lang="en-US" sz="1250" dirty="0"/>
          </a:p>
        </p:txBody>
      </p:sp>
      <p:sp>
        <p:nvSpPr>
          <p:cNvPr id="13" name="Shape 11"/>
          <p:cNvSpPr/>
          <p:nvPr/>
        </p:nvSpPr>
        <p:spPr>
          <a:xfrm flipV="1">
            <a:off x="6080760" y="2468880"/>
            <a:ext cx="1371600" cy="594360"/>
          </a:xfrm>
          <a:prstGeom prst="line">
            <a:avLst/>
          </a:prstGeom>
          <a:noFill/>
          <a:ln w="19050">
            <a:solidFill>
              <a:srgbClr val="7A7A7A"/>
            </a:solidFill>
            <a:prstDash val="solid"/>
            <a:tailEnd type="triangle"/>
          </a:ln>
        </p:spPr>
      </p:sp>
      <p:sp>
        <p:nvSpPr>
          <p:cNvPr id="14" name="Shape 12"/>
          <p:cNvSpPr/>
          <p:nvPr/>
        </p:nvSpPr>
        <p:spPr>
          <a:xfrm>
            <a:off x="8961120" y="1188720"/>
            <a:ext cx="2651760" cy="1280160"/>
          </a:xfrm>
          <a:prstGeom prst="roundRect">
            <a:avLst>
              <a:gd name="adj" fmla="val 4286"/>
            </a:avLst>
          </a:prstGeom>
          <a:solidFill>
            <a:srgbClr val="E3ECF5"/>
          </a:solidFill>
          <a:ln w="9525">
            <a:solidFill>
              <a:srgbClr val="C9D3C6"/>
            </a:solidFill>
            <a:prstDash val="solid"/>
          </a:ln>
        </p:spPr>
      </p:sp>
      <p:sp>
        <p:nvSpPr>
          <p:cNvPr id="15" name="Text 13"/>
          <p:cNvSpPr txBox="1"/>
          <p:nvPr/>
        </p:nvSpPr>
        <p:spPr>
          <a:xfrm>
            <a:off x="9015984" y="118872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E4 Learning curve</a:t>
            </a:r>
            <a:endParaRPr lang="en-US" sz="1250" dirty="0"/>
          </a:p>
          <a:p>
            <a:pPr algn="ctr" indent="0" marL="0">
              <a:buNone/>
            </a:pPr>
            <a:r>
              <a:rPr lang="en-US" sz="1050" dirty="0">
                <a:solidFill>
                  <a:srgbClr val="333333"/>
                </a:solidFill>
              </a:rPr>
              <a:t>Are more plots needed?</a:t>
            </a:r>
            <a:endParaRPr lang="en-US" sz="1250" dirty="0"/>
          </a:p>
        </p:txBody>
      </p:sp>
      <p:sp>
        <p:nvSpPr>
          <p:cNvPr id="16" name="Shape 14"/>
          <p:cNvSpPr/>
          <p:nvPr/>
        </p:nvSpPr>
        <p:spPr>
          <a:xfrm flipV="1">
            <a:off x="6080760" y="2468880"/>
            <a:ext cx="4206240" cy="594360"/>
          </a:xfrm>
          <a:prstGeom prst="line">
            <a:avLst/>
          </a:prstGeom>
          <a:noFill/>
          <a:ln w="19050">
            <a:solidFill>
              <a:srgbClr val="7A7A7A"/>
            </a:solidFill>
            <a:prstDash val="solid"/>
            <a:tailEnd type="triangle"/>
          </a:ln>
        </p:spPr>
      </p:sp>
      <p:sp>
        <p:nvSpPr>
          <p:cNvPr id="17" name="Shape 15"/>
          <p:cNvSpPr/>
          <p:nvPr/>
        </p:nvSpPr>
        <p:spPr>
          <a:xfrm>
            <a:off x="457200" y="4526280"/>
            <a:ext cx="2651760" cy="1280160"/>
          </a:xfrm>
          <a:prstGeom prst="roundRect">
            <a:avLst>
              <a:gd name="adj" fmla="val 4286"/>
            </a:avLst>
          </a:prstGeom>
          <a:solidFill>
            <a:srgbClr val="E6EFE3"/>
          </a:solidFill>
          <a:ln w="9525">
            <a:solidFill>
              <a:srgbClr val="C9D3C6"/>
            </a:solidFill>
            <a:prstDash val="solid"/>
          </a:ln>
        </p:spPr>
      </p:sp>
      <p:sp>
        <p:nvSpPr>
          <p:cNvPr id="18" name="Text 16"/>
          <p:cNvSpPr txBox="1"/>
          <p:nvPr/>
        </p:nvSpPr>
        <p:spPr>
          <a:xfrm>
            <a:off x="512064" y="452628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E5 Sensors</a:t>
            </a:r>
            <a:endParaRPr lang="en-US" sz="1250" dirty="0"/>
          </a:p>
          <a:p>
            <a:pPr algn="ctr" indent="0" marL="0">
              <a:buNone/>
            </a:pPr>
            <a:r>
              <a:rPr lang="en-US" sz="1050" dirty="0">
                <a:solidFill>
                  <a:srgbClr val="333333"/>
                </a:solidFill>
              </a:rPr>
              <a:t>Can Sentinel-2 / UAV bands detect white rust?</a:t>
            </a:r>
            <a:endParaRPr lang="en-US" sz="1250" dirty="0"/>
          </a:p>
        </p:txBody>
      </p:sp>
      <p:sp>
        <p:nvSpPr>
          <p:cNvPr id="19" name="Shape 17"/>
          <p:cNvSpPr/>
          <p:nvPr/>
        </p:nvSpPr>
        <p:spPr>
          <a:xfrm flipH="1">
            <a:off x="1783080" y="3931920"/>
            <a:ext cx="4297680" cy="594360"/>
          </a:xfrm>
          <a:prstGeom prst="line">
            <a:avLst/>
          </a:prstGeom>
          <a:noFill/>
          <a:ln w="19050">
            <a:solidFill>
              <a:srgbClr val="7A7A7A"/>
            </a:solidFill>
            <a:prstDash val="solid"/>
            <a:tailEnd type="triangle"/>
          </a:ln>
        </p:spPr>
      </p:sp>
      <p:sp>
        <p:nvSpPr>
          <p:cNvPr id="20" name="Shape 18"/>
          <p:cNvSpPr/>
          <p:nvPr/>
        </p:nvSpPr>
        <p:spPr>
          <a:xfrm>
            <a:off x="3291840" y="4526280"/>
            <a:ext cx="2651760" cy="1280160"/>
          </a:xfrm>
          <a:prstGeom prst="roundRect">
            <a:avLst>
              <a:gd name="adj" fmla="val 4286"/>
            </a:avLst>
          </a:prstGeom>
          <a:solidFill>
            <a:srgbClr val="E6EFE3"/>
          </a:solidFill>
          <a:ln w="9525">
            <a:solidFill>
              <a:srgbClr val="C9D3C6"/>
            </a:solidFill>
            <a:prstDash val="solid"/>
          </a:ln>
        </p:spPr>
      </p:sp>
      <p:sp>
        <p:nvSpPr>
          <p:cNvPr id="21" name="Text 19"/>
          <p:cNvSpPr txBox="1"/>
          <p:nvPr/>
        </p:nvSpPr>
        <p:spPr>
          <a:xfrm>
            <a:off x="3346704" y="452628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E6 Outliers</a:t>
            </a:r>
            <a:endParaRPr lang="en-US" sz="1250" dirty="0"/>
          </a:p>
          <a:p>
            <a:pPr algn="ctr" indent="0" marL="0">
              <a:buNone/>
            </a:pPr>
            <a:r>
              <a:rPr lang="en-US" sz="1050" dirty="0">
                <a:solidFill>
                  <a:srgbClr val="333333"/>
                </a:solidFill>
              </a:rPr>
              <a:t>Do results depend on outlier removal?</a:t>
            </a:r>
            <a:endParaRPr lang="en-US" sz="1250" dirty="0"/>
          </a:p>
        </p:txBody>
      </p:sp>
      <p:sp>
        <p:nvSpPr>
          <p:cNvPr id="22" name="Shape 20"/>
          <p:cNvSpPr/>
          <p:nvPr/>
        </p:nvSpPr>
        <p:spPr>
          <a:xfrm flipH="1">
            <a:off x="4617720" y="3931920"/>
            <a:ext cx="1463040" cy="594360"/>
          </a:xfrm>
          <a:prstGeom prst="line">
            <a:avLst/>
          </a:prstGeom>
          <a:noFill/>
          <a:ln w="19050">
            <a:solidFill>
              <a:srgbClr val="7A7A7A"/>
            </a:solidFill>
            <a:prstDash val="solid"/>
            <a:tailEnd type="triangle"/>
          </a:ln>
        </p:spPr>
      </p:sp>
      <p:sp>
        <p:nvSpPr>
          <p:cNvPr id="23" name="Shape 21"/>
          <p:cNvSpPr/>
          <p:nvPr/>
        </p:nvSpPr>
        <p:spPr>
          <a:xfrm>
            <a:off x="6126480" y="4526280"/>
            <a:ext cx="2651760" cy="1280160"/>
          </a:xfrm>
          <a:prstGeom prst="roundRect">
            <a:avLst>
              <a:gd name="adj" fmla="val 4286"/>
            </a:avLst>
          </a:prstGeom>
          <a:solidFill>
            <a:srgbClr val="E6EFE3"/>
          </a:solidFill>
          <a:ln w="9525">
            <a:solidFill>
              <a:srgbClr val="C9D3C6"/>
            </a:solidFill>
            <a:prstDash val="solid"/>
          </a:ln>
        </p:spPr>
      </p:sp>
      <p:sp>
        <p:nvSpPr>
          <p:cNvPr id="24" name="Text 22"/>
          <p:cNvSpPr txBox="1"/>
          <p:nvPr/>
        </p:nvSpPr>
        <p:spPr>
          <a:xfrm>
            <a:off x="6181344" y="452628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E7 OFC</a:t>
            </a:r>
            <a:endParaRPr lang="en-US" sz="1250" dirty="0"/>
          </a:p>
          <a:p>
            <a:pPr algn="ctr" indent="0" marL="0">
              <a:buNone/>
            </a:pPr>
            <a:r>
              <a:rPr lang="en-US" sz="1050" dirty="0">
                <a:solidFill>
                  <a:srgbClr val="333333"/>
                </a:solidFill>
              </a:rPr>
              <a:t>Do Tian-style optimal feature combinations help?</a:t>
            </a:r>
            <a:endParaRPr lang="en-US" sz="1250" dirty="0"/>
          </a:p>
        </p:txBody>
      </p:sp>
      <p:sp>
        <p:nvSpPr>
          <p:cNvPr id="25" name="Shape 23"/>
          <p:cNvSpPr/>
          <p:nvPr/>
        </p:nvSpPr>
        <p:spPr>
          <a:xfrm>
            <a:off x="6080760" y="3931920"/>
            <a:ext cx="1371600" cy="594360"/>
          </a:xfrm>
          <a:prstGeom prst="line">
            <a:avLst/>
          </a:prstGeom>
          <a:noFill/>
          <a:ln w="19050">
            <a:solidFill>
              <a:srgbClr val="7A7A7A"/>
            </a:solidFill>
            <a:prstDash val="solid"/>
            <a:tailEnd type="triangle"/>
          </a:ln>
        </p:spPr>
      </p:sp>
      <p:sp>
        <p:nvSpPr>
          <p:cNvPr id="26" name="Shape 24"/>
          <p:cNvSpPr/>
          <p:nvPr/>
        </p:nvSpPr>
        <p:spPr>
          <a:xfrm>
            <a:off x="8961120" y="4526280"/>
            <a:ext cx="2651760" cy="1280160"/>
          </a:xfrm>
          <a:prstGeom prst="roundRect">
            <a:avLst>
              <a:gd name="adj" fmla="val 4286"/>
            </a:avLst>
          </a:prstGeom>
          <a:solidFill>
            <a:srgbClr val="E6EFE3"/>
          </a:solidFill>
          <a:ln w="9525">
            <a:solidFill>
              <a:srgbClr val="C9D3C6"/>
            </a:solidFill>
            <a:prstDash val="solid"/>
          </a:ln>
        </p:spPr>
      </p:sp>
      <p:sp>
        <p:nvSpPr>
          <p:cNvPr id="27" name="Text 25"/>
          <p:cNvSpPr txBox="1"/>
          <p:nvPr/>
        </p:nvSpPr>
        <p:spPr>
          <a:xfrm>
            <a:off x="9015984" y="4526280"/>
            <a:ext cx="2542032" cy="1280160"/>
          </a:xfrm>
          <a:prstGeom prst="rect">
            <a:avLst/>
          </a:prstGeom>
          <a:noFill/>
          <a:ln/>
        </p:spPr>
        <p:txBody>
          <a:bodyPr wrap="square" lIns="254" tIns="254" rIns="254" bIns="254" rtlCol="0" anchor="ctr"/>
          <a:lstStyle/>
          <a:p>
            <a:pPr algn="ctr" indent="0" marL="0">
              <a:buNone/>
            </a:pPr>
            <a:r>
              <a:rPr lang="en-US" sz="1250" b="1" dirty="0">
                <a:solidFill>
                  <a:srgbClr val="1F3D2B"/>
                </a:solidFill>
              </a:rPr>
              <a:t>E8 Selectors</a:t>
            </a:r>
            <a:endParaRPr lang="en-US" sz="1250" dirty="0"/>
          </a:p>
          <a:p>
            <a:pPr algn="ctr" indent="0" marL="0">
              <a:buNone/>
            </a:pPr>
            <a:r>
              <a:rPr lang="en-US" sz="1050" dirty="0">
                <a:solidFill>
                  <a:srgbClr val="333333"/>
                </a:solidFill>
              </a:rPr>
              <a:t>How do the researcher's best selectors compare?</a:t>
            </a:r>
            <a:endParaRPr lang="en-US" sz="1250" dirty="0"/>
          </a:p>
        </p:txBody>
      </p:sp>
      <p:sp>
        <p:nvSpPr>
          <p:cNvPr id="28" name="Shape 26"/>
          <p:cNvSpPr/>
          <p:nvPr/>
        </p:nvSpPr>
        <p:spPr>
          <a:xfrm>
            <a:off x="6080760" y="3931920"/>
            <a:ext cx="4206240" cy="594360"/>
          </a:xfrm>
          <a:prstGeom prst="line">
            <a:avLst/>
          </a:prstGeom>
          <a:noFill/>
          <a:ln w="19050">
            <a:solidFill>
              <a:srgbClr val="7A7A7A"/>
            </a:solidFill>
            <a:prstDash val="solid"/>
            <a:tailEnd type="triangle"/>
          </a:ln>
        </p:spPr>
      </p:sp>
      <p:sp>
        <p:nvSpPr>
          <p:cNvPr id="29" name="Text 27"/>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All experiments use the same plot-grouped design; results R11 and R15-R19</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5. Results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From spectral response to validated prediction models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 Quality control: noise, splice steps and outliers</a:t>
            </a:r>
            <a:endParaRPr lang="en-US" sz="2800" dirty="0"/>
          </a:p>
        </p:txBody>
      </p:sp>
      <p:graphicFrame>
        <p:nvGraphicFramePr>
          <p:cNvPr id="3" name="Chart 0" descr=""/>
          <p:cNvGraphicFramePr/>
          <p:nvPr/>
        </p:nvGraphicFramePr>
        <p:xfrm>
          <a:off x="457200" y="114300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0" y="1234440"/>
            <a:ext cx="4389120" cy="777240"/>
          </a:xfrm>
          <a:prstGeom prst="rect">
            <a:avLst/>
          </a:prstGeom>
          <a:noFill/>
          <a:ln/>
        </p:spPr>
        <p:txBody>
          <a:bodyPr wrap="square" lIns="0" tIns="0" rIns="0" bIns="0" rtlCol="0" anchor="ctr"/>
          <a:lstStyle/>
          <a:p>
            <a:pPr algn="l" indent="0" marL="0">
              <a:buNone/>
            </a:pPr>
            <a:r>
              <a:rPr lang="en-US" sz="4000" b="1" dirty="0">
                <a:solidFill>
                  <a:srgbClr val="2A6FB0"/>
                </a:solidFill>
                <a:latin typeface="Cambria" pitchFamily="34" charset="0"/>
                <a:ea typeface="Cambria" pitchFamily="34" charset="-122"/>
                <a:cs typeface="Cambria" pitchFamily="34" charset="-120"/>
              </a:rPr>
              <a:t>2.1 x10⁻³</a:t>
            </a:r>
            <a:endParaRPr lang="en-US" sz="4000" dirty="0"/>
          </a:p>
        </p:txBody>
      </p:sp>
      <p:sp>
        <p:nvSpPr>
          <p:cNvPr id="5" name="Text 2"/>
          <p:cNvSpPr txBox="1"/>
          <p:nvPr/>
        </p:nvSpPr>
        <p:spPr>
          <a:xfrm>
            <a:off x="7315200" y="2011680"/>
            <a:ext cx="4389120" cy="457200"/>
          </a:xfrm>
          <a:prstGeom prst="rect">
            <a:avLst/>
          </a:prstGeom>
          <a:noFill/>
          <a:ln/>
        </p:spPr>
        <p:txBody>
          <a:bodyPr wrap="square" lIns="0" tIns="0" rIns="0" bIns="0" rtlCol="0" anchor="ctr"/>
          <a:lstStyle/>
          <a:p>
            <a:pPr indent="0" marL="0">
              <a:buNone/>
            </a:pPr>
            <a:r>
              <a:rPr lang="en-US" sz="1300" dirty="0">
                <a:solidFill>
                  <a:schemeClr val="accent6"/>
                </a:solidFill>
              </a:rPr>
              <a:t>mean step at 1000 nm before correction (0 after)</a:t>
            </a:r>
            <a:endParaRPr lang="en-US" sz="1300" dirty="0"/>
          </a:p>
        </p:txBody>
      </p:sp>
      <p:sp>
        <p:nvSpPr>
          <p:cNvPr id="6" name="Text 3"/>
          <p:cNvSpPr txBox="1"/>
          <p:nvPr/>
        </p:nvSpPr>
        <p:spPr>
          <a:xfrm>
            <a:off x="7315200" y="2606040"/>
            <a:ext cx="4389120" cy="777240"/>
          </a:xfrm>
          <a:prstGeom prst="rect">
            <a:avLst/>
          </a:prstGeom>
          <a:noFill/>
          <a:ln/>
        </p:spPr>
        <p:txBody>
          <a:bodyPr wrap="square" lIns="0" tIns="0" rIns="0" bIns="0" rtlCol="0" anchor="ctr"/>
          <a:lstStyle/>
          <a:p>
            <a:pPr algn="l" indent="0" marL="0">
              <a:buNone/>
            </a:pPr>
            <a:r>
              <a:rPr lang="en-US" sz="4000" b="1" dirty="0">
                <a:solidFill>
                  <a:srgbClr val="D08A00"/>
                </a:solidFill>
                <a:latin typeface="Cambria" pitchFamily="34" charset="0"/>
                <a:ea typeface="Cambria" pitchFamily="34" charset="-122"/>
                <a:cs typeface="Cambria" pitchFamily="34" charset="-120"/>
              </a:rPr>
              <a:t>49</a:t>
            </a:r>
            <a:endParaRPr lang="en-US" sz="4000" dirty="0"/>
          </a:p>
        </p:txBody>
      </p:sp>
      <p:sp>
        <p:nvSpPr>
          <p:cNvPr id="7" name="Text 4"/>
          <p:cNvSpPr txBox="1"/>
          <p:nvPr/>
        </p:nvSpPr>
        <p:spPr>
          <a:xfrm>
            <a:off x="7315200" y="3383280"/>
            <a:ext cx="4389120" cy="457200"/>
          </a:xfrm>
          <a:prstGeom prst="rect">
            <a:avLst/>
          </a:prstGeom>
          <a:noFill/>
          <a:ln/>
        </p:spPr>
        <p:txBody>
          <a:bodyPr wrap="square" lIns="0" tIns="0" rIns="0" bIns="0" rtlCol="0" anchor="ctr"/>
          <a:lstStyle/>
          <a:p>
            <a:pPr indent="0" marL="0">
              <a:buNone/>
            </a:pPr>
            <a:r>
              <a:rPr lang="en-US" sz="1300" dirty="0">
                <a:solidFill>
                  <a:schemeClr val="accent6"/>
                </a:solidFill>
              </a:rPr>
              <a:t>outliers removed (&gt;= 3 of 4 rules); 2290 spectra kept</a:t>
            </a:r>
            <a:endParaRPr lang="en-US" sz="1300" dirty="0"/>
          </a:p>
        </p:txBody>
      </p:sp>
      <p:sp>
        <p:nvSpPr>
          <p:cNvPr id="8" name="Text 5"/>
          <p:cNvSpPr txBox="1"/>
          <p:nvPr/>
        </p:nvSpPr>
        <p:spPr>
          <a:xfrm>
            <a:off x="7315200" y="4069080"/>
            <a:ext cx="4389120" cy="1828800"/>
          </a:xfrm>
          <a:prstGeom prst="rect">
            <a:avLst/>
          </a:prstGeom>
          <a:noFill/>
          <a:ln/>
        </p:spPr>
        <p:txBody>
          <a:bodyPr wrap="square" rtlCol="0" anchor="t"/>
          <a:lstStyle/>
          <a:p>
            <a:pPr lvl="1" marL="457200" indent="-228600">
              <a:spcAft>
                <a:spcPts val="600"/>
              </a:spcAft>
              <a:buSzPct val="100000"/>
              <a:buChar char="•"/>
            </a:pPr>
            <a:r>
              <a:rPr lang="en-US" sz="1400" dirty="0">
                <a:solidFill>
                  <a:schemeClr val="tx1"/>
                </a:solidFill>
              </a:rPr>
              <a:t>350-400 nm has the lowest SNR; trimmed to 400-2400 nm</a:t>
            </a:r>
            <a:endParaRPr lang="en-US" sz="1400" dirty="0"/>
          </a:p>
          <a:p>
            <a:pPr lvl="1" marL="457200" indent="-228600">
              <a:spcAft>
                <a:spcPts val="600"/>
              </a:spcAft>
              <a:buSzPct val="100000"/>
              <a:buChar char="•"/>
            </a:pPr>
            <a:r>
              <a:rPr lang="en-US" sz="1400" dirty="0">
                <a:solidFill>
                  <a:schemeClr val="tx1"/>
                </a:solidFill>
              </a:rPr>
              <a:t>All 49 removed spectra came from diseased plots</a:t>
            </a:r>
            <a:endParaRPr lang="en-US" sz="1400" dirty="0"/>
          </a:p>
          <a:p>
            <a:pPr lvl="1" marL="457200" indent="-228600">
              <a:spcAft>
                <a:spcPts val="600"/>
              </a:spcAft>
              <a:buSzPct val="100000"/>
              <a:buChar char="•"/>
            </a:pPr>
            <a:r>
              <a:rPr lang="en-US" sz="1400" dirty="0">
                <a:solidFill>
                  <a:schemeClr val="tx1"/>
                </a:solidFill>
              </a:rPr>
              <a:t>Sensitivity of results to removal tested in E6</a:t>
            </a:r>
            <a:endParaRPr lang="en-US" sz="1400" dirty="0"/>
          </a:p>
        </p:txBody>
      </p:sp>
      <p:sp>
        <p:nvSpPr>
          <p:cNvPr id="9" name="Text 6"/>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 02_QC</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R2. Spectral response of mustard leaves to white rust</a:t>
            </a:r>
            <a:endParaRPr lang="en-US" sz="2800" dirty="0"/>
          </a:p>
        </p:txBody>
      </p:sp>
      <p:graphicFrame>
        <p:nvGraphicFramePr>
          <p:cNvPr id="3" name="Chart 0" descr=""/>
          <p:cNvGraphicFramePr/>
          <p:nvPr/>
        </p:nvGraphicFramePr>
        <p:xfrm>
          <a:off x="457200" y="1143000"/>
          <a:ext cx="566928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143000"/>
          <a:ext cx="5486400" cy="274320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6236208" y="3922776"/>
            <a:ext cx="5541264" cy="2194560"/>
          </a:xfrm>
          <a:prstGeom prst="roundRect">
            <a:avLst>
              <a:gd name="adj" fmla="val 2083"/>
            </a:avLst>
          </a:prstGeom>
          <a:solidFill>
            <a:srgbClr val="F6F8F5"/>
          </a:solidFill>
          <a:ln w="12700">
            <a:solidFill>
              <a:srgbClr val="F6F8F5"/>
            </a:solidFill>
            <a:prstDash val="solid"/>
          </a:ln>
        </p:spPr>
      </p:sp>
      <p:sp>
        <p:nvSpPr>
          <p:cNvPr id="6" name="Text 2"/>
          <p:cNvSpPr txBox="1"/>
          <p:nvPr/>
        </p:nvSpPr>
        <p:spPr>
          <a:xfrm>
            <a:off x="6309360" y="3977640"/>
            <a:ext cx="5394960" cy="210312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Mean reflectance of all healthy vs all diseased spectra; the difference spectrum (D - H) shows where, and by how much, white rust changes reflectance.</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Diseased leaves reflect more in the visible (up to +15% near 690 nm: chlorophyll loss) and in the SWIR water bands (+14% at ~1450 nm, +19% near 2010 nm: water loss). NIR reflectance is only slightly lower (min -0.019 at 760 nm), consistent with white pustules offsetting the loss of mesophyll scattering (Zhang et al., 2012).</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 03_Spectra_Class; Fig01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R3. The disease signal changes with date and growth stage</a:t>
            </a:r>
            <a:endParaRPr lang="en-US" sz="2800" dirty="0"/>
          </a:p>
        </p:txBody>
      </p:sp>
      <p:graphicFrame>
        <p:nvGraphicFramePr>
          <p:cNvPr id="3" name="Chart 0" descr=""/>
          <p:cNvGraphicFramePr/>
          <p:nvPr/>
        </p:nvGraphicFramePr>
        <p:xfrm>
          <a:off x="457200" y="1143000"/>
          <a:ext cx="67665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498080" y="1234440"/>
          <a:ext cx="4206240" cy="914400"/>
        </p:xfrm>
        <a:graphic>
          <a:graphicData uri="http://schemas.openxmlformats.org/drawingml/2006/table">
            <a:tbl>
              <a:tblPr/>
              <a:tblGrid>
                <a:gridCol w="1097280"/>
                <a:gridCol w="1005840"/>
                <a:gridCol w="1005840"/>
                <a:gridCol w="1097280"/>
              </a:tblGrid>
              <a:tr h="365760">
                <a:tc>
                  <a:txBody>
                    <a:bodyPr/>
                    <a:lstStyle/>
                    <a:p>
                      <a:pPr algn="ctr" indent="0" marL="0">
                        <a:buNone/>
                      </a:pPr>
                      <a:r>
                        <a:rPr lang="en-US" sz="1200" b="1" dirty="0">
                          <a:solidFill>
                            <a:srgbClr val="FFFFFF"/>
                          </a:solidFill>
                        </a:rPr>
                        <a:t>Date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Cosine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SAM (°)</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Euclid.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65760">
                <a:tc>
                  <a:txBody>
                    <a:bodyPr/>
                    <a:lstStyle/>
                    <a:p>
                      <a:pPr indent="0" marL="0">
                        <a:buNone/>
                      </a:pPr>
                      <a:r>
                        <a:rPr lang="en-US" sz="1200" dirty="0">
                          <a:solidFill>
                            <a:srgbClr val="1A1A1A"/>
                          </a:solidFill>
                        </a:rPr>
                        <a:t>11 Feb</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1.000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0.96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0.088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24 Feb</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1.000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0.115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03 Mar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0.998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3.58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0.339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13 Mar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0.999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2.31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0.306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Shape 1"/>
          <p:cNvSpPr/>
          <p:nvPr/>
        </p:nvSpPr>
        <p:spPr>
          <a:xfrm>
            <a:off x="7424928" y="3236976"/>
            <a:ext cx="4352544" cy="2834640"/>
          </a:xfrm>
          <a:prstGeom prst="roundRect">
            <a:avLst>
              <a:gd name="adj" fmla="val 1613"/>
            </a:avLst>
          </a:prstGeom>
          <a:solidFill>
            <a:srgbClr val="F6F8F5"/>
          </a:solidFill>
          <a:ln w="12700">
            <a:solidFill>
              <a:srgbClr val="F6F8F5"/>
            </a:solidFill>
            <a:prstDash val="solid"/>
          </a:ln>
        </p:spPr>
      </p:sp>
      <p:sp>
        <p:nvSpPr>
          <p:cNvPr id="6" name="Text 2"/>
          <p:cNvSpPr txBox="1"/>
          <p:nvPr/>
        </p:nvSpPr>
        <p:spPr>
          <a:xfrm>
            <a:off x="7498080" y="3291840"/>
            <a:ext cx="4206240" cy="274320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Difference spectra (D - H) computed within each date; the spectral angle (SAM) measures the overall shape difference between class means (0° = identical).</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healthy-diseased spectral angle grows from 0.96° on 11 Feb to 3.58° on 03 Mar, tracking epidemic development. Early (vegetative) differences are small and mainly in the SWIR, so date-specific effects must be handled by the pooled model.</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sheets 04_Spectra_Date and 08; class-mean similarity after Selvaprakash et al. 2026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R4. Sensitive regions: effect size, correlation and separability</a:t>
            </a:r>
            <a:endParaRPr lang="en-US" sz="2800" dirty="0"/>
          </a:p>
        </p:txBody>
      </p:sp>
      <p:graphicFrame>
        <p:nvGraphicFramePr>
          <p:cNvPr id="3" name="Chart 0" descr=""/>
          <p:cNvGraphicFramePr/>
          <p:nvPr/>
        </p:nvGraphicFramePr>
        <p:xfrm>
          <a:off x="457200" y="1143000"/>
          <a:ext cx="5669280"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57200" y="3611880"/>
          <a:ext cx="5669280" cy="2468880"/>
        </p:xfrm>
        <a:graphic xmlns:a="http://schemas.openxmlformats.org/drawingml/2006/main">
          <a:graphicData uri="http://schemas.openxmlformats.org/drawingml/2006/chart">
            <c:chart xmlns:c="http://schemas.openxmlformats.org/drawingml/2006/chart" r:id="rId2"/>
          </a:graphicData>
        </a:graphic>
      </p:graphicFrame>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0" y="1188720"/>
          <a:ext cx="5303520" cy="914400"/>
        </p:xfrm>
        <a:graphic>
          <a:graphicData uri="http://schemas.openxmlformats.org/drawingml/2006/table">
            <a:tbl>
              <a:tblPr/>
              <a:tblGrid>
                <a:gridCol w="1280160"/>
                <a:gridCol w="2011680"/>
                <a:gridCol w="914400"/>
                <a:gridCol w="1097280"/>
              </a:tblGrid>
              <a:tr h="384048">
                <a:tc>
                  <a:txBody>
                    <a:bodyPr/>
                    <a:lstStyle/>
                    <a:p>
                      <a:pPr algn="ctr" indent="0" marL="0">
                        <a:buNone/>
                      </a:pPr>
                      <a:r>
                        <a:rPr lang="en-US" sz="1200" b="1" dirty="0">
                          <a:solidFill>
                            <a:srgbClr val="FFFFFF"/>
                          </a:solidFill>
                        </a:rPr>
                        <a:t>Region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Direction</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max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Peak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84048">
                <a:tc>
                  <a:txBody>
                    <a:bodyPr/>
                    <a:lstStyle/>
                    <a:p>
                      <a:pPr indent="0" marL="0">
                        <a:buNone/>
                      </a:pPr>
                      <a:r>
                        <a:rPr lang="en-US" sz="1200" dirty="0">
                          <a:solidFill>
                            <a:srgbClr val="1A1A1A"/>
                          </a:solidFill>
                        </a:rPr>
                        <a:t>580-710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Diseased &gt; Healthy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0.98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650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1A1A"/>
                          </a:solidFill>
                        </a:rPr>
                        <a:t>1390-1560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Diseased &gt; Healthy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0.69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1420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84048">
                <a:tc>
                  <a:txBody>
                    <a:bodyPr/>
                    <a:lstStyle/>
                    <a:p>
                      <a:pPr indent="0" marL="0">
                        <a:buNone/>
                      </a:pPr>
                      <a:r>
                        <a:rPr lang="en-US" sz="1200" dirty="0">
                          <a:solidFill>
                            <a:srgbClr val="1A1A1A"/>
                          </a:solidFill>
                        </a:rPr>
                        <a:t>1840-2400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Diseased &gt; Healthy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0.85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1890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6" name="Shape 1"/>
          <p:cNvSpPr/>
          <p:nvPr/>
        </p:nvSpPr>
        <p:spPr>
          <a:xfrm>
            <a:off x="6327648" y="3054096"/>
            <a:ext cx="5449824" cy="3017520"/>
          </a:xfrm>
          <a:prstGeom prst="roundRect">
            <a:avLst>
              <a:gd name="adj" fmla="val 1515"/>
            </a:avLst>
          </a:prstGeom>
          <a:solidFill>
            <a:srgbClr val="F6F8F5"/>
          </a:solidFill>
          <a:ln w="12700">
            <a:solidFill>
              <a:srgbClr val="F6F8F5"/>
            </a:solidFill>
            <a:prstDash val="solid"/>
          </a:ln>
        </p:spPr>
      </p:sp>
      <p:sp>
        <p:nvSpPr>
          <p:cNvPr id="7" name="Text 2"/>
          <p:cNvSpPr txBox="1"/>
          <p:nvPr/>
        </p:nvSpPr>
        <p:spPr>
          <a:xfrm>
            <a:off x="6400800" y="3108960"/>
            <a:ext cx="5303520" cy="29260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Cohen's d = standardised mean difference (|d| &gt;= 0.8 is large); J-M distance = class separability (0 none, 2 complete). FDR-significant bands form the sensitive regions.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FDR-significant regions (plot-date means): 580-710 nm (D&gt;H, |d| 0.98 at 650 nm); 1390-1560 nm (D&gt;H, |d| 0.68 at 1420 nm); 1840-2400 nm (D&gt;H, |d| 0.86 at 1890 nm). The NIR plateau is not significant in reflectance, but its first derivative (850-870 nm) is the strongest VNIR feature (J-M peak), matching the NIR-slope signature of mesophyll collapse reported by Tian et al. (2021). The largest derivative J-M is at 1820 nm.</a:t>
            </a:r>
            <a:endParaRPr lang="en-US" sz="1200" dirty="0"/>
          </a:p>
        </p:txBody>
      </p:sp>
      <p:sp>
        <p:nvSpPr>
          <p:cNvPr id="8"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Welch t-test with Benjamini-Hochberg FDR; workbook sheets 07-08; Mandal et al. 2022; Richards &amp; Jia 2006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R5. Red-edge and derivative parameters</a:t>
            </a:r>
            <a:endParaRPr lang="en-US" sz="2800" dirty="0"/>
          </a:p>
        </p:txBody>
      </p:sp>
      <p:graphicFrame>
        <p:nvGraphicFramePr>
          <p:cNvPr id="3" name="Chart 0" descr=""/>
          <p:cNvGraphicFramePr/>
          <p:nvPr/>
        </p:nvGraphicFramePr>
        <p:xfrm>
          <a:off x="457200" y="1143000"/>
          <a:ext cx="54864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486400" cy="914400"/>
        </p:xfrm>
        <a:graphic>
          <a:graphicData uri="http://schemas.openxmlformats.org/drawingml/2006/table">
            <a:tbl>
              <a:tblPr/>
              <a:tblGrid>
                <a:gridCol w="1280160"/>
                <a:gridCol w="1737360"/>
                <a:gridCol w="1737360"/>
                <a:gridCol w="731520"/>
              </a:tblGrid>
              <a:tr h="365760">
                <a:tc>
                  <a:txBody>
                    <a:bodyPr/>
                    <a:lstStyle/>
                    <a:p>
                      <a:pPr algn="ctr" indent="0" marL="0">
                        <a:buNone/>
                      </a:pPr>
                      <a:r>
                        <a:rPr lang="en-US" sz="1200" b="1" dirty="0">
                          <a:solidFill>
                            <a:srgbClr val="FFFFFF"/>
                          </a:solidFill>
                        </a:rPr>
                        <a:t>Parameter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Healthy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Diseased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65760">
                <a:tc>
                  <a:txBody>
                    <a:bodyPr/>
                    <a:lstStyle/>
                    <a:p>
                      <a:pPr indent="0" marL="0">
                        <a:buNone/>
                      </a:pPr>
                      <a:r>
                        <a:rPr lang="en-US" sz="1200" dirty="0">
                          <a:solidFill>
                            <a:srgbClr val="1A1A1A"/>
                          </a:solidFill>
                        </a:rPr>
                        <a:t>REP_LI</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715.71 ± 1.4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714.48 ± 1.9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&lt; 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REP_FD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708.09 ± 3.2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705.90 ± 3.7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&lt; 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REV</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0.012770 ± 0.0015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0.012240 ± 0.0015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0.039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lambda_b</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521.66 ± 0.62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521.18 ± 0.91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&lt; 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Dy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-0.0032200 ± 0.00083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-0.0029300 ± 0.00091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0.041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lambda_y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570.11 ± 0.34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570.40 ± 0.58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&lt; 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SDr</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0.47102 ± 0.059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0.44687 ± 0.058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0.016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Shape 1"/>
          <p:cNvSpPr/>
          <p:nvPr/>
        </p:nvSpPr>
        <p:spPr>
          <a:xfrm>
            <a:off x="6144768" y="4288536"/>
            <a:ext cx="5632704" cy="1828800"/>
          </a:xfrm>
          <a:prstGeom prst="roundRect">
            <a:avLst>
              <a:gd name="adj" fmla="val 2500"/>
            </a:avLst>
          </a:prstGeom>
          <a:solidFill>
            <a:srgbClr val="F6F8F5"/>
          </a:solidFill>
          <a:ln w="12700">
            <a:solidFill>
              <a:srgbClr val="F6F8F5"/>
            </a:solidFill>
            <a:prstDash val="solid"/>
          </a:ln>
        </p:spPr>
      </p:sp>
      <p:sp>
        <p:nvSpPr>
          <p:cNvPr id="6" name="Text 2"/>
          <p:cNvSpPr txBox="1"/>
          <p:nvPr/>
        </p:nvSpPr>
        <p:spPr>
          <a:xfrm>
            <a:off x="6217920" y="4343400"/>
            <a:ext cx="5486400" cy="1737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First-derivative spectra show the slope of reflectance; REP = wavelength of the steepest red-edge slope (chlorophyll indicator); REV = its height.</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red edge shifts to shorter wavelengths in diseased leaves: REP 715.7 -&gt; 714.5 nm (p &lt; 0.001); REV and SDr decrease (p = 0.039, 0.016). Blue shift + lower red-edge amplitude = chlorophyll loss, as for rice blast (Mandal et al., 2022).</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REP: Guyot &amp; Baret 1988; REV/SDr: Mandal et al. 2022; edges: Zhang et al. 2012; workbook sheet 09</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R6. PCA and t-SNE: date dominates, disease is a subtle signal</a:t>
            </a:r>
            <a:endParaRPr lang="en-US" sz="2800" dirty="0"/>
          </a:p>
        </p:txBody>
      </p:sp>
      <p:graphicFrame>
        <p:nvGraphicFramePr>
          <p:cNvPr id="3" name="Chart 0" descr=""/>
          <p:cNvGraphicFramePr/>
          <p:nvPr/>
        </p:nvGraphicFramePr>
        <p:xfrm>
          <a:off x="457200" y="1143000"/>
          <a:ext cx="374904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97680" y="1143000"/>
          <a:ext cx="3749040" cy="3840480"/>
        </p:xfrm>
        <a:graphic xmlns:a="http://schemas.openxmlformats.org/drawingml/2006/main">
          <a:graphicData uri="http://schemas.openxmlformats.org/drawingml/2006/chart">
            <c:chart xmlns:c="http://schemas.openxmlformats.org/drawingml/2006/chart" r:id="rId2"/>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29600" y="1188720"/>
          <a:ext cx="3474720" cy="914400"/>
        </p:xfrm>
        <a:graphic>
          <a:graphicData uri="http://schemas.openxmlformats.org/drawingml/2006/table">
            <a:tbl>
              <a:tblPr/>
              <a:tblGrid>
                <a:gridCol w="548640"/>
                <a:gridCol w="594360"/>
                <a:gridCol w="594360"/>
                <a:gridCol w="594360"/>
                <a:gridCol w="548640"/>
                <a:gridCol w="594360"/>
              </a:tblGrid>
              <a:tr h="329184">
                <a:tc>
                  <a:txBody>
                    <a:bodyPr/>
                    <a:lstStyle/>
                    <a:p>
                      <a:pPr algn="ctr" indent="0" marL="0">
                        <a:buNone/>
                      </a:pPr>
                      <a:r>
                        <a:rPr lang="en-US" sz="1100" b="1" dirty="0">
                          <a:solidFill>
                            <a:srgbClr val="FFFFFF"/>
                          </a:solidFill>
                        </a:rPr>
                        <a:t>PC</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Class</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Date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Stage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Var.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Plot</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A1A1A"/>
                          </a:solidFill>
                        </a:rPr>
                        <a:t>PC1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0.53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PC2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0.49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0.18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PC3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0.12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PC4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0.15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6" name="Text 1"/>
          <p:cNvSpPr txBox="1"/>
          <p:nvPr/>
        </p:nvSpPr>
        <p:spPr>
          <a:xfrm>
            <a:off x="8229600" y="2926080"/>
            <a:ext cx="3474720" cy="365760"/>
          </a:xfrm>
          <a:prstGeom prst="rect">
            <a:avLst/>
          </a:prstGeom>
          <a:noFill/>
          <a:ln/>
        </p:spPr>
        <p:txBody>
          <a:bodyPr wrap="square" lIns="0" tIns="0" rIns="0" bIns="0" rtlCol="0" anchor="ctr"/>
          <a:lstStyle/>
          <a:p>
            <a:pPr indent="0" marL="0">
              <a:buNone/>
            </a:pPr>
            <a:r>
              <a:rPr lang="en-US" sz="1000" i="1" dirty="0">
                <a:solidFill>
                  <a:schemeClr val="accent6"/>
                </a:solidFill>
              </a:rPr>
              <a:t>η² = share of PC-score variance explained by each factor</a:t>
            </a:r>
            <a:endParaRPr lang="en-US" sz="1000" dirty="0"/>
          </a:p>
        </p:txBody>
      </p:sp>
      <p:sp>
        <p:nvSpPr>
          <p:cNvPr id="7" name="Shape 2"/>
          <p:cNvSpPr/>
          <p:nvPr/>
        </p:nvSpPr>
        <p:spPr>
          <a:xfrm>
            <a:off x="8156448" y="3282696"/>
            <a:ext cx="3621024" cy="2743200"/>
          </a:xfrm>
          <a:prstGeom prst="roundRect">
            <a:avLst>
              <a:gd name="adj" fmla="val 1667"/>
            </a:avLst>
          </a:prstGeom>
          <a:solidFill>
            <a:srgbClr val="F6F8F5"/>
          </a:solidFill>
          <a:ln w="12700">
            <a:solidFill>
              <a:srgbClr val="F6F8F5"/>
            </a:solidFill>
            <a:prstDash val="solid"/>
          </a:ln>
        </p:spPr>
      </p:sp>
      <p:sp>
        <p:nvSpPr>
          <p:cNvPr id="8" name="Text 3"/>
          <p:cNvSpPr txBox="1"/>
          <p:nvPr/>
        </p:nvSpPr>
        <p:spPr>
          <a:xfrm>
            <a:off x="8229600" y="3337560"/>
            <a:ext cx="3474720" cy="26517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Each point = mean spectrum of one plot on one date; the axes are the main directions of spectral variation; η² = share of a PC explained by a factor.</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PC1 (55.8%) and PC2 (30.2%) are driven by date (η² 0.70, 0.49) and stage, not disease (η² ≤ 0.07). Unsupervised methods cannot separate classes, so supervised feature selection is needed.</a:t>
            </a:r>
            <a:endParaRPr lang="en-US" sz="1200" dirty="0"/>
          </a:p>
        </p:txBody>
      </p:sp>
      <p:sp>
        <p:nvSpPr>
          <p:cNvPr id="9" name="Text 4"/>
          <p:cNvSpPr txBox="1"/>
          <p:nvPr/>
        </p:nvSpPr>
        <p:spPr>
          <a:xfrm>
            <a:off x="457200" y="5074920"/>
            <a:ext cx="7589520" cy="320040"/>
          </a:xfrm>
          <a:prstGeom prst="rect">
            <a:avLst/>
          </a:prstGeom>
          <a:noFill/>
          <a:ln/>
        </p:spPr>
        <p:txBody>
          <a:bodyPr wrap="square" lIns="0" tIns="0" rIns="0" bIns="0" rtlCol="0" anchor="ctr"/>
          <a:lstStyle/>
          <a:p>
            <a:pPr indent="0" marL="0">
              <a:buNone/>
            </a:pPr>
            <a:r>
              <a:rPr lang="en-US" sz="1100" i="1" dirty="0">
                <a:solidFill>
                  <a:schemeClr val="accent6"/>
                </a:solidFill>
              </a:rPr>
              <a:t>t-SNE embedding in workbook sheet 10 and Fig05</a:t>
            </a:r>
            <a:endParaRPr lang="en-US" sz="1100" dirty="0"/>
          </a:p>
        </p:txBody>
      </p:sp>
      <p:sp>
        <p:nvSpPr>
          <p:cNvPr id="10"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SNV spectra; van der Maaten &amp; Hinton 2008; Selvaprakash et al. 2026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R7. PERMANOVA: how much variance is disease?</a:t>
            </a:r>
            <a:endParaRPr lang="en-US" sz="2800" dirty="0"/>
          </a:p>
        </p:txBody>
      </p:sp>
      <p:graphicFrame>
        <p:nvGraphicFramePr>
          <p:cNvPr id="3" name="Chart 0" descr=""/>
          <p:cNvGraphicFramePr/>
          <p:nvPr/>
        </p:nvGraphicFramePr>
        <p:xfrm>
          <a:off x="457200" y="1143000"/>
          <a:ext cx="58521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583680" y="1188720"/>
          <a:ext cx="5120640" cy="914400"/>
        </p:xfrm>
        <a:graphic>
          <a:graphicData uri="http://schemas.openxmlformats.org/drawingml/2006/table">
            <a:tbl>
              <a:tblPr/>
              <a:tblGrid>
                <a:gridCol w="1645920"/>
                <a:gridCol w="548640"/>
                <a:gridCol w="1005840"/>
                <a:gridCol w="914400"/>
                <a:gridCol w="1005840"/>
              </a:tblGrid>
              <a:tr h="365760">
                <a:tc>
                  <a:txBody>
                    <a:bodyPr/>
                    <a:lstStyle/>
                    <a:p>
                      <a:pPr algn="ctr" indent="0" marL="0">
                        <a:buNone/>
                      </a:pPr>
                      <a:r>
                        <a:rPr lang="en-US" sz="1200" b="1" dirty="0">
                          <a:solidFill>
                            <a:srgbClr val="FFFFFF"/>
                          </a:solidFill>
                        </a:rPr>
                        <a:t>Term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df</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Pseudo-F</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R² %</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65760">
                <a:tc>
                  <a:txBody>
                    <a:bodyPr/>
                    <a:lstStyle/>
                    <a:p>
                      <a:pPr indent="0" marL="0">
                        <a:buNone/>
                      </a:pPr>
                      <a:r>
                        <a:rPr lang="en-US" sz="1200" dirty="0">
                          <a:solidFill>
                            <a:srgbClr val="1A1A1A"/>
                          </a:solidFill>
                        </a:rPr>
                        <a:t>Disease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15.30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1.12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Date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142.13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31.16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Variety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2.17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0.32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0.178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Stage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4.85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0.71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0.013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Disease:Date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7.34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1.61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0.001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A1A"/>
                          </a:solidFill>
                        </a:rPr>
                        <a:t>Disease:Variety</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2.74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0.40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0.179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65760">
                <a:tc>
                  <a:txBody>
                    <a:bodyPr/>
                    <a:lstStyle/>
                    <a:p>
                      <a:pPr indent="0" marL="0">
                        <a:buNone/>
                      </a:pPr>
                      <a:r>
                        <a:rPr lang="en-US" sz="1200" dirty="0">
                          <a:solidFill>
                            <a:srgbClr val="1A1A1A"/>
                          </a:solidFill>
                        </a:rPr>
                        <a:t>Residual</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178</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13.01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Shape 1"/>
          <p:cNvSpPr/>
          <p:nvPr/>
        </p:nvSpPr>
        <p:spPr>
          <a:xfrm>
            <a:off x="6510528" y="4242816"/>
            <a:ext cx="5266944" cy="1828800"/>
          </a:xfrm>
          <a:prstGeom prst="roundRect">
            <a:avLst>
              <a:gd name="adj" fmla="val 2500"/>
            </a:avLst>
          </a:prstGeom>
          <a:solidFill>
            <a:srgbClr val="F6F8F5"/>
          </a:solidFill>
          <a:ln w="12700">
            <a:solidFill>
              <a:srgbClr val="F6F8F5"/>
            </a:solidFill>
            <a:prstDash val="solid"/>
          </a:ln>
        </p:spPr>
      </p:sp>
      <p:sp>
        <p:nvSpPr>
          <p:cNvPr id="6" name="Text 2"/>
          <p:cNvSpPr txBox="1"/>
          <p:nvPr/>
        </p:nvSpPr>
        <p:spPr>
          <a:xfrm>
            <a:off x="6583680" y="4297680"/>
            <a:ext cx="5120640" cy="1737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Multivariate ANOVA on the whole spectrum: R² = % of spectral variance attributable to each factor; p from 999 restricted permutations.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Date explains 31.2% of spectral variance; disease 1.1% (pseudo-F 15.3, p = 0.001) plus 1.6% disease x date. Variety is not significant (p = 0.18). H2 is supported: the disease effect is small but robust.</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Anderson 2001; plot-date mean SNV spectra; disease/variety permuted across plots, date/stage within plots</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R8. Published vegetation indices are weak and date-dependent</a:t>
            </a:r>
            <a:endParaRPr lang="en-US" sz="2800" dirty="0"/>
          </a:p>
        </p:txBody>
      </p:sp>
      <p:graphicFrame>
        <p:nvGraphicFramePr>
          <p:cNvPr id="3" name="Chart 0" descr=""/>
          <p:cNvGraphicFramePr/>
          <p:nvPr/>
        </p:nvGraphicFramePr>
        <p:xfrm>
          <a:off x="457200" y="1143000"/>
          <a:ext cx="49377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0" y="1188720"/>
          <a:ext cx="6035040" cy="914400"/>
        </p:xfrm>
        <a:graphic>
          <a:graphicData uri="http://schemas.openxmlformats.org/drawingml/2006/table">
            <a:tbl>
              <a:tblPr/>
              <a:tblGrid>
                <a:gridCol w="914400"/>
                <a:gridCol w="2011680"/>
                <a:gridCol w="640080"/>
                <a:gridCol w="621792"/>
                <a:gridCol w="621792"/>
                <a:gridCol w="621792"/>
                <a:gridCol w="603504"/>
              </a:tblGrid>
              <a:tr h="347472">
                <a:tc>
                  <a:txBody>
                    <a:bodyPr/>
                    <a:lstStyle/>
                    <a:p>
                      <a:pPr algn="ctr" indent="0" marL="0">
                        <a:buNone/>
                      </a:pPr>
                      <a:r>
                        <a:rPr lang="en-US" sz="1050" b="1" dirty="0">
                          <a:solidFill>
                            <a:srgbClr val="FFFFFF"/>
                          </a:solidFill>
                        </a:rPr>
                        <a:t>Index</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Trait</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AUC</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d 11F</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d 24F</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d 03M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d 13M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47472">
                <a:tc>
                  <a:txBody>
                    <a:bodyPr/>
                    <a:lstStyle/>
                    <a:p>
                      <a:pPr indent="0" marL="0">
                        <a:buNone/>
                      </a:pPr>
                      <a:r>
                        <a:rPr lang="en-US" sz="1050" dirty="0">
                          <a:solidFill>
                            <a:srgbClr val="1A1A1A"/>
                          </a:solidFill>
                        </a:rPr>
                        <a:t>PSSRb</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Chlorophyll b</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0.668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0.15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-1.92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-2.43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-1.11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A1A1A"/>
                          </a:solidFill>
                        </a:rPr>
                        <a:t>WI</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Water</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0.666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-0.60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-0.24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-2.21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-2.00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47472">
                <a:tc>
                  <a:txBody>
                    <a:bodyPr/>
                    <a:lstStyle/>
                    <a:p>
                      <a:pPr indent="0" marL="0">
                        <a:buNone/>
                      </a:pPr>
                      <a:r>
                        <a:rPr lang="en-US" sz="1050" dirty="0">
                          <a:solidFill>
                            <a:srgbClr val="1A1A1A"/>
                          </a:solidFill>
                        </a:rPr>
                        <a:t>HI</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Disease-specific (Healthy index)</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0.664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-2.63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-2.55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-2.60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A1A1A"/>
                          </a:solidFill>
                        </a:rPr>
                        <a:t>RVSI</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Red-edge stress</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0.662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0.58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1.93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3.08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1.03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47472">
                <a:tc>
                  <a:txBody>
                    <a:bodyPr/>
                    <a:lstStyle/>
                    <a:p>
                      <a:pPr indent="0" marL="0">
                        <a:buNone/>
                      </a:pPr>
                      <a:r>
                        <a:rPr lang="en-US" sz="1050" dirty="0">
                          <a:solidFill>
                            <a:srgbClr val="1A1A1A"/>
                          </a:solidFill>
                        </a:rPr>
                        <a:t>ARI2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Anthocyanin</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2.49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2.49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3.01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A1A1A"/>
                          </a:solidFill>
                        </a:rPr>
                        <a:t>NDVI</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Chlorophyll/biomass</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0.659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0.11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-2.22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-1.17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47472">
                <a:tc>
                  <a:txBody>
                    <a:bodyPr/>
                    <a:lstStyle/>
                    <a:p>
                      <a:pPr indent="0" marL="0">
                        <a:buNone/>
                      </a:pPr>
                      <a:r>
                        <a:rPr lang="en-US" sz="1050" dirty="0">
                          <a:solidFill>
                            <a:srgbClr val="1A1A1A"/>
                          </a:solidFill>
                        </a:rPr>
                        <a:t>SR</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Chlorophyll/biomass</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-0.00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-1.59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-2.09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-1.12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A1A1A"/>
                          </a:solidFill>
                        </a:rPr>
                        <a:t>PSSRa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Chlorophyll 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0.656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-0.01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-1.53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-2.02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-1.14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Shape 1"/>
          <p:cNvSpPr/>
          <p:nvPr/>
        </p:nvSpPr>
        <p:spPr>
          <a:xfrm>
            <a:off x="5596128" y="4471416"/>
            <a:ext cx="6181344" cy="1645920"/>
          </a:xfrm>
          <a:prstGeom prst="roundRect">
            <a:avLst>
              <a:gd name="adj" fmla="val 2778"/>
            </a:avLst>
          </a:prstGeom>
          <a:solidFill>
            <a:srgbClr val="F6F8F5"/>
          </a:solidFill>
          <a:ln w="12700">
            <a:solidFill>
              <a:srgbClr val="F6F8F5"/>
            </a:solidFill>
            <a:prstDash val="solid"/>
          </a:ln>
        </p:spPr>
      </p:sp>
      <p:sp>
        <p:nvSpPr>
          <p:cNvPr id="6" name="Text 2"/>
          <p:cNvSpPr txBox="1"/>
          <p:nvPr/>
        </p:nvSpPr>
        <p:spPr>
          <a:xfrm>
            <a:off x="5669280" y="4526280"/>
            <a:ext cx="6035040" cy="15544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AUC = probability that the index ranks a random diseased leaf above a healthy one (0.5 = chance, 1 = perfect); d per date tests whether the effect is consistent.</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best published index reaches AUC 0.668 (PSSRb). Many chlorophyll indices (NDVI, SR, MTCI) show no difference on 11 Feb and change sign; date-consistent indices are mainly water, anthocyanin and disease indices (WI, HI, RVSI, ARI2, SR).</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Index sources in workbook sheet 13; ranking approach after Mandal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R9. A new Mustard White Rust Index (MWRI) from band-pair search</a:t>
            </a:r>
            <a:endParaRPr lang="en-US" sz="2800" dirty="0"/>
          </a:p>
        </p:txBody>
      </p:sp>
      <p:pic>
        <p:nvPicPr>
          <p:cNvPr id="3" name="Image 0" descr="/home/user/sonu/white_rust_analysis/outputs/figures/Fig08_NDSI_map.png">    </p:cNvPr>
          <p:cNvPicPr>
            <a:picLocks noChangeAspect="1"/>
          </p:cNvPicPr>
          <p:nvPr/>
        </p:nvPicPr>
        <p:blipFill>
          <a:blip r:embed="rId1"/>
          <a:stretch>
            <a:fillRect/>
          </a:stretch>
        </p:blipFill>
        <p:spPr>
          <a:xfrm>
            <a:off x="457200" y="1097280"/>
            <a:ext cx="5212080" cy="4370832"/>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43600" y="1188720"/>
          <a:ext cx="5760720" cy="914400"/>
        </p:xfrm>
        <a:graphic>
          <a:graphicData uri="http://schemas.openxmlformats.org/drawingml/2006/table">
            <a:tbl>
              <a:tblPr/>
              <a:tblGrid>
                <a:gridCol w="1188720"/>
                <a:gridCol w="2743200"/>
                <a:gridCol w="914400"/>
                <a:gridCol w="914400"/>
              </a:tblGrid>
              <a:tr h="329184">
                <a:tc>
                  <a:txBody>
                    <a:bodyPr/>
                    <a:lstStyle/>
                    <a:p>
                      <a:pPr algn="ctr" indent="0" marL="0">
                        <a:buNone/>
                      </a:pPr>
                      <a:r>
                        <a:rPr lang="en-US" sz="1100" b="1" dirty="0">
                          <a:solidFill>
                            <a:srgbClr val="FFFFFF"/>
                          </a:solidFill>
                        </a:rPr>
                        <a:t>Family</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Index</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mean |d|</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A1A1A"/>
                          </a:solidFill>
                        </a:rPr>
                        <a:t>SWIR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(R1810 - R1830)/(R1810 + R1830)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1.49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0.869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SWIR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(R1820 - R1830)/(R1820 + R1830)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1.44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0.834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SWIR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(R1810 - R1820)/(R1810 + R1820)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1.40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0.803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SWIR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(R1810 - R1840)/(R1810 + R1840)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1.32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0.824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NIR, join-free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(R870 - R890)/(R870 + R890)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1.11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0.774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NIR, join-free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(R870 - R880)/(R870 + R880)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1.11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0.777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NIR, join-free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(R880 - R890)/(R880 + R890)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1.10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0.769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Shape 1"/>
          <p:cNvSpPr/>
          <p:nvPr/>
        </p:nvSpPr>
        <p:spPr>
          <a:xfrm>
            <a:off x="5870448" y="3922776"/>
            <a:ext cx="5907024" cy="2194560"/>
          </a:xfrm>
          <a:prstGeom prst="roundRect">
            <a:avLst>
              <a:gd name="adj" fmla="val 2083"/>
            </a:avLst>
          </a:prstGeom>
          <a:solidFill>
            <a:srgbClr val="F6F8F5"/>
          </a:solidFill>
          <a:ln w="12700">
            <a:solidFill>
              <a:srgbClr val="F6F8F5"/>
            </a:solidFill>
            <a:prstDash val="solid"/>
          </a:ln>
        </p:spPr>
      </p:sp>
      <p:sp>
        <p:nvSpPr>
          <p:cNvPr id="6" name="Text 2"/>
          <p:cNvSpPr txBox="1"/>
          <p:nvPr/>
        </p:nvSpPr>
        <p:spPr>
          <a:xfrm>
            <a:off x="5943600" y="3977640"/>
            <a:ext cx="5760720" cy="210312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The heat map scores every possible two-band normalised difference by its date-consistent effect size; the brightest cell is the best band pair.</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MWRI = (R1810 - R1830) / (R1810 + R1830): mean |d| 1.49 (min 1.32 on any date), AUC 0.869 vs 0.668 for the best published index. The pair lies on the shoulder of the 1940-nm water band inside the SWIR-2 detector, 10-30 nm from the 1800-nm join (same AUC without splice correction, but treat with caution). Join-free alternative MWRI-NIR = ND(R870, R890): NIR slope of mesophyll scattering, AUC 0.774, still above every published index.</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Exhaustive NDSI search after Mandal et al. 2023 and Selvaprakash et al. 2026; score = mean |Cohen d| across dates, sign-consistent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R10. Wavelet (CWT) features capture shape changes</a:t>
            </a:r>
            <a:endParaRPr lang="en-US" sz="2800" dirty="0"/>
          </a:p>
        </p:txBody>
      </p:sp>
      <p:pic>
        <p:nvPicPr>
          <p:cNvPr id="3" name="Image 0" descr="/home/user/sonu/white_rust_analysis/outputs/figures/Fig09_CWT_scalogram.png">    </p:cNvPr>
          <p:cNvPicPr>
            <a:picLocks noChangeAspect="1"/>
          </p:cNvPicPr>
          <p:nvPr/>
        </p:nvPicPr>
        <p:blipFill>
          <a:blip r:embed="rId1"/>
          <a:stretch>
            <a:fillRect/>
          </a:stretch>
        </p:blipFill>
        <p:spPr>
          <a:xfrm>
            <a:off x="457200" y="1097280"/>
            <a:ext cx="7498080" cy="2670048"/>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229600" y="1188720"/>
          <a:ext cx="3474720" cy="914400"/>
        </p:xfrm>
        <a:graphic>
          <a:graphicData uri="http://schemas.openxmlformats.org/drawingml/2006/table">
            <a:tbl>
              <a:tblPr/>
              <a:tblGrid>
                <a:gridCol w="1280160"/>
                <a:gridCol w="1188720"/>
                <a:gridCol w="1005840"/>
              </a:tblGrid>
              <a:tr h="329184">
                <a:tc>
                  <a:txBody>
                    <a:bodyPr/>
                    <a:lstStyle/>
                    <a:p>
                      <a:pPr algn="ctr" indent="0" marL="0">
                        <a:buNone/>
                      </a:pPr>
                      <a:r>
                        <a:rPr lang="en-US" sz="1200" b="1" dirty="0">
                          <a:solidFill>
                            <a:srgbClr val="FFFFFF"/>
                          </a:solidFill>
                        </a:rPr>
                        <a:t>Wavelength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Scale</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200" dirty="0">
                          <a:solidFill>
                            <a:srgbClr val="1A1A1A"/>
                          </a:solidFill>
                        </a:rPr>
                        <a:t>1810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scale 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1.46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1A1A"/>
                          </a:solidFill>
                        </a:rPr>
                        <a:t>1810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scale 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1.44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200" dirty="0">
                          <a:solidFill>
                            <a:srgbClr val="1A1A1A"/>
                          </a:solidFill>
                        </a:rPr>
                        <a:t>1810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scale 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1.36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1A1A"/>
                          </a:solidFill>
                        </a:rPr>
                        <a:t>1810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scale 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1.19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200" dirty="0">
                          <a:solidFill>
                            <a:srgbClr val="1A1A1A"/>
                          </a:solidFill>
                        </a:rPr>
                        <a:t>680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scale 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1.13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1A1A"/>
                          </a:solidFill>
                        </a:rPr>
                        <a:t>1920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scale 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1.10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200" dirty="0">
                          <a:solidFill>
                            <a:srgbClr val="1A1A1A"/>
                          </a:solidFill>
                        </a:rPr>
                        <a:t>1010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scale 6</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rPr>
                        <a:t>1.09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A1A1A"/>
                          </a:solidFill>
                        </a:rPr>
                        <a:t>2390 nm</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scale 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200" dirty="0">
                          <a:solidFill>
                            <a:srgbClr val="1A1A1A"/>
                          </a:solidFill>
                        </a:rPr>
                        <a:t>1.09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Shape 1"/>
          <p:cNvSpPr/>
          <p:nvPr/>
        </p:nvSpPr>
        <p:spPr>
          <a:xfrm>
            <a:off x="384048" y="3922776"/>
            <a:ext cx="7644384" cy="2148840"/>
          </a:xfrm>
          <a:prstGeom prst="roundRect">
            <a:avLst>
              <a:gd name="adj" fmla="val 2128"/>
            </a:avLst>
          </a:prstGeom>
          <a:solidFill>
            <a:srgbClr val="F6F8F5"/>
          </a:solidFill>
          <a:ln w="12700">
            <a:solidFill>
              <a:srgbClr val="F6F8F5"/>
            </a:solidFill>
            <a:prstDash val="solid"/>
          </a:ln>
        </p:spPr>
      </p:sp>
      <p:sp>
        <p:nvSpPr>
          <p:cNvPr id="6" name="Text 2"/>
          <p:cNvSpPr txBox="1"/>
          <p:nvPr/>
        </p:nvSpPr>
        <p:spPr>
          <a:xfrm>
            <a:off x="457200" y="3977640"/>
            <a:ext cx="7498080" cy="205740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Scalogram: each cell = disease effect size of one Mexican-hat wavelet coefficient at a wavelength (x) and scale (y); small scales capture narrow slope features.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most sensitive wavelet coefficients are at 1810 nm (fine scales, |d| up to 1.45), 680 nm (chlorophyll well), 1920-1930 nm (water) and 1010 nm at scale 6 (NIR shape). Fine scales capture narrow slope changes; coarse scales capture broad shape (Cheng et al., 2011). Wavelet maxima exceed those of single bands (|d| &lt; 1), consistent with Lv et al. (2023).</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Mexican-hat CWT, Torrence &amp; Compo 1998; Cheng et al. 2011; Tian et al. 2021; Lv et al. 2023; workbook sheet 15</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R11. Preprocessing comparison (E1)</a:t>
            </a:r>
            <a:endParaRPr lang="en-US" sz="2800" dirty="0"/>
          </a:p>
        </p:txBody>
      </p:sp>
      <p:graphicFrame>
        <p:nvGraphicFramePr>
          <p:cNvPr id="3" name="Chart 0" descr=""/>
          <p:cNvGraphicFramePr/>
          <p:nvPr/>
        </p:nvGraphicFramePr>
        <p:xfrm>
          <a:off x="457200" y="11430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07808" y="1179576"/>
            <a:ext cx="4169664" cy="4846320"/>
          </a:xfrm>
          <a:prstGeom prst="roundRect">
            <a:avLst>
              <a:gd name="adj" fmla="val 1096"/>
            </a:avLst>
          </a:prstGeom>
          <a:solidFill>
            <a:srgbClr val="F6F8F5"/>
          </a:solidFill>
          <a:ln w="12700">
            <a:solidFill>
              <a:srgbClr val="F6F8F5"/>
            </a:solidFill>
            <a:prstDash val="solid"/>
          </a:ln>
        </p:spPr>
      </p:sp>
      <p:sp>
        <p:nvSpPr>
          <p:cNvPr id="5" name="Text 2"/>
          <p:cNvSpPr txBox="1"/>
          <p:nvPr/>
        </p:nvSpPr>
        <p:spPr>
          <a:xfrm>
            <a:off x="7680960" y="1234440"/>
            <a:ext cx="4023360" cy="47548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The same full-spectrum models under six preprocessing options; bars = balanced accuracy (mean of 10 x 4-fold plot-grouped CV).</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First-derivative spectra give the highest accuracy (LR 0.946, SVM 0.940, LDA 0.941), clearly above SNV (LR 0.921, SVM 0.882) and raw reflectance (mean 0.860). Derivatives remove the date-dependent brightness offset and keep slope information. Date normalisation (Lv et al., 2023) helps only when combined with SNV (0.885).</a:t>
            </a:r>
            <a:endParaRPr lang="en-US" sz="1200" dirty="0"/>
          </a:p>
        </p:txBody>
      </p:sp>
      <p:sp>
        <p:nvSpPr>
          <p:cNvPr id="6"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Barnes et al. 1989; Geladi et al. 1985; Lv et al. 2023; workbook sheet 17</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R12. Model comparison: 10 feature scenarios x 10 classifiers</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3200400"/>
                <a:gridCol w="804672"/>
                <a:gridCol w="804672"/>
                <a:gridCol w="804672"/>
                <a:gridCol w="804672"/>
                <a:gridCol w="804672"/>
                <a:gridCol w="804672"/>
                <a:gridCol w="804672"/>
                <a:gridCol w="804672"/>
                <a:gridCol w="804672"/>
                <a:gridCol w="804672"/>
              </a:tblGrid>
              <a:tr h="393192">
                <a:tc>
                  <a:txBody>
                    <a:bodyPr/>
                    <a:lstStyle/>
                    <a:p>
                      <a:pPr algn="ctr" indent="0" marL="0">
                        <a:buNone/>
                      </a:pPr>
                      <a:r>
                        <a:rPr lang="en-US" sz="1050" b="1" dirty="0">
                          <a:solidFill>
                            <a:srgbClr val="FFFFFF"/>
                          </a:solidFill>
                        </a:rPr>
                        <a:t>Scenario</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LDA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PLS-DA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LR</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kNN</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SVM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LS-SVM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RF</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XGBoost</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ELM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MLP</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93192">
                <a:tc>
                  <a:txBody>
                    <a:bodyPr/>
                    <a:lstStyle/>
                    <a:p>
                      <a:pPr algn="l" indent="0" marL="0">
                        <a:buNone/>
                      </a:pPr>
                      <a:r>
                        <a:rPr lang="en-US" sz="1000" dirty="0">
                          <a:solidFill>
                            <a:srgbClr val="1A1A1A"/>
                          </a:solidFill>
                        </a:rPr>
                        <a:t>S1 Full spectrum (SNV, 201 bands)</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FFFFFF"/>
                          </a:solidFill>
                        </a:rPr>
                        <a:t>0.859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7804E"/>
                    </a:solidFill>
                  </a:tcPr>
                </a:tc>
                <a:tc>
                  <a:txBody>
                    <a:bodyPr/>
                    <a:lstStyle/>
                    <a:p>
                      <a:pPr algn="ctr" indent="0" marL="0">
                        <a:buNone/>
                      </a:pPr>
                      <a:r>
                        <a:rPr lang="en-US" sz="1050" dirty="0">
                          <a:solidFill>
                            <a:srgbClr val="FFFFFF"/>
                          </a:solidFill>
                        </a:rPr>
                        <a:t>0.851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B8551"/>
                    </a:solidFill>
                  </a:tcPr>
                </a:tc>
                <a:tc>
                  <a:txBody>
                    <a:bodyPr/>
                    <a:lstStyle/>
                    <a:p>
                      <a:pPr algn="ctr" indent="0" marL="0">
                        <a:buNone/>
                      </a:pPr>
                      <a:r>
                        <a:rPr lang="en-US" sz="1050" dirty="0">
                          <a:solidFill>
                            <a:srgbClr val="FFFFFF"/>
                          </a:solidFill>
                        </a:rPr>
                        <a:t>0.919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35935"/>
                    </a:solidFill>
                  </a:tcPr>
                </a:tc>
                <a:tc>
                  <a:txBody>
                    <a:bodyPr/>
                    <a:lstStyle/>
                    <a:p>
                      <a:pPr algn="ctr" indent="0" marL="0">
                        <a:buNone/>
                      </a:pPr>
                      <a:r>
                        <a:rPr lang="en-US" sz="1050" dirty="0">
                          <a:solidFill>
                            <a:srgbClr val="1A1A1A"/>
                          </a:solidFill>
                        </a:rPr>
                        <a:t>0.706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96D391"/>
                    </a:solidFill>
                  </a:tcPr>
                </a:tc>
                <a:tc>
                  <a:txBody>
                    <a:bodyPr/>
                    <a:lstStyle/>
                    <a:p>
                      <a:pPr algn="ctr" indent="0" marL="0">
                        <a:buNone/>
                      </a:pPr>
                      <a:r>
                        <a:rPr lang="en-US" sz="1050" dirty="0">
                          <a:solidFill>
                            <a:srgbClr val="FFFFFF"/>
                          </a:solidFill>
                        </a:rPr>
                        <a:t>0.879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B7346"/>
                    </a:solidFill>
                  </a:tcPr>
                </a:tc>
                <a:tc>
                  <a:txBody>
                    <a:bodyPr/>
                    <a:lstStyle/>
                    <a:p>
                      <a:pPr algn="ctr" indent="0" marL="0">
                        <a:buNone/>
                      </a:pPr>
                      <a:r>
                        <a:rPr lang="en-US" sz="1050" dirty="0">
                          <a:solidFill>
                            <a:srgbClr val="FFFFFF"/>
                          </a:solidFill>
                        </a:rPr>
                        <a:t>0.914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65C37"/>
                    </a:solidFill>
                  </a:tcPr>
                </a:tc>
                <a:tc>
                  <a:txBody>
                    <a:bodyPr/>
                    <a:lstStyle/>
                    <a:p>
                      <a:pPr algn="ctr" indent="0" marL="0">
                        <a:buNone/>
                      </a:pPr>
                      <a:r>
                        <a:rPr lang="en-US" sz="1050" dirty="0">
                          <a:solidFill>
                            <a:srgbClr val="1A1A1A"/>
                          </a:solidFill>
                        </a:rPr>
                        <a:t>0.663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3DFA8"/>
                    </a:solidFill>
                  </a:tcPr>
                </a:tc>
                <a:tc>
                  <a:txBody>
                    <a:bodyPr/>
                    <a:lstStyle/>
                    <a:p>
                      <a:pPr algn="ctr" indent="0" marL="0">
                        <a:buNone/>
                      </a:pPr>
                      <a:r>
                        <a:rPr lang="en-US" sz="1050" dirty="0">
                          <a:solidFill>
                            <a:srgbClr val="1A1A1A"/>
                          </a:solidFill>
                        </a:rPr>
                        <a:t>0.765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FBC73"/>
                    </a:solidFill>
                  </a:tcPr>
                </a:tc>
                <a:tc>
                  <a:txBody>
                    <a:bodyPr/>
                    <a:lstStyle/>
                    <a:p>
                      <a:pPr algn="ctr" indent="0" marL="0">
                        <a:buNone/>
                      </a:pPr>
                      <a:r>
                        <a:rPr lang="en-US" sz="1050" dirty="0">
                          <a:solidFill>
                            <a:srgbClr val="FFFFFF"/>
                          </a:solidFill>
                        </a:rPr>
                        <a:t>0.903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C633C"/>
                    </a:solidFill>
                  </a:tcPr>
                </a:tc>
                <a:tc>
                  <a:txBody>
                    <a:bodyPr/>
                    <a:lstStyle/>
                    <a:p>
                      <a:pPr algn="ctr" indent="0" marL="0">
                        <a:buNone/>
                      </a:pPr>
                      <a:r>
                        <a:rPr lang="en-US" sz="1050" dirty="0">
                          <a:solidFill>
                            <a:srgbClr val="FFFFFF"/>
                          </a:solidFill>
                        </a:rPr>
                        <a:t>0.852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B8450"/>
                    </a:solidFill>
                  </a:tcPr>
                </a:tc>
              </a:tr>
              <a:tr h="393192">
                <a:tc>
                  <a:txBody>
                    <a:bodyPr/>
                    <a:lstStyle/>
                    <a:p>
                      <a:pPr algn="l" indent="0" marL="0">
                        <a:buNone/>
                      </a:pPr>
                      <a:r>
                        <a:rPr lang="en-US" sz="1000" dirty="0">
                          <a:solidFill>
                            <a:srgbClr val="1A1A1A"/>
                          </a:solidFill>
                        </a:rPr>
                        <a:t>S2 F1 Bands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1A1A1A"/>
                          </a:solidFill>
                        </a:rPr>
                        <a:t>0.665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7"/>
                    </a:solidFill>
                  </a:tcPr>
                </a:tc>
                <a:tc>
                  <a:txBody>
                    <a:bodyPr/>
                    <a:lstStyle/>
                    <a:p>
                      <a:pPr algn="ctr" indent="0" marL="0">
                        <a:buNone/>
                      </a:pPr>
                      <a:r>
                        <a:rPr lang="en-US" sz="1050" dirty="0">
                          <a:solidFill>
                            <a:srgbClr val="1A1A1A"/>
                          </a:solidFill>
                        </a:rPr>
                        <a:t>0.664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2DFA8"/>
                    </a:solidFill>
                  </a:tcPr>
                </a:tc>
                <a:tc>
                  <a:txBody>
                    <a:bodyPr/>
                    <a:lstStyle/>
                    <a:p>
                      <a:pPr algn="ctr" indent="0" marL="0">
                        <a:buNone/>
                      </a:pPr>
                      <a:r>
                        <a:rPr lang="en-US" sz="1050" dirty="0">
                          <a:solidFill>
                            <a:srgbClr val="1A1A1A"/>
                          </a:solidFill>
                        </a:rPr>
                        <a:t>0.666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7"/>
                    </a:solidFill>
                  </a:tcPr>
                </a:tc>
                <a:tc>
                  <a:txBody>
                    <a:bodyPr/>
                    <a:lstStyle/>
                    <a:p>
                      <a:pPr algn="ctr" indent="0" marL="0">
                        <a:buNone/>
                      </a:pPr>
                      <a:r>
                        <a:rPr lang="en-US" sz="1050" dirty="0">
                          <a:solidFill>
                            <a:srgbClr val="1A1A1A"/>
                          </a:solidFill>
                        </a:rPr>
                        <a:t>0.616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2ECC1"/>
                    </a:solidFill>
                  </a:tcPr>
                </a:tc>
                <a:tc>
                  <a:txBody>
                    <a:bodyPr/>
                    <a:lstStyle/>
                    <a:p>
                      <a:pPr algn="ctr" indent="0" marL="0">
                        <a:buNone/>
                      </a:pPr>
                      <a:r>
                        <a:rPr lang="en-US" sz="1050" dirty="0">
                          <a:solidFill>
                            <a:srgbClr val="1A1A1A"/>
                          </a:solidFill>
                        </a:rPr>
                        <a:t>0.666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6"/>
                    </a:solidFill>
                  </a:tcPr>
                </a:tc>
                <a:tc>
                  <a:txBody>
                    <a:bodyPr/>
                    <a:lstStyle/>
                    <a:p>
                      <a:pPr algn="ctr" indent="0" marL="0">
                        <a:buNone/>
                      </a:pPr>
                      <a:r>
                        <a:rPr lang="en-US" sz="1050" dirty="0">
                          <a:solidFill>
                            <a:srgbClr val="1A1A1A"/>
                          </a:solidFill>
                        </a:rPr>
                        <a:t>0.666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6"/>
                    </a:solidFill>
                  </a:tcPr>
                </a:tc>
                <a:tc>
                  <a:txBody>
                    <a:bodyPr/>
                    <a:lstStyle/>
                    <a:p>
                      <a:pPr algn="ctr" indent="0" marL="0">
                        <a:buNone/>
                      </a:pPr>
                      <a:r>
                        <a:rPr lang="en-US" sz="1050" dirty="0">
                          <a:solidFill>
                            <a:srgbClr val="1A1A1A"/>
                          </a:solidFill>
                        </a:rPr>
                        <a:t>0.591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3F3CF"/>
                    </a:solidFill>
                  </a:tcPr>
                </a:tc>
                <a:tc>
                  <a:txBody>
                    <a:bodyPr/>
                    <a:lstStyle/>
                    <a:p>
                      <a:pPr algn="ctr" indent="0" marL="0">
                        <a:buNone/>
                      </a:pPr>
                      <a:r>
                        <a:rPr lang="en-US" sz="1050" dirty="0">
                          <a:solidFill>
                            <a:srgbClr val="1A1A1A"/>
                          </a:solidFill>
                        </a:rPr>
                        <a:t>0.646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EE4B1"/>
                    </a:solidFill>
                  </a:tcPr>
                </a:tc>
                <a:tc>
                  <a:txBody>
                    <a:bodyPr/>
                    <a:lstStyle/>
                    <a:p>
                      <a:pPr algn="ctr" indent="0" marL="0">
                        <a:buNone/>
                      </a:pPr>
                      <a:r>
                        <a:rPr lang="en-US" sz="1050" dirty="0">
                          <a:solidFill>
                            <a:srgbClr val="1A1A1A"/>
                          </a:solidFill>
                        </a:rPr>
                        <a:t>0.665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7"/>
                    </a:solidFill>
                  </a:tcPr>
                </a:tc>
                <a:tc>
                  <a:txBody>
                    <a:bodyPr/>
                    <a:lstStyle/>
                    <a:p>
                      <a:pPr algn="ctr" indent="0" marL="0">
                        <a:buNone/>
                      </a:pPr>
                      <a:r>
                        <a:rPr lang="en-US" sz="1050" dirty="0">
                          <a:solidFill>
                            <a:srgbClr val="1A1A1A"/>
                          </a:solidFill>
                        </a:rPr>
                        <a:t>0.664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2DFA8"/>
                    </a:solidFill>
                  </a:tcPr>
                </a:tc>
              </a:tr>
              <a:tr h="393192">
                <a:tc>
                  <a:txBody>
                    <a:bodyPr/>
                    <a:lstStyle/>
                    <a:p>
                      <a:pPr algn="l" indent="0" marL="0">
                        <a:buNone/>
                      </a:pPr>
                      <a:r>
                        <a:rPr lang="en-US" sz="1000" dirty="0">
                          <a:solidFill>
                            <a:srgbClr val="1A1A1A"/>
                          </a:solidFill>
                        </a:rPr>
                        <a:t>S3 F2 Vegetation indices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1A1A1A"/>
                          </a:solidFill>
                        </a:rPr>
                        <a:t>0.641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2E5B4"/>
                    </a:solidFill>
                  </a:tcPr>
                </a:tc>
                <a:tc>
                  <a:txBody>
                    <a:bodyPr/>
                    <a:lstStyle/>
                    <a:p>
                      <a:pPr algn="ctr" indent="0" marL="0">
                        <a:buNone/>
                      </a:pPr>
                      <a:r>
                        <a:rPr lang="en-US" sz="1050" dirty="0">
                          <a:solidFill>
                            <a:srgbClr val="1A1A1A"/>
                          </a:solidFill>
                        </a:rPr>
                        <a:t>0.639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3E6B5"/>
                    </a:solidFill>
                  </a:tcPr>
                </a:tc>
                <a:tc>
                  <a:txBody>
                    <a:bodyPr/>
                    <a:lstStyle/>
                    <a:p>
                      <a:pPr algn="ctr" indent="0" marL="0">
                        <a:buNone/>
                      </a:pPr>
                      <a:r>
                        <a:rPr lang="en-US" sz="1050" dirty="0">
                          <a:solidFill>
                            <a:srgbClr val="1A1A1A"/>
                          </a:solidFill>
                        </a:rPr>
                        <a:t>0.640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2E5B4"/>
                    </a:solidFill>
                  </a:tcPr>
                </a:tc>
                <a:tc>
                  <a:txBody>
                    <a:bodyPr/>
                    <a:lstStyle/>
                    <a:p>
                      <a:pPr algn="ctr" indent="0" marL="0">
                        <a:buNone/>
                      </a:pPr>
                      <a:r>
                        <a:rPr lang="en-US" sz="1050" dirty="0">
                          <a:solidFill>
                            <a:srgbClr val="1A1A1A"/>
                          </a:solidFill>
                        </a:rPr>
                        <a:t>0.640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2E5B4"/>
                    </a:solidFill>
                  </a:tcPr>
                </a:tc>
                <a:tc>
                  <a:txBody>
                    <a:bodyPr/>
                    <a:lstStyle/>
                    <a:p>
                      <a:pPr algn="ctr" indent="0" marL="0">
                        <a:buNone/>
                      </a:pPr>
                      <a:r>
                        <a:rPr lang="en-US" sz="1050" dirty="0">
                          <a:solidFill>
                            <a:srgbClr val="1A1A1A"/>
                          </a:solidFill>
                        </a:rPr>
                        <a:t>0.666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6"/>
                    </a:solidFill>
                  </a:tcPr>
                </a:tc>
                <a:tc>
                  <a:txBody>
                    <a:bodyPr/>
                    <a:lstStyle/>
                    <a:p>
                      <a:pPr algn="ctr" indent="0" marL="0">
                        <a:buNone/>
                      </a:pPr>
                      <a:r>
                        <a:rPr lang="en-US" sz="1050" dirty="0">
                          <a:solidFill>
                            <a:srgbClr val="1A1A1A"/>
                          </a:solidFill>
                        </a:rPr>
                        <a:t>0.662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3DFA8"/>
                    </a:solidFill>
                  </a:tcPr>
                </a:tc>
                <a:tc>
                  <a:txBody>
                    <a:bodyPr/>
                    <a:lstStyle/>
                    <a:p>
                      <a:pPr algn="ctr" indent="0" marL="0">
                        <a:buNone/>
                      </a:pPr>
                      <a:r>
                        <a:rPr lang="en-US" sz="1050" dirty="0">
                          <a:solidFill>
                            <a:srgbClr val="1A1A1A"/>
                          </a:solidFill>
                        </a:rPr>
                        <a:t>0.601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CF0C9"/>
                    </a:solidFill>
                  </a:tcPr>
                </a:tc>
                <a:tc>
                  <a:txBody>
                    <a:bodyPr/>
                    <a:lstStyle/>
                    <a:p>
                      <a:pPr algn="ctr" indent="0" marL="0">
                        <a:buNone/>
                      </a:pPr>
                      <a:r>
                        <a:rPr lang="en-US" sz="1050" dirty="0">
                          <a:solidFill>
                            <a:srgbClr val="1A1A1A"/>
                          </a:solidFill>
                        </a:rPr>
                        <a:t>0.655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8E1AC"/>
                    </a:solidFill>
                  </a:tcPr>
                </a:tc>
                <a:tc>
                  <a:txBody>
                    <a:bodyPr/>
                    <a:lstStyle/>
                    <a:p>
                      <a:pPr algn="ctr" indent="0" marL="0">
                        <a:buNone/>
                      </a:pPr>
                      <a:r>
                        <a:rPr lang="en-US" sz="1050" dirty="0">
                          <a:solidFill>
                            <a:srgbClr val="1A1A1A"/>
                          </a:solidFill>
                        </a:rPr>
                        <a:t>0.668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AFDDA5"/>
                    </a:solidFill>
                  </a:tcPr>
                </a:tc>
                <a:tc>
                  <a:txBody>
                    <a:bodyPr/>
                    <a:lstStyle/>
                    <a:p>
                      <a:pPr algn="ctr" indent="0" marL="0">
                        <a:buNone/>
                      </a:pPr>
                      <a:r>
                        <a:rPr lang="en-US" sz="1050" dirty="0">
                          <a:solidFill>
                            <a:srgbClr val="1A1A1A"/>
                          </a:solidFill>
                        </a:rPr>
                        <a:t>0.658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6E0AB"/>
                    </a:solidFill>
                  </a:tcPr>
                </a:tc>
              </a:tr>
              <a:tr h="393192">
                <a:tc>
                  <a:txBody>
                    <a:bodyPr/>
                    <a:lstStyle/>
                    <a:p>
                      <a:pPr algn="l" indent="0" marL="0">
                        <a:buNone/>
                      </a:pPr>
                      <a:r>
                        <a:rPr lang="en-US" sz="1000" dirty="0">
                          <a:solidFill>
                            <a:srgbClr val="1A1A1A"/>
                          </a:solidFill>
                        </a:rPr>
                        <a:t>S4 F3 Novel NDSI (in-fold top-3)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1A1A1A"/>
                          </a:solidFill>
                        </a:rPr>
                        <a:t>0.794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DA967"/>
                    </a:solidFill>
                  </a:tcPr>
                </a:tc>
                <a:tc>
                  <a:txBody>
                    <a:bodyPr/>
                    <a:lstStyle/>
                    <a:p>
                      <a:pPr algn="ctr" indent="0" marL="0">
                        <a:buNone/>
                      </a:pPr>
                      <a:r>
                        <a:rPr lang="en-US" sz="1050" dirty="0">
                          <a:solidFill>
                            <a:srgbClr val="1A1A1A"/>
                          </a:solidFill>
                        </a:rPr>
                        <a:t>0.794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EAA68"/>
                    </a:solidFill>
                  </a:tcPr>
                </a:tc>
                <a:tc>
                  <a:txBody>
                    <a:bodyPr/>
                    <a:lstStyle/>
                    <a:p>
                      <a:pPr algn="ctr" indent="0" marL="0">
                        <a:buNone/>
                      </a:pPr>
                      <a:r>
                        <a:rPr lang="en-US" sz="1050" dirty="0">
                          <a:solidFill>
                            <a:srgbClr val="FFFFFF"/>
                          </a:solidFill>
                        </a:rPr>
                        <a:t>0.807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6A162"/>
                    </a:solidFill>
                  </a:tcPr>
                </a:tc>
                <a:tc>
                  <a:txBody>
                    <a:bodyPr/>
                    <a:lstStyle/>
                    <a:p>
                      <a:pPr algn="ctr" indent="0" marL="0">
                        <a:buNone/>
                      </a:pPr>
                      <a:r>
                        <a:rPr lang="en-US" sz="1050" dirty="0">
                          <a:solidFill>
                            <a:srgbClr val="FFFFFF"/>
                          </a:solidFill>
                        </a:rPr>
                        <a:t>0.800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AA665"/>
                    </a:solidFill>
                  </a:tcPr>
                </a:tc>
                <a:tc>
                  <a:txBody>
                    <a:bodyPr/>
                    <a:lstStyle/>
                    <a:p>
                      <a:pPr algn="ctr" indent="0" marL="0">
                        <a:buNone/>
                      </a:pPr>
                      <a:r>
                        <a:rPr lang="en-US" sz="1050" dirty="0">
                          <a:solidFill>
                            <a:srgbClr val="FFFFFF"/>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E985D"/>
                    </a:solidFill>
                  </a:tcPr>
                </a:tc>
                <a:tc>
                  <a:txBody>
                    <a:bodyPr/>
                    <a:lstStyle/>
                    <a:p>
                      <a:pPr algn="ctr" indent="0" marL="0">
                        <a:buNone/>
                      </a:pPr>
                      <a:r>
                        <a:rPr lang="en-US" sz="1050" dirty="0">
                          <a:solidFill>
                            <a:srgbClr val="FFFFFF"/>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D"/>
                    </a:solidFill>
                  </a:tcPr>
                </a:tc>
                <a:tc>
                  <a:txBody>
                    <a:bodyPr/>
                    <a:lstStyle/>
                    <a:p>
                      <a:pPr algn="ctr" indent="0" marL="0">
                        <a:buNone/>
                      </a:pPr>
                      <a:r>
                        <a:rPr lang="en-US" sz="1050" dirty="0">
                          <a:solidFill>
                            <a:srgbClr val="1A1A1A"/>
                          </a:solidFill>
                        </a:rPr>
                        <a:t>0.778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7B46E"/>
                    </a:solidFill>
                  </a:tcPr>
                </a:tc>
                <a:tc>
                  <a:txBody>
                    <a:bodyPr/>
                    <a:lstStyle/>
                    <a:p>
                      <a:pPr algn="ctr" indent="0" marL="0">
                        <a:buNone/>
                      </a:pPr>
                      <a:r>
                        <a:rPr lang="en-US" sz="1050" dirty="0">
                          <a:solidFill>
                            <a:srgbClr val="FFFFFF"/>
                          </a:solidFill>
                        </a:rPr>
                        <a:t>0.802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9A564"/>
                    </a:solidFill>
                  </a:tcPr>
                </a:tc>
                <a:tc>
                  <a:txBody>
                    <a:bodyPr/>
                    <a:lstStyle/>
                    <a:p>
                      <a:pPr algn="ctr" indent="0" marL="0">
                        <a:buNone/>
                      </a:pPr>
                      <a:r>
                        <a:rPr lang="en-US" sz="1050" dirty="0">
                          <a:solidFill>
                            <a:srgbClr val="FFFFFF"/>
                          </a:solidFill>
                        </a:rPr>
                        <a:t>0.824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C975C"/>
                    </a:solidFill>
                  </a:tcPr>
                </a:tc>
                <a:tc>
                  <a:txBody>
                    <a:bodyPr/>
                    <a:lstStyle/>
                    <a:p>
                      <a:pPr algn="ctr" indent="0" marL="0">
                        <a:buNone/>
                      </a:pPr>
                      <a:r>
                        <a:rPr lang="en-US" sz="1050" dirty="0">
                          <a:solidFill>
                            <a:srgbClr val="FFFFFF"/>
                          </a:solidFill>
                        </a:rPr>
                        <a:t>0.808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5A062"/>
                    </a:solidFill>
                  </a:tcPr>
                </a:tc>
              </a:tr>
              <a:tr h="393192">
                <a:tc>
                  <a:txBody>
                    <a:bodyPr/>
                    <a:lstStyle/>
                    <a:p>
                      <a:pPr algn="l" indent="0" marL="0">
                        <a:buNone/>
                      </a:pPr>
                      <a:r>
                        <a:rPr lang="en-US" sz="1000" dirty="0">
                          <a:solidFill>
                            <a:srgbClr val="1A1A1A"/>
                          </a:solidFill>
                        </a:rPr>
                        <a:t>S5 F4 Derivative features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FFFFFF"/>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D"/>
                    </a:solidFill>
                  </a:tcPr>
                </a:tc>
                <a:tc>
                  <a:txBody>
                    <a:bodyPr/>
                    <a:lstStyle/>
                    <a:p>
                      <a:pPr algn="ctr" indent="0" marL="0">
                        <a:buNone/>
                      </a:pPr>
                      <a:r>
                        <a:rPr lang="en-US" sz="1050" dirty="0">
                          <a:solidFill>
                            <a:srgbClr val="FFFFFF"/>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E985D"/>
                    </a:solidFill>
                  </a:tcPr>
                </a:tc>
                <a:tc>
                  <a:txBody>
                    <a:bodyPr/>
                    <a:lstStyle/>
                    <a:p>
                      <a:pPr algn="ctr" indent="0" marL="0">
                        <a:buNone/>
                      </a:pPr>
                      <a:r>
                        <a:rPr lang="en-US" sz="1050" dirty="0">
                          <a:solidFill>
                            <a:srgbClr val="FFFFFF"/>
                          </a:solidFill>
                        </a:rPr>
                        <a:t>0.819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F9A5E"/>
                    </a:solidFill>
                  </a:tcPr>
                </a:tc>
                <a:tc>
                  <a:txBody>
                    <a:bodyPr/>
                    <a:lstStyle/>
                    <a:p>
                      <a:pPr algn="ctr" indent="0" marL="0">
                        <a:buNone/>
                      </a:pPr>
                      <a:r>
                        <a:rPr lang="en-US" sz="1050" dirty="0">
                          <a:solidFill>
                            <a:srgbClr val="1A1A1A"/>
                          </a:solidFill>
                        </a:rPr>
                        <a:t>0.794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EAA67"/>
                    </a:solidFill>
                  </a:tcPr>
                </a:tc>
                <a:tc>
                  <a:txBody>
                    <a:bodyPr/>
                    <a:lstStyle/>
                    <a:p>
                      <a:pPr algn="ctr" indent="0" marL="0">
                        <a:buNone/>
                      </a:pPr>
                      <a:r>
                        <a:rPr lang="en-US" sz="1050" dirty="0">
                          <a:solidFill>
                            <a:srgbClr val="FFFFFF"/>
                          </a:solidFill>
                        </a:rPr>
                        <a:t>0.832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79158"/>
                    </a:solidFill>
                  </a:tcPr>
                </a:tc>
                <a:tc>
                  <a:txBody>
                    <a:bodyPr/>
                    <a:lstStyle/>
                    <a:p>
                      <a:pPr algn="ctr" indent="0" marL="0">
                        <a:buNone/>
                      </a:pPr>
                      <a:r>
                        <a:rPr lang="en-US" sz="1050" dirty="0">
                          <a:solidFill>
                            <a:srgbClr val="FFFFFF"/>
                          </a:solidFill>
                        </a:rPr>
                        <a:t>0.832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79158"/>
                    </a:solidFill>
                  </a:tcPr>
                </a:tc>
                <a:tc>
                  <a:txBody>
                    <a:bodyPr/>
                    <a:lstStyle/>
                    <a:p>
                      <a:pPr algn="ctr" indent="0" marL="0">
                        <a:buNone/>
                      </a:pPr>
                      <a:r>
                        <a:rPr lang="en-US" sz="1050" dirty="0">
                          <a:solidFill>
                            <a:srgbClr val="1A1A1A"/>
                          </a:solidFill>
                        </a:rPr>
                        <a:t>0.784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3B06B"/>
                    </a:solidFill>
                  </a:tcPr>
                </a:tc>
                <a:tc>
                  <a:txBody>
                    <a:bodyPr/>
                    <a:lstStyle/>
                    <a:p>
                      <a:pPr algn="ctr" indent="0" marL="0">
                        <a:buNone/>
                      </a:pPr>
                      <a:r>
                        <a:rPr lang="en-US" sz="1050" dirty="0">
                          <a:solidFill>
                            <a:srgbClr val="FFFFFF"/>
                          </a:solidFill>
                        </a:rPr>
                        <a:t>0.819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F995D"/>
                    </a:solidFill>
                  </a:tcPr>
                </a:tc>
                <a:tc>
                  <a:txBody>
                    <a:bodyPr/>
                    <a:lstStyle/>
                    <a:p>
                      <a:pPr algn="ctr" indent="0" marL="0">
                        <a:buNone/>
                      </a:pPr>
                      <a:r>
                        <a:rPr lang="en-US" sz="1050" dirty="0">
                          <a:solidFill>
                            <a:srgbClr val="FFFFFF"/>
                          </a:solidFill>
                        </a:rPr>
                        <a:t>0.832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79158"/>
                    </a:solidFill>
                  </a:tcPr>
                </a:tc>
                <a:tc>
                  <a:txBody>
                    <a:bodyPr/>
                    <a:lstStyle/>
                    <a:p>
                      <a:pPr algn="ctr" indent="0" marL="0">
                        <a:buNone/>
                      </a:pPr>
                      <a:r>
                        <a:rPr lang="en-US" sz="1050" dirty="0">
                          <a:solidFill>
                            <a:srgbClr val="FFFFFF"/>
                          </a:solidFill>
                        </a:rPr>
                        <a:t>0.822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C"/>
                    </a:solidFill>
                  </a:tcPr>
                </a:tc>
              </a:tr>
              <a:tr h="393192">
                <a:tc>
                  <a:txBody>
                    <a:bodyPr/>
                    <a:lstStyle/>
                    <a:p>
                      <a:pPr algn="l" indent="0" marL="0">
                        <a:buNone/>
                      </a:pPr>
                      <a:r>
                        <a:rPr lang="en-US" sz="1000" dirty="0">
                          <a:solidFill>
                            <a:srgbClr val="1A1A1A"/>
                          </a:solidFill>
                        </a:rPr>
                        <a:t>S6 F5 Continuum removal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1A1A1A"/>
                          </a:solidFill>
                        </a:rPr>
                        <a:t>0.758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3C176"/>
                    </a:solidFill>
                  </a:tcPr>
                </a:tc>
                <a:tc>
                  <a:txBody>
                    <a:bodyPr/>
                    <a:lstStyle/>
                    <a:p>
                      <a:pPr algn="ctr" indent="0" marL="0">
                        <a:buNone/>
                      </a:pPr>
                      <a:r>
                        <a:rPr lang="en-US" sz="1050" dirty="0">
                          <a:solidFill>
                            <a:srgbClr val="1A1A1A"/>
                          </a:solidFill>
                        </a:rPr>
                        <a:t>0.757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4C276"/>
                    </a:solidFill>
                  </a:tcPr>
                </a:tc>
                <a:tc>
                  <a:txBody>
                    <a:bodyPr/>
                    <a:lstStyle/>
                    <a:p>
                      <a:pPr algn="ctr" indent="0" marL="0">
                        <a:buNone/>
                      </a:pPr>
                      <a:r>
                        <a:rPr lang="en-US" sz="1050" dirty="0">
                          <a:solidFill>
                            <a:srgbClr val="1A1A1A"/>
                          </a:solidFill>
                        </a:rPr>
                        <a:t>0.757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4C176"/>
                    </a:solidFill>
                  </a:tcPr>
                </a:tc>
                <a:tc>
                  <a:txBody>
                    <a:bodyPr/>
                    <a:lstStyle/>
                    <a:p>
                      <a:pPr algn="ctr" indent="0" marL="0">
                        <a:buNone/>
                      </a:pPr>
                      <a:r>
                        <a:rPr lang="en-US" sz="1050" dirty="0">
                          <a:solidFill>
                            <a:srgbClr val="1A1A1A"/>
                          </a:solidFill>
                        </a:rPr>
                        <a:t>0.738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0C980"/>
                    </a:solidFill>
                  </a:tcPr>
                </a:tc>
                <a:tc>
                  <a:txBody>
                    <a:bodyPr/>
                    <a:lstStyle/>
                    <a:p>
                      <a:pPr algn="ctr" indent="0" marL="0">
                        <a:buNone/>
                      </a:pPr>
                      <a:r>
                        <a:rPr lang="en-US" sz="1050" dirty="0">
                          <a:solidFill>
                            <a:srgbClr val="1A1A1A"/>
                          </a:solidFill>
                        </a:rPr>
                        <a:t>0.778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7B46E"/>
                    </a:solidFill>
                  </a:tcPr>
                </a:tc>
                <a:tc>
                  <a:txBody>
                    <a:bodyPr/>
                    <a:lstStyle/>
                    <a:p>
                      <a:pPr algn="ctr" indent="0" marL="0">
                        <a:buNone/>
                      </a:pPr>
                      <a:r>
                        <a:rPr lang="en-US" sz="1050" dirty="0">
                          <a:solidFill>
                            <a:srgbClr val="1A1A1A"/>
                          </a:solidFill>
                        </a:rPr>
                        <a:t>0.784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4B06B"/>
                    </a:solidFill>
                  </a:tcPr>
                </a:tc>
                <a:tc>
                  <a:txBody>
                    <a:bodyPr/>
                    <a:lstStyle/>
                    <a:p>
                      <a:pPr algn="ctr" indent="0" marL="0">
                        <a:buNone/>
                      </a:pPr>
                      <a:r>
                        <a:rPr lang="en-US" sz="1050" dirty="0">
                          <a:solidFill>
                            <a:srgbClr val="1A1A1A"/>
                          </a:solidFill>
                        </a:rPr>
                        <a:t>0.758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3C176"/>
                    </a:solidFill>
                  </a:tcPr>
                </a:tc>
                <a:tc>
                  <a:txBody>
                    <a:bodyPr/>
                    <a:lstStyle/>
                    <a:p>
                      <a:pPr algn="ctr" indent="0" marL="0">
                        <a:buNone/>
                      </a:pPr>
                      <a:r>
                        <a:rPr lang="en-US" sz="1050" dirty="0">
                          <a:solidFill>
                            <a:srgbClr val="1A1A1A"/>
                          </a:solidFill>
                        </a:rPr>
                        <a:t>0.768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DBA72"/>
                    </a:solidFill>
                  </a:tcPr>
                </a:tc>
                <a:tc>
                  <a:txBody>
                    <a:bodyPr/>
                    <a:lstStyle/>
                    <a:p>
                      <a:pPr algn="ctr" indent="0" marL="0">
                        <a:buNone/>
                      </a:pPr>
                      <a:r>
                        <a:rPr lang="en-US" sz="1050" dirty="0">
                          <a:solidFill>
                            <a:srgbClr val="1A1A1A"/>
                          </a:solidFill>
                        </a:rPr>
                        <a:t>0.778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7B46E"/>
                    </a:solidFill>
                  </a:tcPr>
                </a:tc>
                <a:tc>
                  <a:txBody>
                    <a:bodyPr/>
                    <a:lstStyle/>
                    <a:p>
                      <a:pPr algn="ctr" indent="0" marL="0">
                        <a:buNone/>
                      </a:pPr>
                      <a:r>
                        <a:rPr lang="en-US" sz="1050" dirty="0">
                          <a:solidFill>
                            <a:srgbClr val="1A1A1A"/>
                          </a:solidFill>
                        </a:rPr>
                        <a:t>0.765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FBC73"/>
                    </a:solidFill>
                  </a:tcPr>
                </a:tc>
              </a:tr>
              <a:tr h="393192">
                <a:tc>
                  <a:txBody>
                    <a:bodyPr/>
                    <a:lstStyle/>
                    <a:p>
                      <a:pPr algn="l" indent="0" marL="0">
                        <a:buNone/>
                      </a:pPr>
                      <a:r>
                        <a:rPr lang="en-US" sz="1000" dirty="0">
                          <a:solidFill>
                            <a:srgbClr val="1A1A1A"/>
                          </a:solidFill>
                        </a:rPr>
                        <a:t>S7 F6 Wavelet (CWT)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FFFFFF"/>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D"/>
                    </a:solidFill>
                  </a:tcPr>
                </a:tc>
                <a:tc>
                  <a:txBody>
                    <a:bodyPr/>
                    <a:lstStyle/>
                    <a:p>
                      <a:pPr algn="ctr" indent="0" marL="0">
                        <a:buNone/>
                      </a:pPr>
                      <a:r>
                        <a:rPr lang="en-US" sz="1050" dirty="0">
                          <a:solidFill>
                            <a:srgbClr val="FFFFFF"/>
                          </a:solidFill>
                        </a:rPr>
                        <a:t>0.819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F9A5E"/>
                    </a:solidFill>
                  </a:tcPr>
                </a:tc>
                <a:tc>
                  <a:txBody>
                    <a:bodyPr/>
                    <a:lstStyle/>
                    <a:p>
                      <a:pPr algn="ctr" indent="0" marL="0">
                        <a:buNone/>
                      </a:pPr>
                      <a:r>
                        <a:rPr lang="en-US" sz="1050" dirty="0">
                          <a:solidFill>
                            <a:srgbClr val="FFFFFF"/>
                          </a:solidFill>
                        </a:rPr>
                        <a:t>0.836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48E57"/>
                    </a:solidFill>
                  </a:tcPr>
                </a:tc>
                <a:tc>
                  <a:txBody>
                    <a:bodyPr/>
                    <a:lstStyle/>
                    <a:p>
                      <a:pPr algn="ctr" indent="0" marL="0">
                        <a:buNone/>
                      </a:pPr>
                      <a:r>
                        <a:rPr lang="en-US" sz="1050" dirty="0">
                          <a:solidFill>
                            <a:srgbClr val="FFFFFF"/>
                          </a:solidFill>
                        </a:rPr>
                        <a:t>0.866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27B4B"/>
                    </a:solidFill>
                  </a:tcPr>
                </a:tc>
                <a:tc>
                  <a:txBody>
                    <a:bodyPr/>
                    <a:lstStyle/>
                    <a:p>
                      <a:pPr algn="ctr" indent="0" marL="0">
                        <a:buNone/>
                      </a:pPr>
                      <a:r>
                        <a:rPr lang="en-US" sz="1050" dirty="0">
                          <a:solidFill>
                            <a:srgbClr val="FFFFFF"/>
                          </a:solidFill>
                        </a:rPr>
                        <a:t>0.876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C7547"/>
                    </a:solidFill>
                  </a:tcPr>
                </a:tc>
                <a:tc>
                  <a:txBody>
                    <a:bodyPr/>
                    <a:lstStyle/>
                    <a:p>
                      <a:pPr algn="ctr" indent="0" marL="0">
                        <a:buNone/>
                      </a:pPr>
                      <a:r>
                        <a:rPr lang="en-US" sz="1050" dirty="0">
                          <a:solidFill>
                            <a:srgbClr val="FFFFFF"/>
                          </a:solidFill>
                        </a:rPr>
                        <a:t>0.877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C7446"/>
                    </a:solidFill>
                  </a:tcPr>
                </a:tc>
                <a:tc>
                  <a:txBody>
                    <a:bodyPr/>
                    <a:lstStyle/>
                    <a:p>
                      <a:pPr algn="ctr" indent="0" marL="0">
                        <a:buNone/>
                      </a:pPr>
                      <a:r>
                        <a:rPr lang="en-US" sz="1050" dirty="0">
                          <a:solidFill>
                            <a:srgbClr val="FFFFFF"/>
                          </a:solidFill>
                        </a:rPr>
                        <a:t>0.840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28C55"/>
                    </a:solidFill>
                  </a:tcPr>
                </a:tc>
                <a:tc>
                  <a:txBody>
                    <a:bodyPr/>
                    <a:lstStyle/>
                    <a:p>
                      <a:pPr algn="ctr" indent="0" marL="0">
                        <a:buNone/>
                      </a:pPr>
                      <a:r>
                        <a:rPr lang="en-US" sz="1050" dirty="0">
                          <a:solidFill>
                            <a:srgbClr val="FFFFFF"/>
                          </a:solidFill>
                        </a:rPr>
                        <a:t>0.862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57E4C"/>
                    </a:solidFill>
                  </a:tcPr>
                </a:tc>
                <a:tc>
                  <a:txBody>
                    <a:bodyPr/>
                    <a:lstStyle/>
                    <a:p>
                      <a:pPr algn="ctr" indent="0" marL="0">
                        <a:buNone/>
                      </a:pPr>
                      <a:r>
                        <a:rPr lang="en-US" sz="1050" dirty="0">
                          <a:solidFill>
                            <a:srgbClr val="FFFFFF"/>
                          </a:solidFill>
                        </a:rPr>
                        <a:t>0.877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C7446"/>
                    </a:solidFill>
                  </a:tcPr>
                </a:tc>
                <a:tc>
                  <a:txBody>
                    <a:bodyPr/>
                    <a:lstStyle/>
                    <a:p>
                      <a:pPr algn="ctr" indent="0" marL="0">
                        <a:buNone/>
                      </a:pPr>
                      <a:r>
                        <a:rPr lang="en-US" sz="1050" dirty="0">
                          <a:solidFill>
                            <a:srgbClr val="FFFFFF"/>
                          </a:solidFill>
                        </a:rPr>
                        <a:t>0.869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17A4A"/>
                    </a:solidFill>
                  </a:tcPr>
                </a:tc>
              </a:tr>
              <a:tr h="393192">
                <a:tc>
                  <a:txBody>
                    <a:bodyPr/>
                    <a:lstStyle/>
                    <a:p>
                      <a:pPr algn="l" indent="0" marL="0">
                        <a:buNone/>
                      </a:pPr>
                      <a:r>
                        <a:rPr lang="en-US" sz="1000" dirty="0">
                          <a:solidFill>
                            <a:srgbClr val="1A1A1A"/>
                          </a:solidFill>
                        </a:rPr>
                        <a:t>S8 Combined F1-F6 + robust selection</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FFFFFF"/>
                          </a:solidFill>
                        </a:rPr>
                        <a:t>0.832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79158"/>
                    </a:solidFill>
                  </a:tcPr>
                </a:tc>
                <a:tc>
                  <a:txBody>
                    <a:bodyPr/>
                    <a:lstStyle/>
                    <a:p>
                      <a:pPr algn="ctr" indent="0" marL="0">
                        <a:buNone/>
                      </a:pPr>
                      <a:r>
                        <a:rPr lang="en-US" sz="1050" dirty="0">
                          <a:solidFill>
                            <a:srgbClr val="FFFFFF"/>
                          </a:solidFill>
                        </a:rPr>
                        <a:t>0.832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79158"/>
                    </a:solidFill>
                  </a:tcPr>
                </a:tc>
                <a:tc>
                  <a:txBody>
                    <a:bodyPr/>
                    <a:lstStyle/>
                    <a:p>
                      <a:pPr algn="ctr" indent="0" marL="0">
                        <a:buNone/>
                      </a:pPr>
                      <a:r>
                        <a:rPr lang="en-US" sz="1050" dirty="0">
                          <a:solidFill>
                            <a:srgbClr val="FFFFFF"/>
                          </a:solidFill>
                        </a:rPr>
                        <a:t>0.839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38D55"/>
                    </a:solidFill>
                  </a:tcPr>
                </a:tc>
                <a:tc>
                  <a:txBody>
                    <a:bodyPr/>
                    <a:lstStyle/>
                    <a:p>
                      <a:pPr algn="ctr" indent="0" marL="0">
                        <a:buNone/>
                      </a:pPr>
                      <a:r>
                        <a:rPr lang="en-US" sz="1050" dirty="0">
                          <a:solidFill>
                            <a:srgbClr val="FFFFFF"/>
                          </a:solidFill>
                        </a:rPr>
                        <a:t>0.865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37C4B"/>
                    </a:solidFill>
                  </a:tcPr>
                </a:tc>
                <a:tc>
                  <a:txBody>
                    <a:bodyPr/>
                    <a:lstStyle/>
                    <a:p>
                      <a:pPr algn="ctr" indent="0" marL="0">
                        <a:buNone/>
                      </a:pPr>
                      <a:r>
                        <a:rPr lang="en-US" sz="1050" dirty="0">
                          <a:solidFill>
                            <a:srgbClr val="FFFFFF"/>
                          </a:solidFill>
                        </a:rPr>
                        <a:t>0.882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97144"/>
                    </a:solidFill>
                  </a:tcPr>
                </a:tc>
                <a:tc>
                  <a:txBody>
                    <a:bodyPr/>
                    <a:lstStyle/>
                    <a:p>
                      <a:pPr algn="ctr" indent="0" marL="0">
                        <a:buNone/>
                      </a:pPr>
                      <a:r>
                        <a:rPr lang="en-US" sz="1050" dirty="0">
                          <a:solidFill>
                            <a:srgbClr val="FFFFFF"/>
                          </a:solidFill>
                        </a:rPr>
                        <a:t>0.887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66E42"/>
                    </a:solidFill>
                  </a:tcPr>
                </a:tc>
                <a:tc>
                  <a:txBody>
                    <a:bodyPr/>
                    <a:lstStyle/>
                    <a:p>
                      <a:pPr algn="ctr" indent="0" marL="0">
                        <a:buNone/>
                      </a:pPr>
                      <a:r>
                        <a:rPr lang="en-US" sz="1050" dirty="0">
                          <a:solidFill>
                            <a:srgbClr val="FFFFFF"/>
                          </a:solidFill>
                        </a:rPr>
                        <a:t>0.845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F8853"/>
                    </a:solidFill>
                  </a:tcPr>
                </a:tc>
                <a:tc>
                  <a:txBody>
                    <a:bodyPr/>
                    <a:lstStyle/>
                    <a:p>
                      <a:pPr algn="ctr" indent="0" marL="0">
                        <a:buNone/>
                      </a:pPr>
                      <a:r>
                        <a:rPr lang="en-US" sz="1050" dirty="0">
                          <a:solidFill>
                            <a:srgbClr val="FFFFFF"/>
                          </a:solidFill>
                        </a:rPr>
                        <a:t>0.865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37C4B"/>
                    </a:solidFill>
                  </a:tcPr>
                </a:tc>
                <a:tc>
                  <a:txBody>
                    <a:bodyPr/>
                    <a:lstStyle/>
                    <a:p>
                      <a:pPr algn="ctr" indent="0" marL="0">
                        <a:buNone/>
                      </a:pPr>
                      <a:r>
                        <a:rPr lang="en-US" sz="1050" dirty="0">
                          <a:solidFill>
                            <a:srgbClr val="FFFFFF"/>
                          </a:solidFill>
                        </a:rPr>
                        <a:t>0.884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87043"/>
                    </a:solidFill>
                  </a:tcPr>
                </a:tc>
                <a:tc>
                  <a:txBody>
                    <a:bodyPr/>
                    <a:lstStyle/>
                    <a:p>
                      <a:pPr algn="ctr" indent="0" marL="0">
                        <a:buNone/>
                      </a:pPr>
                      <a:r>
                        <a:rPr lang="en-US" sz="1050" dirty="0">
                          <a:solidFill>
                            <a:srgbClr val="FFFFFF"/>
                          </a:solidFill>
                        </a:rPr>
                        <a:t>0.872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F7748"/>
                    </a:solidFill>
                  </a:tcPr>
                </a:tc>
              </a:tr>
              <a:tr h="393192">
                <a:tc>
                  <a:txBody>
                    <a:bodyPr/>
                    <a:lstStyle/>
                    <a:p>
                      <a:pPr algn="l" indent="0" marL="0">
                        <a:buNone/>
                      </a:pPr>
                      <a:r>
                        <a:rPr lang="en-US" sz="1000" dirty="0">
                          <a:solidFill>
                            <a:srgbClr val="1A1A1A"/>
                          </a:solidFill>
                        </a:rPr>
                        <a:t>S9 SPA bands (SNV)</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1A1A1A"/>
                          </a:solidFill>
                        </a:rPr>
                        <a:t>0.789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1AD69"/>
                    </a:solidFill>
                  </a:tcPr>
                </a:tc>
                <a:tc>
                  <a:txBody>
                    <a:bodyPr/>
                    <a:lstStyle/>
                    <a:p>
                      <a:pPr algn="ctr" indent="0" marL="0">
                        <a:buNone/>
                      </a:pPr>
                      <a:r>
                        <a:rPr lang="en-US" sz="1050" dirty="0">
                          <a:solidFill>
                            <a:srgbClr val="1A1A1A"/>
                          </a:solidFill>
                        </a:rPr>
                        <a:t>0.788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1AD6A"/>
                    </a:solidFill>
                  </a:tcPr>
                </a:tc>
                <a:tc>
                  <a:txBody>
                    <a:bodyPr/>
                    <a:lstStyle/>
                    <a:p>
                      <a:pPr algn="ctr" indent="0" marL="0">
                        <a:buNone/>
                      </a:pPr>
                      <a:r>
                        <a:rPr lang="en-US" sz="1050" dirty="0">
                          <a:solidFill>
                            <a:srgbClr val="1A1A1A"/>
                          </a:solidFill>
                        </a:rPr>
                        <a:t>0.786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3AF6B"/>
                    </a:solidFill>
                  </a:tcPr>
                </a:tc>
                <a:tc>
                  <a:txBody>
                    <a:bodyPr/>
                    <a:lstStyle/>
                    <a:p>
                      <a:pPr algn="ctr" indent="0" marL="0">
                        <a:buNone/>
                      </a:pPr>
                      <a:r>
                        <a:rPr lang="en-US" sz="1050" dirty="0">
                          <a:solidFill>
                            <a:srgbClr val="1A1A1A"/>
                          </a:solidFill>
                        </a:rPr>
                        <a:t>0.720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CCE89"/>
                    </a:solidFill>
                  </a:tcPr>
                </a:tc>
                <a:tc>
                  <a:txBody>
                    <a:bodyPr/>
                    <a:lstStyle/>
                    <a:p>
                      <a:pPr algn="ctr" indent="0" marL="0">
                        <a:buNone/>
                      </a:pPr>
                      <a:r>
                        <a:rPr lang="en-US" sz="1050" dirty="0">
                          <a:solidFill>
                            <a:srgbClr val="FFFFFF"/>
                          </a:solidFill>
                        </a:rPr>
                        <a:t>0.822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C"/>
                    </a:solidFill>
                  </a:tcPr>
                </a:tc>
                <a:tc>
                  <a:txBody>
                    <a:bodyPr/>
                    <a:lstStyle/>
                    <a:p>
                      <a:pPr algn="ctr" indent="0" marL="0">
                        <a:buNone/>
                      </a:pPr>
                      <a:r>
                        <a:rPr lang="en-US" sz="1050" dirty="0">
                          <a:solidFill>
                            <a:srgbClr val="FFFFFF"/>
                          </a:solidFill>
                        </a:rPr>
                        <a:t>0.833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69058"/>
                    </a:solidFill>
                  </a:tcPr>
                </a:tc>
                <a:tc>
                  <a:txBody>
                    <a:bodyPr/>
                    <a:lstStyle/>
                    <a:p>
                      <a:pPr algn="ctr" indent="0" marL="0">
                        <a:buNone/>
                      </a:pPr>
                      <a:r>
                        <a:rPr lang="en-US" sz="1050" dirty="0">
                          <a:solidFill>
                            <a:srgbClr val="1A1A1A"/>
                          </a:solidFill>
                        </a:rPr>
                        <a:t>0.665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1DEA7"/>
                    </a:solidFill>
                  </a:tcPr>
                </a:tc>
                <a:tc>
                  <a:txBody>
                    <a:bodyPr/>
                    <a:lstStyle/>
                    <a:p>
                      <a:pPr algn="ctr" indent="0" marL="0">
                        <a:buNone/>
                      </a:pPr>
                      <a:r>
                        <a:rPr lang="en-US" sz="1050" dirty="0">
                          <a:solidFill>
                            <a:srgbClr val="1A1A1A"/>
                          </a:solidFill>
                        </a:rPr>
                        <a:t>0.743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DC87D"/>
                    </a:solidFill>
                  </a:tcPr>
                </a:tc>
                <a:tc>
                  <a:txBody>
                    <a:bodyPr/>
                    <a:lstStyle/>
                    <a:p>
                      <a:pPr algn="ctr" indent="0" marL="0">
                        <a:buNone/>
                      </a:pPr>
                      <a:r>
                        <a:rPr lang="en-US" sz="1050" dirty="0">
                          <a:solidFill>
                            <a:srgbClr val="FFFFFF"/>
                          </a:solidFill>
                        </a:rPr>
                        <a:t>0.829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89359"/>
                    </a:solidFill>
                  </a:tcPr>
                </a:tc>
                <a:tc>
                  <a:txBody>
                    <a:bodyPr/>
                    <a:lstStyle/>
                    <a:p>
                      <a:pPr algn="ctr" indent="0" marL="0">
                        <a:buNone/>
                      </a:pPr>
                      <a:r>
                        <a:rPr lang="en-US" sz="1050" dirty="0">
                          <a:solidFill>
                            <a:srgbClr val="FFFFFF"/>
                          </a:solidFill>
                        </a:rPr>
                        <a:t>0.816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19C5F"/>
                    </a:solidFill>
                  </a:tcPr>
                </a:tc>
              </a:tr>
              <a:tr h="393192">
                <a:tc>
                  <a:txBody>
                    <a:bodyPr/>
                    <a:lstStyle/>
                    <a:p>
                      <a:pPr algn="l" indent="0" marL="0">
                        <a:buNone/>
                      </a:pPr>
                      <a:r>
                        <a:rPr lang="en-US" sz="1000" dirty="0">
                          <a:solidFill>
                            <a:srgbClr val="1A1A1A"/>
                          </a:solidFill>
                        </a:rPr>
                        <a:t>S10 GA-PLS bands (SNV)</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50" dirty="0">
                          <a:solidFill>
                            <a:srgbClr val="FFFFFF"/>
                          </a:solidFill>
                        </a:rPr>
                        <a:t>0.817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09B5E"/>
                    </a:solidFill>
                  </a:tcPr>
                </a:tc>
                <a:tc>
                  <a:txBody>
                    <a:bodyPr/>
                    <a:lstStyle/>
                    <a:p>
                      <a:pPr algn="ctr" indent="0" marL="0">
                        <a:buNone/>
                      </a:pPr>
                      <a:r>
                        <a:rPr lang="en-US" sz="1050" dirty="0">
                          <a:solidFill>
                            <a:srgbClr val="FFFFFF"/>
                          </a:solidFill>
                        </a:rPr>
                        <a:t>0.811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39F61"/>
                    </a:solidFill>
                  </a:tcPr>
                </a:tc>
                <a:tc>
                  <a:txBody>
                    <a:bodyPr/>
                    <a:lstStyle/>
                    <a:p>
                      <a:pPr algn="ctr" indent="0" marL="0">
                        <a:buNone/>
                      </a:pPr>
                      <a:r>
                        <a:rPr lang="en-US" sz="1050" dirty="0">
                          <a:solidFill>
                            <a:srgbClr val="FFFFFF"/>
                          </a:solidFill>
                        </a:rPr>
                        <a:t>0.822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C"/>
                    </a:solidFill>
                  </a:tcPr>
                </a:tc>
                <a:tc>
                  <a:txBody>
                    <a:bodyPr/>
                    <a:lstStyle/>
                    <a:p>
                      <a:pPr algn="ctr" indent="0" marL="0">
                        <a:buNone/>
                      </a:pPr>
                      <a:r>
                        <a:rPr lang="en-US" sz="1050" dirty="0">
                          <a:solidFill>
                            <a:srgbClr val="1A1A1A"/>
                          </a:solidFill>
                        </a:rPr>
                        <a:t>0.708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94D290"/>
                    </a:solidFill>
                  </a:tcPr>
                </a:tc>
                <a:tc>
                  <a:txBody>
                    <a:bodyPr/>
                    <a:lstStyle/>
                    <a:p>
                      <a:pPr algn="ctr" indent="0" marL="0">
                        <a:buNone/>
                      </a:pPr>
                      <a:r>
                        <a:rPr lang="en-US" sz="1050" dirty="0">
                          <a:solidFill>
                            <a:srgbClr val="FFFFFF"/>
                          </a:solidFill>
                        </a:rPr>
                        <a:t>0.845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F8953"/>
                    </a:solidFill>
                  </a:tcPr>
                </a:tc>
                <a:tc>
                  <a:txBody>
                    <a:bodyPr/>
                    <a:lstStyle/>
                    <a:p>
                      <a:pPr algn="ctr" indent="0" marL="0">
                        <a:buNone/>
                      </a:pPr>
                      <a:r>
                        <a:rPr lang="en-US" sz="1050" dirty="0">
                          <a:solidFill>
                            <a:srgbClr val="FFFFFF"/>
                          </a:solidFill>
                        </a:rPr>
                        <a:t>0.865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37C4B"/>
                    </a:solidFill>
                  </a:tcPr>
                </a:tc>
                <a:tc>
                  <a:txBody>
                    <a:bodyPr/>
                    <a:lstStyle/>
                    <a:p>
                      <a:pPr algn="ctr" indent="0" marL="0">
                        <a:buNone/>
                      </a:pPr>
                      <a:r>
                        <a:rPr lang="en-US" sz="1050" dirty="0">
                          <a:solidFill>
                            <a:srgbClr val="1A1A1A"/>
                          </a:solidFill>
                        </a:rPr>
                        <a:t>0.654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9E1AD"/>
                    </a:solidFill>
                  </a:tcPr>
                </a:tc>
                <a:tc>
                  <a:txBody>
                    <a:bodyPr/>
                    <a:lstStyle/>
                    <a:p>
                      <a:pPr algn="ctr" indent="0" marL="0">
                        <a:buNone/>
                      </a:pPr>
                      <a:r>
                        <a:rPr lang="en-US" sz="1050" dirty="0">
                          <a:solidFill>
                            <a:srgbClr val="1A1A1A"/>
                          </a:solidFill>
                        </a:rPr>
                        <a:t>0.731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5CB83"/>
                    </a:solidFill>
                  </a:tcPr>
                </a:tc>
                <a:tc>
                  <a:txBody>
                    <a:bodyPr/>
                    <a:lstStyle/>
                    <a:p>
                      <a:pPr algn="ctr" indent="0" marL="0">
                        <a:buNone/>
                      </a:pPr>
                      <a:r>
                        <a:rPr lang="en-US" sz="1050" dirty="0">
                          <a:solidFill>
                            <a:srgbClr val="FFFFFF"/>
                          </a:solidFill>
                        </a:rPr>
                        <a:t>0.858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7804E"/>
                    </a:solidFill>
                  </a:tcPr>
                </a:tc>
                <a:tc>
                  <a:txBody>
                    <a:bodyPr/>
                    <a:lstStyle/>
                    <a:p>
                      <a:pPr algn="ctr" indent="0" marL="0">
                        <a:buNone/>
                      </a:pPr>
                      <a:r>
                        <a:rPr lang="en-US" sz="1050" dirty="0">
                          <a:solidFill>
                            <a:srgbClr val="FFFFFF"/>
                          </a:solidFill>
                        </a:rPr>
                        <a:t>0.817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09B5E"/>
                    </a:solidFill>
                  </a:tcPr>
                </a:tc>
              </a:tr>
            </a:tbl>
          </a:graphicData>
        </a:graphic>
      </p:graphicFrame>
      <p:sp>
        <p:nvSpPr>
          <p:cNvPr id="4" name="Shape 1"/>
          <p:cNvSpPr/>
          <p:nvPr/>
        </p:nvSpPr>
        <p:spPr>
          <a:xfrm>
            <a:off x="384048" y="5431536"/>
            <a:ext cx="11393424" cy="685800"/>
          </a:xfrm>
          <a:prstGeom prst="roundRect">
            <a:avLst>
              <a:gd name="adj" fmla="val 6667"/>
            </a:avLst>
          </a:prstGeom>
          <a:solidFill>
            <a:srgbClr val="F6F8F5"/>
          </a:solidFill>
          <a:ln w="12700">
            <a:solidFill>
              <a:srgbClr val="F6F8F5"/>
            </a:solidFill>
            <a:prstDash val="solid"/>
          </a:ln>
        </p:spPr>
      </p:sp>
      <p:sp>
        <p:nvSpPr>
          <p:cNvPr id="5" name="Text 2"/>
          <p:cNvSpPr txBox="1"/>
          <p:nvPr/>
        </p:nvSpPr>
        <p:spPr>
          <a:xfrm>
            <a:off x="457200" y="5486400"/>
            <a:ext cx="11247120" cy="594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Each cell = balanced accuracy (mean of healthy and diseased recall) on plots never seen in training, averaged over 25 repeats; darker = better.</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Highest BA: S1 Full spectrum (SNV, 201 bands) with LR (0.919 ± 0.007). Best compact model: S8 with LS-SVM (0.887, median 7 features). Single-family band and index selections (S2, S3) are weakest.</a:t>
            </a:r>
            <a:endParaRPr lang="en-US" sz="1200" dirty="0"/>
          </a:p>
        </p:txBody>
      </p:sp>
      <p:sp>
        <p:nvSpPr>
          <p:cNvPr id="6"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Mean balanced accuracy over 25 repeats of nested plot-grouped 4-fold CV; workbook sheets 18-20</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R13. Best pipeline per feature scenario and Friedman ranking</a:t>
            </a:r>
            <a:endParaRPr lang="en-US" sz="2800" dirty="0"/>
          </a:p>
        </p:txBody>
      </p:sp>
      <p:graphicFrame>
        <p:nvGraphicFramePr>
          <p:cNvPr id="3" name="Chart 0" descr=""/>
          <p:cNvGraphicFramePr/>
          <p:nvPr/>
        </p:nvGraphicFramePr>
        <p:xfrm>
          <a:off x="457200" y="1143000"/>
          <a:ext cx="67665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7498080" y="1188720"/>
          <a:ext cx="4206240" cy="914400"/>
        </p:xfrm>
        <a:graphic>
          <a:graphicData uri="http://schemas.openxmlformats.org/drawingml/2006/table">
            <a:tbl>
              <a:tblPr/>
              <a:tblGrid>
                <a:gridCol w="1645920"/>
                <a:gridCol w="1280160"/>
                <a:gridCol w="1280160"/>
              </a:tblGrid>
              <a:tr h="301752">
                <a:tc>
                  <a:txBody>
                    <a:bodyPr/>
                    <a:lstStyle/>
                    <a:p>
                      <a:pPr algn="ctr" indent="0" marL="0">
                        <a:buNone/>
                      </a:pPr>
                      <a:r>
                        <a:rPr lang="en-US" sz="1100" b="1" dirty="0">
                          <a:solidFill>
                            <a:srgbClr val="FFFFFF"/>
                          </a:solidFill>
                        </a:rPr>
                        <a:t>Classifier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Mean rank</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Mean BA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01752">
                <a:tc>
                  <a:txBody>
                    <a:bodyPr/>
                    <a:lstStyle/>
                    <a:p>
                      <a:pPr indent="0" marL="0">
                        <a:buNone/>
                      </a:pPr>
                      <a:r>
                        <a:rPr lang="en-US" sz="1100" dirty="0">
                          <a:solidFill>
                            <a:srgbClr val="1A1A1A"/>
                          </a:solidFill>
                        </a:rPr>
                        <a:t>LS-SVM</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2.11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0.814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A1A1A"/>
                          </a:solidFill>
                        </a:rPr>
                        <a:t>ELM</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2.48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0.812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01752">
                <a:tc>
                  <a:txBody>
                    <a:bodyPr/>
                    <a:lstStyle/>
                    <a:p>
                      <a:pPr indent="0" marL="0">
                        <a:buNone/>
                      </a:pPr>
                      <a:r>
                        <a:rPr lang="en-US" sz="1100" dirty="0">
                          <a:solidFill>
                            <a:srgbClr val="1A1A1A"/>
                          </a:solidFill>
                        </a:rPr>
                        <a:t>SVM</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2.87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0.807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A1A1A"/>
                          </a:solidFill>
                        </a:rPr>
                        <a:t>MLP</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4.79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0.794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01752">
                <a:tc>
                  <a:txBody>
                    <a:bodyPr/>
                    <a:lstStyle/>
                    <a:p>
                      <a:pPr indent="0" marL="0">
                        <a:buNone/>
                      </a:pPr>
                      <a:r>
                        <a:rPr lang="en-US" sz="1100" dirty="0">
                          <a:solidFill>
                            <a:srgbClr val="1A1A1A"/>
                          </a:solidFill>
                        </a:rPr>
                        <a:t>LR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5.74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0.789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A1A1A"/>
                          </a:solidFill>
                        </a:rPr>
                        <a:t>XGBoost</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6.43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0.766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01752">
                <a:tc>
                  <a:txBody>
                    <a:bodyPr/>
                    <a:lstStyle/>
                    <a:p>
                      <a:pPr indent="0" marL="0">
                        <a:buNone/>
                      </a:pPr>
                      <a:r>
                        <a:rPr lang="en-US" sz="1100" dirty="0">
                          <a:solidFill>
                            <a:srgbClr val="1A1A1A"/>
                          </a:solidFill>
                        </a:rPr>
                        <a:t>LDA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6.65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0.780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A1A1A"/>
                          </a:solidFill>
                        </a:rPr>
                        <a:t>PLS-DA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7.03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0.778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01752">
                <a:tc>
                  <a:txBody>
                    <a:bodyPr/>
                    <a:lstStyle/>
                    <a:p>
                      <a:pPr indent="0" marL="0">
                        <a:buNone/>
                      </a:pPr>
                      <a:r>
                        <a:rPr lang="en-US" sz="1100" dirty="0">
                          <a:solidFill>
                            <a:srgbClr val="1A1A1A"/>
                          </a:solidFill>
                        </a:rPr>
                        <a:t>kNN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7.74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0.745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A1A1A"/>
                          </a:solidFill>
                        </a:rPr>
                        <a:t>RF</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9.16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0.718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Text 1"/>
          <p:cNvSpPr txBox="1"/>
          <p:nvPr/>
        </p:nvSpPr>
        <p:spPr>
          <a:xfrm>
            <a:off x="7498080" y="4572000"/>
            <a:ext cx="4206240" cy="457200"/>
          </a:xfrm>
          <a:prstGeom prst="rect">
            <a:avLst/>
          </a:prstGeom>
          <a:noFill/>
          <a:ln/>
        </p:spPr>
        <p:txBody>
          <a:bodyPr wrap="square" lIns="0" tIns="0" rIns="0" bIns="0" rtlCol="0" anchor="ctr"/>
          <a:lstStyle/>
          <a:p>
            <a:pPr indent="0" marL="0">
              <a:buNone/>
            </a:pPr>
            <a:r>
              <a:rPr lang="en-US" sz="1200" b="1" dirty="0">
                <a:solidFill>
                  <a:schemeClr val="tx2"/>
                </a:solidFill>
              </a:rPr>
              <a:t>Friedman χ² = 1392.5, p &lt; 0.001; Nemenyi CD = 0.86 ranks</a:t>
            </a:r>
            <a:endParaRPr lang="en-US" sz="1200" dirty="0"/>
          </a:p>
        </p:txBody>
      </p:sp>
      <p:sp>
        <p:nvSpPr>
          <p:cNvPr id="6" name="Shape 2"/>
          <p:cNvSpPr/>
          <p:nvPr/>
        </p:nvSpPr>
        <p:spPr>
          <a:xfrm>
            <a:off x="7424928" y="4974336"/>
            <a:ext cx="4352544" cy="1143000"/>
          </a:xfrm>
          <a:prstGeom prst="roundRect">
            <a:avLst>
              <a:gd name="adj" fmla="val 4000"/>
            </a:avLst>
          </a:prstGeom>
          <a:solidFill>
            <a:srgbClr val="F6F8F5"/>
          </a:solidFill>
          <a:ln w="12700">
            <a:solidFill>
              <a:srgbClr val="F6F8F5"/>
            </a:solidFill>
            <a:prstDash val="solid"/>
          </a:ln>
        </p:spPr>
      </p:sp>
      <p:sp>
        <p:nvSpPr>
          <p:cNvPr id="7" name="Text 3"/>
          <p:cNvSpPr txBox="1"/>
          <p:nvPr/>
        </p:nvSpPr>
        <p:spPr>
          <a:xfrm>
            <a:off x="7498080" y="5029200"/>
            <a:ext cx="4206240" cy="10515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Bars = best classifier of each feature scenario. The Friedman test ranks classifiers across all scenarios x repeats (lower rank = better).</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Best-ranked classifiers: LS-SVM, ELM, SVM; worst: kNN, RF. Best-ranked feature scenarios: S8, S7, S1.</a:t>
            </a:r>
            <a:endParaRPr lang="en-US" sz="1200" dirty="0"/>
          </a:p>
        </p:txBody>
      </p:sp>
      <p:sp>
        <p:nvSpPr>
          <p:cNvPr id="8" name="Text 4"/>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Demsar 2006; workbook sheet 21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R14. Best models in detail: confusion matrices and metrics</a:t>
            </a:r>
            <a:endParaRPr lang="en-US" sz="2800" dirty="0"/>
          </a:p>
        </p:txBody>
      </p:sp>
      <p:sp>
        <p:nvSpPr>
          <p:cNvPr id="3" name="Text 1"/>
          <p:cNvSpPr txBox="1"/>
          <p:nvPr/>
        </p:nvSpPr>
        <p:spPr>
          <a:xfrm>
            <a:off x="457200" y="1188720"/>
            <a:ext cx="2743200" cy="457200"/>
          </a:xfrm>
          <a:prstGeom prst="rect">
            <a:avLst/>
          </a:prstGeom>
          <a:noFill/>
          <a:ln/>
        </p:spPr>
        <p:txBody>
          <a:bodyPr wrap="square" lIns="0" tIns="0" rIns="0" bIns="0" rtlCol="0" anchor="ctr"/>
          <a:lstStyle/>
          <a:p>
            <a:pPr indent="0" marL="0">
              <a:buNone/>
            </a:pPr>
            <a:r>
              <a:rPr lang="en-US" sz="1100" b="1" dirty="0">
                <a:solidFill>
                  <a:schemeClr val="tx2"/>
                </a:solidFill>
              </a:rPr>
              <a:t>Best overall - Spectrum</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2743200" cy="914400"/>
        </p:xfrm>
        <a:graphic>
          <a:graphicData uri="http://schemas.openxmlformats.org/drawingml/2006/table">
            <a:tbl>
              <a:tblPr/>
              <a:tblGrid>
                <a:gridCol w="822960"/>
                <a:gridCol w="960120"/>
                <a:gridCol w="960120"/>
              </a:tblGrid>
              <a:tr h="457200">
                <a:tc>
                  <a:txBody>
                    <a:bodyPr/>
                    <a:lstStyle/>
                    <a:p>
                      <a:pPr algn="ctr" indent="0" marL="0">
                        <a:buNone/>
                      </a:pP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57200">
                <a:tc>
                  <a:txBody>
                    <a:bodyPr/>
                    <a:lstStyle/>
                    <a:p>
                      <a:pPr indent="0" marL="0">
                        <a:buNone/>
                      </a:pPr>
                      <a:r>
                        <a:rPr lang="en-US" sz="1200" b="1" dirty="0">
                          <a:solidFill>
                            <a:srgbClr val="1A1A1A"/>
                          </a:solidFill>
                        </a:rPr>
                        <a:t>True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FFFFFF"/>
                          </a:solidFill>
                        </a:rPr>
                        <a:t>343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65D38"/>
                    </a:solidFill>
                  </a:tcPr>
                </a:tc>
                <a:tc>
                  <a:txBody>
                    <a:bodyPr/>
                    <a:lstStyle/>
                    <a:p>
                      <a:pPr algn="ctr" indent="0" marL="0">
                        <a:buNone/>
                      </a:pPr>
                      <a:r>
                        <a:rPr lang="en-US" sz="1200" dirty="0">
                          <a:solidFill>
                            <a:srgbClr val="1A1A1A"/>
                          </a:solidFill>
                        </a:rPr>
                        <a:t>35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6F4D1"/>
                    </a:solidFill>
                  </a:tcPr>
                </a:tc>
              </a:tr>
              <a:tr h="457200">
                <a:tc>
                  <a:txBody>
                    <a:bodyPr/>
                    <a:lstStyle/>
                    <a:p>
                      <a:pPr indent="0" marL="0">
                        <a:buNone/>
                      </a:pPr>
                      <a:r>
                        <a:rPr lang="en-US" sz="1200" b="1" dirty="0">
                          <a:solidFill>
                            <a:srgbClr val="1A1A1A"/>
                          </a:solidFill>
                        </a:rPr>
                        <a:t>True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1A1A1A"/>
                          </a:solidFill>
                        </a:rPr>
                        <a:t>132</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CF7D6"/>
                    </a:solidFill>
                  </a:tcPr>
                </a:tc>
                <a:tc>
                  <a:txBody>
                    <a:bodyPr/>
                    <a:lstStyle/>
                    <a:p>
                      <a:pPr algn="ctr" indent="0" marL="0">
                        <a:buNone/>
                      </a:pPr>
                      <a:r>
                        <a:rPr lang="en-US" sz="1200" dirty="0">
                          <a:solidFill>
                            <a:srgbClr val="FFFFFF"/>
                          </a:solidFill>
                        </a:rPr>
                        <a:t>1780</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15734"/>
                    </a:solidFill>
                  </a:tcPr>
                </a:tc>
              </a:tr>
            </a:tbl>
          </a:graphicData>
        </a:graphic>
      </p:graphicFrame>
      <p:sp>
        <p:nvSpPr>
          <p:cNvPr id="5" name="Text 2"/>
          <p:cNvSpPr txBox="1"/>
          <p:nvPr/>
        </p:nvSpPr>
        <p:spPr>
          <a:xfrm>
            <a:off x="3337560" y="1188720"/>
            <a:ext cx="2743200" cy="457200"/>
          </a:xfrm>
          <a:prstGeom prst="rect">
            <a:avLst/>
          </a:prstGeom>
          <a:noFill/>
          <a:ln/>
        </p:spPr>
        <p:txBody>
          <a:bodyPr wrap="square" lIns="0" tIns="0" rIns="0" bIns="0" rtlCol="0" anchor="ctr"/>
          <a:lstStyle/>
          <a:p>
            <a:pPr indent="0" marL="0">
              <a:buNone/>
            </a:pPr>
            <a:r>
              <a:rPr lang="en-US" sz="1100" b="1" dirty="0">
                <a:solidFill>
                  <a:schemeClr val="tx2"/>
                </a:solidFill>
              </a:rPr>
              <a:t>Best overall - Plot-date (majority vote)</a:t>
            </a:r>
            <a:endParaRPr lang="en-US" sz="1100" dirty="0"/>
          </a:p>
        </p:txBody>
      </p:sp>
      <p:graphicFrame>
        <p:nvGraphicFramePr>
          <p:cNvPr id="89" name="Table 1"/>
          <p:cNvGraphicFramePr>
            <a:graphicFrameLocks noGrp="1"/>
          </p:cNvGraphicFramePr>
          <p:nvPr>
            <p:extLst>
              <p:ext uri="{D42A27DB-BD31-4B8C-83A1-F6EECF244321}">
                <p14:modId xmlns:p14="http://schemas.microsoft.com/office/powerpoint/2010/main" val="1579011935"/>
              </p:ext>
            </p:extLst>
          </p:nvPr>
        </p:nvGraphicFramePr>
        <p:xfrm>
          <a:off x="3337560" y="1645920"/>
          <a:ext cx="2743200" cy="914400"/>
        </p:xfrm>
        <a:graphic>
          <a:graphicData uri="http://schemas.openxmlformats.org/drawingml/2006/table">
            <a:tbl>
              <a:tblPr/>
              <a:tblGrid>
                <a:gridCol w="822960"/>
                <a:gridCol w="960120"/>
                <a:gridCol w="960120"/>
              </a:tblGrid>
              <a:tr h="457200">
                <a:tc>
                  <a:txBody>
                    <a:bodyPr/>
                    <a:lstStyle/>
                    <a:p>
                      <a:pPr algn="ctr" indent="0" marL="0">
                        <a:buNone/>
                      </a:pP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57200">
                <a:tc>
                  <a:txBody>
                    <a:bodyPr/>
                    <a:lstStyle/>
                    <a:p>
                      <a:pPr indent="0" marL="0">
                        <a:buNone/>
                      </a:pPr>
                      <a:r>
                        <a:rPr lang="en-US" sz="1200" b="1" dirty="0">
                          <a:solidFill>
                            <a:srgbClr val="1A1A1A"/>
                          </a:solidFill>
                        </a:rPr>
                        <a:t>True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FFFFFF"/>
                          </a:solidFill>
                        </a:rPr>
                        <a:t>47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054A2C"/>
                    </a:solidFill>
                  </a:tcPr>
                </a:tc>
                <a:tc>
                  <a:txBody>
                    <a:bodyPr/>
                    <a:lstStyle/>
                    <a:p>
                      <a:pPr algn="ctr" indent="0" marL="0">
                        <a:buNone/>
                      </a:pPr>
                      <a:r>
                        <a:rPr lang="en-US" sz="1200" dirty="0">
                          <a:solidFill>
                            <a:srgbClr val="1A1A1A"/>
                          </a:solidFill>
                        </a:rPr>
                        <a:t>1</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9FDE1"/>
                    </a:solidFill>
                  </a:tcPr>
                </a:tc>
              </a:tr>
              <a:tr h="457200">
                <a:tc>
                  <a:txBody>
                    <a:bodyPr/>
                    <a:lstStyle/>
                    <a:p>
                      <a:pPr indent="0" marL="0">
                        <a:buNone/>
                      </a:pPr>
                      <a:r>
                        <a:rPr lang="en-US" sz="1200" b="1" dirty="0">
                          <a:solidFill>
                            <a:srgbClr val="1A1A1A"/>
                          </a:solidFill>
                        </a:rPr>
                        <a:t>True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1A1A1A"/>
                          </a:solidFill>
                        </a:rPr>
                        <a:t>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2F9DB"/>
                    </a:solidFill>
                  </a:tcPr>
                </a:tc>
                <a:tc>
                  <a:txBody>
                    <a:bodyPr/>
                    <a:lstStyle/>
                    <a:p>
                      <a:pPr algn="ctr" indent="0" marL="0">
                        <a:buNone/>
                      </a:pPr>
                      <a:r>
                        <a:rPr lang="en-US" sz="1200" dirty="0">
                          <a:solidFill>
                            <a:srgbClr val="FFFFFF"/>
                          </a:solidFill>
                        </a:rPr>
                        <a:t>137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0C5231"/>
                    </a:solidFill>
                  </a:tcPr>
                </a:tc>
              </a:tr>
            </a:tbl>
          </a:graphicData>
        </a:graphic>
      </p:graphicFrame>
      <p:sp>
        <p:nvSpPr>
          <p:cNvPr id="7" name="Text 3"/>
          <p:cNvSpPr txBox="1"/>
          <p:nvPr/>
        </p:nvSpPr>
        <p:spPr>
          <a:xfrm>
            <a:off x="457200" y="3657600"/>
            <a:ext cx="2743200" cy="457200"/>
          </a:xfrm>
          <a:prstGeom prst="rect">
            <a:avLst/>
          </a:prstGeom>
          <a:noFill/>
          <a:ln/>
        </p:spPr>
        <p:txBody>
          <a:bodyPr wrap="square" lIns="0" tIns="0" rIns="0" bIns="0" rtlCol="0" anchor="ctr"/>
          <a:lstStyle/>
          <a:p>
            <a:pPr indent="0" marL="0">
              <a:buNone/>
            </a:pPr>
            <a:r>
              <a:rPr lang="en-US" sz="1100" b="1" dirty="0">
                <a:solidFill>
                  <a:schemeClr val="tx2"/>
                </a:solidFill>
              </a:rPr>
              <a:t>Best compact - Spectrum</a:t>
            </a:r>
            <a:endParaRPr lang="en-US" sz="1100" dirty="0"/>
          </a:p>
        </p:txBody>
      </p:sp>
      <p:graphicFrame>
        <p:nvGraphicFramePr>
          <p:cNvPr id="133" name="Table 2"/>
          <p:cNvGraphicFramePr>
            <a:graphicFrameLocks noGrp="1"/>
          </p:cNvGraphicFramePr>
          <p:nvPr>
            <p:extLst>
              <p:ext uri="{D42A27DB-BD31-4B8C-83A1-F6EECF244321}">
                <p14:modId xmlns:p14="http://schemas.microsoft.com/office/powerpoint/2010/main" val="1579011935"/>
              </p:ext>
            </p:extLst>
          </p:nvPr>
        </p:nvGraphicFramePr>
        <p:xfrm>
          <a:off x="457200" y="4114800"/>
          <a:ext cx="2743200" cy="914400"/>
        </p:xfrm>
        <a:graphic>
          <a:graphicData uri="http://schemas.openxmlformats.org/drawingml/2006/table">
            <a:tbl>
              <a:tblPr/>
              <a:tblGrid>
                <a:gridCol w="822960"/>
                <a:gridCol w="960120"/>
                <a:gridCol w="960120"/>
              </a:tblGrid>
              <a:tr h="457200">
                <a:tc>
                  <a:txBody>
                    <a:bodyPr/>
                    <a:lstStyle/>
                    <a:p>
                      <a:pPr algn="ctr" indent="0" marL="0">
                        <a:buNone/>
                      </a:pP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57200">
                <a:tc>
                  <a:txBody>
                    <a:bodyPr/>
                    <a:lstStyle/>
                    <a:p>
                      <a:pPr indent="0" marL="0">
                        <a:buNone/>
                      </a:pPr>
                      <a:r>
                        <a:rPr lang="en-US" sz="1200" b="1" dirty="0">
                          <a:solidFill>
                            <a:srgbClr val="1A1A1A"/>
                          </a:solidFill>
                        </a:rPr>
                        <a:t>True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FFFFFF"/>
                          </a:solidFill>
                        </a:rPr>
                        <a:t>334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C633C"/>
                    </a:solidFill>
                  </a:tcPr>
                </a:tc>
                <a:tc>
                  <a:txBody>
                    <a:bodyPr/>
                    <a:lstStyle/>
                    <a:p>
                      <a:pPr algn="ctr" indent="0" marL="0">
                        <a:buNone/>
                      </a:pPr>
                      <a:r>
                        <a:rPr lang="en-US" sz="1200" dirty="0">
                          <a:solidFill>
                            <a:srgbClr val="1A1A1A"/>
                          </a:solidFill>
                        </a:rPr>
                        <a:t>44</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0F2CC"/>
                    </a:solidFill>
                  </a:tcPr>
                </a:tc>
              </a:tr>
              <a:tr h="457200">
                <a:tc>
                  <a:txBody>
                    <a:bodyPr/>
                    <a:lstStyle/>
                    <a:p>
                      <a:pPr indent="0" marL="0">
                        <a:buNone/>
                      </a:pPr>
                      <a:r>
                        <a:rPr lang="en-US" sz="1200" b="1" dirty="0">
                          <a:solidFill>
                            <a:srgbClr val="1A1A1A"/>
                          </a:solidFill>
                        </a:rPr>
                        <a:t>True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1A1A1A"/>
                          </a:solidFill>
                        </a:rPr>
                        <a:t>217</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0F2CC"/>
                    </a:solidFill>
                  </a:tcPr>
                </a:tc>
                <a:tc>
                  <a:txBody>
                    <a:bodyPr/>
                    <a:lstStyle/>
                    <a:p>
                      <a:pPr algn="ctr" indent="0" marL="0">
                        <a:buNone/>
                      </a:pPr>
                      <a:r>
                        <a:rPr lang="en-US" sz="1200" dirty="0">
                          <a:solidFill>
                            <a:srgbClr val="FFFFFF"/>
                          </a:solidFill>
                        </a:rPr>
                        <a:t>1695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B623B"/>
                    </a:solidFill>
                  </a:tcPr>
                </a:tc>
              </a:tr>
            </a:tbl>
          </a:graphicData>
        </a:graphic>
      </p:graphicFrame>
      <p:sp>
        <p:nvSpPr>
          <p:cNvPr id="9" name="Text 4"/>
          <p:cNvSpPr txBox="1"/>
          <p:nvPr/>
        </p:nvSpPr>
        <p:spPr>
          <a:xfrm>
            <a:off x="3337560" y="3657600"/>
            <a:ext cx="2743200" cy="457200"/>
          </a:xfrm>
          <a:prstGeom prst="rect">
            <a:avLst/>
          </a:prstGeom>
          <a:noFill/>
          <a:ln/>
        </p:spPr>
        <p:txBody>
          <a:bodyPr wrap="square" lIns="0" tIns="0" rIns="0" bIns="0" rtlCol="0" anchor="ctr"/>
          <a:lstStyle/>
          <a:p>
            <a:pPr indent="0" marL="0">
              <a:buNone/>
            </a:pPr>
            <a:r>
              <a:rPr lang="en-US" sz="1100" b="1" dirty="0">
                <a:solidFill>
                  <a:schemeClr val="tx2"/>
                </a:solidFill>
              </a:rPr>
              <a:t>Best compact - Plot-date (majority vote)</a:t>
            </a:r>
            <a:endParaRPr lang="en-US" sz="1100" dirty="0"/>
          </a:p>
        </p:txBody>
      </p:sp>
      <p:graphicFrame>
        <p:nvGraphicFramePr>
          <p:cNvPr id="177" name="Table 3"/>
          <p:cNvGraphicFramePr>
            <a:graphicFrameLocks noGrp="1"/>
          </p:cNvGraphicFramePr>
          <p:nvPr>
            <p:extLst>
              <p:ext uri="{D42A27DB-BD31-4B8C-83A1-F6EECF244321}">
                <p14:modId xmlns:p14="http://schemas.microsoft.com/office/powerpoint/2010/main" val="1579011935"/>
              </p:ext>
            </p:extLst>
          </p:nvPr>
        </p:nvGraphicFramePr>
        <p:xfrm>
          <a:off x="3337560" y="4114800"/>
          <a:ext cx="2743200" cy="914400"/>
        </p:xfrm>
        <a:graphic>
          <a:graphicData uri="http://schemas.openxmlformats.org/drawingml/2006/table">
            <a:tbl>
              <a:tblPr/>
              <a:tblGrid>
                <a:gridCol w="822960"/>
                <a:gridCol w="960120"/>
                <a:gridCol w="960120"/>
              </a:tblGrid>
              <a:tr h="457200">
                <a:tc>
                  <a:txBody>
                    <a:bodyPr/>
                    <a:lstStyle/>
                    <a:p>
                      <a:pPr algn="ctr" indent="0" marL="0">
                        <a:buNone/>
                      </a:pP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200" b="1" dirty="0">
                          <a:solidFill>
                            <a:srgbClr val="FFFFFF"/>
                          </a:solidFill>
                        </a:rPr>
                        <a:t>Pred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57200">
                <a:tc>
                  <a:txBody>
                    <a:bodyPr/>
                    <a:lstStyle/>
                    <a:p>
                      <a:pPr indent="0" marL="0">
                        <a:buNone/>
                      </a:pPr>
                      <a:r>
                        <a:rPr lang="en-US" sz="1200" b="1" dirty="0">
                          <a:solidFill>
                            <a:srgbClr val="1A1A1A"/>
                          </a:solidFill>
                        </a:rPr>
                        <a:t>True H</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FFFFFF"/>
                          </a:solidFill>
                        </a:rPr>
                        <a:t>45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0F5533"/>
                    </a:solidFill>
                  </a:tcPr>
                </a:tc>
                <a:tc>
                  <a:txBody>
                    <a:bodyPr/>
                    <a:lstStyle/>
                    <a:p>
                      <a:pPr algn="ctr" indent="0" marL="0">
                        <a:buNone/>
                      </a:pPr>
                      <a:r>
                        <a:rPr lang="en-US" sz="1200" dirty="0">
                          <a:solidFill>
                            <a:srgbClr val="1A1A1A"/>
                          </a:solidFill>
                        </a:rPr>
                        <a:t>3</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EF8D8"/>
                    </a:solidFill>
                  </a:tcPr>
                </a:tc>
              </a:tr>
              <a:tr h="457200">
                <a:tc>
                  <a:txBody>
                    <a:bodyPr/>
                    <a:lstStyle/>
                    <a:p>
                      <a:pPr indent="0" marL="0">
                        <a:buNone/>
                      </a:pPr>
                      <a:r>
                        <a:rPr lang="en-US" sz="1200" b="1" dirty="0">
                          <a:solidFill>
                            <a:srgbClr val="1A1A1A"/>
                          </a:solidFill>
                        </a:rPr>
                        <a:t>True D</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200" dirty="0">
                          <a:solidFill>
                            <a:srgbClr val="1A1A1A"/>
                          </a:solidFill>
                        </a:rPr>
                        <a:t>15</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3F3CF"/>
                    </a:solidFill>
                  </a:tcPr>
                </a:tc>
                <a:tc>
                  <a:txBody>
                    <a:bodyPr/>
                    <a:lstStyle/>
                    <a:p>
                      <a:pPr algn="ctr" indent="0" marL="0">
                        <a:buNone/>
                      </a:pPr>
                      <a:r>
                        <a:rPr lang="en-US" sz="1200" dirty="0">
                          <a:solidFill>
                            <a:srgbClr val="FFFFFF"/>
                          </a:solidFill>
                        </a:rPr>
                        <a:t>129</a:t>
                      </a:r>
                      <a:endParaRPr lang="en-US" sz="12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9603A"/>
                    </a:solidFill>
                  </a:tcPr>
                </a:tc>
              </a:tr>
            </a:tbl>
          </a:graphicData>
        </a:graphic>
      </p:graphicFrame>
      <p:graphicFrame>
        <p:nvGraphicFramePr>
          <p:cNvPr id="221" name="Table 4"/>
          <p:cNvGraphicFramePr>
            <a:graphicFrameLocks noGrp="1"/>
          </p:cNvGraphicFramePr>
          <p:nvPr>
            <p:extLst>
              <p:ext uri="{D42A27DB-BD31-4B8C-83A1-F6EECF244321}">
                <p14:modId xmlns:p14="http://schemas.microsoft.com/office/powerpoint/2010/main" val="1579011935"/>
              </p:ext>
            </p:extLst>
          </p:nvPr>
        </p:nvGraphicFramePr>
        <p:xfrm>
          <a:off x="6309360" y="1188720"/>
          <a:ext cx="5394960" cy="914400"/>
        </p:xfrm>
        <a:graphic>
          <a:graphicData uri="http://schemas.openxmlformats.org/drawingml/2006/table">
            <a:tbl>
              <a:tblPr/>
              <a:tblGrid>
                <a:gridCol w="1417320"/>
                <a:gridCol w="960120"/>
                <a:gridCol w="502920"/>
                <a:gridCol w="502920"/>
                <a:gridCol w="594360"/>
                <a:gridCol w="457200"/>
                <a:gridCol w="457200"/>
                <a:gridCol w="502920"/>
              </a:tblGrid>
              <a:tr h="411480">
                <a:tc>
                  <a:txBody>
                    <a:bodyPr/>
                    <a:lstStyle/>
                    <a:p>
                      <a:pPr algn="ctr" indent="0" marL="0">
                        <a:buNone/>
                      </a:pPr>
                      <a:r>
                        <a:rPr lang="en-US" sz="1000" b="1" dirty="0">
                          <a:solidFill>
                            <a:srgbClr val="FFFFFF"/>
                          </a:solidFill>
                        </a:rPr>
                        <a:t>Pipeline</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BA</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Sens.</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Spec.</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Macro-F1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κ</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MCC</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AUC</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11480">
                <a:tc>
                  <a:txBody>
                    <a:bodyPr/>
                    <a:lstStyle/>
                    <a:p>
                      <a:pPr indent="0" marL="0">
                        <a:buNone/>
                      </a:pPr>
                      <a:r>
                        <a:rPr lang="en-US" sz="1000" dirty="0">
                          <a:solidFill>
                            <a:srgbClr val="1A1A1A"/>
                          </a:solidFill>
                        </a:rPr>
                        <a:t>Best: S1 LR</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0.919 ± 0.007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0.932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0.906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0.880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0.761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0.769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0.976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1A1A1A"/>
                          </a:solidFill>
                        </a:rPr>
                        <a:t>Compact: S8 LS-SVM</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0.887 ± 0.014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0.881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0.892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0.821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0.646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0.667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00" dirty="0">
                          <a:solidFill>
                            <a:srgbClr val="1A1A1A"/>
                          </a:solidFill>
                        </a:rPr>
                        <a:t>0.955</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graphicFrame>
        <p:nvGraphicFramePr>
          <p:cNvPr id="12" name="Chart 0" descr=""/>
          <p:cNvGraphicFramePr/>
          <p:nvPr/>
        </p:nvGraphicFramePr>
        <p:xfrm>
          <a:off x="6309360" y="260604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13"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Representative repeat (median BA); metrics mean ± SD over 25 repeats; workbook sheets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 Which features were selected, and why they matter</a:t>
            </a:r>
            <a:endParaRPr lang="en-US" sz="2800" dirty="0"/>
          </a:p>
        </p:txBody>
      </p:sp>
      <p:graphicFrame>
        <p:nvGraphicFramePr>
          <p:cNvPr id="3" name="Chart 0" descr=""/>
          <p:cNvGraphicFramePr/>
          <p:nvPr/>
        </p:nvGraphicFramePr>
        <p:xfrm>
          <a:off x="457200" y="1143000"/>
          <a:ext cx="457200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303520" y="1188720"/>
          <a:ext cx="6400800" cy="914400"/>
        </p:xfrm>
        <a:graphic>
          <a:graphicData uri="http://schemas.openxmlformats.org/drawingml/2006/table">
            <a:tbl>
              <a:tblPr/>
              <a:tblGrid>
                <a:gridCol w="2194560"/>
                <a:gridCol w="914400"/>
                <a:gridCol w="914400"/>
                <a:gridCol w="1188720"/>
                <a:gridCol w="1188720"/>
              </a:tblGrid>
              <a:tr h="329184">
                <a:tc>
                  <a:txBody>
                    <a:bodyPr/>
                    <a:lstStyle/>
                    <a:p>
                      <a:pPr algn="ctr" indent="0" marL="0">
                        <a:buNone/>
                      </a:pPr>
                      <a:r>
                        <a:rPr lang="en-US" sz="1100" b="1" dirty="0">
                          <a:solidFill>
                            <a:srgbClr val="FFFFFF"/>
                          </a:solidFill>
                        </a:rPr>
                        <a:t>Final feature</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d</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Perm. imp.</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|SHAP|</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A1A1A"/>
                          </a:solidFill>
                        </a:rPr>
                        <a:t>FD1810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0.48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0.659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0.223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2.976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WF1800_s1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0.704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0.207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1.807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WF1810_s4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0.779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0.120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0.937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WF2040_s3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0.686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0.088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0.703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FD850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1.05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0.782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0.052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0.846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A1A1A"/>
                          </a:solidFill>
                        </a:rPr>
                        <a:t>CR1800-2100_pos</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0.62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0.662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0.049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0.424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00" dirty="0">
                          <a:solidFill>
                            <a:srgbClr val="1A1A1A"/>
                          </a:solidFill>
                        </a:rPr>
                        <a:t>WF710_s2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0.46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0.631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0.025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0.265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Shape 1"/>
          <p:cNvSpPr/>
          <p:nvPr/>
        </p:nvSpPr>
        <p:spPr>
          <a:xfrm>
            <a:off x="5230368" y="4288536"/>
            <a:ext cx="6547104" cy="1828800"/>
          </a:xfrm>
          <a:prstGeom prst="roundRect">
            <a:avLst>
              <a:gd name="adj" fmla="val 2500"/>
            </a:avLst>
          </a:prstGeom>
          <a:solidFill>
            <a:srgbClr val="F6F8F5"/>
          </a:solidFill>
          <a:ln w="12700">
            <a:solidFill>
              <a:srgbClr val="F6F8F5"/>
            </a:solidFill>
            <a:prstDash val="solid"/>
          </a:ln>
        </p:spPr>
      </p:sp>
      <p:sp>
        <p:nvSpPr>
          <p:cNvPr id="6" name="Text 2"/>
          <p:cNvSpPr txBox="1"/>
          <p:nvPr/>
        </p:nvSpPr>
        <p:spPr>
          <a:xfrm>
            <a:off x="5303520" y="4343400"/>
            <a:ext cx="6400800" cy="1737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Bars = % of the 100 outer folds in which a feature was selected (stability). The table gives the final robust set with effect size, AUC and importance.</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Final robust set (7 features, selected on all data): FD1810, WF1800_s1, WF1810_s4, WF2040_s3, FD850, CR1800-2100_pos, WF710_s2. Multivariate J-M = 1.21 (pooled), 1.24-1.80 within dates. Features sit on the 1800-1950 nm water shoulder, the NIR slope and red/visible pigment features.</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Permutation importance: Breiman 2001; TreeSHAP: Lundberg &amp; Lee 2017; workbook sheets 25-26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R15g. Correlation matrix and VIF of the final features</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1325880"/>
                <a:gridCol w="764177"/>
                <a:gridCol w="764177"/>
                <a:gridCol w="764177"/>
                <a:gridCol w="764177"/>
                <a:gridCol w="764177"/>
                <a:gridCol w="764177"/>
                <a:gridCol w="764177"/>
              </a:tblGrid>
              <a:tr h="438912">
                <a:tc>
                  <a:txBody>
                    <a:bodyPr/>
                    <a:lstStyle/>
                    <a:p>
                      <a:pPr algn="ctr" indent="0" marL="0">
                        <a:buNone/>
                      </a:pP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FD1810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WF1800_s1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WF1810_s4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WF2040_s3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FD850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CR1800-2100 pos</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WF710_s2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38912">
                <a:tc>
                  <a:txBody>
                    <a:bodyPr/>
                    <a:lstStyle/>
                    <a:p>
                      <a:pPr algn="l" indent="0" marL="0">
                        <a:buNone/>
                      </a:pPr>
                      <a:r>
                        <a:rPr lang="en-US" sz="1000" b="1" dirty="0">
                          <a:solidFill>
                            <a:srgbClr val="1A1A1A"/>
                          </a:solidFill>
                        </a:rPr>
                        <a:t>FD1810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-0.53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DB2D5"/>
                    </a:solidFill>
                  </a:tcPr>
                </a:tc>
                <a:tc>
                  <a:txBody>
                    <a:bodyPr/>
                    <a:lstStyle/>
                    <a:p>
                      <a:pPr algn="ctr" indent="0" marL="0">
                        <a:buNone/>
                      </a:pPr>
                      <a:r>
                        <a:rPr lang="en-US" sz="1000" dirty="0">
                          <a:solidFill>
                            <a:srgbClr val="1A1A1A"/>
                          </a:solidFill>
                        </a:rPr>
                        <a:t>-0.16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DE8F3"/>
                    </a:solidFill>
                  </a:tcPr>
                </a:tc>
                <a:tc>
                  <a:txBody>
                    <a:bodyPr/>
                    <a:lstStyle/>
                    <a:p>
                      <a:pPr algn="ctr" indent="0" marL="0">
                        <a:buNone/>
                      </a:pPr>
                      <a:r>
                        <a:rPr lang="en-US" sz="1000" dirty="0">
                          <a:solidFill>
                            <a:srgbClr val="1A1A1A"/>
                          </a:solidFill>
                        </a:rPr>
                        <a:t>-0.36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3CCE3"/>
                    </a:solidFill>
                  </a:tcPr>
                </a:tc>
                <a:tc>
                  <a:txBody>
                    <a:bodyPr/>
                    <a:lstStyle/>
                    <a:p>
                      <a:pPr algn="ctr" indent="0" marL="0">
                        <a:buNone/>
                      </a:pPr>
                      <a:r>
                        <a:rPr lang="en-US" sz="1000" dirty="0">
                          <a:solidFill>
                            <a:srgbClr val="1A1A1A"/>
                          </a:solidFill>
                        </a:rPr>
                        <a:t>0.12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5E7E6"/>
                    </a:solidFill>
                  </a:tcPr>
                </a:tc>
                <a:tc>
                  <a:txBody>
                    <a:bodyPr/>
                    <a:lstStyle/>
                    <a:p>
                      <a:pPr algn="ctr" indent="0" marL="0">
                        <a:buNone/>
                      </a:pPr>
                      <a:r>
                        <a:rPr lang="en-US" sz="1000" dirty="0">
                          <a:solidFill>
                            <a:srgbClr val="1A1A1A"/>
                          </a:solidFill>
                        </a:rPr>
                        <a:t>-0.34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6CEE4"/>
                    </a:solidFill>
                  </a:tcPr>
                </a:tc>
                <a:tc>
                  <a:txBody>
                    <a:bodyPr/>
                    <a:lstStyle/>
                    <a:p>
                      <a:pPr algn="ctr" indent="0" marL="0">
                        <a:buNone/>
                      </a:pPr>
                      <a:r>
                        <a:rPr lang="en-US" sz="1000" dirty="0">
                          <a:solidFill>
                            <a:srgbClr val="1A1A1A"/>
                          </a:solidFill>
                        </a:rPr>
                        <a:t>-0.14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EBF4"/>
                    </a:solidFill>
                  </a:tcPr>
                </a:tc>
              </a:tr>
              <a:tr h="438912">
                <a:tc>
                  <a:txBody>
                    <a:bodyPr/>
                    <a:lstStyle/>
                    <a:p>
                      <a:pPr algn="l" indent="0" marL="0">
                        <a:buNone/>
                      </a:pPr>
                      <a:r>
                        <a:rPr lang="en-US" sz="1000" b="1" dirty="0">
                          <a:solidFill>
                            <a:srgbClr val="1A1A1A"/>
                          </a:solidFill>
                        </a:rPr>
                        <a:t>WF1800_s1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-0.53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DB2D5"/>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-0.42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A6C3DE"/>
                    </a:solidFill>
                  </a:tcPr>
                </a:tc>
                <a:tc>
                  <a:txBody>
                    <a:bodyPr/>
                    <a:lstStyle/>
                    <a:p>
                      <a:pPr algn="ctr" indent="0" marL="0">
                        <a:buNone/>
                      </a:pPr>
                      <a:r>
                        <a:rPr lang="en-US" sz="1000" dirty="0">
                          <a:solidFill>
                            <a:srgbClr val="1A1A1A"/>
                          </a:solidFill>
                        </a:rPr>
                        <a:t>0.38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B4AF"/>
                    </a:solidFill>
                  </a:tcPr>
                </a:tc>
                <a:tc>
                  <a:txBody>
                    <a:bodyPr/>
                    <a:lstStyle/>
                    <a:p>
                      <a:pPr algn="ctr" indent="0" marL="0">
                        <a:buNone/>
                      </a:pPr>
                      <a:r>
                        <a:rPr lang="en-US" sz="1000" dirty="0">
                          <a:solidFill>
                            <a:srgbClr val="1A1A1A"/>
                          </a:solidFill>
                        </a:rPr>
                        <a:t>0.23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DD2CF"/>
                    </a:solidFill>
                  </a:tcPr>
                </a:tc>
                <a:tc>
                  <a:txBody>
                    <a:bodyPr/>
                    <a:lstStyle/>
                    <a:p>
                      <a:pPr algn="ctr" indent="0" marL="0">
                        <a:buNone/>
                      </a:pPr>
                      <a:r>
                        <a:rPr lang="en-US" sz="1000" dirty="0">
                          <a:solidFill>
                            <a:srgbClr val="1A1A1A"/>
                          </a:solidFill>
                        </a:rPr>
                        <a:t>0.40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FB0AC"/>
                    </a:solidFill>
                  </a:tcPr>
                </a:tc>
                <a:tc>
                  <a:txBody>
                    <a:bodyPr/>
                    <a:lstStyle/>
                    <a:p>
                      <a:pPr algn="ctr" indent="0" marL="0">
                        <a:buNone/>
                      </a:pPr>
                      <a:r>
                        <a:rPr lang="en-US" sz="1000" dirty="0">
                          <a:solidFill>
                            <a:srgbClr val="1A1A1A"/>
                          </a:solidFill>
                        </a:rPr>
                        <a:t>0.21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ED5D2"/>
                    </a:solidFill>
                  </a:tcPr>
                </a:tc>
              </a:tr>
              <a:tr h="438912">
                <a:tc>
                  <a:txBody>
                    <a:bodyPr/>
                    <a:lstStyle/>
                    <a:p>
                      <a:pPr algn="l" indent="0" marL="0">
                        <a:buNone/>
                      </a:pPr>
                      <a:r>
                        <a:rPr lang="en-US" sz="1000" b="1" dirty="0">
                          <a:solidFill>
                            <a:srgbClr val="1A1A1A"/>
                          </a:solidFill>
                        </a:rPr>
                        <a:t>WF1810_s4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-0.16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DE8F3"/>
                    </a:solidFill>
                  </a:tcPr>
                </a:tc>
                <a:tc>
                  <a:txBody>
                    <a:bodyPr/>
                    <a:lstStyle/>
                    <a:p>
                      <a:pPr algn="ctr" indent="0" marL="0">
                        <a:buNone/>
                      </a:pPr>
                      <a:r>
                        <a:rPr lang="en-US" sz="1000" dirty="0">
                          <a:solidFill>
                            <a:srgbClr val="1A1A1A"/>
                          </a:solidFill>
                        </a:rPr>
                        <a:t>-0.42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A6C3DE"/>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-0.54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BB1D4"/>
                    </a:solidFill>
                  </a:tcPr>
                </a:tc>
                <a:tc>
                  <a:txBody>
                    <a:bodyPr/>
                    <a:lstStyle/>
                    <a:p>
                      <a:pPr algn="ctr" indent="0" marL="0">
                        <a:buNone/>
                      </a:pPr>
                      <a:r>
                        <a:rPr lang="en-US" sz="1000" dirty="0">
                          <a:solidFill>
                            <a:srgbClr val="FFFFFF"/>
                          </a:solidFill>
                        </a:rPr>
                        <a:t>-0.56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7AED3"/>
                    </a:solidFill>
                  </a:tcPr>
                </a:tc>
                <a:tc>
                  <a:txBody>
                    <a:bodyPr/>
                    <a:lstStyle/>
                    <a:p>
                      <a:pPr algn="ctr" indent="0" marL="0">
                        <a:buNone/>
                      </a:pPr>
                      <a:r>
                        <a:rPr lang="en-US" sz="1000" dirty="0">
                          <a:solidFill>
                            <a:srgbClr val="1A1A1A"/>
                          </a:solidFill>
                        </a:rPr>
                        <a:t>-0.33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8CFE5"/>
                    </a:solidFill>
                  </a:tcPr>
                </a:tc>
                <a:tc>
                  <a:txBody>
                    <a:bodyPr/>
                    <a:lstStyle/>
                    <a:p>
                      <a:pPr algn="ctr" indent="0" marL="0">
                        <a:buNone/>
                      </a:pPr>
                      <a:r>
                        <a:rPr lang="en-US" sz="1000" dirty="0">
                          <a:solidFill>
                            <a:srgbClr val="1A1A1A"/>
                          </a:solidFill>
                        </a:rPr>
                        <a:t>-0.27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5D8EA"/>
                    </a:solidFill>
                  </a:tcPr>
                </a:tc>
              </a:tr>
              <a:tr h="438912">
                <a:tc>
                  <a:txBody>
                    <a:bodyPr/>
                    <a:lstStyle/>
                    <a:p>
                      <a:pPr algn="l" indent="0" marL="0">
                        <a:buNone/>
                      </a:pPr>
                      <a:r>
                        <a:rPr lang="en-US" sz="1000" b="1" dirty="0">
                          <a:solidFill>
                            <a:srgbClr val="1A1A1A"/>
                          </a:solidFill>
                        </a:rPr>
                        <a:t>WF2040_s3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-0.36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3CCE3"/>
                    </a:solidFill>
                  </a:tcPr>
                </a:tc>
                <a:tc>
                  <a:txBody>
                    <a:bodyPr/>
                    <a:lstStyle/>
                    <a:p>
                      <a:pPr algn="ctr" indent="0" marL="0">
                        <a:buNone/>
                      </a:pPr>
                      <a:r>
                        <a:rPr lang="en-US" sz="1000" dirty="0">
                          <a:solidFill>
                            <a:srgbClr val="1A1A1A"/>
                          </a:solidFill>
                        </a:rPr>
                        <a:t>0.38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B4AF"/>
                    </a:solidFill>
                  </a:tcPr>
                </a:tc>
                <a:tc>
                  <a:txBody>
                    <a:bodyPr/>
                    <a:lstStyle/>
                    <a:p>
                      <a:pPr algn="ctr" indent="0" marL="0">
                        <a:buNone/>
                      </a:pPr>
                      <a:r>
                        <a:rPr lang="en-US" sz="1000" dirty="0">
                          <a:solidFill>
                            <a:srgbClr val="1A1A1A"/>
                          </a:solidFill>
                        </a:rPr>
                        <a:t>-0.54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BB1D4"/>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0.33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5BFBB"/>
                    </a:solidFill>
                  </a:tcPr>
                </a:tc>
                <a:tc>
                  <a:txBody>
                    <a:bodyPr/>
                    <a:lstStyle/>
                    <a:p>
                      <a:pPr algn="ctr" indent="0" marL="0">
                        <a:buNone/>
                      </a:pPr>
                      <a:r>
                        <a:rPr lang="en-US" sz="1000" dirty="0">
                          <a:solidFill>
                            <a:srgbClr val="FFFFFF"/>
                          </a:solidFill>
                        </a:rPr>
                        <a:t>0.69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9776F"/>
                    </a:solidFill>
                  </a:tcPr>
                </a:tc>
                <a:tc>
                  <a:txBody>
                    <a:bodyPr/>
                    <a:lstStyle/>
                    <a:p>
                      <a:pPr algn="ctr" indent="0" marL="0">
                        <a:buNone/>
                      </a:pPr>
                      <a:r>
                        <a:rPr lang="en-US" sz="1000" dirty="0">
                          <a:solidFill>
                            <a:srgbClr val="1A1A1A"/>
                          </a:solidFill>
                        </a:rPr>
                        <a:t>0.31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C2BE"/>
                    </a:solidFill>
                  </a:tcPr>
                </a:tc>
              </a:tr>
              <a:tr h="438912">
                <a:tc>
                  <a:txBody>
                    <a:bodyPr/>
                    <a:lstStyle/>
                    <a:p>
                      <a:pPr algn="l" indent="0" marL="0">
                        <a:buNone/>
                      </a:pPr>
                      <a:r>
                        <a:rPr lang="en-US" sz="1000" b="1" dirty="0">
                          <a:solidFill>
                            <a:srgbClr val="1A1A1A"/>
                          </a:solidFill>
                        </a:rPr>
                        <a:t>FD850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0.12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5E7E6"/>
                    </a:solidFill>
                  </a:tcPr>
                </a:tc>
                <a:tc>
                  <a:txBody>
                    <a:bodyPr/>
                    <a:lstStyle/>
                    <a:p>
                      <a:pPr algn="ctr" indent="0" marL="0">
                        <a:buNone/>
                      </a:pPr>
                      <a:r>
                        <a:rPr lang="en-US" sz="1000" dirty="0">
                          <a:solidFill>
                            <a:srgbClr val="1A1A1A"/>
                          </a:solidFill>
                        </a:rPr>
                        <a:t>0.23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DD2CF"/>
                    </a:solidFill>
                  </a:tcPr>
                </a:tc>
                <a:tc>
                  <a:txBody>
                    <a:bodyPr/>
                    <a:lstStyle/>
                    <a:p>
                      <a:pPr algn="ctr" indent="0" marL="0">
                        <a:buNone/>
                      </a:pPr>
                      <a:r>
                        <a:rPr lang="en-US" sz="1000" dirty="0">
                          <a:solidFill>
                            <a:srgbClr val="FFFFFF"/>
                          </a:solidFill>
                        </a:rPr>
                        <a:t>-0.56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7AED3"/>
                    </a:solidFill>
                  </a:tcPr>
                </a:tc>
                <a:tc>
                  <a:txBody>
                    <a:bodyPr/>
                    <a:lstStyle/>
                    <a:p>
                      <a:pPr algn="ctr" indent="0" marL="0">
                        <a:buNone/>
                      </a:pPr>
                      <a:r>
                        <a:rPr lang="en-US" sz="1000" dirty="0">
                          <a:solidFill>
                            <a:srgbClr val="1A1A1A"/>
                          </a:solidFill>
                        </a:rPr>
                        <a:t>0.33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5BFBB"/>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0.28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9C8C5"/>
                    </a:solidFill>
                  </a:tcPr>
                </a:tc>
                <a:tc>
                  <a:txBody>
                    <a:bodyPr/>
                    <a:lstStyle/>
                    <a:p>
                      <a:pPr algn="ctr" indent="0" marL="0">
                        <a:buNone/>
                      </a:pPr>
                      <a:r>
                        <a:rPr lang="en-US" sz="1000" dirty="0">
                          <a:solidFill>
                            <a:srgbClr val="1A1A1A"/>
                          </a:solidFill>
                        </a:rPr>
                        <a:t>0.39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B3AF"/>
                    </a:solidFill>
                  </a:tcPr>
                </a:tc>
              </a:tr>
              <a:tr h="438912">
                <a:tc>
                  <a:txBody>
                    <a:bodyPr/>
                    <a:lstStyle/>
                    <a:p>
                      <a:pPr algn="l" indent="0" marL="0">
                        <a:buNone/>
                      </a:pPr>
                      <a:r>
                        <a:rPr lang="en-US" sz="1000" b="1" dirty="0">
                          <a:solidFill>
                            <a:srgbClr val="1A1A1A"/>
                          </a:solidFill>
                        </a:rPr>
                        <a:t>CR1800-2100 pos</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-0.34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6CEE4"/>
                    </a:solidFill>
                  </a:tcPr>
                </a:tc>
                <a:tc>
                  <a:txBody>
                    <a:bodyPr/>
                    <a:lstStyle/>
                    <a:p>
                      <a:pPr algn="ctr" indent="0" marL="0">
                        <a:buNone/>
                      </a:pPr>
                      <a:r>
                        <a:rPr lang="en-US" sz="1000" dirty="0">
                          <a:solidFill>
                            <a:srgbClr val="1A1A1A"/>
                          </a:solidFill>
                        </a:rPr>
                        <a:t>0.40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FB0AC"/>
                    </a:solidFill>
                  </a:tcPr>
                </a:tc>
                <a:tc>
                  <a:txBody>
                    <a:bodyPr/>
                    <a:lstStyle/>
                    <a:p>
                      <a:pPr algn="ctr" indent="0" marL="0">
                        <a:buNone/>
                      </a:pPr>
                      <a:r>
                        <a:rPr lang="en-US" sz="1000" dirty="0">
                          <a:solidFill>
                            <a:srgbClr val="1A1A1A"/>
                          </a:solidFill>
                        </a:rPr>
                        <a:t>-0.33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8CFE5"/>
                    </a:solidFill>
                  </a:tcPr>
                </a:tc>
                <a:tc>
                  <a:txBody>
                    <a:bodyPr/>
                    <a:lstStyle/>
                    <a:p>
                      <a:pPr algn="ctr" indent="0" marL="0">
                        <a:buNone/>
                      </a:pPr>
                      <a:r>
                        <a:rPr lang="en-US" sz="1000" dirty="0">
                          <a:solidFill>
                            <a:srgbClr val="FFFFFF"/>
                          </a:solidFill>
                        </a:rPr>
                        <a:t>0.69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9776F"/>
                    </a:solidFill>
                  </a:tcPr>
                </a:tc>
                <a:tc>
                  <a:txBody>
                    <a:bodyPr/>
                    <a:lstStyle/>
                    <a:p>
                      <a:pPr algn="ctr" indent="0" marL="0">
                        <a:buNone/>
                      </a:pPr>
                      <a:r>
                        <a:rPr lang="en-US" sz="1000" dirty="0">
                          <a:solidFill>
                            <a:srgbClr val="1A1A1A"/>
                          </a:solidFill>
                        </a:rPr>
                        <a:t>0.28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9C8C5"/>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c>
                  <a:txBody>
                    <a:bodyPr/>
                    <a:lstStyle/>
                    <a:p>
                      <a:pPr algn="ctr" indent="0" marL="0">
                        <a:buNone/>
                      </a:pPr>
                      <a:r>
                        <a:rPr lang="en-US" sz="1000" dirty="0">
                          <a:solidFill>
                            <a:srgbClr val="1A1A1A"/>
                          </a:solidFill>
                        </a:rPr>
                        <a:t>0.41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EADA8"/>
                    </a:solidFill>
                  </a:tcPr>
                </a:tc>
              </a:tr>
              <a:tr h="438912">
                <a:tc>
                  <a:txBody>
                    <a:bodyPr/>
                    <a:lstStyle/>
                    <a:p>
                      <a:pPr algn="l" indent="0" marL="0">
                        <a:buNone/>
                      </a:pPr>
                      <a:r>
                        <a:rPr lang="en-US" sz="1000" b="1" dirty="0">
                          <a:solidFill>
                            <a:srgbClr val="1A1A1A"/>
                          </a:solidFill>
                        </a:rPr>
                        <a:t>WF710_s2</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tcPr>
                </a:tc>
                <a:tc>
                  <a:txBody>
                    <a:bodyPr/>
                    <a:lstStyle/>
                    <a:p>
                      <a:pPr algn="ctr" indent="0" marL="0">
                        <a:buNone/>
                      </a:pPr>
                      <a:r>
                        <a:rPr lang="en-US" sz="1000" dirty="0">
                          <a:solidFill>
                            <a:srgbClr val="1A1A1A"/>
                          </a:solidFill>
                        </a:rPr>
                        <a:t>-0.14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EBF4"/>
                    </a:solidFill>
                  </a:tcPr>
                </a:tc>
                <a:tc>
                  <a:txBody>
                    <a:bodyPr/>
                    <a:lstStyle/>
                    <a:p>
                      <a:pPr algn="ctr" indent="0" marL="0">
                        <a:buNone/>
                      </a:pPr>
                      <a:r>
                        <a:rPr lang="en-US" sz="1000" dirty="0">
                          <a:solidFill>
                            <a:srgbClr val="1A1A1A"/>
                          </a:solidFill>
                        </a:rPr>
                        <a:t>0.21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ED5D2"/>
                    </a:solidFill>
                  </a:tcPr>
                </a:tc>
                <a:tc>
                  <a:txBody>
                    <a:bodyPr/>
                    <a:lstStyle/>
                    <a:p>
                      <a:pPr algn="ctr" indent="0" marL="0">
                        <a:buNone/>
                      </a:pPr>
                      <a:r>
                        <a:rPr lang="en-US" sz="1000" dirty="0">
                          <a:solidFill>
                            <a:srgbClr val="1A1A1A"/>
                          </a:solidFill>
                        </a:rPr>
                        <a:t>-0.27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C5D8EA"/>
                    </a:solidFill>
                  </a:tcPr>
                </a:tc>
                <a:tc>
                  <a:txBody>
                    <a:bodyPr/>
                    <a:lstStyle/>
                    <a:p>
                      <a:pPr algn="ctr" indent="0" marL="0">
                        <a:buNone/>
                      </a:pPr>
                      <a:r>
                        <a:rPr lang="en-US" sz="1000" dirty="0">
                          <a:solidFill>
                            <a:srgbClr val="1A1A1A"/>
                          </a:solidFill>
                        </a:rPr>
                        <a:t>0.31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7C2BE"/>
                    </a:solidFill>
                  </a:tcPr>
                </a:tc>
                <a:tc>
                  <a:txBody>
                    <a:bodyPr/>
                    <a:lstStyle/>
                    <a:p>
                      <a:pPr algn="ctr" indent="0" marL="0">
                        <a:buNone/>
                      </a:pPr>
                      <a:r>
                        <a:rPr lang="en-US" sz="1000" dirty="0">
                          <a:solidFill>
                            <a:srgbClr val="1A1A1A"/>
                          </a:solidFill>
                        </a:rPr>
                        <a:t>0.39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1B3AF"/>
                    </a:solidFill>
                  </a:tcPr>
                </a:tc>
                <a:tc>
                  <a:txBody>
                    <a:bodyPr/>
                    <a:lstStyle/>
                    <a:p>
                      <a:pPr algn="ctr" indent="0" marL="0">
                        <a:buNone/>
                      </a:pPr>
                      <a:r>
                        <a:rPr lang="en-US" sz="1000" dirty="0">
                          <a:solidFill>
                            <a:srgbClr val="1A1A1A"/>
                          </a:solidFill>
                        </a:rPr>
                        <a:t>0.41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DEADA8"/>
                    </a:solidFill>
                  </a:tcPr>
                </a:tc>
                <a:tc>
                  <a:txBody>
                    <a:bodyPr/>
                    <a:lstStyle/>
                    <a:p>
                      <a:pPr algn="ctr" indent="0" marL="0">
                        <a:buNone/>
                      </a:pPr>
                      <a:r>
                        <a:rPr lang="en-US" sz="1000" dirty="0">
                          <a:solidFill>
                            <a:srgbClr val="FFFFFF"/>
                          </a:solidFill>
                        </a:rPr>
                        <a:t>1.00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B03A2E"/>
                    </a:solidFill>
                  </a:tcPr>
                </a:tc>
              </a:tr>
            </a:tbl>
          </a:graphicData>
        </a:graphic>
      </p:graphicFrame>
      <p:sp>
        <p:nvSpPr>
          <p:cNvPr id="4" name="Text 1"/>
          <p:cNvSpPr txBox="1"/>
          <p:nvPr/>
        </p:nvSpPr>
        <p:spPr>
          <a:xfrm>
            <a:off x="457200" y="4800600"/>
            <a:ext cx="6675120" cy="274320"/>
          </a:xfrm>
          <a:prstGeom prst="rect">
            <a:avLst/>
          </a:prstGeom>
          <a:noFill/>
          <a:ln/>
        </p:spPr>
        <p:txBody>
          <a:bodyPr wrap="square" lIns="0" tIns="0" rIns="0" bIns="0" rtlCol="0" anchor="ctr"/>
          <a:lstStyle/>
          <a:p>
            <a:pPr indent="0" marL="0">
              <a:buNone/>
            </a:pPr>
            <a:r>
              <a:rPr lang="en-US" sz="1000" i="1" dirty="0">
                <a:solidFill>
                  <a:schemeClr val="accent6"/>
                </a:solidFill>
              </a:rPr>
              <a:t>Colour: blue = negative r, red = positive r, white = 0 (|r| &gt;= 0.8 would indicate redundancy)</a:t>
            </a:r>
            <a:endParaRPr lang="en-US" sz="1000" dirty="0"/>
          </a:p>
        </p:txBody>
      </p:sp>
      <p:graphicFrame>
        <p:nvGraphicFramePr>
          <p:cNvPr id="5" name="Chart 0" descr=""/>
          <p:cNvGraphicFramePr/>
          <p:nvPr/>
        </p:nvGraphicFramePr>
        <p:xfrm>
          <a:off x="7406640" y="1143000"/>
          <a:ext cx="4297680" cy="26974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333488" y="3922776"/>
            <a:ext cx="4443984" cy="2194560"/>
          </a:xfrm>
          <a:prstGeom prst="roundRect">
            <a:avLst>
              <a:gd name="adj" fmla="val 2083"/>
            </a:avLst>
          </a:prstGeom>
          <a:solidFill>
            <a:srgbClr val="F6F8F5"/>
          </a:solidFill>
          <a:ln w="12700">
            <a:solidFill>
              <a:srgbClr val="F6F8F5"/>
            </a:solidFill>
            <a:prstDash val="solid"/>
          </a:ln>
        </p:spPr>
      </p:sp>
      <p:sp>
        <p:nvSpPr>
          <p:cNvPr id="7" name="Text 3"/>
          <p:cNvSpPr txBox="1"/>
          <p:nvPr/>
        </p:nvSpPr>
        <p:spPr>
          <a:xfrm>
            <a:off x="7406640" y="3977640"/>
            <a:ext cx="4297680" cy="2103120"/>
          </a:xfrm>
          <a:prstGeom prst="rect">
            <a:avLst/>
          </a:prstGeom>
          <a:noFill/>
          <a:ln/>
        </p:spPr>
        <p:txBody>
          <a:bodyPr wrap="square" lIns="254" tIns="254" rIns="254" bIns="254" rtlCol="0" anchor="t"/>
          <a:lstStyle/>
          <a:p>
            <a:pPr indent="0" marL="0">
              <a:buNone/>
            </a:pPr>
            <a:r>
              <a:rPr lang="en-US" sz="1100" b="1" dirty="0">
                <a:solidFill>
                  <a:srgbClr val="1F3D2B"/>
                </a:solidFill>
              </a:rPr>
              <a:t>What it shows: </a:t>
            </a:r>
            <a:pPr indent="0" marL="0">
              <a:buNone/>
            </a:pPr>
            <a:r>
              <a:rPr lang="en-US" sz="1100" dirty="0">
                <a:solidFill>
                  <a:srgbClr val="444444"/>
                </a:solidFill>
              </a:rPr>
              <a:t>Pearson r between every pair of final features (blue = negative, red = positive); VIF = how much a coefficient variance is inflated by the other features (VIF &gt; 10 = serious collinearity).</a:t>
            </a:r>
            <a:endParaRPr lang="en-US" sz="1100" dirty="0"/>
          </a:p>
          <a:p>
            <a:pPr indent="0" marL="0">
              <a:buNone/>
            </a:pPr>
            <a:r>
              <a:rPr lang="en-US" sz="500" dirty="0">
                <a:solidFill>
                  <a:srgbClr val="000000"/>
                </a:solidFill>
              </a:rPr>
              <a:t> </a:t>
            </a:r>
            <a:endParaRPr lang="en-US" sz="1100" dirty="0"/>
          </a:p>
          <a:p>
            <a:pPr indent="0" marL="0">
              <a:buNone/>
            </a:pPr>
            <a:r>
              <a:rPr lang="en-US" sz="1100" b="1" dirty="0">
                <a:solidFill>
                  <a:srgbClr val="B03A2E"/>
                </a:solidFill>
              </a:rPr>
              <a:t>Finding: </a:t>
            </a:r>
            <a:pPr indent="0" marL="0">
              <a:buNone/>
            </a:pPr>
            <a:r>
              <a:rPr lang="en-US" sz="1100" dirty="0">
                <a:solidFill>
                  <a:srgbClr val="1A1A1A"/>
                </a:solidFill>
              </a:rPr>
              <a:t>Final robust set: max |r| 0.69, max VIF 3.2 (all &lt; 10), condition number 4.9: no harmful multicollinearity. Correlations are weak to moderate, so each feature adds separate information (water shoulder, NIR slope, red edge, SWIR).</a:t>
            </a:r>
            <a:endParaRPr lang="en-US" sz="1100" dirty="0"/>
          </a:p>
        </p:txBody>
      </p:sp>
      <p:sp>
        <p:nvSpPr>
          <p:cNvPr id="8" name="Text 4"/>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Final robust set selected on all spectra (R15); Belsley et al. 1980; Dormann et al. 2013; workbook sheet 26b_Collinearity_VIF</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R15h. How the selection removed multicollinearity</a:t>
            </a:r>
            <a:endParaRPr lang="en-US" sz="2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400800" cy="914400"/>
        </p:xfrm>
        <a:graphic>
          <a:graphicData uri="http://schemas.openxmlformats.org/drawingml/2006/table">
            <a:tbl>
              <a:tblPr/>
              <a:tblGrid>
                <a:gridCol w="2651760"/>
                <a:gridCol w="548640"/>
                <a:gridCol w="731520"/>
                <a:gridCol w="1005840"/>
                <a:gridCol w="731520"/>
                <a:gridCol w="731520"/>
              </a:tblGrid>
              <a:tr h="438912">
                <a:tc>
                  <a:txBody>
                    <a:bodyPr/>
                    <a:lstStyle/>
                    <a:p>
                      <a:pPr algn="ctr" indent="0" marL="0">
                        <a:buNone/>
                      </a:pPr>
                      <a:r>
                        <a:rPr lang="en-US" sz="1100" b="1" dirty="0">
                          <a:solidFill>
                            <a:srgbClr val="FFFFFF"/>
                          </a:solidFill>
                        </a:rPr>
                        <a:t>Stage of robust selection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max |r|</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max VIF</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VIF &gt; 10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Cond. no.</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438912">
                <a:tc>
                  <a:txBody>
                    <a:bodyPr/>
                    <a:lstStyle/>
                    <a:p>
                      <a:pPr indent="0" marL="0">
                        <a:buNone/>
                      </a:pPr>
                      <a:r>
                        <a:rPr lang="en-US" sz="1100" dirty="0">
                          <a:solidFill>
                            <a:srgbClr val="1A1A1A"/>
                          </a:solidFill>
                        </a:rPr>
                        <a:t>Date-stable ReliefF candidates (top 40)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40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131,387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37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4,048,234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A1A1A"/>
                          </a:solidFill>
                        </a:rPr>
                        <a:t>After redundancy filter (|r| &lt; 0.98)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38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0.98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128,254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37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1,637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438912">
                <a:tc>
                  <a:txBody>
                    <a:bodyPr/>
                    <a:lstStyle/>
                    <a:p>
                      <a:pPr indent="0" marL="0">
                        <a:buNone/>
                      </a:pPr>
                      <a:r>
                        <a:rPr lang="en-US" sz="1100" dirty="0">
                          <a:solidFill>
                            <a:srgbClr val="1A1A1A"/>
                          </a:solidFill>
                        </a:rPr>
                        <a:t>After VIF &lt; 10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12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0.73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9.2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A1A1A"/>
                          </a:solidFill>
                        </a:rPr>
                        <a:t>Final set after SFFS-LDA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0.69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3.2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4.9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graphicFrame>
        <p:nvGraphicFramePr>
          <p:cNvPr id="4" name="Chart 0" descr=""/>
          <p:cNvGraphicFramePr/>
          <p:nvPr/>
        </p:nvGraphicFramePr>
        <p:xfrm>
          <a:off x="7132320" y="1143000"/>
          <a:ext cx="457200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384048" y="3694176"/>
            <a:ext cx="6547104" cy="1920240"/>
          </a:xfrm>
          <a:prstGeom prst="roundRect">
            <a:avLst>
              <a:gd name="adj" fmla="val 2381"/>
            </a:avLst>
          </a:prstGeom>
          <a:solidFill>
            <a:srgbClr val="F6F8F5"/>
          </a:solidFill>
          <a:ln w="12700">
            <a:solidFill>
              <a:srgbClr val="F6F8F5"/>
            </a:solidFill>
            <a:prstDash val="solid"/>
          </a:ln>
        </p:spPr>
      </p:sp>
      <p:sp>
        <p:nvSpPr>
          <p:cNvPr id="6" name="Text 2"/>
          <p:cNvSpPr txBox="1"/>
          <p:nvPr/>
        </p:nvSpPr>
        <p:spPr>
          <a:xfrm>
            <a:off x="457200" y="3749040"/>
            <a:ext cx="6400800" cy="182880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Max |r|, max VIF and condition number at each stage of the robust selection, and for every final feature set of E7 and E8.</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redundancy + VIF filter reduced the candidate pool from max VIF 131,387 (37 of 40 features &gt; 10) to 9.0. A |r| &lt; 0.95 rule alone is not enough: ReliefF top-10 (max VIF 119), SFFS (QDA) top-10 (max VIF 12), Consensus (Borda) top-10 (max VIF 74) remain collinear, whereas OFC, SVM-RFE, LASSO and CARS sets stay below 10 (Dormann et al., 2013).</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Tian et al. 2021; Lv et al. 2023; Chong &amp; Jun 2005; Dormann et al. 2013; workbook sheet 26b_Collinearity_VIF</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R15b. OFCs from wrapper-based SFFS (Tian et al., 2021)</a:t>
            </a:r>
            <a:endParaRPr lang="en-US" sz="2800" dirty="0"/>
          </a:p>
        </p:txBody>
      </p:sp>
      <p:graphicFrame>
        <p:nvGraphicFramePr>
          <p:cNvPr id="3" name="Chart 0" descr=""/>
          <p:cNvGraphicFramePr/>
          <p:nvPr/>
        </p:nvGraphicFramePr>
        <p:xfrm>
          <a:off x="457200" y="1143000"/>
          <a:ext cx="658368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914400"/>
        </p:xfrm>
        <a:graphic>
          <a:graphicData uri="http://schemas.openxmlformats.org/drawingml/2006/table">
            <a:tbl>
              <a:tblPr/>
              <a:tblGrid>
                <a:gridCol w="1600200"/>
                <a:gridCol w="502920"/>
                <a:gridCol w="758952"/>
                <a:gridCol w="758952"/>
                <a:gridCol w="768096"/>
              </a:tblGrid>
              <a:tr h="365760">
                <a:tc>
                  <a:txBody>
                    <a:bodyPr/>
                    <a:lstStyle/>
                    <a:p>
                      <a:pPr algn="ctr" indent="0" marL="0">
                        <a:buNone/>
                      </a:pPr>
                      <a:r>
                        <a:rPr lang="en-US" sz="1100" b="1" dirty="0">
                          <a:solidFill>
                            <a:srgbClr val="FFFFFF"/>
                          </a:solidFill>
                        </a:rPr>
                        <a:t>Feature set</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LDA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kNN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00" b="1" dirty="0">
                          <a:solidFill>
                            <a:srgbClr val="FFFFFF"/>
                          </a:solidFill>
                        </a:rPr>
                        <a:t>SVM</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65760">
                <a:tc>
                  <a:txBody>
                    <a:bodyPr/>
                    <a:lstStyle/>
                    <a:p>
                      <a:pPr indent="0" marL="0">
                        <a:buNone/>
                      </a:pPr>
                      <a:r>
                        <a:rPr lang="en-US" sz="1100" dirty="0">
                          <a:solidFill>
                            <a:srgbClr val="1A1A1A"/>
                          </a:solidFill>
                        </a:rPr>
                        <a:t>OFC-LDA</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4.8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rPr>
                        <a:t>0.828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5C377"/>
                    </a:solidFill>
                  </a:tcPr>
                </a:tc>
                <a:tc>
                  <a:txBody>
                    <a:bodyPr/>
                    <a:lstStyle/>
                    <a:p>
                      <a:pPr algn="ctr" indent="0" marL="0">
                        <a:buNone/>
                      </a:pPr>
                      <a:r>
                        <a:rPr lang="en-US" sz="1100" dirty="0">
                          <a:solidFill>
                            <a:srgbClr val="FFFFFF"/>
                          </a:solidFill>
                        </a:rPr>
                        <a:t>0.858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8A464"/>
                    </a:solidFill>
                  </a:tcPr>
                </a:tc>
                <a:tc>
                  <a:txBody>
                    <a:bodyPr/>
                    <a:lstStyle/>
                    <a:p>
                      <a:pPr algn="ctr" indent="0" marL="0">
                        <a:buNone/>
                      </a:pPr>
                      <a:r>
                        <a:rPr lang="en-US" sz="1100" dirty="0">
                          <a:solidFill>
                            <a:srgbClr val="FFFFFF"/>
                          </a:solidFill>
                        </a:rPr>
                        <a:t>0.869</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D985D"/>
                    </a:solidFill>
                  </a:tcPr>
                </a:tc>
              </a:tr>
              <a:tr h="365760">
                <a:tc>
                  <a:txBody>
                    <a:bodyPr/>
                    <a:lstStyle/>
                    <a:p>
                      <a:pPr indent="0" marL="0">
                        <a:buNone/>
                      </a:pPr>
                      <a:r>
                        <a:rPr lang="en-US" sz="1100" dirty="0">
                          <a:solidFill>
                            <a:srgbClr val="1A1A1A"/>
                          </a:solidFill>
                        </a:rPr>
                        <a:t>OFC-kNN</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6.1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100" dirty="0">
                          <a:solidFill>
                            <a:srgbClr val="1A1A1A"/>
                          </a:solidFill>
                        </a:rPr>
                        <a:t>0.821</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DC87D"/>
                    </a:solidFill>
                  </a:tcPr>
                </a:tc>
                <a:tc>
                  <a:txBody>
                    <a:bodyPr/>
                    <a:lstStyle/>
                    <a:p>
                      <a:pPr algn="ctr" indent="0" marL="0">
                        <a:buNone/>
                      </a:pPr>
                      <a:r>
                        <a:rPr lang="en-US" sz="1100" dirty="0">
                          <a:solidFill>
                            <a:srgbClr val="FFFFFF"/>
                          </a:solidFill>
                        </a:rPr>
                        <a:t>0.885</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F8853"/>
                    </a:solidFill>
                  </a:tcPr>
                </a:tc>
                <a:tc>
                  <a:txBody>
                    <a:bodyPr/>
                    <a:lstStyle/>
                    <a:p>
                      <a:pPr algn="ctr" indent="0" marL="0">
                        <a:buNone/>
                      </a:pPr>
                      <a:r>
                        <a:rPr lang="en-US" sz="1100" dirty="0">
                          <a:solidFill>
                            <a:srgbClr val="FFFFFF"/>
                          </a:solidFill>
                        </a:rPr>
                        <a:t>0.900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07949"/>
                    </a:solidFill>
                  </a:tcPr>
                </a:tc>
              </a:tr>
              <a:tr h="365760">
                <a:tc>
                  <a:txBody>
                    <a:bodyPr/>
                    <a:lstStyle/>
                    <a:p>
                      <a:pPr indent="0" marL="0">
                        <a:buNone/>
                      </a:pPr>
                      <a:r>
                        <a:rPr lang="en-US" sz="1100" dirty="0">
                          <a:solidFill>
                            <a:srgbClr val="1A1A1A"/>
                          </a:solidFill>
                        </a:rPr>
                        <a:t>OFC-SVM</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6.6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rPr>
                        <a:t>0.822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BC77B"/>
                    </a:solidFill>
                  </a:tcPr>
                </a:tc>
                <a:tc>
                  <a:txBody>
                    <a:bodyPr/>
                    <a:lstStyle/>
                    <a:p>
                      <a:pPr algn="ctr" indent="0" marL="0">
                        <a:buNone/>
                      </a:pPr>
                      <a:r>
                        <a:rPr lang="en-US" sz="1100" dirty="0">
                          <a:solidFill>
                            <a:srgbClr val="FFFFFF"/>
                          </a:solidFill>
                        </a:rPr>
                        <a:t>0.886</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D8752"/>
                    </a:solidFill>
                  </a:tcPr>
                </a:tc>
                <a:tc>
                  <a:txBody>
                    <a:bodyPr/>
                    <a:lstStyle/>
                    <a:p>
                      <a:pPr algn="ctr" indent="0" marL="0">
                        <a:buNone/>
                      </a:pPr>
                      <a:r>
                        <a:rPr lang="en-US" sz="1100" dirty="0">
                          <a:solidFill>
                            <a:srgbClr val="FFFFFF"/>
                          </a:solidFill>
                        </a:rPr>
                        <a:t>0.904</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C7446"/>
                    </a:solidFill>
                  </a:tcPr>
                </a:tc>
              </a:tr>
              <a:tr h="365760">
                <a:tc>
                  <a:txBody>
                    <a:bodyPr/>
                    <a:lstStyle/>
                    <a:p>
                      <a:pPr indent="0" marL="0">
                        <a:buNone/>
                      </a:pPr>
                      <a:r>
                        <a:rPr lang="en-US" sz="1100" dirty="0">
                          <a:solidFill>
                            <a:srgbClr val="1A1A1A"/>
                          </a:solidFill>
                        </a:rPr>
                        <a:t>All DSFs</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00" dirty="0">
                          <a:solidFill>
                            <a:srgbClr val="1A1A1A"/>
                          </a:solidFill>
                        </a:rPr>
                        <a:t>9.0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100" dirty="0">
                          <a:solidFill>
                            <a:srgbClr val="1A1A1A"/>
                          </a:solidFill>
                        </a:rPr>
                        <a:t>0.833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1BE74"/>
                    </a:solidFill>
                  </a:tcPr>
                </a:tc>
                <a:tc>
                  <a:txBody>
                    <a:bodyPr/>
                    <a:lstStyle/>
                    <a:p>
                      <a:pPr algn="ctr" indent="0" marL="0">
                        <a:buNone/>
                      </a:pPr>
                      <a:r>
                        <a:rPr lang="en-US" sz="1100" dirty="0">
                          <a:solidFill>
                            <a:srgbClr val="FFFFFF"/>
                          </a:solidFill>
                        </a:rPr>
                        <a:t>0.892</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7814E"/>
                    </a:solidFill>
                  </a:tcPr>
                </a:tc>
                <a:tc>
                  <a:txBody>
                    <a:bodyPr/>
                    <a:lstStyle/>
                    <a:p>
                      <a:pPr algn="ctr" indent="0" marL="0">
                        <a:buNone/>
                      </a:pPr>
                      <a:r>
                        <a:rPr lang="en-US" sz="1100" dirty="0">
                          <a:solidFill>
                            <a:srgbClr val="FFFFFF"/>
                          </a:solidFill>
                        </a:rPr>
                        <a:t>0.913</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36B41"/>
                    </a:solidFill>
                  </a:tcPr>
                </a:tc>
              </a:tr>
              <a:tr h="365760">
                <a:tc>
                  <a:txBody>
                    <a:bodyPr/>
                    <a:lstStyle/>
                    <a:p>
                      <a:pPr indent="0" marL="0">
                        <a:buNone/>
                      </a:pPr>
                      <a:r>
                        <a:rPr lang="en-US" sz="1100" dirty="0">
                          <a:solidFill>
                            <a:srgbClr val="1A1A1A"/>
                          </a:solidFill>
                        </a:rPr>
                        <a:t>Full spectrum (SNV)</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rPr>
                        <a:t>201.0</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FFFFFF"/>
                          </a:solidFill>
                        </a:rPr>
                        <a:t>0.858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8A464"/>
                    </a:solidFill>
                  </a:tcPr>
                </a:tc>
                <a:tc>
                  <a:txBody>
                    <a:bodyPr/>
                    <a:lstStyle/>
                    <a:p>
                      <a:pPr algn="ctr" indent="0" marL="0">
                        <a:buNone/>
                      </a:pPr>
                      <a:r>
                        <a:rPr lang="en-US" sz="1100" dirty="0">
                          <a:solidFill>
                            <a:srgbClr val="1A1A1A"/>
                          </a:solidFill>
                        </a:rPr>
                        <a:t>0.707</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8FCDF"/>
                    </a:solidFill>
                  </a:tcPr>
                </a:tc>
                <a:tc>
                  <a:txBody>
                    <a:bodyPr/>
                    <a:lstStyle/>
                    <a:p>
                      <a:pPr algn="ctr" indent="0" marL="0">
                        <a:buNone/>
                      </a:pPr>
                      <a:r>
                        <a:rPr lang="en-US" sz="1100" dirty="0">
                          <a:solidFill>
                            <a:srgbClr val="FFFFFF"/>
                          </a:solidFill>
                        </a:rPr>
                        <a:t>0.878</a:t>
                      </a:r>
                      <a:endParaRPr lang="en-US" sz="11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58F57"/>
                    </a:solidFill>
                  </a:tcPr>
                </a:tc>
              </a:tr>
            </a:tbl>
          </a:graphicData>
        </a:graphic>
      </p:graphicFrame>
      <p:sp>
        <p:nvSpPr>
          <p:cNvPr id="5" name="Shape 1"/>
          <p:cNvSpPr/>
          <p:nvPr/>
        </p:nvSpPr>
        <p:spPr>
          <a:xfrm>
            <a:off x="7242048" y="3557016"/>
            <a:ext cx="4535424" cy="2560320"/>
          </a:xfrm>
          <a:prstGeom prst="roundRect">
            <a:avLst>
              <a:gd name="adj" fmla="val 1786"/>
            </a:avLst>
          </a:prstGeom>
          <a:solidFill>
            <a:srgbClr val="F6F8F5"/>
          </a:solidFill>
          <a:ln w="12700">
            <a:solidFill>
              <a:srgbClr val="F6F8F5"/>
            </a:solidFill>
            <a:prstDash val="solid"/>
          </a:ln>
        </p:spPr>
      </p:sp>
      <p:sp>
        <p:nvSpPr>
          <p:cNvPr id="6" name="Text 2"/>
          <p:cNvSpPr txBox="1"/>
          <p:nvPr/>
        </p:nvSpPr>
        <p:spPr>
          <a:xfrm>
            <a:off x="7315200" y="3611880"/>
            <a:ext cx="4389120" cy="24688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OFC = optimal feature combination found by SFFS with a given classifier as judge (Tian et al., 2021); each set is then tested with LDA, kNN and SVM.</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Tian-style OFCs are compact (median 5, 6 and 7 features). Wrapper-matched models: OFC-LDA+LDA 0.828, OFC-kNN+kNN 0.885, OFC-SVM+SVM 0.905 BA. All DSFs + SVM: 0.913; full spectrum + SVM: 0.878. Best in E7: All DSFs + SVM (0.913). OFCs chosen by a non-linear wrapper work best with non-linear classifiers, as Tian et al. (2021) found.</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Tian et al. 2021; workbook sheet 27b_OFC_Tian2021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R15c. Composition of the final OFCs and accuracy by date</a:t>
            </a:r>
            <a:endParaRPr lang="en-US" sz="2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035040" cy="914400"/>
        </p:xfrm>
        <a:graphic>
          <a:graphicData uri="http://schemas.openxmlformats.org/drawingml/2006/table">
            <a:tbl>
              <a:tblPr/>
              <a:tblGrid>
                <a:gridCol w="365760"/>
                <a:gridCol w="1892808"/>
                <a:gridCol w="1892808"/>
                <a:gridCol w="1883664"/>
              </a:tblGrid>
              <a:tr h="329184">
                <a:tc>
                  <a:txBody>
                    <a:bodyPr/>
                    <a:lstStyle/>
                    <a:p>
                      <a:pPr algn="ctr" indent="0" marL="0">
                        <a:buNone/>
                      </a:pPr>
                      <a:r>
                        <a:rPr lang="en-US" sz="1150" b="1" dirty="0">
                          <a:solidFill>
                            <a:srgbClr val="FFFFFF"/>
                          </a:solidFill>
                        </a:rPr>
                        <a: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OFC-LDA</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OFC-kNN</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OFC-SVM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150" dirty="0">
                          <a:solidFill>
                            <a:srgbClr val="1A1A1A"/>
                          </a:solidFill>
                        </a:rPr>
                        <a:t>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ND(1800,1840)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WF1800_s4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WF1360_s1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2</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WF1360_s1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WF1360_s1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WF1800_s4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50" dirty="0">
                          <a:solidFill>
                            <a:srgbClr val="1A1A1A"/>
                          </a:solidFill>
                        </a:rPr>
                        <a:t>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WF850_s4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WF1800_s1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WF850_s4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WF1810_s4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WF1010_s6</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WF1810_s4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50" dirty="0">
                          <a:solidFill>
                            <a:srgbClr val="1A1A1A"/>
                          </a:solidFill>
                        </a:rPr>
                        <a:t>5</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WF850_s4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ND(1800,1840)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6</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WF1810_s4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WF1800_s1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50" dirty="0">
                          <a:solidFill>
                            <a:srgbClr val="1A1A1A"/>
                          </a:solidFill>
                        </a:rPr>
                        <a:t>7</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CR920-1060_width</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WF1010_s6</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754880"/>
            <a:ext cx="6035040" cy="1280160"/>
          </a:xfrm>
          <a:prstGeom prst="rect">
            <a:avLst/>
          </a:prstGeom>
          <a:noFill/>
          <a:ln/>
        </p:spPr>
        <p:txBody>
          <a:bodyPr wrap="square" lIns="0" tIns="0" rIns="0" bIns="0" rtlCol="0" anchor="t"/>
          <a:lstStyle/>
          <a:p>
            <a:pPr indent="0" marL="0">
              <a:buNone/>
            </a:pPr>
            <a:r>
              <a:rPr lang="en-US" sz="1100" dirty="0">
                <a:solidFill>
                  <a:schemeClr val="accent6"/>
                </a:solidFill>
              </a:rPr>
              <a:t>DSF pool (all data, 9): WF1800_s1, WF1810_s4, WF1800_s4, WF1360_s1, CR920-1060_width, ND(1800,1840), WF1010_s6, FD1940, WF850_s4</a:t>
            </a:r>
            <a:endParaRPr lang="en-US" sz="1100" dirty="0"/>
          </a:p>
        </p:txBody>
      </p:sp>
      <p:graphicFrame>
        <p:nvGraphicFramePr>
          <p:cNvPr id="5" name="Chart 0" descr=""/>
          <p:cNvGraphicFramePr/>
          <p:nvPr/>
        </p:nvGraphicFramePr>
        <p:xfrm>
          <a:off x="6766560" y="1143000"/>
          <a:ext cx="4937760" cy="4892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Final OFCs re-selected on all data for interpretation; per-date accuracy from the CV predictions; Tian et al. 2021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R15d. E8: best selectors compared on identical plot-grouped folds</a:t>
            </a:r>
            <a:endParaRPr lang="en-US" sz="2800" dirty="0"/>
          </a:p>
        </p:txBody>
      </p:sp>
      <p:graphicFrame>
        <p:nvGraphicFramePr>
          <p:cNvPr id="3" name="Chart 0" descr=""/>
          <p:cNvGraphicFramePr/>
          <p:nvPr/>
        </p:nvGraphicFramePr>
        <p:xfrm>
          <a:off x="457200" y="1143000"/>
          <a:ext cx="694944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635240" y="1143000"/>
          <a:ext cx="4069080" cy="914400"/>
        </p:xfrm>
        <a:graphic>
          <a:graphicData uri="http://schemas.openxmlformats.org/drawingml/2006/table">
            <a:tbl>
              <a:tblPr/>
              <a:tblGrid>
                <a:gridCol w="1325880"/>
                <a:gridCol w="685800"/>
                <a:gridCol w="685800"/>
                <a:gridCol w="685800"/>
                <a:gridCol w="685800"/>
              </a:tblGrid>
              <a:tr h="283464">
                <a:tc>
                  <a:txBody>
                    <a:bodyPr/>
                    <a:lstStyle/>
                    <a:p>
                      <a:pPr algn="ctr" indent="0" marL="0">
                        <a:buNone/>
                      </a:pPr>
                      <a:r>
                        <a:rPr lang="en-US" sz="1000" b="1" dirty="0">
                          <a:solidFill>
                            <a:srgbClr val="FFFFFF"/>
                          </a:solidFill>
                        </a:rPr>
                        <a:t>Selector</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QDA</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SVM</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RF</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00" b="1" dirty="0">
                          <a:solidFill>
                            <a:srgbClr val="FFFFFF"/>
                          </a:solidFill>
                        </a:rPr>
                        <a:t>MCC</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283464">
                <a:tc>
                  <a:txBody>
                    <a:bodyPr/>
                    <a:lstStyle/>
                    <a:p>
                      <a:pPr indent="0" marL="0">
                        <a:buNone/>
                      </a:pPr>
                      <a:r>
                        <a:rPr lang="en-US" sz="1000" dirty="0">
                          <a:solidFill>
                            <a:srgbClr val="1A1A1A"/>
                          </a:solidFill>
                        </a:rPr>
                        <a:t>SVM-RFE</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0.888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A945A"/>
                    </a:solidFill>
                  </a:tcPr>
                </a:tc>
                <a:tc>
                  <a:txBody>
                    <a:bodyPr/>
                    <a:lstStyle/>
                    <a:p>
                      <a:pPr algn="ctr" indent="0" marL="0">
                        <a:buNone/>
                      </a:pPr>
                      <a:r>
                        <a:rPr lang="en-US" sz="1000" dirty="0">
                          <a:solidFill>
                            <a:srgbClr val="FFFFFF"/>
                          </a:solidFill>
                        </a:rPr>
                        <a:t>0.913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D7547"/>
                    </a:solidFill>
                  </a:tcPr>
                </a:tc>
                <a:tc>
                  <a:txBody>
                    <a:bodyPr/>
                    <a:lstStyle/>
                    <a:p>
                      <a:pPr algn="ctr" indent="0" marL="0">
                        <a:buNone/>
                      </a:pPr>
                      <a:r>
                        <a:rPr lang="en-US" sz="1000" dirty="0">
                          <a:solidFill>
                            <a:srgbClr val="1A1A1A"/>
                          </a:solidFill>
                        </a:rPr>
                        <a:t>0.820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A0D799"/>
                    </a:solidFill>
                  </a:tcPr>
                </a:tc>
                <a:tc>
                  <a:txBody>
                    <a:bodyPr/>
                    <a:lstStyle/>
                    <a:p>
                      <a:pPr indent="0" marL="0">
                        <a:buNone/>
                      </a:pPr>
                      <a:r>
                        <a:rPr lang="en-US" sz="1000" dirty="0">
                          <a:solidFill>
                            <a:srgbClr val="1A1A1A"/>
                          </a:solidFill>
                        </a:rPr>
                        <a:t>0.745</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rPr>
                        <a:t>LASSO</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000" dirty="0">
                          <a:solidFill>
                            <a:srgbClr val="1A1A1A"/>
                          </a:solidFill>
                        </a:rPr>
                        <a:t>0.860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6CB971"/>
                    </a:solidFill>
                  </a:tcPr>
                </a:tc>
                <a:tc>
                  <a:txBody>
                    <a:bodyPr/>
                    <a:lstStyle/>
                    <a:p>
                      <a:pPr algn="ctr" indent="0" marL="0">
                        <a:buNone/>
                      </a:pPr>
                      <a:r>
                        <a:rPr lang="en-US" sz="1000" dirty="0">
                          <a:solidFill>
                            <a:srgbClr val="FFFFFF"/>
                          </a:solidFill>
                        </a:rPr>
                        <a:t>0.890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89359"/>
                    </a:solidFill>
                  </a:tcPr>
                </a:tc>
                <a:tc>
                  <a:txBody>
                    <a:bodyPr/>
                    <a:lstStyle/>
                    <a:p>
                      <a:pPr algn="ctr" indent="0" marL="0">
                        <a:buNone/>
                      </a:pPr>
                      <a:r>
                        <a:rPr lang="en-US" sz="1000" dirty="0">
                          <a:solidFill>
                            <a:srgbClr val="1A1A1A"/>
                          </a:solidFill>
                        </a:rPr>
                        <a:t>0.839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87CC85"/>
                    </a:solidFill>
                  </a:tcPr>
                </a:tc>
                <a:tc>
                  <a:txBody>
                    <a:bodyPr/>
                    <a:lstStyle/>
                    <a:p>
                      <a:pPr indent="0" marL="0">
                        <a:buNone/>
                      </a:pPr>
                      <a:r>
                        <a:rPr lang="en-US" sz="1000" dirty="0">
                          <a:solidFill>
                            <a:srgbClr val="1A1A1A"/>
                          </a:solidFill>
                        </a:rPr>
                        <a:t>0.697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83464">
                <a:tc>
                  <a:txBody>
                    <a:bodyPr/>
                    <a:lstStyle/>
                    <a:p>
                      <a:pPr indent="0" marL="0">
                        <a:buNone/>
                      </a:pPr>
                      <a:r>
                        <a:rPr lang="en-US" sz="1000" dirty="0">
                          <a:solidFill>
                            <a:srgbClr val="1A1A1A"/>
                          </a:solidFill>
                        </a:rPr>
                        <a:t>CARS</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0.889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9945A"/>
                    </a:solidFill>
                  </a:tcPr>
                </a:tc>
                <a:tc>
                  <a:txBody>
                    <a:bodyPr/>
                    <a:lstStyle/>
                    <a:p>
                      <a:pPr algn="ctr" indent="0" marL="0">
                        <a:buNone/>
                      </a:pPr>
                      <a:r>
                        <a:rPr lang="en-US" sz="1000" dirty="0">
                          <a:solidFill>
                            <a:srgbClr val="FFFFFF"/>
                          </a:solidFill>
                        </a:rPr>
                        <a:t>0.913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C7446"/>
                    </a:solidFill>
                  </a:tcPr>
                </a:tc>
                <a:tc>
                  <a:txBody>
                    <a:bodyPr/>
                    <a:lstStyle/>
                    <a:p>
                      <a:pPr algn="ctr" indent="0" marL="0">
                        <a:buNone/>
                      </a:pPr>
                      <a:r>
                        <a:rPr lang="en-US" sz="1000" dirty="0">
                          <a:solidFill>
                            <a:srgbClr val="1A1A1A"/>
                          </a:solidFill>
                        </a:rPr>
                        <a:t>0.827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98D392"/>
                    </a:solidFill>
                  </a:tcPr>
                </a:tc>
                <a:tc>
                  <a:txBody>
                    <a:bodyPr/>
                    <a:lstStyle/>
                    <a:p>
                      <a:pPr indent="0" marL="0">
                        <a:buNone/>
                      </a:pPr>
                      <a:r>
                        <a:rPr lang="en-US" sz="1000" dirty="0">
                          <a:solidFill>
                            <a:srgbClr val="1A1A1A"/>
                          </a:solidFill>
                        </a:rPr>
                        <a:t>0.738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rPr>
                        <a:t>ReliefF</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000" dirty="0">
                          <a:solidFill>
                            <a:srgbClr val="1A1A1A"/>
                          </a:solidFill>
                        </a:rPr>
                        <a:t>0.873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DA867"/>
                    </a:solidFill>
                  </a:tcPr>
                </a:tc>
                <a:tc>
                  <a:txBody>
                    <a:bodyPr/>
                    <a:lstStyle/>
                    <a:p>
                      <a:pPr algn="ctr" indent="0" marL="0">
                        <a:buNone/>
                      </a:pPr>
                      <a:r>
                        <a:rPr lang="en-US" sz="1000" dirty="0">
                          <a:solidFill>
                            <a:srgbClr val="FFFFFF"/>
                          </a:solidFill>
                        </a:rPr>
                        <a:t>0.923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0673E"/>
                    </a:solidFill>
                  </a:tcPr>
                </a:tc>
                <a:tc>
                  <a:txBody>
                    <a:bodyPr/>
                    <a:lstStyle/>
                    <a:p>
                      <a:pPr algn="ctr" indent="0" marL="0">
                        <a:buNone/>
                      </a:pPr>
                      <a:r>
                        <a:rPr lang="en-US" sz="1000" dirty="0">
                          <a:solidFill>
                            <a:srgbClr val="FFFFFF"/>
                          </a:solidFill>
                        </a:rPr>
                        <a:t>0.890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89359"/>
                    </a:solidFill>
                  </a:tcPr>
                </a:tc>
                <a:tc>
                  <a:txBody>
                    <a:bodyPr/>
                    <a:lstStyle/>
                    <a:p>
                      <a:pPr indent="0" marL="0">
                        <a:buNone/>
                      </a:pPr>
                      <a:r>
                        <a:rPr lang="en-US" sz="1000" dirty="0">
                          <a:solidFill>
                            <a:srgbClr val="1A1A1A"/>
                          </a:solidFill>
                        </a:rPr>
                        <a:t>0.758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83464">
                <a:tc>
                  <a:txBody>
                    <a:bodyPr/>
                    <a:lstStyle/>
                    <a:p>
                      <a:pPr indent="0" marL="0">
                        <a:buNone/>
                      </a:pPr>
                      <a:r>
                        <a:rPr lang="en-US" sz="1000" dirty="0">
                          <a:solidFill>
                            <a:srgbClr val="1A1A1A"/>
                          </a:solidFill>
                        </a:rPr>
                        <a:t>SFFS (QDA)</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0.898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E8852"/>
                    </a:solidFill>
                  </a:tcPr>
                </a:tc>
                <a:tc>
                  <a:txBody>
                    <a:bodyPr/>
                    <a:lstStyle/>
                    <a:p>
                      <a:pPr algn="ctr" indent="0" marL="0">
                        <a:buNone/>
                      </a:pPr>
                      <a:r>
                        <a:rPr lang="en-US" sz="1000" dirty="0">
                          <a:solidFill>
                            <a:srgbClr val="FFFFFF"/>
                          </a:solidFill>
                        </a:rPr>
                        <a:t>0.906</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57E4C"/>
                    </a:solidFill>
                  </a:tcPr>
                </a:tc>
                <a:tc>
                  <a:txBody>
                    <a:bodyPr/>
                    <a:lstStyle/>
                    <a:p>
                      <a:pPr algn="ctr" indent="0" marL="0">
                        <a:buNone/>
                      </a:pPr>
                      <a:r>
                        <a:rPr lang="en-US" sz="1000" dirty="0">
                          <a:solidFill>
                            <a:srgbClr val="1A1A1A"/>
                          </a:solidFill>
                        </a:rPr>
                        <a:t>0.849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9C77A"/>
                    </a:solidFill>
                  </a:tcPr>
                </a:tc>
                <a:tc>
                  <a:txBody>
                    <a:bodyPr/>
                    <a:lstStyle/>
                    <a:p>
                      <a:pPr indent="0" marL="0">
                        <a:buNone/>
                      </a:pPr>
                      <a:r>
                        <a:rPr lang="en-US" sz="1000" dirty="0">
                          <a:solidFill>
                            <a:srgbClr val="1A1A1A"/>
                          </a:solidFill>
                        </a:rPr>
                        <a:t>0.713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rPr>
                        <a:t>Borda</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000" dirty="0">
                          <a:solidFill>
                            <a:srgbClr val="FFFFFF"/>
                          </a:solidFill>
                        </a:rPr>
                        <a:t>0.893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458F57"/>
                    </a:solidFill>
                  </a:tcPr>
                </a:tc>
                <a:tc>
                  <a:txBody>
                    <a:bodyPr/>
                    <a:lstStyle/>
                    <a:p>
                      <a:pPr algn="ctr" indent="0" marL="0">
                        <a:buNone/>
                      </a:pPr>
                      <a:r>
                        <a:rPr lang="en-US" sz="1000" dirty="0">
                          <a:solidFill>
                            <a:srgbClr val="FFFFFF"/>
                          </a:solidFill>
                        </a:rPr>
                        <a:t>0.918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66E43"/>
                    </a:solidFill>
                  </a:tcPr>
                </a:tc>
                <a:tc>
                  <a:txBody>
                    <a:bodyPr/>
                    <a:lstStyle/>
                    <a:p>
                      <a:pPr algn="ctr" indent="0" marL="0">
                        <a:buNone/>
                      </a:pPr>
                      <a:r>
                        <a:rPr lang="en-US" sz="1000" dirty="0">
                          <a:solidFill>
                            <a:srgbClr val="1A1A1A"/>
                          </a:solidFill>
                        </a:rPr>
                        <a:t>0.857</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0BD73"/>
                    </a:solidFill>
                  </a:tcPr>
                </a:tc>
                <a:tc>
                  <a:txBody>
                    <a:bodyPr/>
                    <a:lstStyle/>
                    <a:p>
                      <a:pPr indent="0" marL="0">
                        <a:buNone/>
                      </a:pPr>
                      <a:r>
                        <a:rPr lang="en-US" sz="1000" dirty="0">
                          <a:solidFill>
                            <a:srgbClr val="1A1A1A"/>
                          </a:solidFill>
                        </a:rPr>
                        <a:t>0.754</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83464">
                <a:tc>
                  <a:txBody>
                    <a:bodyPr/>
                    <a:lstStyle/>
                    <a:p>
                      <a:pPr indent="0" marL="0">
                        <a:buNone/>
                      </a:pPr>
                      <a:r>
                        <a:rPr lang="en-US" sz="1000" dirty="0">
                          <a:solidFill>
                            <a:srgbClr val="1A1A1A"/>
                          </a:solidFill>
                        </a:rPr>
                        <a:t>Robust S8</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rPr>
                        <a:t>0.853</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4C276"/>
                    </a:solidFill>
                  </a:tcPr>
                </a:tc>
                <a:tc>
                  <a:txBody>
                    <a:bodyPr/>
                    <a:lstStyle/>
                    <a:p>
                      <a:pPr algn="ctr" indent="0" marL="0">
                        <a:buNone/>
                      </a:pPr>
                      <a:r>
                        <a:rPr lang="en-US" sz="1000" dirty="0">
                          <a:solidFill>
                            <a:srgbClr val="FFFFFF"/>
                          </a:solidFill>
                        </a:rPr>
                        <a:t>0.899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3D8752"/>
                    </a:solidFill>
                  </a:tcPr>
                </a:tc>
                <a:tc>
                  <a:txBody>
                    <a:bodyPr/>
                    <a:lstStyle/>
                    <a:p>
                      <a:pPr algn="ctr" indent="0" marL="0">
                        <a:buNone/>
                      </a:pPr>
                      <a:r>
                        <a:rPr lang="en-US" sz="1000" dirty="0">
                          <a:solidFill>
                            <a:srgbClr val="1A1A1A"/>
                          </a:solidFill>
                        </a:rPr>
                        <a:t>0.821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A0D799"/>
                    </a:solidFill>
                  </a:tcPr>
                </a:tc>
                <a:tc>
                  <a:txBody>
                    <a:bodyPr/>
                    <a:lstStyle/>
                    <a:p>
                      <a:pPr indent="0" marL="0">
                        <a:buNone/>
                      </a:pPr>
                      <a:r>
                        <a:rPr lang="en-US" sz="1000" dirty="0">
                          <a:solidFill>
                            <a:srgbClr val="1A1A1A"/>
                          </a:solidFill>
                        </a:rPr>
                        <a:t>0.705</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rPr>
                        <a:t>OFC-SVM</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algn="ctr" indent="0" marL="0">
                        <a:buNone/>
                      </a:pPr>
                      <a:r>
                        <a:rPr lang="en-US" sz="1000" dirty="0">
                          <a:solidFill>
                            <a:srgbClr val="1A1A1A"/>
                          </a:solidFill>
                        </a:rPr>
                        <a:t>0.845</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FC97E"/>
                    </a:solidFill>
                  </a:tcPr>
                </a:tc>
                <a:tc>
                  <a:txBody>
                    <a:bodyPr/>
                    <a:lstStyle/>
                    <a:p>
                      <a:pPr algn="ctr" indent="0" marL="0">
                        <a:buNone/>
                      </a:pPr>
                      <a:r>
                        <a:rPr lang="en-US" sz="1000" dirty="0">
                          <a:solidFill>
                            <a:srgbClr val="FFFFFF"/>
                          </a:solidFill>
                        </a:rPr>
                        <a:t>0.911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2F7848"/>
                    </a:solidFill>
                  </a:tcPr>
                </a:tc>
                <a:tc>
                  <a:txBody>
                    <a:bodyPr/>
                    <a:lstStyle/>
                    <a:p>
                      <a:pPr algn="ctr" indent="0" marL="0">
                        <a:buNone/>
                      </a:pPr>
                      <a:r>
                        <a:rPr lang="en-US" sz="1000" dirty="0">
                          <a:solidFill>
                            <a:srgbClr val="1A1A1A"/>
                          </a:solidFill>
                        </a:rPr>
                        <a:t>0.850</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78C679"/>
                    </a:solidFill>
                  </a:tcPr>
                </a:tc>
                <a:tc>
                  <a:txBody>
                    <a:bodyPr/>
                    <a:lstStyle/>
                    <a:p>
                      <a:pPr indent="0" marL="0">
                        <a:buNone/>
                      </a:pPr>
                      <a:r>
                        <a:rPr lang="en-US" sz="1000" dirty="0">
                          <a:solidFill>
                            <a:srgbClr val="1A1A1A"/>
                          </a:solidFill>
                        </a:rPr>
                        <a:t>0.731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83464">
                <a:tc>
                  <a:txBody>
                    <a:bodyPr/>
                    <a:lstStyle/>
                    <a:p>
                      <a:pPr indent="0" marL="0">
                        <a:buNone/>
                      </a:pPr>
                      <a:r>
                        <a:rPr lang="en-US" sz="1000" dirty="0">
                          <a:solidFill>
                            <a:srgbClr val="1A1A1A"/>
                          </a:solidFill>
                        </a:rPr>
                        <a:t>Full spectrum</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FFFFFF"/>
                          </a:solidFill>
                        </a:rPr>
                        <a:t>0.879</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55A062"/>
                    </a:solidFill>
                  </a:tcPr>
                </a:tc>
                <a:tc>
                  <a:txBody>
                    <a:bodyPr/>
                    <a:lstStyle/>
                    <a:p>
                      <a:pPr indent="0" marL="0">
                        <a:buNone/>
                      </a:pPr>
                      <a:r>
                        <a:rPr lang="en-US" sz="1000" dirty="0">
                          <a:solidFill>
                            <a:srgbClr val="1A1A1A"/>
                          </a:solidFill>
                        </a:rPr>
                        <a:t>-</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rPr>
                        <a:t>0.671</a:t>
                      </a:r>
                      <a:endParaRPr lang="en-US" sz="100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Shape 1"/>
          <p:cNvSpPr/>
          <p:nvPr/>
        </p:nvSpPr>
        <p:spPr>
          <a:xfrm>
            <a:off x="7562088" y="4288536"/>
            <a:ext cx="4215384" cy="1828800"/>
          </a:xfrm>
          <a:prstGeom prst="roundRect">
            <a:avLst>
              <a:gd name="adj" fmla="val 2500"/>
            </a:avLst>
          </a:prstGeom>
          <a:solidFill>
            <a:srgbClr val="F6F8F5"/>
          </a:solidFill>
          <a:ln w="12700">
            <a:solidFill>
              <a:srgbClr val="F6F8F5"/>
            </a:solidFill>
            <a:prstDash val="solid"/>
          </a:ln>
        </p:spPr>
      </p:sp>
      <p:sp>
        <p:nvSpPr>
          <p:cNvPr id="6" name="Text 2"/>
          <p:cNvSpPr txBox="1"/>
          <p:nvPr/>
        </p:nvSpPr>
        <p:spPr>
          <a:xfrm>
            <a:off x="7635240" y="4343400"/>
            <a:ext cx="4069080" cy="1737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Six published selectors (top of the researcher's 23-method ranking) vs this study's selections, all on the same 20 plot-grouped test folds.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With 10 features and an SVM: ReliefF 0.923, Consensus (Borda) 0.918, CARS 0.913, SVM-RFE 0.913, SFFS (QDA) 0.906, LASSO 0.890. Robust S8 0.899, OFC-SVM 0.911, full SNV spectrum 0.879. Ten well-chosen features match or beat the 201-band spectrum.</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Panda 2026; Guyon et al. 2002; Tibshirani 1996; Li et al. 2009; Kononenko 1994; Pudil et al. 1994; Saeys et al. 2008; workbook sheet 27c</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R15e. How many features, how stable, and which selector ranks best</a:t>
            </a:r>
            <a:endParaRPr lang="en-US" sz="2800" dirty="0"/>
          </a:p>
        </p:txBody>
      </p:sp>
      <p:graphicFrame>
        <p:nvGraphicFramePr>
          <p:cNvPr id="3" name="Chart 0" descr=""/>
          <p:cNvGraphicFramePr/>
          <p:nvPr/>
        </p:nvGraphicFramePr>
        <p:xfrm>
          <a:off x="457200" y="1143000"/>
          <a:ext cx="512064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852160" cy="914400"/>
        </p:xfrm>
        <a:graphic>
          <a:graphicData uri="http://schemas.openxmlformats.org/drawingml/2006/table">
            <a:tbl>
              <a:tblPr/>
              <a:tblGrid>
                <a:gridCol w="365760"/>
                <a:gridCol w="1463040"/>
                <a:gridCol w="731520"/>
                <a:gridCol w="731520"/>
                <a:gridCol w="731520"/>
                <a:gridCol w="822960"/>
                <a:gridCol w="1005840"/>
              </a:tblGrid>
              <a:tr h="329184">
                <a:tc>
                  <a:txBody>
                    <a:bodyPr/>
                    <a:lstStyle/>
                    <a:p>
                      <a:pPr algn="ctr" indent="0" marL="0">
                        <a:buNone/>
                      </a:pPr>
                      <a:r>
                        <a:rPr lang="en-US" sz="1050" b="1" dirty="0">
                          <a:solidFill>
                            <a:srgbClr val="FFFFFF"/>
                          </a:solidFill>
                        </a:rPr>
                        <a:t>#</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Selector</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QDA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SVM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RF</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Jaccard</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050" b="1" dirty="0">
                          <a:solidFill>
                            <a:srgbClr val="FFFFFF"/>
                          </a:solidFill>
                        </a:rPr>
                        <a:t>Near join</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050" dirty="0">
                          <a:solidFill>
                            <a:srgbClr val="1A1A1A"/>
                          </a:solidFill>
                        </a:rPr>
                        <a:t>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ReliefF</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0.873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0.923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0.890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0.61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78.5%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rPr>
                        <a:t>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Borda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0.893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0.918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0.857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0.36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51.0%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050" dirty="0">
                          <a:solidFill>
                            <a:srgbClr val="1A1A1A"/>
                          </a:solidFill>
                        </a:rPr>
                        <a:t>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SFFS (QDA)</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0.898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0.906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0.849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0.17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41.5%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rPr>
                        <a:t>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CARS</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0.889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0.913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0.827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0.15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31.0%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050" dirty="0">
                          <a:solidFill>
                            <a:srgbClr val="1A1A1A"/>
                          </a:solidFill>
                        </a:rPr>
                        <a:t>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OFC-SVM</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0.845</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0.911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0.850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0.33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64.3%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rPr>
                        <a:t>6</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LASSO</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0.860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0.890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0.839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0.40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28.0%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050" dirty="0">
                          <a:solidFill>
                            <a:srgbClr val="1A1A1A"/>
                          </a:solidFill>
                        </a:rPr>
                        <a:t>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SVM-RFE</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0.888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0.913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0.820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0.22</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rPr>
                        <a:t>27.0%</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rPr>
                        <a:t>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Robust S8</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0.853</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0.899</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0.821</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0.27</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050" dirty="0">
                          <a:solidFill>
                            <a:srgbClr val="1A1A1A"/>
                          </a:solidFill>
                        </a:rPr>
                        <a:t>46.4%</a:t>
                      </a:r>
                      <a:endParaRPr lang="en-US" sz="10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Shape 1"/>
          <p:cNvSpPr/>
          <p:nvPr/>
        </p:nvSpPr>
        <p:spPr>
          <a:xfrm>
            <a:off x="5779008" y="4288536"/>
            <a:ext cx="5998464" cy="1828800"/>
          </a:xfrm>
          <a:prstGeom prst="roundRect">
            <a:avLst>
              <a:gd name="adj" fmla="val 2500"/>
            </a:avLst>
          </a:prstGeom>
          <a:solidFill>
            <a:srgbClr val="F6F8F5"/>
          </a:solidFill>
          <a:ln w="12700">
            <a:solidFill>
              <a:srgbClr val="F6F8F5"/>
            </a:solidFill>
            <a:prstDash val="solid"/>
          </a:ln>
        </p:spPr>
      </p:sp>
      <p:sp>
        <p:nvSpPr>
          <p:cNvPr id="6" name="Text 2"/>
          <p:cNvSpPr txBox="1"/>
          <p:nvPr/>
        </p:nvSpPr>
        <p:spPr>
          <a:xfrm>
            <a:off x="5852160" y="4343400"/>
            <a:ext cx="5852160" cy="173736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Lines = accuracy as the number of features grows; table = composite rank of accuracy (QDA, SVM, RF) and stability (Jaccard overlap of selections across folds).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Composite rank 1: ReliefF, then Consensus (Borda) and SFFS (QDA); accuracy levels off at 10-15 features. ReliefF is the most stable (Jaccard 0.61) but 78% of its features lie at the 1800-nm detector join; SVM-RFE (rank 1 in Panda 2026) uses the fewest near-join features (27%).</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Composite = mean rank of QDA, SVM, RF accuracy and Jaccard stability (cf. Panda 2026, sheet 24); Kuncheva 2007; Nogueira et al. 2018</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R15f. Detector-join check (ASD 1000/1800 nm joins)</a:t>
            </a:r>
            <a:endParaRPr lang="en-US" sz="2800" dirty="0"/>
          </a:p>
        </p:txBody>
      </p:sp>
      <p:graphicFrame>
        <p:nvGraphicFramePr>
          <p:cNvPr id="3" name="Chart 0" descr=""/>
          <p:cNvGraphicFramePr/>
          <p:nvPr/>
        </p:nvGraphicFramePr>
        <p:xfrm>
          <a:off x="457200" y="1143000"/>
          <a:ext cx="58521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583680" y="1188720"/>
          <a:ext cx="5120640" cy="914400"/>
        </p:xfrm>
        <a:graphic>
          <a:graphicData uri="http://schemas.openxmlformats.org/drawingml/2006/table">
            <a:tbl>
              <a:tblPr/>
              <a:tblGrid>
                <a:gridCol w="2743200"/>
                <a:gridCol w="2377440"/>
              </a:tblGrid>
              <a:tr h="329184">
                <a:tc>
                  <a:txBody>
                    <a:bodyPr/>
                    <a:lstStyle/>
                    <a:p>
                      <a:pPr algn="ctr" indent="0" marL="0">
                        <a:buNone/>
                      </a:pPr>
                      <a:r>
                        <a:rPr lang="en-US" sz="1150" b="1" dirty="0">
                          <a:solidFill>
                            <a:srgbClr val="FFFFFF"/>
                          </a:solidFill>
                        </a:rPr>
                        <a:t>Selector (all spectra)</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Near-join features in top-10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29184">
                <a:tc>
                  <a:txBody>
                    <a:bodyPr/>
                    <a:lstStyle/>
                    <a:p>
                      <a:pPr indent="0" marL="0">
                        <a:buNone/>
                      </a:pPr>
                      <a:r>
                        <a:rPr lang="en-US" sz="1150" dirty="0">
                          <a:solidFill>
                            <a:srgbClr val="1A1A1A"/>
                          </a:solidFill>
                        </a:rPr>
                        <a:t>SVM-RFE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4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LASSO</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2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50" dirty="0">
                          <a:solidFill>
                            <a:srgbClr val="1A1A1A"/>
                          </a:solidFill>
                        </a:rPr>
                        <a:t>CARS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3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ReliefF</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8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29184">
                <a:tc>
                  <a:txBody>
                    <a:bodyPr/>
                    <a:lstStyle/>
                    <a:p>
                      <a:pPr indent="0" marL="0">
                        <a:buNone/>
                      </a:pPr>
                      <a:r>
                        <a:rPr lang="en-US" sz="1150" dirty="0">
                          <a:solidFill>
                            <a:srgbClr val="1A1A1A"/>
                          </a:solidFill>
                        </a:rPr>
                        <a:t>SFFS (QDA)</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4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A1A1A"/>
                          </a:solidFill>
                        </a:rPr>
                        <a:t>Borda</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4 / 10</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bl>
          </a:graphicData>
        </a:graphic>
      </p:graphicFrame>
      <p:sp>
        <p:nvSpPr>
          <p:cNvPr id="5" name="Shape 1"/>
          <p:cNvSpPr/>
          <p:nvPr/>
        </p:nvSpPr>
        <p:spPr>
          <a:xfrm>
            <a:off x="6510528" y="3694176"/>
            <a:ext cx="5266944" cy="2423160"/>
          </a:xfrm>
          <a:prstGeom prst="roundRect">
            <a:avLst>
              <a:gd name="adj" fmla="val 1887"/>
            </a:avLst>
          </a:prstGeom>
          <a:solidFill>
            <a:srgbClr val="F6F8F5"/>
          </a:solidFill>
          <a:ln w="12700">
            <a:solidFill>
              <a:srgbClr val="F6F8F5"/>
            </a:solidFill>
            <a:prstDash val="solid"/>
          </a:ln>
        </p:spPr>
      </p:sp>
      <p:sp>
        <p:nvSpPr>
          <p:cNvPr id="6" name="Text 2"/>
          <p:cNvSpPr txBox="1"/>
          <p:nvPr/>
        </p:nvSpPr>
        <p:spPr>
          <a:xfrm>
            <a:off x="6583680" y="3749040"/>
            <a:ext cx="5120640" cy="233172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Accuracy after removing every feature within the ASD detector joins (1000/1800 nm) before selection; a small drop means the signal is not an instrument artefact.</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Removing near-join features changes SVM balanced accuracy by robust S8 -0.074, SFFS (QDA) -0.040, SVM-RFE -0.023. Selectors that pick many 1800-1840 nm features lose most; SVM-RFE keeps high accuracy from NIR, red-edge and SWIR-2 features, so the disease signal is not a detector artefact, but sensor design should prefer the join-free features (cf. Panda 2026, detector-join check).</a:t>
            </a:r>
            <a:endParaRPr lang="en-US" sz="1200" dirty="0"/>
          </a:p>
        </p:txBody>
      </p:sp>
      <p:sp>
        <p:nvSpPr>
          <p:cNvPr id="7"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Near join = within 20 nm (or the wavelet half-width) of 1000 or 1800 nm; Hueni &amp; Bialek 2017; Panda 2026 (sheet 21b)</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R16. Full-spectrum model: where the logistic regression looks</a:t>
            </a:r>
            <a:endParaRPr lang="en-US" sz="2800" dirty="0"/>
          </a:p>
        </p:txBody>
      </p:sp>
      <p:graphicFrame>
        <p:nvGraphicFramePr>
          <p:cNvPr id="3" name="Chart 0" descr=""/>
          <p:cNvGraphicFramePr/>
          <p:nvPr/>
        </p:nvGraphicFramePr>
        <p:xfrm>
          <a:off x="457200" y="114300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56448" y="1179576"/>
            <a:ext cx="3621024" cy="4846320"/>
          </a:xfrm>
          <a:prstGeom prst="roundRect">
            <a:avLst>
              <a:gd name="adj" fmla="val 1263"/>
            </a:avLst>
          </a:prstGeom>
          <a:solidFill>
            <a:srgbClr val="F6F8F5"/>
          </a:solidFill>
          <a:ln w="12700">
            <a:solidFill>
              <a:srgbClr val="F6F8F5"/>
            </a:solidFill>
            <a:prstDash val="solid"/>
          </a:ln>
        </p:spPr>
      </p:sp>
      <p:sp>
        <p:nvSpPr>
          <p:cNvPr id="5" name="Text 2"/>
          <p:cNvSpPr txBox="1"/>
          <p:nvPr/>
        </p:nvSpPr>
        <p:spPr>
          <a:xfrm>
            <a:off x="8229600" y="1234440"/>
            <a:ext cx="3474720" cy="47548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Coefficients of the full-spectrum logistic regression: positive values push towards "diseased"; the magnitude shows the influence of each band.</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The full-spectrum model (0.919 BA with LR) uses contrasts across the whole spectrum. Largest positive weights near 1020, 1030, 1010 nm and negative near 1930, 1940, 1920 nm. Adjacent bands with opposite signs = the model reads local slopes, the same information captured by derivatives, CWT and MWRI.</a:t>
            </a:r>
            <a:endParaRPr lang="en-US" sz="1200" dirty="0"/>
          </a:p>
        </p:txBody>
      </p:sp>
      <p:sp>
        <p:nvSpPr>
          <p:cNvPr id="6"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 26 (coefficients fitted on all data, C = 0.1)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R17. Performance within each date, variety and growth stage</a:t>
            </a:r>
            <a:endParaRPr lang="en-US" sz="2800" dirty="0"/>
          </a:p>
        </p:txBody>
      </p:sp>
      <p:graphicFrame>
        <p:nvGraphicFramePr>
          <p:cNvPr id="3" name="Chart 0" descr=""/>
          <p:cNvGraphicFramePr/>
          <p:nvPr/>
        </p:nvGraphicFramePr>
        <p:xfrm>
          <a:off x="457200" y="1143000"/>
          <a:ext cx="768096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339328" y="1179576"/>
            <a:ext cx="3438144" cy="4846320"/>
          </a:xfrm>
          <a:prstGeom prst="roundRect">
            <a:avLst>
              <a:gd name="adj" fmla="val 1330"/>
            </a:avLst>
          </a:prstGeom>
          <a:solidFill>
            <a:srgbClr val="F6F8F5"/>
          </a:solidFill>
          <a:ln w="12700">
            <a:solidFill>
              <a:srgbClr val="F6F8F5"/>
            </a:solidFill>
            <a:prstDash val="solid"/>
          </a:ln>
        </p:spPr>
      </p:sp>
      <p:sp>
        <p:nvSpPr>
          <p:cNvPr id="5" name="Text 2"/>
          <p:cNvSpPr txBox="1"/>
          <p:nvPr/>
        </p:nvSpPr>
        <p:spPr>
          <a:xfrm>
            <a:off x="8412480" y="1234440"/>
            <a:ext cx="3291840" cy="47548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Accuracy of the single pooled model computed separately within each date, variety and growth stage.</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With one pooled model, BA is lowest on 13 Mar (0.869) and highest on 24 Feb (0.966); all dates, varieties and stages stay above 0.87. Varieties perform similarly, so a single model serves all three varieties.</a:t>
            </a:r>
            <a:endParaRPr lang="en-US" sz="1200" dirty="0"/>
          </a:p>
        </p:txBody>
      </p:sp>
      <p:sp>
        <p:nvSpPr>
          <p:cNvPr id="6"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 27</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R18. Transfer to an unseen date, variety or stage (E2)</a:t>
            </a:r>
            <a:endParaRPr lang="en-US" sz="2800" dirty="0"/>
          </a:p>
        </p:txBody>
      </p:sp>
      <p:graphicFrame>
        <p:nvGraphicFramePr>
          <p:cNvPr id="3" name="Chart 0" descr=""/>
          <p:cNvGraphicFramePr/>
          <p:nvPr/>
        </p:nvGraphicFramePr>
        <p:xfrm>
          <a:off x="457200" y="1143000"/>
          <a:ext cx="7863840" cy="48920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522208" y="1179576"/>
            <a:ext cx="3255264" cy="4846320"/>
          </a:xfrm>
          <a:prstGeom prst="roundRect">
            <a:avLst>
              <a:gd name="adj" fmla="val 1404"/>
            </a:avLst>
          </a:prstGeom>
          <a:solidFill>
            <a:srgbClr val="F6F8F5"/>
          </a:solidFill>
          <a:ln w="12700">
            <a:solidFill>
              <a:srgbClr val="F6F8F5"/>
            </a:solidFill>
            <a:prstDash val="solid"/>
          </a:ln>
        </p:spPr>
      </p:sp>
      <p:sp>
        <p:nvSpPr>
          <p:cNvPr id="5" name="Text 2"/>
          <p:cNvSpPr txBox="1"/>
          <p:nvPr/>
        </p:nvSpPr>
        <p:spPr>
          <a:xfrm>
            <a:off x="8595360" y="1234440"/>
            <a:ext cx="3108960" cy="475488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The model is trained without a whole date / variety / stage and tested on it (plots kept separate): this measures extrapolation to new conditions.</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Unseen variety: BA 0.93-0.94 (as good as pooled CV). Unseen stage: 0.78-0.85. Unseen date: 0.50-0.86; the model fails on 13 Mar (0.50) because the late-season disease signature is absent from the other dates. All dates must therefore be represented in training (pooled model), as done in the main CV.</a:t>
            </a:r>
            <a:endParaRPr lang="en-US" sz="1200" dirty="0"/>
          </a:p>
        </p:txBody>
      </p:sp>
      <p:sp>
        <p:nvSpPr>
          <p:cNvPr id="6"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Roberts et al. 2017; Terentev et al. 2023; Lv et al. 2023; workbook sheet 28</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R19. Metadata, training-set size, multispectral sensors and outliers</a:t>
            </a:r>
            <a:endParaRPr lang="en-US" sz="2800" dirty="0"/>
          </a:p>
        </p:txBody>
      </p:sp>
      <p:graphicFrame>
        <p:nvGraphicFramePr>
          <p:cNvPr id="3" name="Chart 0" descr=""/>
          <p:cNvGraphicFramePr/>
          <p:nvPr/>
        </p:nvGraphicFramePr>
        <p:xfrm>
          <a:off x="457200" y="1143000"/>
          <a:ext cx="374904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97680" y="1143000"/>
          <a:ext cx="3749040" cy="3108960"/>
        </p:xfrm>
        <a:graphic xmlns:a="http://schemas.openxmlformats.org/drawingml/2006/main">
          <a:graphicData uri="http://schemas.openxmlformats.org/drawingml/2006/chart">
            <c:chart xmlns:c="http://schemas.openxmlformats.org/drawingml/2006/chart" r:id="rId2"/>
          </a:graphicData>
        </a:graphic>
      </p:graphicFrame>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8229600" y="1188720"/>
          <a:ext cx="3474720" cy="914400"/>
        </p:xfrm>
        <a:graphic>
          <a:graphicData uri="http://schemas.openxmlformats.org/drawingml/2006/table">
            <a:tbl>
              <a:tblPr/>
              <a:tblGrid>
                <a:gridCol w="1143000"/>
                <a:gridCol w="1325880"/>
                <a:gridCol w="502920"/>
                <a:gridCol w="502920"/>
              </a:tblGrid>
              <a:tr h="274320">
                <a:tc>
                  <a:txBody>
                    <a:bodyPr/>
                    <a:lstStyle/>
                    <a:p>
                      <a:pPr algn="ctr" indent="0" marL="0">
                        <a:buNone/>
                      </a:pPr>
                      <a:r>
                        <a:rPr lang="en-US" sz="950" b="1" dirty="0">
                          <a:solidFill>
                            <a:srgbClr val="FFFFFF"/>
                          </a:solidFill>
                        </a:rPr>
                        <a:t>Experiment</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950" b="1" dirty="0">
                          <a:solidFill>
                            <a:srgbClr val="FFFFFF"/>
                          </a:solidFill>
                        </a:rPr>
                        <a:t>Inputs / data</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950" b="1" dirty="0">
                          <a:solidFill>
                            <a:srgbClr val="FFFFFF"/>
                          </a:solidFill>
                        </a:rPr>
                        <a:t>BA</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950" b="1" dirty="0">
                          <a:solidFill>
                            <a:srgbClr val="FFFFFF"/>
                          </a:solidFill>
                        </a:rPr>
                        <a:t>MCC</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274320">
                <a:tc>
                  <a:txBody>
                    <a:bodyPr/>
                    <a:lstStyle/>
                    <a:p>
                      <a:pPr indent="0" marL="0">
                        <a:buNone/>
                      </a:pPr>
                      <a:r>
                        <a:rPr lang="en-US" sz="950" dirty="0">
                          <a:solidFill>
                            <a:srgbClr val="1A1A1A"/>
                          </a:solidFill>
                        </a:rPr>
                        <a:t>E3 S1 LR</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Spectra only</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0.919</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0.762</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A1A1A"/>
                          </a:solidFill>
                        </a:rPr>
                        <a:t>E3 S1 LR</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Spectra + metadata</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0.927</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0.792</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74320">
                <a:tc>
                  <a:txBody>
                    <a:bodyPr/>
                    <a:lstStyle/>
                    <a:p>
                      <a:pPr indent="0" marL="0">
                        <a:buNone/>
                      </a:pPr>
                      <a:r>
                        <a:rPr lang="en-US" sz="950" dirty="0">
                          <a:solidFill>
                            <a:srgbClr val="1A1A1A"/>
                          </a:solidFill>
                        </a:rPr>
                        <a:t>E3 S7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Spectra only</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0.872</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0.627</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A1A1A"/>
                          </a:solidFill>
                        </a:rPr>
                        <a:t>E3 S7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Spectra + metadata</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0.867</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0.615</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74320">
                <a:tc>
                  <a:txBody>
                    <a:bodyPr/>
                    <a:lstStyle/>
                    <a:p>
                      <a:pPr indent="0" marL="0">
                        <a:buNone/>
                      </a:pPr>
                      <a:r>
                        <a:rPr lang="en-US" sz="950" dirty="0">
                          <a:solidFill>
                            <a:srgbClr val="1A1A1A"/>
                          </a:solidFill>
                        </a:rPr>
                        <a:t>E3 S8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Spectra only</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0.888</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0.669</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A1A1A"/>
                          </a:solidFill>
                        </a:rPr>
                        <a:t>E3 S8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Spectra + metadata</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0.860</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0.607</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74320">
                <a:tc>
                  <a:txBody>
                    <a:bodyPr/>
                    <a:lstStyle/>
                    <a:p>
                      <a:pPr indent="0" marL="0">
                        <a:buNone/>
                      </a:pPr>
                      <a:r>
                        <a:rPr lang="en-US" sz="950" dirty="0">
                          <a:solidFill>
                            <a:srgbClr val="1A1A1A"/>
                          </a:solidFill>
                        </a:rPr>
                        <a:t>E6 S1 LR</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No outlier removal</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0.919</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0.763</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A1A1A"/>
                          </a:solidFill>
                        </a:rPr>
                        <a:t>E6 S7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No outlier removal</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0.860</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950" dirty="0">
                          <a:solidFill>
                            <a:srgbClr val="1A1A1A"/>
                          </a:solidFill>
                        </a:rPr>
                        <a:t>0.591</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274320">
                <a:tc>
                  <a:txBody>
                    <a:bodyPr/>
                    <a:lstStyle/>
                    <a:p>
                      <a:pPr indent="0" marL="0">
                        <a:buNone/>
                      </a:pPr>
                      <a:r>
                        <a:rPr lang="en-US" sz="950" dirty="0">
                          <a:solidFill>
                            <a:srgbClr val="1A1A1A"/>
                          </a:solidFill>
                        </a:rPr>
                        <a:t>E6 S8 SVM</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No outlier removal</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0.886</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rPr>
                        <a:t>0.665</a:t>
                      </a:r>
                      <a:endParaRPr lang="en-US" sz="9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6" name="Shape 1"/>
          <p:cNvSpPr/>
          <p:nvPr/>
        </p:nvSpPr>
        <p:spPr>
          <a:xfrm>
            <a:off x="384048" y="4379976"/>
            <a:ext cx="7735824" cy="1737360"/>
          </a:xfrm>
          <a:prstGeom prst="roundRect">
            <a:avLst>
              <a:gd name="adj" fmla="val 2632"/>
            </a:avLst>
          </a:prstGeom>
          <a:solidFill>
            <a:srgbClr val="F6F8F5"/>
          </a:solidFill>
          <a:ln w="12700">
            <a:solidFill>
              <a:srgbClr val="F6F8F5"/>
            </a:solidFill>
            <a:prstDash val="solid"/>
          </a:ln>
        </p:spPr>
      </p:sp>
      <p:sp>
        <p:nvSpPr>
          <p:cNvPr id="7" name="Text 2"/>
          <p:cNvSpPr txBox="1"/>
          <p:nvPr/>
        </p:nvSpPr>
        <p:spPr>
          <a:xfrm>
            <a:off x="457200" y="4434840"/>
            <a:ext cx="7589520" cy="1645920"/>
          </a:xfrm>
          <a:prstGeom prst="rect">
            <a:avLst/>
          </a:prstGeom>
          <a:noFill/>
          <a:ln/>
        </p:spPr>
        <p:txBody>
          <a:bodyPr wrap="square" lIns="254" tIns="254" rIns="254" bIns="254" rtlCol="0" anchor="t"/>
          <a:lstStyle/>
          <a:p>
            <a:pPr indent="0" marL="0">
              <a:buNone/>
            </a:pPr>
            <a:r>
              <a:rPr lang="en-US" sz="1200" b="1" dirty="0">
                <a:solidFill>
                  <a:srgbClr val="1F3D2B"/>
                </a:solidFill>
              </a:rPr>
              <a:t>What it shows: </a:t>
            </a:r>
            <a:pPr indent="0" marL="0">
              <a:buNone/>
            </a:pPr>
            <a:r>
              <a:rPr lang="en-US" sz="1200" dirty="0">
                <a:solidFill>
                  <a:srgbClr val="444444"/>
                </a:solidFill>
              </a:rPr>
              <a:t>E4 = accuracy vs number of training plots; E5 = simulated satellite/UAV bands; table = effect of metadata inputs (E3) and of outlier removal (E6).</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B03A2E"/>
                </a:solidFill>
              </a:rPr>
              <a:t>Finding: </a:t>
            </a:r>
            <a:pPr indent="0" marL="0">
              <a:buNone/>
            </a:pPr>
            <a:r>
              <a:rPr lang="en-US" sz="1200" dirty="0">
                <a:solidFill>
                  <a:srgbClr val="1A1A1A"/>
                </a:solidFill>
              </a:rPr>
              <a:t>E3: adding date/variety/stage changes BA by -0.027 to +0.008, so the spectral model is effectively context-independent. E4: BA rises from 0.831 (12 plots) to 0.915 (36 plots) and has not plateaued; more plots would help. E5: Sentinel-2 MSI (10 bands) max BA 0.739; UAV multispectral (5 bands) max BA 0.668 (hyperspectral detail matters). E6: keeping outliers changes BA by -0.016 to +0.004.</a:t>
            </a:r>
            <a:endParaRPr lang="en-US" sz="1200" dirty="0"/>
          </a:p>
        </p:txBody>
      </p:sp>
      <p:sp>
        <p:nvSpPr>
          <p:cNvPr id="8" name="Text 3"/>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Workbook sheets 29-32; sensor bands: Sentinel-2 MSI and DJI-type UAV 5-band (Nguyen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6. Discussion and conclusions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Interpreting the results against the literature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Discussion 1: the spectral signature of white rust</a:t>
            </a:r>
            <a:endParaRPr lang="en-US" sz="2800" dirty="0"/>
          </a:p>
        </p:txBody>
      </p:sp>
      <p:sp>
        <p:nvSpPr>
          <p:cNvPr id="3" name="Text 1"/>
          <p:cNvSpPr txBox="1"/>
          <p:nvPr/>
        </p:nvSpPr>
        <p:spPr>
          <a:xfrm>
            <a:off x="457200" y="1188720"/>
            <a:ext cx="7040880" cy="4846320"/>
          </a:xfrm>
          <a:prstGeom prst="rect">
            <a:avLst/>
          </a:prstGeom>
          <a:noFill/>
          <a:ln/>
        </p:spPr>
        <p:txBody>
          <a:bodyPr wrap="square" rtlCol="0" anchor="t"/>
          <a:lstStyle/>
          <a:p>
            <a:pPr lvl="1" marL="457200" indent="-228600">
              <a:spcAft>
                <a:spcPts val="600"/>
              </a:spcAft>
              <a:buSzPct val="100000"/>
              <a:buChar char="•"/>
            </a:pPr>
            <a:r>
              <a:rPr lang="en-US" sz="1600" dirty="0">
                <a:solidFill>
                  <a:schemeClr val="tx1"/>
                </a:solidFill>
              </a:rPr>
              <a:t>Higher VIS reflectance, red-edge blue shift and lower REV = chlorophyll breakdown, the common fungal response (Zhang et al., 2012; Mandal et al., 2022; Lv et al., 2023)</a:t>
            </a:r>
            <a:endParaRPr lang="en-US" sz="1600" dirty="0"/>
          </a:p>
          <a:p>
            <a:pPr lvl="1" marL="457200" indent="-228600">
              <a:spcAft>
                <a:spcPts val="600"/>
              </a:spcAft>
              <a:buSzPct val="100000"/>
              <a:buChar char="•"/>
            </a:pPr>
            <a:r>
              <a:rPr lang="en-US" sz="1600" dirty="0">
                <a:solidFill>
                  <a:schemeClr val="tx1"/>
                </a:solidFill>
              </a:rPr>
              <a:t>Higher SWIR reflectance (1400-1560, 1840-2400 nm) = leaf water loss around pustules; strongest single-band effects</a:t>
            </a:r>
            <a:endParaRPr lang="en-US" sz="1600" dirty="0"/>
          </a:p>
          <a:p>
            <a:pPr lvl="1" marL="457200" indent="-228600">
              <a:spcAft>
                <a:spcPts val="600"/>
              </a:spcAft>
              <a:buSzPct val="100000"/>
              <a:buChar char="•"/>
            </a:pPr>
            <a:r>
              <a:rPr lang="en-US" sz="1600" dirty="0">
                <a:solidFill>
                  <a:schemeClr val="tx1"/>
                </a:solidFill>
              </a:rPr>
              <a:t>NIR reflectance barely changes although the NIR slope does: white sori raise scattering and offset mesophyll collapse (Zhang et al., 2012; Tian et al., 2021)</a:t>
            </a:r>
            <a:endParaRPr lang="en-US" sz="1600" dirty="0"/>
          </a:p>
          <a:p>
            <a:pPr lvl="1" marL="457200" indent="-228600">
              <a:spcAft>
                <a:spcPts val="600"/>
              </a:spcAft>
              <a:buSzPct val="100000"/>
              <a:buChar char="•"/>
            </a:pPr>
            <a:r>
              <a:rPr lang="en-US" sz="1600" dirty="0">
                <a:solidFill>
                  <a:schemeClr val="tx1"/>
                </a:solidFill>
              </a:rPr>
              <a:t>Class differences are smallest on 11 Feb (spectral angle 0.96 deg) and largest on 03 Mar (3.58 deg)</a:t>
            </a:r>
            <a:endParaRPr lang="en-US" sz="1600" dirty="0"/>
          </a:p>
        </p:txBody>
      </p:sp>
      <p:sp>
        <p:nvSpPr>
          <p:cNvPr id="4" name="Shape 2"/>
          <p:cNvSpPr/>
          <p:nvPr/>
        </p:nvSpPr>
        <p:spPr>
          <a:xfrm>
            <a:off x="7863840" y="1234440"/>
            <a:ext cx="3840480" cy="4663440"/>
          </a:xfrm>
          <a:prstGeom prst="roundRect">
            <a:avLst>
              <a:gd name="adj" fmla="val 1905"/>
            </a:avLst>
          </a:prstGeom>
          <a:solidFill>
            <a:schemeClr val="tx2"/>
          </a:solidFill>
          <a:ln w="12700">
            <a:solidFill>
              <a:schemeClr val="tx2"/>
            </a:solidFill>
            <a:prstDash val="solid"/>
          </a:ln>
        </p:spPr>
      </p:sp>
      <p:sp>
        <p:nvSpPr>
          <p:cNvPr id="5" name="Text 3"/>
          <p:cNvSpPr txBox="1"/>
          <p:nvPr/>
        </p:nvSpPr>
        <p:spPr>
          <a:xfrm>
            <a:off x="8092440" y="1463040"/>
            <a:ext cx="3383280" cy="457200"/>
          </a:xfrm>
          <a:prstGeom prst="rect">
            <a:avLst/>
          </a:prstGeom>
          <a:noFill/>
          <a:ln/>
        </p:spPr>
        <p:txBody>
          <a:bodyPr wrap="square" lIns="0" tIns="0" rIns="0" bIns="0" rtlCol="0" anchor="ctr"/>
          <a:lstStyle/>
          <a:p>
            <a:pPr indent="0" marL="0">
              <a:buNone/>
            </a:pPr>
            <a:r>
              <a:rPr lang="en-US" sz="1800" b="1" dirty="0">
                <a:solidFill>
                  <a:srgbClr val="F2C14E"/>
                </a:solidFill>
                <a:latin typeface="Cambria" pitchFamily="34" charset="0"/>
                <a:ea typeface="Cambria" pitchFamily="34" charset="-122"/>
                <a:cs typeface="Cambria" pitchFamily="34" charset="-120"/>
              </a:rPr>
              <a:t>Take-home</a:t>
            </a:r>
            <a:endParaRPr lang="en-US" sz="1800" dirty="0"/>
          </a:p>
        </p:txBody>
      </p:sp>
      <p:sp>
        <p:nvSpPr>
          <p:cNvPr id="6" name="Text 4"/>
          <p:cNvSpPr txBox="1"/>
          <p:nvPr/>
        </p:nvSpPr>
        <p:spPr>
          <a:xfrm>
            <a:off x="8092440" y="2011680"/>
            <a:ext cx="3383280" cy="3657600"/>
          </a:xfrm>
          <a:prstGeom prst="rect">
            <a:avLst/>
          </a:prstGeom>
          <a:noFill/>
          <a:ln/>
        </p:spPr>
        <p:txBody>
          <a:bodyPr wrap="square" lIns="0" tIns="0" rIns="0" bIns="0" rtlCol="0" anchor="t"/>
          <a:lstStyle/>
          <a:p>
            <a:pPr indent="0" marL="0">
              <a:buNone/>
            </a:pPr>
            <a:r>
              <a:rPr lang="en-US" sz="1600" dirty="0">
                <a:solidFill>
                  <a:schemeClr val="bg1"/>
                </a:solidFill>
              </a:rPr>
              <a:t>White rust acts through pigment loss, water loss and mesophyll damage; the white sori mask the NIR drop, so slopes and SWIR water features detect it better than NIR reflectance.</a:t>
            </a:r>
            <a:endParaRPr lang="en-US" sz="1600" dirty="0"/>
          </a:p>
        </p:txBody>
      </p:sp>
      <p:sp>
        <p:nvSpPr>
          <p:cNvPr id="7"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Zhang et al. 2012; Tian et al. 2021; Mandal et al. 2022;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Discussion 2: why a pooled model works despite strong date effects</a:t>
            </a:r>
            <a:endParaRPr lang="en-US" sz="2800" dirty="0"/>
          </a:p>
        </p:txBody>
      </p:sp>
      <p:sp>
        <p:nvSpPr>
          <p:cNvPr id="3" name="Text 1"/>
          <p:cNvSpPr txBox="1"/>
          <p:nvPr/>
        </p:nvSpPr>
        <p:spPr>
          <a:xfrm>
            <a:off x="457200" y="1188720"/>
            <a:ext cx="7040880" cy="4846320"/>
          </a:xfrm>
          <a:prstGeom prst="rect">
            <a:avLst/>
          </a:prstGeom>
          <a:noFill/>
          <a:ln/>
        </p:spPr>
        <p:txBody>
          <a:bodyPr wrap="square" rtlCol="0" anchor="t"/>
          <a:lstStyle/>
          <a:p>
            <a:pPr lvl="1" marL="457200" indent="-228600">
              <a:spcAft>
                <a:spcPts val="600"/>
              </a:spcAft>
              <a:buSzPct val="100000"/>
              <a:buChar char="•"/>
            </a:pPr>
            <a:r>
              <a:rPr lang="en-US" sz="1600" dirty="0">
                <a:solidFill>
                  <a:schemeClr val="tx1"/>
                </a:solidFill>
              </a:rPr>
              <a:t>Date explains about 31% of spectral variance vs 1.1% for disease, yet disease is significant (PERMANOVA)</a:t>
            </a:r>
            <a:endParaRPr lang="en-US" sz="1600" dirty="0"/>
          </a:p>
          <a:p>
            <a:pPr lvl="1" marL="457200" indent="-228600">
              <a:spcAft>
                <a:spcPts val="600"/>
              </a:spcAft>
              <a:buSzPct val="100000"/>
              <a:buChar char="•"/>
            </a:pPr>
            <a:r>
              <a:rPr lang="en-US" sz="1600" dirty="0">
                <a:solidFill>
                  <a:schemeClr val="tx1"/>
                </a:solidFill>
              </a:rPr>
              <a:t>SNV and especially first derivatives remove date and leaf brightness effects; the remaining disease signal is in shape (slopes, band ratios), not amplitude</a:t>
            </a:r>
            <a:endParaRPr lang="en-US" sz="1600" dirty="0"/>
          </a:p>
          <a:p>
            <a:pPr lvl="1" marL="457200" indent="-228600">
              <a:spcAft>
                <a:spcPts val="600"/>
              </a:spcAft>
              <a:buSzPct val="100000"/>
              <a:buChar char="•"/>
            </a:pPr>
            <a:r>
              <a:rPr lang="en-US" sz="1600" dirty="0">
                <a:solidFill>
                  <a:schemeClr val="tx1"/>
                </a:solidFill>
              </a:rPr>
              <a:t>Features chosen for stability across dates (Tian et al., 2021; Lv et al., 2023) generalise better than date-specific ones</a:t>
            </a:r>
            <a:endParaRPr lang="en-US" sz="1600" dirty="0"/>
          </a:p>
          <a:p>
            <a:pPr lvl="1" marL="457200" indent="-228600">
              <a:spcAft>
                <a:spcPts val="600"/>
              </a:spcAft>
              <a:buSzPct val="100000"/>
              <a:buChar char="•"/>
            </a:pPr>
            <a:r>
              <a:rPr lang="en-US" sz="1600" dirty="0">
                <a:solidFill>
                  <a:schemeClr val="tx1"/>
                </a:solidFill>
              </a:rPr>
              <a:t>Metadata inputs do not improve the spectral model, so it is usable without knowing date, variety or stage</a:t>
            </a:r>
            <a:endParaRPr lang="en-US" sz="1600" dirty="0"/>
          </a:p>
        </p:txBody>
      </p:sp>
      <p:sp>
        <p:nvSpPr>
          <p:cNvPr id="4" name="Shape 2"/>
          <p:cNvSpPr/>
          <p:nvPr/>
        </p:nvSpPr>
        <p:spPr>
          <a:xfrm>
            <a:off x="7863840" y="1234440"/>
            <a:ext cx="3840480" cy="4663440"/>
          </a:xfrm>
          <a:prstGeom prst="roundRect">
            <a:avLst>
              <a:gd name="adj" fmla="val 1905"/>
            </a:avLst>
          </a:prstGeom>
          <a:solidFill>
            <a:schemeClr val="tx2"/>
          </a:solidFill>
          <a:ln w="12700">
            <a:solidFill>
              <a:schemeClr val="tx2"/>
            </a:solidFill>
            <a:prstDash val="solid"/>
          </a:ln>
        </p:spPr>
      </p:sp>
      <p:sp>
        <p:nvSpPr>
          <p:cNvPr id="5" name="Text 3"/>
          <p:cNvSpPr txBox="1"/>
          <p:nvPr/>
        </p:nvSpPr>
        <p:spPr>
          <a:xfrm>
            <a:off x="8092440" y="1463040"/>
            <a:ext cx="3383280" cy="457200"/>
          </a:xfrm>
          <a:prstGeom prst="rect">
            <a:avLst/>
          </a:prstGeom>
          <a:noFill/>
          <a:ln/>
        </p:spPr>
        <p:txBody>
          <a:bodyPr wrap="square" lIns="0" tIns="0" rIns="0" bIns="0" rtlCol="0" anchor="ctr"/>
          <a:lstStyle/>
          <a:p>
            <a:pPr indent="0" marL="0">
              <a:buNone/>
            </a:pPr>
            <a:r>
              <a:rPr lang="en-US" sz="1800" b="1" dirty="0">
                <a:solidFill>
                  <a:srgbClr val="F2C14E"/>
                </a:solidFill>
                <a:latin typeface="Cambria" pitchFamily="34" charset="0"/>
                <a:ea typeface="Cambria" pitchFamily="34" charset="-122"/>
                <a:cs typeface="Cambria" pitchFamily="34" charset="-120"/>
              </a:rPr>
              <a:t>Take-home</a:t>
            </a:r>
            <a:endParaRPr lang="en-US" sz="1800" dirty="0"/>
          </a:p>
        </p:txBody>
      </p:sp>
      <p:sp>
        <p:nvSpPr>
          <p:cNvPr id="6" name="Text 4"/>
          <p:cNvSpPr txBox="1"/>
          <p:nvPr/>
        </p:nvSpPr>
        <p:spPr>
          <a:xfrm>
            <a:off x="8092440" y="2011680"/>
            <a:ext cx="3383280" cy="3657600"/>
          </a:xfrm>
          <a:prstGeom prst="rect">
            <a:avLst/>
          </a:prstGeom>
          <a:noFill/>
          <a:ln/>
        </p:spPr>
        <p:txBody>
          <a:bodyPr wrap="square" lIns="0" tIns="0" rIns="0" bIns="0" rtlCol="0" anchor="t"/>
          <a:lstStyle/>
          <a:p>
            <a:pPr indent="0" marL="0">
              <a:buNone/>
            </a:pPr>
            <a:r>
              <a:rPr lang="en-US" sz="1600" dirty="0">
                <a:solidFill>
                  <a:schemeClr val="bg1"/>
                </a:solidFill>
              </a:rPr>
              <a:t>Date dominates the raw spectra, but slope-based preprocessing and date-stable features let one pooled model work across dates, varieties and stages - as long as every date is represented in training.</a:t>
            </a:r>
            <a:endParaRPr lang="en-US" sz="1600" dirty="0"/>
          </a:p>
        </p:txBody>
      </p:sp>
      <p:sp>
        <p:nvSpPr>
          <p:cNvPr id="7"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Anderson 2001; Barnes et al. 1989; Tian et al. 2021;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Discussion 3: which features carry the information</a:t>
            </a:r>
            <a:endParaRPr lang="en-US" sz="2800" dirty="0"/>
          </a:p>
        </p:txBody>
      </p:sp>
      <p:sp>
        <p:nvSpPr>
          <p:cNvPr id="3" name="Text 1"/>
          <p:cNvSpPr txBox="1"/>
          <p:nvPr/>
        </p:nvSpPr>
        <p:spPr>
          <a:xfrm>
            <a:off x="457200" y="1188720"/>
            <a:ext cx="7040880" cy="4846320"/>
          </a:xfrm>
          <a:prstGeom prst="rect">
            <a:avLst/>
          </a:prstGeom>
          <a:noFill/>
          <a:ln/>
        </p:spPr>
        <p:txBody>
          <a:bodyPr wrap="square" rtlCol="0" anchor="t"/>
          <a:lstStyle/>
          <a:p>
            <a:pPr lvl="1" marL="457200" indent="-228600">
              <a:spcAft>
                <a:spcPts val="600"/>
              </a:spcAft>
              <a:buSzPct val="100000"/>
              <a:buChar char="•"/>
            </a:pPr>
            <a:r>
              <a:rPr lang="en-US" sz="1600" dirty="0">
                <a:solidFill>
                  <a:schemeClr val="tx1"/>
                </a:solidFill>
              </a:rPr>
              <a:t>Published indices are weak for white rust (AUC &lt;= 0.67); many reverse sign between dates</a:t>
            </a:r>
            <a:endParaRPr lang="en-US" sz="1600" dirty="0"/>
          </a:p>
          <a:p>
            <a:pPr lvl="1" marL="457200" indent="-228600">
              <a:spcAft>
                <a:spcPts val="600"/>
              </a:spcAft>
              <a:buSzPct val="100000"/>
              <a:buChar char="•"/>
            </a:pPr>
            <a:r>
              <a:rPr lang="en-US" sz="1600" dirty="0">
                <a:solidFill>
                  <a:schemeClr val="tx1"/>
                </a:solidFill>
              </a:rPr>
              <a:t>The new MWRI (R1810/R1830 normalised difference) reaches AUC 0.87, echoing Mandal et al. (2023) and Selvaprakash et al. (2026), whose best indices were also SWIR/NIR pairs</a:t>
            </a:r>
            <a:endParaRPr lang="en-US" sz="1600" dirty="0"/>
          </a:p>
          <a:p>
            <a:pPr lvl="1" marL="457200" indent="-228600">
              <a:spcAft>
                <a:spcPts val="600"/>
              </a:spcAft>
              <a:buSzPct val="100000"/>
              <a:buChar char="•"/>
            </a:pPr>
            <a:r>
              <a:rPr lang="en-US" sz="1600" dirty="0">
                <a:solidFill>
                  <a:schemeClr val="tx1"/>
                </a:solidFill>
              </a:rPr>
              <a:t>Wavelet and derivative features outperform raw bands, as in Lv et al. (2023) and Tian et al. (2021)</a:t>
            </a:r>
            <a:endParaRPr lang="en-US" sz="1600" dirty="0"/>
          </a:p>
          <a:p>
            <a:pPr lvl="1" marL="457200" indent="-228600">
              <a:spcAft>
                <a:spcPts val="600"/>
              </a:spcAft>
              <a:buSzPct val="100000"/>
              <a:buChar char="•"/>
            </a:pPr>
            <a:r>
              <a:rPr lang="en-US" sz="1600" dirty="0">
                <a:solidFill>
                  <a:schemeClr val="tx1"/>
                </a:solidFill>
              </a:rPr>
              <a:t>Full-spectrum SNV models remain competitive: with 2,000+ correlated bands, regularised linear models use all slope information</a:t>
            </a:r>
            <a:endParaRPr lang="en-US" sz="1600" dirty="0"/>
          </a:p>
          <a:p>
            <a:pPr lvl="1" marL="457200" indent="-228600">
              <a:spcAft>
                <a:spcPts val="600"/>
              </a:spcAft>
              <a:buSzPct val="100000"/>
              <a:buChar char="•"/>
            </a:pPr>
            <a:r>
              <a:rPr lang="en-US" sz="1600" dirty="0">
                <a:solidFill>
                  <a:schemeClr val="tx1"/>
                </a:solidFill>
              </a:rPr>
              <a:t>Tian-style OFCs (SFFS-LDA/kNN/SVM) reach BA 0.90 with OFC-SVM + SVM using ~7 features: compact sets keep most of the full-spectrum accuracy (Tian et al., 2021)</a:t>
            </a:r>
            <a:endParaRPr lang="en-US" sz="1600" dirty="0"/>
          </a:p>
        </p:txBody>
      </p:sp>
      <p:sp>
        <p:nvSpPr>
          <p:cNvPr id="4" name="Shape 2"/>
          <p:cNvSpPr/>
          <p:nvPr/>
        </p:nvSpPr>
        <p:spPr>
          <a:xfrm>
            <a:off x="7863840" y="1234440"/>
            <a:ext cx="3840480" cy="4663440"/>
          </a:xfrm>
          <a:prstGeom prst="roundRect">
            <a:avLst>
              <a:gd name="adj" fmla="val 1905"/>
            </a:avLst>
          </a:prstGeom>
          <a:solidFill>
            <a:schemeClr val="tx2"/>
          </a:solidFill>
          <a:ln w="12700">
            <a:solidFill>
              <a:schemeClr val="tx2"/>
            </a:solidFill>
            <a:prstDash val="solid"/>
          </a:ln>
        </p:spPr>
      </p:sp>
      <p:sp>
        <p:nvSpPr>
          <p:cNvPr id="5" name="Text 3"/>
          <p:cNvSpPr txBox="1"/>
          <p:nvPr/>
        </p:nvSpPr>
        <p:spPr>
          <a:xfrm>
            <a:off x="8092440" y="1463040"/>
            <a:ext cx="3383280" cy="457200"/>
          </a:xfrm>
          <a:prstGeom prst="rect">
            <a:avLst/>
          </a:prstGeom>
          <a:noFill/>
          <a:ln/>
        </p:spPr>
        <p:txBody>
          <a:bodyPr wrap="square" lIns="0" tIns="0" rIns="0" bIns="0" rtlCol="0" anchor="ctr"/>
          <a:lstStyle/>
          <a:p>
            <a:pPr indent="0" marL="0">
              <a:buNone/>
            </a:pPr>
            <a:r>
              <a:rPr lang="en-US" sz="1800" b="1" dirty="0">
                <a:solidFill>
                  <a:srgbClr val="F2C14E"/>
                </a:solidFill>
                <a:latin typeface="Cambria" pitchFamily="34" charset="0"/>
                <a:ea typeface="Cambria" pitchFamily="34" charset="-122"/>
                <a:cs typeface="Cambria" pitchFamily="34" charset="-120"/>
              </a:rPr>
              <a:t>Take-home</a:t>
            </a:r>
            <a:endParaRPr lang="en-US" sz="1800" dirty="0"/>
          </a:p>
        </p:txBody>
      </p:sp>
      <p:sp>
        <p:nvSpPr>
          <p:cNvPr id="6" name="Text 4"/>
          <p:cNvSpPr txBox="1"/>
          <p:nvPr/>
        </p:nvSpPr>
        <p:spPr>
          <a:xfrm>
            <a:off x="8092440" y="2011680"/>
            <a:ext cx="3383280" cy="3657600"/>
          </a:xfrm>
          <a:prstGeom prst="rect">
            <a:avLst/>
          </a:prstGeom>
          <a:noFill/>
          <a:ln/>
        </p:spPr>
        <p:txBody>
          <a:bodyPr wrap="square" lIns="0" tIns="0" rIns="0" bIns="0" rtlCol="0" anchor="t"/>
          <a:lstStyle/>
          <a:p>
            <a:pPr indent="0" marL="0">
              <a:buNone/>
            </a:pPr>
            <a:r>
              <a:rPr lang="en-US" sz="1600" dirty="0">
                <a:solidFill>
                  <a:schemeClr val="bg1"/>
                </a:solidFill>
              </a:rPr>
              <a:t>Shape features (derivatives, wavelets, narrow band ratios) carry the white-rust signal; classic greenness indices do not.</a:t>
            </a:r>
            <a:endParaRPr lang="en-US" sz="1600" dirty="0"/>
          </a:p>
        </p:txBody>
      </p:sp>
      <p:sp>
        <p:nvSpPr>
          <p:cNvPr id="7"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Mandal et al. 2023; Selvaprakash et al. 2026; Lv et al. 2023; Tian et al. 2021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Discussion 4: which feature-selection strategy should be used?</a:t>
            </a:r>
            <a:endParaRPr lang="en-US" sz="2800" dirty="0"/>
          </a:p>
        </p:txBody>
      </p:sp>
      <p:sp>
        <p:nvSpPr>
          <p:cNvPr id="3" name="Text 1"/>
          <p:cNvSpPr txBox="1"/>
          <p:nvPr/>
        </p:nvSpPr>
        <p:spPr>
          <a:xfrm>
            <a:off x="457200" y="1188720"/>
            <a:ext cx="7040880" cy="4846320"/>
          </a:xfrm>
          <a:prstGeom prst="rect">
            <a:avLst/>
          </a:prstGeom>
          <a:noFill/>
          <a:ln/>
        </p:spPr>
        <p:txBody>
          <a:bodyPr wrap="square" rtlCol="0" anchor="t"/>
          <a:lstStyle/>
          <a:p>
            <a:pPr lvl="1" marL="457200" indent="-228600">
              <a:spcAft>
                <a:spcPts val="600"/>
              </a:spcAft>
              <a:buSzPct val="100000"/>
              <a:buChar char="•"/>
            </a:pPr>
            <a:r>
              <a:rPr lang="en-US" sz="1600" dirty="0">
                <a:solidFill>
                  <a:schemeClr val="tx1"/>
                </a:solidFill>
              </a:rPr>
              <a:t>With 10 features, ReliefF, Borda consensus, CARS and SVM-RFE all reach BA 0.91-0.92 with an SVM, matching or beating the 201-band spectrum (0.879)</a:t>
            </a:r>
            <a:endParaRPr lang="en-US" sz="1600" dirty="0"/>
          </a:p>
          <a:p>
            <a:pPr lvl="1" marL="457200" indent="-228600">
              <a:spcAft>
                <a:spcPts val="600"/>
              </a:spcAft>
              <a:buSzPct val="100000"/>
              <a:buChar char="•"/>
            </a:pPr>
            <a:r>
              <a:rPr lang="en-US" sz="1600" dirty="0">
                <a:solidFill>
                  <a:schemeClr val="tx1"/>
                </a:solidFill>
              </a:rPr>
              <a:t>The order differs from the researcher's 23-method ranking (SVM-RFE first; Panda 2026) mainly because ReliefF and Borda pick many features next to the 1800-nm detector join</a:t>
            </a:r>
            <a:endParaRPr lang="en-US" sz="1600" dirty="0"/>
          </a:p>
          <a:p>
            <a:pPr lvl="1" marL="457200" indent="-228600">
              <a:spcAft>
                <a:spcPts val="600"/>
              </a:spcAft>
              <a:buSzPct val="100000"/>
              <a:buChar char="•"/>
            </a:pPr>
            <a:r>
              <a:rPr lang="en-US" sz="1600" dirty="0">
                <a:solidFill>
                  <a:schemeClr val="tx1"/>
                </a:solidFill>
              </a:rPr>
              <a:t>Date-stability filtering (Tian et al., 2021; Lv et al., 2023) gives fewer, more interpretable features (S8 BA 0.899) at a small cost in accuracy</a:t>
            </a:r>
            <a:endParaRPr lang="en-US" sz="1600" dirty="0"/>
          </a:p>
          <a:p>
            <a:pPr lvl="1" marL="457200" indent="-228600">
              <a:spcAft>
                <a:spcPts val="600"/>
              </a:spcAft>
              <a:buSzPct val="100000"/>
              <a:buChar char="•"/>
            </a:pPr>
            <a:r>
              <a:rPr lang="en-US" sz="1600" dirty="0">
                <a:solidFill>
                  <a:schemeClr val="tx1"/>
                </a:solidFill>
              </a:rPr>
              <a:t>Redundancy control (|r| &lt; 0.95) and selection strictly inside training plots are essential (Wei et al., 2021; Ambroise &amp; McLachlan, 2002)</a:t>
            </a:r>
            <a:endParaRPr lang="en-US" sz="1600" dirty="0"/>
          </a:p>
          <a:p>
            <a:pPr lvl="1" marL="457200" indent="-228600">
              <a:spcAft>
                <a:spcPts val="600"/>
              </a:spcAft>
              <a:buSzPct val="100000"/>
              <a:buChar char="•"/>
            </a:pPr>
            <a:r>
              <a:rPr lang="en-US" sz="1600" dirty="0">
                <a:solidFill>
                  <a:schemeClr val="tx1"/>
                </a:solidFill>
              </a:rPr>
              <a:t>Without join features SVM-RFE keeps BA 0.89, so for sensor design SVM-RFE on join-free features is the safest choice</a:t>
            </a:r>
            <a:endParaRPr lang="en-US" sz="1600" dirty="0"/>
          </a:p>
        </p:txBody>
      </p:sp>
      <p:sp>
        <p:nvSpPr>
          <p:cNvPr id="4" name="Shape 2"/>
          <p:cNvSpPr/>
          <p:nvPr/>
        </p:nvSpPr>
        <p:spPr>
          <a:xfrm>
            <a:off x="7863840" y="1234440"/>
            <a:ext cx="3840480" cy="4663440"/>
          </a:xfrm>
          <a:prstGeom prst="roundRect">
            <a:avLst>
              <a:gd name="adj" fmla="val 1905"/>
            </a:avLst>
          </a:prstGeom>
          <a:solidFill>
            <a:schemeClr val="tx2"/>
          </a:solidFill>
          <a:ln w="12700">
            <a:solidFill>
              <a:schemeClr val="tx2"/>
            </a:solidFill>
            <a:prstDash val="solid"/>
          </a:ln>
        </p:spPr>
      </p:sp>
      <p:sp>
        <p:nvSpPr>
          <p:cNvPr id="5" name="Text 3"/>
          <p:cNvSpPr txBox="1"/>
          <p:nvPr/>
        </p:nvSpPr>
        <p:spPr>
          <a:xfrm>
            <a:off x="8092440" y="1463040"/>
            <a:ext cx="3383280" cy="457200"/>
          </a:xfrm>
          <a:prstGeom prst="rect">
            <a:avLst/>
          </a:prstGeom>
          <a:noFill/>
          <a:ln/>
        </p:spPr>
        <p:txBody>
          <a:bodyPr wrap="square" lIns="0" tIns="0" rIns="0" bIns="0" rtlCol="0" anchor="ctr"/>
          <a:lstStyle/>
          <a:p>
            <a:pPr indent="0" marL="0">
              <a:buNone/>
            </a:pPr>
            <a:r>
              <a:rPr lang="en-US" sz="1800" b="1" dirty="0">
                <a:solidFill>
                  <a:srgbClr val="F2C14E"/>
                </a:solidFill>
                <a:latin typeface="Cambria" pitchFamily="34" charset="0"/>
                <a:ea typeface="Cambria" pitchFamily="34" charset="-122"/>
                <a:cs typeface="Cambria" pitchFamily="34" charset="-120"/>
              </a:rPr>
              <a:t>Take-home</a:t>
            </a:r>
            <a:endParaRPr lang="en-US" sz="1800" dirty="0"/>
          </a:p>
        </p:txBody>
      </p:sp>
      <p:sp>
        <p:nvSpPr>
          <p:cNvPr id="6" name="Text 4"/>
          <p:cNvSpPr txBox="1"/>
          <p:nvPr/>
        </p:nvSpPr>
        <p:spPr>
          <a:xfrm>
            <a:off x="8092440" y="2011680"/>
            <a:ext cx="3383280" cy="3657600"/>
          </a:xfrm>
          <a:prstGeom prst="rect">
            <a:avLst/>
          </a:prstGeom>
          <a:noFill/>
          <a:ln/>
        </p:spPr>
        <p:txBody>
          <a:bodyPr wrap="square" lIns="0" tIns="0" rIns="0" bIns="0" rtlCol="0" anchor="t"/>
          <a:lstStyle/>
          <a:p>
            <a:pPr indent="0" marL="0">
              <a:buNone/>
            </a:pPr>
            <a:r>
              <a:rPr lang="en-US" sz="1600" dirty="0">
                <a:solidFill>
                  <a:schemeClr val="bg1"/>
                </a:solidFill>
              </a:rPr>
              <a:t>Ten features chosen by a wrapper or ReliefF are as good as the whole spectrum. Prefer SVM-RFE on join-free features when the result must transfer to another instrument or sensor.</a:t>
            </a:r>
            <a:endParaRPr lang="en-US" sz="1600" dirty="0"/>
          </a:p>
        </p:txBody>
      </p:sp>
      <p:sp>
        <p:nvSpPr>
          <p:cNvPr id="7" name="Text 5"/>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Panda 2026; Guyon et al. 2002; Kononenko 1994; Li et al. 2009; Wei et al. 2021; Tian et al. 2021; Lv et al. 2023</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Discussion 5: comparison with published accuracies</a:t>
            </a:r>
            <a:endParaRPr lang="en-US" sz="2800" dirty="0"/>
          </a:p>
        </p:txBody>
      </p:sp>
      <p:sp>
        <p:nvSpPr>
          <p:cNvPr id="3" name="Text 1"/>
          <p:cNvSpPr txBox="1"/>
          <p:nvPr/>
        </p:nvSpPr>
        <p:spPr>
          <a:xfrm>
            <a:off x="457200" y="1188720"/>
            <a:ext cx="5760720" cy="4846320"/>
          </a:xfrm>
          <a:prstGeom prst="rect">
            <a:avLst/>
          </a:prstGeom>
          <a:noFill/>
          <a:ln/>
        </p:spPr>
        <p:txBody>
          <a:bodyPr wrap="square" rtlCol="0" anchor="t"/>
          <a:lstStyle/>
          <a:p>
            <a:pPr lvl="1" marL="457200" indent="-228600">
              <a:spcAft>
                <a:spcPts val="600"/>
              </a:spcAft>
              <a:buSzPct val="100000"/>
              <a:buChar char="•"/>
            </a:pPr>
            <a:r>
              <a:rPr lang="en-US" sz="1450" dirty="0">
                <a:solidFill>
                  <a:schemeClr val="tx1"/>
                </a:solidFill>
              </a:rPr>
              <a:t>Our numbers come from plot-grouped, nested CV pooled over 4 dates, 3 varieties and 3 stages; most published values come from single experiments with random splits</a:t>
            </a:r>
            <a:endParaRPr lang="en-US" sz="1450" dirty="0"/>
          </a:p>
          <a:p>
            <a:pPr lvl="1" marL="457200" indent="-228600">
              <a:spcAft>
                <a:spcPts val="600"/>
              </a:spcAft>
              <a:buSzPct val="100000"/>
              <a:buChar char="•"/>
            </a:pPr>
            <a:r>
              <a:rPr lang="en-US" sz="1450" dirty="0">
                <a:solidFill>
                  <a:schemeClr val="tx1"/>
                </a:solidFill>
              </a:rPr>
              <a:t>Strict validation removes optimistic bias from repeated measurements and in-sample selection (Varma &amp; Simon, 2006; Roberts et al., 2017)</a:t>
            </a:r>
            <a:endParaRPr lang="en-US" sz="1450" dirty="0"/>
          </a:p>
          <a:p>
            <a:pPr lvl="1" marL="457200" indent="-228600">
              <a:spcAft>
                <a:spcPts val="600"/>
              </a:spcAft>
              <a:buSzPct val="100000"/>
              <a:buChar char="•"/>
            </a:pPr>
            <a:r>
              <a:rPr lang="en-US" sz="1450" dirty="0">
                <a:solidFill>
                  <a:schemeClr val="tx1"/>
                </a:solidFill>
              </a:rPr>
              <a:t>Balanced accuracy and MCC are reported because the data are 1 : 5 imbalanced (Chicco &amp; Jurman, 2020)</a:t>
            </a:r>
            <a:endParaRPr lang="en-US" sz="145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400800" y="1188720"/>
          <a:ext cx="5303520" cy="914400"/>
        </p:xfrm>
        <a:graphic>
          <a:graphicData uri="http://schemas.openxmlformats.org/drawingml/2006/table">
            <a:tbl>
              <a:tblPr/>
              <a:tblGrid>
                <a:gridCol w="1737360"/>
                <a:gridCol w="1920240"/>
                <a:gridCol w="1645920"/>
              </a:tblGrid>
              <a:tr h="384048">
                <a:tc>
                  <a:txBody>
                    <a:bodyPr/>
                    <a:lstStyle/>
                    <a:p>
                      <a:pPr algn="ctr" indent="0" marL="0">
                        <a:buNone/>
                      </a:pPr>
                      <a:r>
                        <a:rPr lang="en-US" sz="1150" b="1" dirty="0">
                          <a:solidFill>
                            <a:srgbClr val="FFFFFF"/>
                          </a:solidFill>
                        </a:rPr>
                        <a:t>Study</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Task</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c>
                  <a:txBody>
                    <a:bodyPr/>
                    <a:lstStyle/>
                    <a:p>
                      <a:pPr algn="ctr" indent="0" marL="0">
                        <a:buNone/>
                      </a:pPr>
                      <a:r>
                        <a:rPr lang="en-US" sz="1150" b="1" dirty="0">
                          <a:solidFill>
                            <a:srgbClr val="FFFFFF"/>
                          </a:solidFill>
                        </a:rPr>
                        <a:t>Reported</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1F3D2B"/>
                    </a:solidFill>
                  </a:tcPr>
                </a:tc>
              </a:tr>
              <a:tr h="384048">
                <a:tc>
                  <a:txBody>
                    <a:bodyPr/>
                    <a:lstStyle/>
                    <a:p>
                      <a:pPr indent="0" marL="0">
                        <a:buNone/>
                      </a:pPr>
                      <a:r>
                        <a:rPr lang="en-US" sz="1150" dirty="0">
                          <a:solidFill>
                            <a:srgbClr val="1A1A1A"/>
                          </a:solidFill>
                        </a:rPr>
                        <a:t>Tian et al. 2021</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Rice blast, per stage</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OA 0.65-0.99</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rPr>
                        <a:t>Lv et al.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SCLB, asympt./sympt.</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OA 0.87 / 0.93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84048">
                <a:tc>
                  <a:txBody>
                    <a:bodyPr/>
                    <a:lstStyle/>
                    <a:p>
                      <a:pPr indent="0" marL="0">
                        <a:buNone/>
                      </a:pPr>
                      <a:r>
                        <a:rPr lang="en-US" sz="1150" dirty="0">
                          <a:solidFill>
                            <a:srgbClr val="1A1A1A"/>
                          </a:solidFill>
                        </a:rPr>
                        <a:t>Zhang et al. 2012</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Powdery mildew, 3 cl.</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OA 0.89, κ 0.84</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rPr>
                        <a:t>Zhu et al. 2017</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TMV, 4 classes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Acc. 0.98</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84048">
                <a:tc>
                  <a:txBody>
                    <a:bodyPr/>
                    <a:lstStyle/>
                    <a:p>
                      <a:pPr indent="0" marL="0">
                        <a:buNone/>
                      </a:pPr>
                      <a:r>
                        <a:rPr lang="en-US" sz="1150" dirty="0">
                          <a:solidFill>
                            <a:srgbClr val="1A1A1A"/>
                          </a:solidFill>
                        </a:rPr>
                        <a:t>Nguyen et al. 2023</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Yellow rust, UAV</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OA 0.79</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rPr>
                        <a:t>This study: FD + LR</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Full spectrum, pooled</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BA 0.95</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84048">
                <a:tc>
                  <a:txBody>
                    <a:bodyPr/>
                    <a:lstStyle/>
                    <a:p>
                      <a:pPr indent="0" marL="0">
                        <a:buNone/>
                      </a:pPr>
                      <a:r>
                        <a:rPr lang="en-US" sz="1150" dirty="0">
                          <a:solidFill>
                            <a:srgbClr val="1A1A1A"/>
                          </a:solidFill>
                        </a:rPr>
                        <a:t>This study: SNV + LR</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Full spectrum, pooled</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BA 0.92, MCC 0.77</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A1A1A"/>
                          </a:solidFill>
                        </a:rPr>
                        <a:t>This study: 10 selected</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E8 best selector + SVM</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c>
                  <a:txBody>
                    <a:bodyPr/>
                    <a:lstStyle/>
                    <a:p>
                      <a:pPr indent="0" marL="0">
                        <a:buNone/>
                      </a:pPr>
                      <a:r>
                        <a:rPr lang="en-US" sz="1150" dirty="0">
                          <a:solidFill>
                            <a:srgbClr val="1A1A1A"/>
                          </a:solidFill>
                        </a:rPr>
                        <a:t>BA 0.92</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6F8F5"/>
                    </a:solidFill>
                  </a:tcPr>
                </a:tc>
              </a:tr>
              <a:tr h="384048">
                <a:tc>
                  <a:txBody>
                    <a:bodyPr/>
                    <a:lstStyle/>
                    <a:p>
                      <a:pPr indent="0" marL="0">
                        <a:buNone/>
                      </a:pPr>
                      <a:r>
                        <a:rPr lang="en-US" sz="1150" dirty="0">
                          <a:solidFill>
                            <a:srgbClr val="1A1A1A"/>
                          </a:solidFill>
                        </a:rPr>
                        <a:t>This study: robust S8</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~7 date-stable features</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rPr>
                        <a:t>BA 0.89</a:t>
                      </a:r>
                      <a:endParaRPr lang="en-US" sz="1150" dirty="0"/>
                    </a:p>
                  </a:txBody>
                  <a:tcPr marL="36576" marR="36576" marT="36576" marB="36576"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144768"/>
            <a:ext cx="11247120" cy="292608"/>
          </a:xfrm>
          <a:prstGeom prst="rect">
            <a:avLst/>
          </a:prstGeom>
          <a:noFill/>
          <a:ln/>
        </p:spPr>
        <p:txBody>
          <a:bodyPr wrap="square" lIns="0" tIns="0" rIns="0" bIns="0" rtlCol="0" anchor="ctr"/>
          <a:lstStyle/>
          <a:p>
            <a:pPr indent="0" marL="0">
              <a:buNone/>
            </a:pPr>
            <a:r>
              <a:rPr lang="en-US" sz="1000" i="1" dirty="0">
                <a:solidFill>
                  <a:schemeClr val="accent6"/>
                </a:solidFill>
              </a:rPr>
              <a:t>Source: Values as reported in each paper; this study from workbook sheet 21</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Conclusions</a:t>
            </a:r>
            <a:endParaRPr lang="en-US" sz="2800" dirty="0"/>
          </a:p>
        </p:txBody>
      </p:sp>
      <p:sp>
        <p:nvSpPr>
          <p:cNvPr id="3" name="Shape 1"/>
          <p:cNvSpPr/>
          <p:nvPr/>
        </p:nvSpPr>
        <p:spPr>
          <a:xfrm>
            <a:off x="457200" y="1234440"/>
            <a:ext cx="420624" cy="420624"/>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1143000"/>
            <a:ext cx="10652760" cy="498856"/>
          </a:xfrm>
          <a:prstGeom prst="rect">
            <a:avLst/>
          </a:prstGeom>
          <a:noFill/>
          <a:ln/>
        </p:spPr>
        <p:txBody>
          <a:bodyPr wrap="square" lIns="0" tIns="0" rIns="0" bIns="0" rtlCol="0" anchor="ctr"/>
          <a:lstStyle/>
          <a:p>
            <a:pPr indent="0" marL="0">
              <a:buNone/>
            </a:pPr>
            <a:r>
              <a:rPr lang="en-US" sz="1350" dirty="0">
                <a:solidFill>
                  <a:schemeClr val="tx1"/>
                </a:solidFill>
              </a:rPr>
              <a:t>White rust raises visible and SWIR reflectance, blue-shifts the red edge and changes the NIR slope; the effect is significant after removing date, variety and stage effects.</a:t>
            </a:r>
            <a:endParaRPr lang="en-US" sz="1350" dirty="0"/>
          </a:p>
        </p:txBody>
      </p:sp>
      <p:sp>
        <p:nvSpPr>
          <p:cNvPr id="6" name="Shape 4"/>
          <p:cNvSpPr/>
          <p:nvPr/>
        </p:nvSpPr>
        <p:spPr>
          <a:xfrm>
            <a:off x="457200" y="1788160"/>
            <a:ext cx="420624" cy="420624"/>
          </a:xfrm>
          <a:prstGeom prst="ellipse">
            <a:avLst/>
          </a:prstGeom>
          <a:solidFill>
            <a:schemeClr val="accent1"/>
          </a:solidFill>
          <a:ln w="12700">
            <a:solidFill>
              <a:schemeClr val="accent1"/>
            </a:solidFill>
            <a:prstDash val="solid"/>
          </a:ln>
        </p:spPr>
      </p:sp>
      <p:sp>
        <p:nvSpPr>
          <p:cNvPr id="7" name="Text 5"/>
          <p:cNvSpPr txBox="1"/>
          <p:nvPr/>
        </p:nvSpPr>
        <p:spPr>
          <a:xfrm>
            <a:off x="457200" y="1788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51560" y="1696720"/>
            <a:ext cx="10652760" cy="498856"/>
          </a:xfrm>
          <a:prstGeom prst="rect">
            <a:avLst/>
          </a:prstGeom>
          <a:noFill/>
          <a:ln/>
        </p:spPr>
        <p:txBody>
          <a:bodyPr wrap="square" lIns="0" tIns="0" rIns="0" bIns="0" rtlCol="0" anchor="ctr"/>
          <a:lstStyle/>
          <a:p>
            <a:pPr indent="0" marL="0">
              <a:buNone/>
            </a:pPr>
            <a:r>
              <a:rPr lang="en-US" sz="1350" dirty="0">
                <a:solidFill>
                  <a:schemeClr val="tx1"/>
                </a:solidFill>
              </a:rPr>
              <a:t>Date/phenology dominates the spectra (31% of variance), so slope-based preprocessing (first derivative, SNV) and date-stable features are essential for a pooled model.</a:t>
            </a:r>
            <a:endParaRPr lang="en-US" sz="1350" dirty="0"/>
          </a:p>
        </p:txBody>
      </p:sp>
      <p:sp>
        <p:nvSpPr>
          <p:cNvPr id="9" name="Shape 7"/>
          <p:cNvSpPr/>
          <p:nvPr/>
        </p:nvSpPr>
        <p:spPr>
          <a:xfrm>
            <a:off x="457200" y="2341880"/>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457200" y="23418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51560" y="2250440"/>
            <a:ext cx="10652760" cy="498856"/>
          </a:xfrm>
          <a:prstGeom prst="rect">
            <a:avLst/>
          </a:prstGeom>
          <a:noFill/>
          <a:ln/>
        </p:spPr>
        <p:txBody>
          <a:bodyPr wrap="square" lIns="0" tIns="0" rIns="0" bIns="0" rtlCol="0" anchor="ctr"/>
          <a:lstStyle/>
          <a:p>
            <a:pPr indent="0" marL="0">
              <a:buNone/>
            </a:pPr>
            <a:r>
              <a:rPr lang="en-US" sz="1350" dirty="0">
                <a:solidFill>
                  <a:schemeClr val="tx1"/>
                </a:solidFill>
              </a:rPr>
              <a:t>A new Mustard White Rust Index, ND(R1810, R1830), outperforms all 46 published indices (AUC 0.87 vs 0.67).</a:t>
            </a:r>
            <a:endParaRPr lang="en-US" sz="1350" dirty="0"/>
          </a:p>
        </p:txBody>
      </p:sp>
      <p:sp>
        <p:nvSpPr>
          <p:cNvPr id="12" name="Shape 10"/>
          <p:cNvSpPr/>
          <p:nvPr/>
        </p:nvSpPr>
        <p:spPr>
          <a:xfrm>
            <a:off x="457200" y="2895600"/>
            <a:ext cx="420624" cy="420624"/>
          </a:xfrm>
          <a:prstGeom prst="ellipse">
            <a:avLst/>
          </a:prstGeom>
          <a:solidFill>
            <a:schemeClr val="accent1"/>
          </a:solidFill>
          <a:ln w="12700">
            <a:solidFill>
              <a:schemeClr val="accent1"/>
            </a:solidFill>
            <a:prstDash val="solid"/>
          </a:ln>
        </p:spPr>
      </p:sp>
      <p:sp>
        <p:nvSpPr>
          <p:cNvPr id="13" name="Text 11"/>
          <p:cNvSpPr txBox="1"/>
          <p:nvPr/>
        </p:nvSpPr>
        <p:spPr>
          <a:xfrm>
            <a:off x="457200" y="28956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51560" y="2804160"/>
            <a:ext cx="10652760" cy="498856"/>
          </a:xfrm>
          <a:prstGeom prst="rect">
            <a:avLst/>
          </a:prstGeom>
          <a:noFill/>
          <a:ln/>
        </p:spPr>
        <p:txBody>
          <a:bodyPr wrap="square" lIns="0" tIns="0" rIns="0" bIns="0" rtlCol="0" anchor="ctr"/>
          <a:lstStyle/>
          <a:p>
            <a:pPr indent="0" marL="0">
              <a:buNone/>
            </a:pPr>
            <a:r>
              <a:rPr lang="en-US" sz="1350" dirty="0">
                <a:solidFill>
                  <a:schemeClr val="tx1"/>
                </a:solidFill>
              </a:rPr>
              <a:t>In the main 10 x 10 comparison the best pipeline is S1 (SNV full spectrum) + LR: BA 0.919 ± 0.007, MCC 0.77, AUC 0.976 under strict plot-grouped nested CV.</a:t>
            </a:r>
            <a:endParaRPr lang="en-US" sz="1350" dirty="0"/>
          </a:p>
        </p:txBody>
      </p:sp>
      <p:sp>
        <p:nvSpPr>
          <p:cNvPr id="15" name="Shape 13"/>
          <p:cNvSpPr/>
          <p:nvPr/>
        </p:nvSpPr>
        <p:spPr>
          <a:xfrm>
            <a:off x="457200" y="3449320"/>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457200" y="34493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51560" y="3357880"/>
            <a:ext cx="10652760" cy="498856"/>
          </a:xfrm>
          <a:prstGeom prst="rect">
            <a:avLst/>
          </a:prstGeom>
          <a:noFill/>
          <a:ln/>
        </p:spPr>
        <p:txBody>
          <a:bodyPr wrap="square" lIns="0" tIns="0" rIns="0" bIns="0" rtlCol="0" anchor="ctr"/>
          <a:lstStyle/>
          <a:p>
            <a:pPr indent="0" marL="0">
              <a:buNone/>
            </a:pPr>
            <a:r>
              <a:rPr lang="en-US" sz="1350" dirty="0">
                <a:solidFill>
                  <a:schemeClr val="tx1"/>
                </a:solidFill>
              </a:rPr>
              <a:t>First-derivative full-spectrum logistic regression is the most accurate model overall (BA 0.946 vs 0.921 with SNV).</a:t>
            </a:r>
            <a:endParaRPr lang="en-US" sz="1350" dirty="0"/>
          </a:p>
        </p:txBody>
      </p:sp>
      <p:sp>
        <p:nvSpPr>
          <p:cNvPr id="18" name="Shape 16"/>
          <p:cNvSpPr/>
          <p:nvPr/>
        </p:nvSpPr>
        <p:spPr>
          <a:xfrm>
            <a:off x="457200" y="4003040"/>
            <a:ext cx="420624" cy="420624"/>
          </a:xfrm>
          <a:prstGeom prst="ellipse">
            <a:avLst/>
          </a:prstGeom>
          <a:solidFill>
            <a:schemeClr val="accent1"/>
          </a:solidFill>
          <a:ln w="12700">
            <a:solidFill>
              <a:schemeClr val="accent1"/>
            </a:solidFill>
            <a:prstDash val="solid"/>
          </a:ln>
        </p:spPr>
      </p:sp>
      <p:sp>
        <p:nvSpPr>
          <p:cNvPr id="19" name="Text 17"/>
          <p:cNvSpPr txBox="1"/>
          <p:nvPr/>
        </p:nvSpPr>
        <p:spPr>
          <a:xfrm>
            <a:off x="457200" y="40030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ext 18"/>
          <p:cNvSpPr txBox="1"/>
          <p:nvPr/>
        </p:nvSpPr>
        <p:spPr>
          <a:xfrm>
            <a:off x="1051560" y="3911600"/>
            <a:ext cx="10652760" cy="498856"/>
          </a:xfrm>
          <a:prstGeom prst="rect">
            <a:avLst/>
          </a:prstGeom>
          <a:noFill/>
          <a:ln/>
        </p:spPr>
        <p:txBody>
          <a:bodyPr wrap="square" lIns="0" tIns="0" rIns="0" bIns="0" rtlCol="0" anchor="ctr"/>
          <a:lstStyle/>
          <a:p>
            <a:pPr indent="0" marL="0">
              <a:buNone/>
            </a:pPr>
            <a:r>
              <a:rPr lang="en-US" sz="1350" dirty="0">
                <a:solidFill>
                  <a:schemeClr val="tx1"/>
                </a:solidFill>
              </a:rPr>
              <a:t>A compact model (S8 + LS-SVM, BA 0.887) uses about 7 features, suited to a low-cost sensor.</a:t>
            </a:r>
            <a:endParaRPr lang="en-US" sz="1350" dirty="0"/>
          </a:p>
        </p:txBody>
      </p:sp>
      <p:sp>
        <p:nvSpPr>
          <p:cNvPr id="21" name="Shape 19"/>
          <p:cNvSpPr/>
          <p:nvPr/>
        </p:nvSpPr>
        <p:spPr>
          <a:xfrm>
            <a:off x="457200" y="4556760"/>
            <a:ext cx="420624" cy="420624"/>
          </a:xfrm>
          <a:prstGeom prst="ellipse">
            <a:avLst/>
          </a:prstGeom>
          <a:solidFill>
            <a:schemeClr val="accent1"/>
          </a:solidFill>
          <a:ln w="12700">
            <a:solidFill>
              <a:schemeClr val="accent1"/>
            </a:solidFill>
            <a:prstDash val="solid"/>
          </a:ln>
        </p:spPr>
      </p:sp>
      <p:sp>
        <p:nvSpPr>
          <p:cNvPr id="22" name="Text 20"/>
          <p:cNvSpPr txBox="1"/>
          <p:nvPr/>
        </p:nvSpPr>
        <p:spPr>
          <a:xfrm>
            <a:off x="457200" y="4556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3" name="Text 21"/>
          <p:cNvSpPr txBox="1"/>
          <p:nvPr/>
        </p:nvSpPr>
        <p:spPr>
          <a:xfrm>
            <a:off x="1051560" y="4465320"/>
            <a:ext cx="10652760" cy="498856"/>
          </a:xfrm>
          <a:prstGeom prst="rect">
            <a:avLst/>
          </a:prstGeom>
          <a:noFill/>
          <a:ln/>
        </p:spPr>
        <p:txBody>
          <a:bodyPr wrap="square" lIns="0" tIns="0" rIns="0" bIns="0" rtlCol="0" anchor="ctr"/>
          <a:lstStyle/>
          <a:p>
            <a:pPr indent="0" marL="0">
              <a:buNone/>
            </a:pPr>
            <a:r>
              <a:rPr lang="en-US" sz="1350" dirty="0">
                <a:solidFill>
                  <a:schemeClr val="tx1"/>
                </a:solidFill>
              </a:rPr>
              <a:t>Wrapper-based optimal feature combinations (Tian et al., 2021) give compact models: OFC-SVM + SVM reaches BA 0.905 with ~7 features.</a:t>
            </a:r>
            <a:endParaRPr lang="en-US" sz="1350" dirty="0"/>
          </a:p>
        </p:txBody>
      </p:sp>
      <p:sp>
        <p:nvSpPr>
          <p:cNvPr id="24" name="Shape 22"/>
          <p:cNvSpPr/>
          <p:nvPr/>
        </p:nvSpPr>
        <p:spPr>
          <a:xfrm>
            <a:off x="457200" y="5110480"/>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457200" y="51104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26" name="Text 24"/>
          <p:cNvSpPr txBox="1"/>
          <p:nvPr/>
        </p:nvSpPr>
        <p:spPr>
          <a:xfrm>
            <a:off x="1051560" y="5019040"/>
            <a:ext cx="10652760" cy="498856"/>
          </a:xfrm>
          <a:prstGeom prst="rect">
            <a:avLst/>
          </a:prstGeom>
          <a:noFill/>
          <a:ln/>
        </p:spPr>
        <p:txBody>
          <a:bodyPr wrap="square" lIns="0" tIns="0" rIns="0" bIns="0" rtlCol="0" anchor="ctr"/>
          <a:lstStyle/>
          <a:p>
            <a:pPr indent="0" marL="0">
              <a:buNone/>
            </a:pPr>
            <a:r>
              <a:rPr lang="en-US" sz="1350" dirty="0">
                <a:solidFill>
                  <a:schemeClr val="tx1"/>
                </a:solidFill>
              </a:rPr>
              <a:t>Among 6 published selectors, ReliefF gives the best 10-feature model (BA 0.923 with SVM); SVM-RFE stays at BA 0.89 even without detector-join features.</a:t>
            </a:r>
            <a:endParaRPr lang="en-US" sz="1350" dirty="0"/>
          </a:p>
        </p:txBody>
      </p:sp>
      <p:sp>
        <p:nvSpPr>
          <p:cNvPr id="27" name="Shape 25"/>
          <p:cNvSpPr/>
          <p:nvPr/>
        </p:nvSpPr>
        <p:spPr>
          <a:xfrm>
            <a:off x="457200" y="5664200"/>
            <a:ext cx="420624" cy="420624"/>
          </a:xfrm>
          <a:prstGeom prst="ellipse">
            <a:avLst/>
          </a:prstGeom>
          <a:solidFill>
            <a:schemeClr val="accent1"/>
          </a:solidFill>
          <a:ln w="12700">
            <a:solidFill>
              <a:schemeClr val="accent1"/>
            </a:solidFill>
            <a:prstDash val="solid"/>
          </a:ln>
        </p:spPr>
      </p:sp>
      <p:sp>
        <p:nvSpPr>
          <p:cNvPr id="28" name="Text 26"/>
          <p:cNvSpPr txBox="1"/>
          <p:nvPr/>
        </p:nvSpPr>
        <p:spPr>
          <a:xfrm>
            <a:off x="457200" y="56642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29" name="Text 27"/>
          <p:cNvSpPr txBox="1"/>
          <p:nvPr/>
        </p:nvSpPr>
        <p:spPr>
          <a:xfrm>
            <a:off x="1051560" y="5572760"/>
            <a:ext cx="10652760" cy="498856"/>
          </a:xfrm>
          <a:prstGeom prst="rect">
            <a:avLst/>
          </a:prstGeom>
          <a:noFill/>
          <a:ln/>
        </p:spPr>
        <p:txBody>
          <a:bodyPr wrap="square" lIns="0" tIns="0" rIns="0" bIns="0" rtlCol="0" anchor="ctr"/>
          <a:lstStyle/>
          <a:p>
            <a:pPr indent="0" marL="0">
              <a:buNone/>
            </a:pPr>
            <a:r>
              <a:rPr lang="en-US" sz="1350" dirty="0">
                <a:solidFill>
                  <a:schemeClr val="tx1"/>
                </a:solidFill>
              </a:rPr>
              <a:t>One model serves all three varieties (unseen-variety BA about 0.93), but an unseen date cannot be predicted: every season stage must be in the training data.</a:t>
            </a:r>
            <a:endParaRPr lang="en-US" sz="13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Limitations and future work</a:t>
            </a:r>
            <a:endParaRPr lang="en-US" sz="2800" dirty="0"/>
          </a:p>
        </p:txBody>
      </p:sp>
      <p:sp>
        <p:nvSpPr>
          <p:cNvPr id="3" name="Shape 1"/>
          <p:cNvSpPr/>
          <p:nvPr/>
        </p:nvSpPr>
        <p:spPr>
          <a:xfrm>
            <a:off x="457200" y="1188720"/>
            <a:ext cx="5486400" cy="4800600"/>
          </a:xfrm>
          <a:prstGeom prst="roundRect">
            <a:avLst>
              <a:gd name="adj" fmla="val 1524"/>
            </a:avLst>
          </a:prstGeom>
          <a:solidFill>
            <a:schemeClr val="bg2"/>
          </a:solidFill>
          <a:ln w="12700">
            <a:solidFill>
              <a:schemeClr val="bg2"/>
            </a:solidFill>
            <a:prstDash val="solid"/>
          </a:ln>
        </p:spPr>
      </p:sp>
      <p:sp>
        <p:nvSpPr>
          <p:cNvPr id="4" name="Shape 2"/>
          <p:cNvSpPr/>
          <p:nvPr/>
        </p:nvSpPr>
        <p:spPr>
          <a:xfrm>
            <a:off x="621792" y="1371600"/>
            <a:ext cx="384048" cy="384048"/>
          </a:xfrm>
          <a:prstGeom prst="ellipse">
            <a:avLst/>
          </a:prstGeom>
          <a:solidFill>
            <a:srgbClr val="B03A2E"/>
          </a:solidFill>
          <a:ln w="12700">
            <a:solidFill>
              <a:srgbClr val="B03A2E"/>
            </a:solidFill>
            <a:prstDash val="solid"/>
          </a:ln>
        </p:spPr>
      </p:sp>
      <p:sp>
        <p:nvSpPr>
          <p:cNvPr id="5" name="Text 3"/>
          <p:cNvSpPr txBox="1"/>
          <p:nvPr/>
        </p:nvSpPr>
        <p:spPr>
          <a:xfrm>
            <a:off x="1115568" y="130759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Limitations</a:t>
            </a:r>
            <a:endParaRPr lang="en-US" sz="1500" dirty="0"/>
          </a:p>
        </p:txBody>
      </p:sp>
      <p:sp>
        <p:nvSpPr>
          <p:cNvPr id="6" name="Text 4"/>
          <p:cNvSpPr txBox="1"/>
          <p:nvPr/>
        </p:nvSpPr>
        <p:spPr>
          <a:xfrm>
            <a:off x="640080" y="1901952"/>
            <a:ext cx="5120640" cy="3977640"/>
          </a:xfrm>
          <a:prstGeom prst="rect">
            <a:avLst/>
          </a:prstGeom>
          <a:noFill/>
          <a:ln/>
        </p:spPr>
        <p:txBody>
          <a:bodyPr wrap="square" lIns="0" tIns="0" rIns="0" bIns="0" rtlCol="0" anchor="t"/>
          <a:lstStyle/>
          <a:p>
            <a:pPr indent="0" marL="0">
              <a:buNone/>
            </a:pPr>
            <a:r>
              <a:rPr lang="en-US" sz="1300" dirty="0">
                <a:solidFill>
                  <a:schemeClr val="tx1"/>
                </a:solidFill>
              </a:rPr>
              <a:t>Labels are plot-level (healthy vs diseased plots); individual leaves in diseased plots may be symptom-free, which caps achievable accuracy.</a:t>
            </a:r>
            <a:endParaRPr lang="en-US" sz="1300" dirty="0"/>
          </a:p>
          <a:p>
            <a:pPr indent="0" marL="0">
              <a:buNone/>
            </a:pPr>
            <a:endParaRPr lang="en-US" sz="1300" dirty="0"/>
          </a:p>
          <a:p>
            <a:pPr indent="0" marL="0">
              <a:buNone/>
            </a:pPr>
            <a:r>
              <a:rPr lang="en-US" sz="1300" dirty="0">
                <a:solidFill>
                  <a:schemeClr val="tx1"/>
                </a:solidFill>
              </a:rPr>
              <a:t>Only 12 healthy plots: the healthy class drives the uncertainty of every metric.</a:t>
            </a:r>
            <a:endParaRPr lang="en-US" sz="1300" dirty="0"/>
          </a:p>
          <a:p>
            <a:pPr indent="0" marL="0">
              <a:buNone/>
            </a:pPr>
            <a:endParaRPr lang="en-US" sz="1300" dirty="0"/>
          </a:p>
          <a:p>
            <a:pPr indent="0" marL="0">
              <a:buNone/>
            </a:pPr>
            <a:r>
              <a:rPr lang="en-US" sz="1300" dirty="0">
                <a:solidFill>
                  <a:schemeClr val="tx1"/>
                </a:solidFill>
              </a:rPr>
              <a:t>The strongest single index (1810-1830 nm) lies next to the ASD 1800-nm detector join; join-free features are recommended for sensors.</a:t>
            </a:r>
            <a:endParaRPr lang="en-US" sz="1300" dirty="0"/>
          </a:p>
          <a:p>
            <a:pPr indent="0" marL="0">
              <a:buNone/>
            </a:pPr>
            <a:endParaRPr lang="en-US" sz="1300" dirty="0"/>
          </a:p>
          <a:p>
            <a:pPr indent="0" marL="0">
              <a:buNone/>
            </a:pPr>
            <a:r>
              <a:rPr lang="en-US" sz="1300" dirty="0">
                <a:solidFill>
                  <a:schemeClr val="tx1"/>
                </a:solidFill>
              </a:rPr>
              <a:t>One season and one site; leaf layer and severity scores were not available.</a:t>
            </a:r>
            <a:endParaRPr lang="en-US" sz="1300" dirty="0"/>
          </a:p>
          <a:p>
            <a:pPr indent="0" marL="0">
              <a:buNone/>
            </a:pPr>
            <a:endParaRPr lang="en-US" sz="1300" dirty="0"/>
          </a:p>
          <a:p>
            <a:pPr indent="0" marL="0">
              <a:buNone/>
            </a:pPr>
            <a:r>
              <a:rPr lang="en-US" sz="1300" dirty="0">
                <a:solidFill>
                  <a:schemeClr val="tx1"/>
                </a:solidFill>
              </a:rPr>
              <a:t>Healthy plots are numbered 1-12; if they form one field block, field-position effects cannot be fully excluded.</a:t>
            </a:r>
            <a:endParaRPr lang="en-US" sz="1300" dirty="0"/>
          </a:p>
        </p:txBody>
      </p:sp>
      <p:sp>
        <p:nvSpPr>
          <p:cNvPr id="7" name="Shape 5"/>
          <p:cNvSpPr/>
          <p:nvPr/>
        </p:nvSpPr>
        <p:spPr>
          <a:xfrm>
            <a:off x="6217920" y="1188720"/>
            <a:ext cx="5486400" cy="4800600"/>
          </a:xfrm>
          <a:prstGeom prst="roundRect">
            <a:avLst>
              <a:gd name="adj" fmla="val 1524"/>
            </a:avLst>
          </a:prstGeom>
          <a:solidFill>
            <a:schemeClr val="bg2"/>
          </a:solidFill>
          <a:ln w="12700">
            <a:solidFill>
              <a:schemeClr val="bg2"/>
            </a:solidFill>
            <a:prstDash val="solid"/>
          </a:ln>
        </p:spPr>
      </p:sp>
      <p:sp>
        <p:nvSpPr>
          <p:cNvPr id="8" name="Shape 6"/>
          <p:cNvSpPr/>
          <p:nvPr/>
        </p:nvSpPr>
        <p:spPr>
          <a:xfrm>
            <a:off x="6382512" y="1371600"/>
            <a:ext cx="384048" cy="384048"/>
          </a:xfrm>
          <a:prstGeom prst="ellipse">
            <a:avLst/>
          </a:prstGeom>
          <a:solidFill>
            <a:srgbClr val="2E7D32"/>
          </a:solidFill>
          <a:ln w="12700">
            <a:solidFill>
              <a:srgbClr val="2E7D32"/>
            </a:solidFill>
            <a:prstDash val="solid"/>
          </a:ln>
        </p:spPr>
      </p:sp>
      <p:sp>
        <p:nvSpPr>
          <p:cNvPr id="9" name="Text 7"/>
          <p:cNvSpPr txBox="1"/>
          <p:nvPr/>
        </p:nvSpPr>
        <p:spPr>
          <a:xfrm>
            <a:off x="6876288" y="1307592"/>
            <a:ext cx="4709160" cy="512064"/>
          </a:xfrm>
          <a:prstGeom prst="rect">
            <a:avLst/>
          </a:prstGeom>
          <a:noFill/>
          <a:ln/>
        </p:spPr>
        <p:txBody>
          <a:bodyPr wrap="square" lIns="0" tIns="0" rIns="0" bIns="0" rtlCol="0" anchor="ctr"/>
          <a:lstStyle/>
          <a:p>
            <a:pPr indent="0" marL="0">
              <a:buNone/>
            </a:pPr>
            <a:r>
              <a:rPr lang="en-US" sz="1500" b="1" dirty="0">
                <a:solidFill>
                  <a:schemeClr val="tx2"/>
                </a:solidFill>
              </a:rPr>
              <a:t>Future work</a:t>
            </a:r>
            <a:endParaRPr lang="en-US" sz="1500" dirty="0"/>
          </a:p>
        </p:txBody>
      </p:sp>
      <p:sp>
        <p:nvSpPr>
          <p:cNvPr id="10" name="Text 8"/>
          <p:cNvSpPr txBox="1"/>
          <p:nvPr/>
        </p:nvSpPr>
        <p:spPr>
          <a:xfrm>
            <a:off x="6400800" y="1901952"/>
            <a:ext cx="5120640" cy="3977640"/>
          </a:xfrm>
          <a:prstGeom prst="rect">
            <a:avLst/>
          </a:prstGeom>
          <a:noFill/>
          <a:ln/>
        </p:spPr>
        <p:txBody>
          <a:bodyPr wrap="square" lIns="0" tIns="0" rIns="0" bIns="0" rtlCol="0" anchor="t"/>
          <a:lstStyle/>
          <a:p>
            <a:pPr indent="0" marL="0">
              <a:buNone/>
            </a:pPr>
            <a:r>
              <a:rPr lang="en-US" sz="1300" dirty="0">
                <a:solidFill>
                  <a:schemeClr val="tx1"/>
                </a:solidFill>
              </a:rPr>
              <a:t>Score severity (PDI) per leaf to build severity regression and multi-class models (Mandal et al., 2023; Lv et al., 2023).</a:t>
            </a:r>
            <a:endParaRPr lang="en-US" sz="1300" dirty="0"/>
          </a:p>
          <a:p>
            <a:pPr indent="0" marL="0">
              <a:buNone/>
            </a:pPr>
            <a:endParaRPr lang="en-US" sz="1300" dirty="0"/>
          </a:p>
          <a:p>
            <a:pPr indent="0" marL="0">
              <a:buNone/>
            </a:pPr>
            <a:r>
              <a:rPr lang="en-US" sz="1300" dirty="0">
                <a:solidFill>
                  <a:schemeClr val="tx1"/>
                </a:solidFill>
              </a:rPr>
              <a:t>Validate on a second season / location as an independent test (Terentev et al., 2023).</a:t>
            </a:r>
            <a:endParaRPr lang="en-US" sz="1300" dirty="0"/>
          </a:p>
          <a:p>
            <a:pPr indent="0" marL="0">
              <a:buNone/>
            </a:pPr>
            <a:endParaRPr lang="en-US" sz="1300" dirty="0"/>
          </a:p>
          <a:p>
            <a:pPr indent="0" marL="0">
              <a:buNone/>
            </a:pPr>
            <a:r>
              <a:rPr lang="en-US" sz="1300" dirty="0">
                <a:solidFill>
                  <a:schemeClr val="tx1"/>
                </a:solidFill>
              </a:rPr>
              <a:t>Add pre-symptomatic dates with inoculated plots for early detection (Tian et al., 2021).</a:t>
            </a:r>
            <a:endParaRPr lang="en-US" sz="1300" dirty="0"/>
          </a:p>
          <a:p>
            <a:pPr indent="0" marL="0">
              <a:buNone/>
            </a:pPr>
            <a:endParaRPr lang="en-US" sz="1300" dirty="0"/>
          </a:p>
          <a:p>
            <a:pPr indent="0" marL="0">
              <a:buNone/>
            </a:pPr>
            <a:r>
              <a:rPr lang="en-US" sz="1300" dirty="0">
                <a:solidFill>
                  <a:schemeClr val="tx1"/>
                </a:solidFill>
              </a:rPr>
              <a:t>Invert PROSPECT-D for pigment and water traits; upscale MWRI to UAV/satellite bands.</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papers reviewed</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Huang, L., Li, T., Ding, C., Zhao, J., Zhang, D., Yang, G. (2020). Diagnosis of the severity of Fusarium head blight of wheat ears on the basis of image and spectral feature fusion. Sensors, 20, 2887.</a:t>
            </a:r>
            <a:endParaRPr lang="en-US" sz="1050" dirty="0"/>
          </a:p>
          <a:p>
            <a:pPr indent="0" marL="0">
              <a:spcAft>
                <a:spcPts val="400"/>
              </a:spcAft>
              <a:buNone/>
            </a:pPr>
            <a:r>
              <a:rPr lang="en-US" sz="1050" dirty="0">
                <a:solidFill>
                  <a:schemeClr val="tx1"/>
                </a:solidFill>
              </a:rPr>
              <a:t>Lv, Z., Meng, R., Chen, G., Zhao, F., Xu, B., Zhao, Y., Huang, Z., Zhou, L., Zeng, L., Yan, J. (2023). Combining multiple spectral enhancement features for improving spectroscopic asymptomatic detection and symptomatic severity classification of southern corn leaf blight. Precision Agriculture, 24, 1593-1618.</a:t>
            </a:r>
            <a:endParaRPr lang="en-US" sz="1050" dirty="0"/>
          </a:p>
          <a:p>
            <a:pPr indent="0" marL="0">
              <a:spcAft>
                <a:spcPts val="400"/>
              </a:spcAft>
              <a:buNone/>
            </a:pPr>
            <a:r>
              <a:rPr lang="en-US" sz="1050" dirty="0">
                <a:solidFill>
                  <a:schemeClr val="tx1"/>
                </a:solidFill>
              </a:rPr>
              <a:t>Mandal, N., et al. (2022). Spectral characterisation of rice blast severity using hyperspectral reflectance. Journal of Agrometeorology.</a:t>
            </a:r>
            <a:endParaRPr lang="en-US" sz="1050" dirty="0"/>
          </a:p>
          <a:p>
            <a:pPr indent="0" marL="0">
              <a:spcAft>
                <a:spcPts val="400"/>
              </a:spcAft>
              <a:buNone/>
            </a:pPr>
            <a:r>
              <a:rPr lang="en-US" sz="1050" dirty="0">
                <a:solidFill>
                  <a:schemeClr val="tx1"/>
                </a:solidFill>
              </a:rPr>
              <a:t>Mandal, N., et al. (2023). Univariate and multivariate hyperspectral models of rice blast severity. Frontiers in Plant Science.</a:t>
            </a:r>
            <a:endParaRPr lang="en-US" sz="1050" dirty="0"/>
          </a:p>
          <a:p>
            <a:pPr indent="0" marL="0">
              <a:spcAft>
                <a:spcPts val="400"/>
              </a:spcAft>
              <a:buNone/>
            </a:pPr>
            <a:r>
              <a:rPr lang="en-US" sz="1050" dirty="0">
                <a:solidFill>
                  <a:schemeClr val="tx1"/>
                </a:solidFill>
              </a:rPr>
              <a:t>Nguyen, C., Sagan, V., Skobalski, J., Severo, J.I. (2023). Early detection of wheat yellow rust disease and its impact on terminal yield with multi-spectral UAV-imagery. Remote Sensing, 15, 3301.</a:t>
            </a:r>
            <a:endParaRPr lang="en-US" sz="1050" dirty="0"/>
          </a:p>
          <a:p>
            <a:pPr indent="0" marL="0">
              <a:spcAft>
                <a:spcPts val="400"/>
              </a:spcAft>
              <a:buNone/>
            </a:pPr>
            <a:r>
              <a:rPr lang="en-US" sz="1050" dirty="0">
                <a:solidFill>
                  <a:schemeClr val="tx1"/>
                </a:solidFill>
              </a:rPr>
              <a:t>Selvaprakash, et al. (2026). Early detection of rice blast using leaf hyperspectral reflectance. Plant Science Today.</a:t>
            </a:r>
            <a:endParaRPr lang="en-US" sz="1050" dirty="0"/>
          </a:p>
          <a:p>
            <a:pPr indent="0" marL="0">
              <a:spcAft>
                <a:spcPts val="400"/>
              </a:spcAft>
              <a:buNone/>
            </a:pPr>
            <a:r>
              <a:rPr lang="en-US" sz="1050" dirty="0">
                <a:solidFill>
                  <a:schemeClr val="tx1"/>
                </a:solidFill>
              </a:rPr>
              <a:t>Terentev, A., Badenko, V., Shaydayuk, E., Emelyanov, D., Eremenko, D., Klabukov, D., Fedotov, A., Dolzhenko, V. (2023). Hyperspectral remote sensing for early detection of wheat leaf rust caused by Puccinia triticina. Agriculture, 13, 1186.</a:t>
            </a:r>
            <a:endParaRPr lang="en-US" sz="1050" dirty="0"/>
          </a:p>
          <a:p>
            <a:pPr indent="0" marL="0">
              <a:spcAft>
                <a:spcPts val="400"/>
              </a:spcAft>
              <a:buNone/>
            </a:pPr>
            <a:r>
              <a:rPr lang="en-US" sz="1050" dirty="0">
                <a:solidFill>
                  <a:schemeClr val="tx1"/>
                </a:solidFill>
              </a:rPr>
              <a:t>Tian, L., Xue, B., Wang, Z., Li, D., Yao, X., Cao, Q., Zhu, Y., Cao, W., Cheng, T. (2021). Spectroscopic detection of rice leaf blast infection from asymptomatic to mild stages with integrated machine learning and feature selection. Remote Sensing of Environment, 257, 112350.</a:t>
            </a:r>
            <a:endParaRPr lang="en-US" sz="1050" dirty="0"/>
          </a:p>
          <a:p>
            <a:pPr indent="0" marL="0">
              <a:spcAft>
                <a:spcPts val="400"/>
              </a:spcAft>
              <a:buNone/>
            </a:pPr>
            <a:r>
              <a:rPr lang="en-US" sz="1050" dirty="0">
                <a:solidFill>
                  <a:schemeClr val="tx1"/>
                </a:solidFill>
              </a:rPr>
              <a:t>Zhang, J.-C., Pu, R., Wang, J., Huang, W., Yuan, L., Luo, J. (2012). Detecting powdery mildew of winter wheat using leaf level hyperspectral measurements. Computers and Electronics in Agriculture, 85, 13-23.</a:t>
            </a:r>
            <a:endParaRPr lang="en-US" sz="1050" dirty="0"/>
          </a:p>
          <a:p>
            <a:pPr indent="0" marL="0">
              <a:spcAft>
                <a:spcPts val="400"/>
              </a:spcAft>
              <a:buNone/>
            </a:pPr>
            <a:r>
              <a:rPr lang="en-US" sz="1050" dirty="0">
                <a:solidFill>
                  <a:schemeClr val="tx1"/>
                </a:solidFill>
              </a:rPr>
              <a:t>Zhu, H., Chu, B., Zhang, C., Liu, F., Jiang, L., He, Y. (2017). Hyperspectral imaging for presymptomatic detection of tobacco disease with successive projections algorithm and machine-learning classifiers. Scientific Reports, 7, 4125.</a:t>
            </a:r>
            <a:endParaRPr lang="en-US" sz="1050" dirty="0"/>
          </a:p>
          <a:p>
            <a:pPr indent="0" marL="0">
              <a:spcAft>
                <a:spcPts val="400"/>
              </a:spcAft>
              <a:buNone/>
            </a:pPr>
            <a:r>
              <a:rPr lang="en-US" sz="1050" dirty="0">
                <a:solidFill>
                  <a:schemeClr val="tx1"/>
                </a:solidFill>
              </a:rPr>
              <a:t>Panda, A. (2026, unpublished). Which features detect white rust? Filter, wrapper and embedded feature selection on the K1-K4 spectral feature pool of mustard leaves (23 methods). Division of Agricultural Physics, ICAR-IARI, New Delhi. Workbook and presentation provided by the researcher.</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methods</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Ambroise, C., McLachlan, G.J. (2002). Selection bias in gene extraction on the basis of microarray gene-expression data. PNAS, 99, 6562-6566.</a:t>
            </a:r>
            <a:endParaRPr lang="en-US" sz="1050" dirty="0"/>
          </a:p>
          <a:p>
            <a:pPr indent="0" marL="0">
              <a:spcAft>
                <a:spcPts val="400"/>
              </a:spcAft>
              <a:buNone/>
            </a:pPr>
            <a:r>
              <a:rPr lang="en-US" sz="1050" dirty="0">
                <a:solidFill>
                  <a:schemeClr val="tx1"/>
                </a:solidFill>
              </a:rPr>
              <a:t>Anderson, M.J. (2001). A new method for non-parametric multivariate analysis of variance. Austral Ecology, 26, 32-46.</a:t>
            </a:r>
            <a:endParaRPr lang="en-US" sz="1050" dirty="0"/>
          </a:p>
          <a:p>
            <a:pPr indent="0" marL="0">
              <a:spcAft>
                <a:spcPts val="400"/>
              </a:spcAft>
              <a:buNone/>
            </a:pPr>
            <a:r>
              <a:rPr lang="en-US" sz="1050" dirty="0">
                <a:solidFill>
                  <a:schemeClr val="tx1"/>
                </a:solidFill>
              </a:rPr>
              <a:t>Araujo, M.C.U., Saldanha, T.C.B., Galvao, R.K.H., Yoneyama, T., Chame, H.C., Visani, V. (2001). The successive projections algorithm for variable selection in spectroscopic multicomponent analysis. Chemometrics and Intelligent Laboratory Systems, 57, 65-73.</a:t>
            </a:r>
            <a:endParaRPr lang="en-US" sz="1050" dirty="0"/>
          </a:p>
          <a:p>
            <a:pPr indent="0" marL="0">
              <a:spcAft>
                <a:spcPts val="400"/>
              </a:spcAft>
              <a:buNone/>
            </a:pPr>
            <a:r>
              <a:rPr lang="en-US" sz="1050" dirty="0">
                <a:solidFill>
                  <a:schemeClr val="tx1"/>
                </a:solidFill>
              </a:rPr>
              <a:t>Barker, M., Rayens, W. (2003). Partial least squares for discrimination. Journal of Chemometrics, 17, 166-173.</a:t>
            </a:r>
            <a:endParaRPr lang="en-US" sz="1050" dirty="0"/>
          </a:p>
          <a:p>
            <a:pPr indent="0" marL="0">
              <a:spcAft>
                <a:spcPts val="400"/>
              </a:spcAft>
              <a:buNone/>
            </a:pPr>
            <a:r>
              <a:rPr lang="en-US" sz="1050" dirty="0">
                <a:solidFill>
                  <a:schemeClr val="tx1"/>
                </a:solidFill>
              </a:rPr>
              <a:t>Barnes, R.J., Dhanoa, M.S., Lister, S.J. (1989). Standard normal variate transformation and de-trending of near-infrared diffuse reflectance spectra. Applied Spectroscopy, 43, 772-777.</a:t>
            </a:r>
            <a:endParaRPr lang="en-US" sz="1050" dirty="0"/>
          </a:p>
          <a:p>
            <a:pPr indent="0" marL="0">
              <a:spcAft>
                <a:spcPts val="400"/>
              </a:spcAft>
              <a:buNone/>
            </a:pPr>
            <a:r>
              <a:rPr lang="en-US" sz="1050" dirty="0">
                <a:solidFill>
                  <a:schemeClr val="tx1"/>
                </a:solidFill>
              </a:rPr>
              <a:t>Bates, D., Maechler, M., Bolker, B., Walker, S. (2015). Fitting linear mixed-effects models using lme4. Journal of Statistical Software, 67(1), 1-48.</a:t>
            </a:r>
            <a:endParaRPr lang="en-US" sz="1050" dirty="0"/>
          </a:p>
          <a:p>
            <a:pPr indent="0" marL="0">
              <a:spcAft>
                <a:spcPts val="400"/>
              </a:spcAft>
              <a:buNone/>
            </a:pPr>
            <a:r>
              <a:rPr lang="en-US" sz="1050" dirty="0">
                <a:solidFill>
                  <a:schemeClr val="tx1"/>
                </a:solidFill>
              </a:rPr>
              <a:t>Benjamini, Y., Hochberg, Y. (1995). Controlling the false discovery rate: a practical and powerful approach to multiple testing. Journal of the Royal Statistical Society B, 57, 289-300.</a:t>
            </a:r>
            <a:endParaRPr lang="en-US" sz="1050" dirty="0"/>
          </a:p>
          <a:p>
            <a:pPr indent="0" marL="0">
              <a:spcAft>
                <a:spcPts val="400"/>
              </a:spcAft>
              <a:buNone/>
            </a:pPr>
            <a:r>
              <a:rPr lang="en-US" sz="1050" dirty="0">
                <a:solidFill>
                  <a:schemeClr val="tx1"/>
                </a:solidFill>
              </a:rPr>
              <a:t>Breiman, L. (2001). Random forests. Machine Learning, 45, 5-32.</a:t>
            </a:r>
            <a:endParaRPr lang="en-US" sz="1050" dirty="0"/>
          </a:p>
          <a:p>
            <a:pPr indent="0" marL="0">
              <a:spcAft>
                <a:spcPts val="400"/>
              </a:spcAft>
              <a:buNone/>
            </a:pPr>
            <a:r>
              <a:rPr lang="en-US" sz="1050" dirty="0">
                <a:solidFill>
                  <a:schemeClr val="tx1"/>
                </a:solidFill>
              </a:rPr>
              <a:t>Chen, T., Guestrin, C. (2016). XGBoost: a scalable tree boosting system. Proceedings of the 22nd ACM SIGKDD, 785-794.</a:t>
            </a:r>
            <a:endParaRPr lang="en-US" sz="1050" dirty="0"/>
          </a:p>
          <a:p>
            <a:pPr indent="0" marL="0">
              <a:spcAft>
                <a:spcPts val="400"/>
              </a:spcAft>
              <a:buNone/>
            </a:pPr>
            <a:r>
              <a:rPr lang="en-US" sz="1050" dirty="0">
                <a:solidFill>
                  <a:schemeClr val="tx1"/>
                </a:solidFill>
              </a:rPr>
              <a:t>Cheng, T., Rivard, B., Sanchez-Azofeifa, A. (2011). Spectroscopic determination of leaf water content using continuous wavelet analysis. Remote Sensing of Environment, 115, 659-670.</a:t>
            </a:r>
            <a:endParaRPr lang="en-US" sz="1050" dirty="0"/>
          </a:p>
          <a:p>
            <a:pPr indent="0" marL="0">
              <a:spcAft>
                <a:spcPts val="400"/>
              </a:spcAft>
              <a:buNone/>
            </a:pPr>
            <a:r>
              <a:rPr lang="en-US" sz="1050" dirty="0">
                <a:solidFill>
                  <a:schemeClr val="tx1"/>
                </a:solidFill>
              </a:rPr>
              <a:t>Chicco, D., Jurman, G. (2020). The advantages of the Matthews correlation coefficient (MCC) over F1 score and accuracy in binary classification evaluation. BMC Genomics, 21, 6.</a:t>
            </a:r>
            <a:endParaRPr lang="en-US" sz="1050" dirty="0"/>
          </a:p>
          <a:p>
            <a:pPr indent="0" marL="0">
              <a:spcAft>
                <a:spcPts val="400"/>
              </a:spcAft>
              <a:buNone/>
            </a:pPr>
            <a:r>
              <a:rPr lang="en-US" sz="1050" dirty="0">
                <a:solidFill>
                  <a:schemeClr val="tx1"/>
                </a:solidFill>
              </a:rPr>
              <a:t>Clark, R.N., Roush, T.L. (1984). Reflectance spectroscopy: quantitative analysis techniques for remote sensing applications. Journal of Geophysical Research, 89(B7), 6329-6340.</a:t>
            </a:r>
            <a:endParaRPr lang="en-US" sz="1050" dirty="0"/>
          </a:p>
          <a:p>
            <a:pPr indent="0" marL="0">
              <a:spcAft>
                <a:spcPts val="400"/>
              </a:spcAft>
              <a:buNone/>
            </a:pPr>
            <a:r>
              <a:rPr lang="en-US" sz="1050" dirty="0">
                <a:solidFill>
                  <a:schemeClr val="tx1"/>
                </a:solidFill>
              </a:rPr>
              <a:t>Cohen, J. (1960). A coefficient of agreement for nominal scales. Educational and Psychological Measurement, 20, 37-46.</a:t>
            </a:r>
            <a:endParaRPr lang="en-US" sz="1050" dirty="0"/>
          </a:p>
          <a:p>
            <a:pPr indent="0" marL="0">
              <a:spcAft>
                <a:spcPts val="400"/>
              </a:spcAft>
              <a:buNone/>
            </a:pPr>
            <a:r>
              <a:rPr lang="en-US" sz="1050" dirty="0">
                <a:solidFill>
                  <a:schemeClr val="tx1"/>
                </a:solidFill>
              </a:rPr>
              <a:t>Cortes, C., Vapnik, V. (1995). Support-vector networks. Machine Learning, 20, 273-297.</a:t>
            </a:r>
            <a:endParaRPr lang="en-US" sz="1050" dirty="0"/>
          </a:p>
          <a:p>
            <a:pPr indent="0" marL="0">
              <a:spcAft>
                <a:spcPts val="400"/>
              </a:spcAft>
              <a:buNone/>
            </a:pPr>
            <a:r>
              <a:rPr lang="en-US" sz="1050" dirty="0">
                <a:solidFill>
                  <a:schemeClr val="tx1"/>
                </a:solidFill>
              </a:rPr>
              <a:t>Demsar, J. (2006). Statistical comparisons of classifiers over multiple data sets. Journal of Machine Learning Research, 7, 1-30.</a:t>
            </a:r>
            <a:endParaRPr lang="en-US" sz="1050" dirty="0"/>
          </a:p>
          <a:p>
            <a:pPr indent="0" marL="0">
              <a:spcAft>
                <a:spcPts val="400"/>
              </a:spcAft>
              <a:buNone/>
            </a:pPr>
            <a:r>
              <a:rPr lang="en-US" sz="1050" dirty="0">
                <a:solidFill>
                  <a:schemeClr val="tx1"/>
                </a:solidFill>
              </a:rPr>
              <a:t>Geladi, P., MacDougall, D., Martens, H. (1985). Linearization and scatter-correction for near-infrared reflectance spectra of meat. Applied Spectroscopy, 39, 491-500.</a:t>
            </a:r>
            <a:endParaRPr lang="en-US" sz="1050" dirty="0"/>
          </a:p>
          <a:p>
            <a:pPr indent="0" marL="0">
              <a:spcAft>
                <a:spcPts val="400"/>
              </a:spcAft>
              <a:buNone/>
            </a:pPr>
            <a:r>
              <a:rPr lang="en-US" sz="1050" dirty="0">
                <a:solidFill>
                  <a:schemeClr val="tx1"/>
                </a:solidFill>
              </a:rPr>
              <a:t>Hueni, A., Bialek, A. (2017). Cause, effect, and correction of field spectroradiometer interchannel radiometric steps. IEEE Journal of Selected Topics in Applied Earth Observations and Remote Sensing, 10, 1542-1551.</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methods (cont.)</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Huang, G.-B., Zhu, Q.-Y., Siew, C.-K. (2006). Extreme learning machine: theory and applications. Neurocomputing, 70, 489-501.</a:t>
            </a:r>
            <a:endParaRPr lang="en-US" sz="1050" dirty="0"/>
          </a:p>
          <a:p>
            <a:pPr indent="0" marL="0">
              <a:spcAft>
                <a:spcPts val="400"/>
              </a:spcAft>
              <a:buNone/>
            </a:pPr>
            <a:r>
              <a:rPr lang="en-US" sz="1050" dirty="0">
                <a:solidFill>
                  <a:schemeClr val="tx1"/>
                </a:solidFill>
              </a:rPr>
              <a:t>Kokaly, R.F., Clark, R.N. (1999). Spectroscopic determination of leaf biochemistry using band-depth analysis of absorption features and stepwise multiple linear regression. Remote Sensing of Environment, 67, 267-287.</a:t>
            </a:r>
            <a:endParaRPr lang="en-US" sz="1050" dirty="0"/>
          </a:p>
          <a:p>
            <a:pPr indent="0" marL="0">
              <a:spcAft>
                <a:spcPts val="400"/>
              </a:spcAft>
              <a:buNone/>
            </a:pPr>
            <a:r>
              <a:rPr lang="en-US" sz="1050" dirty="0">
                <a:solidFill>
                  <a:schemeClr val="tx1"/>
                </a:solidFill>
              </a:rPr>
              <a:t>Leardi, R., Lupianez Gonzalez, A. (1998). Genetic algorithms applied to feature selection in PLS regression: how and when to use them. Chemometrics and Intelligent Laboratory Systems, 41, 195-207.</a:t>
            </a:r>
            <a:endParaRPr lang="en-US" sz="1050" dirty="0"/>
          </a:p>
          <a:p>
            <a:pPr indent="0" marL="0">
              <a:spcAft>
                <a:spcPts val="400"/>
              </a:spcAft>
              <a:buNone/>
            </a:pPr>
            <a:r>
              <a:rPr lang="en-US" sz="1050" dirty="0">
                <a:solidFill>
                  <a:schemeClr val="tx1"/>
                </a:solidFill>
              </a:rPr>
              <a:t>Liu, F.T., Ting, K.M., Zhou, Z.-H. (2008). Isolation forest. Proceedings of the IEEE International Conference on Data Mining, 413-422.</a:t>
            </a:r>
            <a:endParaRPr lang="en-US" sz="1050" dirty="0"/>
          </a:p>
          <a:p>
            <a:pPr indent="0" marL="0">
              <a:spcAft>
                <a:spcPts val="400"/>
              </a:spcAft>
              <a:buNone/>
            </a:pPr>
            <a:r>
              <a:rPr lang="en-US" sz="1050" dirty="0">
                <a:solidFill>
                  <a:schemeClr val="tx1"/>
                </a:solidFill>
              </a:rPr>
              <a:t>Lundberg, S.M., Lee, S.-I. (2017). A unified approach to interpreting model predictions. Advances in Neural Information Processing Systems, 30.</a:t>
            </a:r>
            <a:endParaRPr lang="en-US" sz="1050" dirty="0"/>
          </a:p>
          <a:p>
            <a:pPr indent="0" marL="0">
              <a:spcAft>
                <a:spcPts val="400"/>
              </a:spcAft>
              <a:buNone/>
            </a:pPr>
            <a:r>
              <a:rPr lang="en-US" sz="1050" dirty="0">
                <a:solidFill>
                  <a:schemeClr val="tx1"/>
                </a:solidFill>
              </a:rPr>
              <a:t>Mahlein, A.-K., Rumpf, T., Welke, P., Dehne, H.-W., Pluemer, L., Steiner, U., Oerke, E.-C. (2013). Development of spectral indices for detecting and identifying plant diseases. Remote Sensing of Environment, 128, 21-30.</a:t>
            </a:r>
            <a:endParaRPr lang="en-US" sz="1050" dirty="0"/>
          </a:p>
          <a:p>
            <a:pPr indent="0" marL="0">
              <a:spcAft>
                <a:spcPts val="400"/>
              </a:spcAft>
              <a:buNone/>
            </a:pPr>
            <a:r>
              <a:rPr lang="en-US" sz="1050" dirty="0">
                <a:solidFill>
                  <a:schemeClr val="tx1"/>
                </a:solidFill>
              </a:rPr>
              <a:t>Nadeau, C., Bengio, Y. (2003). Inference for the generalization error. Machine Learning, 52, 239-281.</a:t>
            </a:r>
            <a:endParaRPr lang="en-US" sz="1050" dirty="0"/>
          </a:p>
          <a:p>
            <a:pPr indent="0" marL="0">
              <a:spcAft>
                <a:spcPts val="400"/>
              </a:spcAft>
              <a:buNone/>
            </a:pPr>
            <a:r>
              <a:rPr lang="en-US" sz="1050" dirty="0">
                <a:solidFill>
                  <a:schemeClr val="tx1"/>
                </a:solidFill>
              </a:rPr>
              <a:t>Pudil, P., Novovicova, J., Kittler, J. (1994). Floating search methods in feature selection. Pattern Recognition Letters, 15, 1119-1125.</a:t>
            </a:r>
            <a:endParaRPr lang="en-US" sz="1050" dirty="0"/>
          </a:p>
          <a:p>
            <a:pPr indent="0" marL="0">
              <a:spcAft>
                <a:spcPts val="400"/>
              </a:spcAft>
              <a:buNone/>
            </a:pPr>
            <a:r>
              <a:rPr lang="en-US" sz="1050" dirty="0">
                <a:solidFill>
                  <a:schemeClr val="tx1"/>
                </a:solidFill>
              </a:rPr>
              <a:t>Richards, J.A., Jia, X. (2006). Remote Sensing Digital Image Analysis: An Introduction (4th ed.). Springer, Berlin.</a:t>
            </a:r>
            <a:endParaRPr lang="en-US" sz="1050" dirty="0"/>
          </a:p>
          <a:p>
            <a:pPr indent="0" marL="0">
              <a:spcAft>
                <a:spcPts val="400"/>
              </a:spcAft>
              <a:buNone/>
            </a:pPr>
            <a:r>
              <a:rPr lang="en-US" sz="1050" dirty="0">
                <a:solidFill>
                  <a:schemeClr val="tx1"/>
                </a:solidFill>
              </a:rPr>
              <a:t>Roberts, D.R., Bahn, V., Ciuti, S., Boyce, M.S., Elith, J., Guillera-Arroita, G., et al. (2017). Cross-validation strategies for data with temporal, spatial, hierarchical, or phylogenetic structure. Ecography, 40, 913-929.</a:t>
            </a:r>
            <a:endParaRPr lang="en-US" sz="1050" dirty="0"/>
          </a:p>
          <a:p>
            <a:pPr indent="0" marL="0">
              <a:spcAft>
                <a:spcPts val="400"/>
              </a:spcAft>
              <a:buNone/>
            </a:pPr>
            <a:r>
              <a:rPr lang="en-US" sz="1050" dirty="0">
                <a:solidFill>
                  <a:schemeClr val="tx1"/>
                </a:solidFill>
              </a:rPr>
              <a:t>Robnik-Sikonja, M., Kononenko, I. (2003). Theoretical and empirical analysis of ReliefF and RReliefF. Machine Learning, 53, 23-69.</a:t>
            </a:r>
            <a:endParaRPr lang="en-US" sz="1050" dirty="0"/>
          </a:p>
          <a:p>
            <a:pPr indent="0" marL="0">
              <a:spcAft>
                <a:spcPts val="400"/>
              </a:spcAft>
              <a:buNone/>
            </a:pPr>
            <a:r>
              <a:rPr lang="en-US" sz="1050" dirty="0">
                <a:solidFill>
                  <a:schemeClr val="tx1"/>
                </a:solidFill>
              </a:rPr>
              <a:t>Saharan, G.S., Verma, P.R., Meena, P.D., Kumar, A. (2014). White Rust of Crucifers: Biology, Ecology and Management. Springer India (verify edition).</a:t>
            </a:r>
            <a:endParaRPr lang="en-US" sz="1050" dirty="0"/>
          </a:p>
          <a:p>
            <a:pPr indent="0" marL="0">
              <a:spcAft>
                <a:spcPts val="400"/>
              </a:spcAft>
              <a:buNone/>
            </a:pPr>
            <a:r>
              <a:rPr lang="en-US" sz="1050" dirty="0">
                <a:solidFill>
                  <a:schemeClr val="tx1"/>
                </a:solidFill>
              </a:rPr>
              <a:t>Savitzky, A., Golay, M.J.E. (1964). Smoothing and differentiation of data by simplified least squares procedures. Analytical Chemistry, 36, 1627-1639.</a:t>
            </a:r>
            <a:endParaRPr lang="en-US" sz="1050" dirty="0"/>
          </a:p>
          <a:p>
            <a:pPr indent="0" marL="0">
              <a:spcAft>
                <a:spcPts val="400"/>
              </a:spcAft>
              <a:buNone/>
            </a:pPr>
            <a:r>
              <a:rPr lang="en-US" sz="1050" dirty="0">
                <a:solidFill>
                  <a:schemeClr val="tx1"/>
                </a:solidFill>
              </a:rPr>
              <a:t>Suykens, J.A.K., Vandewalle, J. (1999). Least squares support vector machine classifiers. Neural Processing Letters, 9, 293-300.</a:t>
            </a:r>
            <a:endParaRPr lang="en-US" sz="1050" dirty="0"/>
          </a:p>
          <a:p>
            <a:pPr indent="0" marL="0">
              <a:spcAft>
                <a:spcPts val="400"/>
              </a:spcAft>
              <a:buNone/>
            </a:pPr>
            <a:r>
              <a:rPr lang="en-US" sz="1050" dirty="0">
                <a:solidFill>
                  <a:schemeClr val="tx1"/>
                </a:solidFill>
              </a:rPr>
              <a:t>Torrence, C., Compo, G.P. (1998). A practical guide to wavelet analysis. Bulletin of the American Meteorological Society, 79, 61-78.</a:t>
            </a:r>
            <a:endParaRPr lang="en-US" sz="1050" dirty="0"/>
          </a:p>
          <a:p>
            <a:pPr indent="0" marL="0">
              <a:spcAft>
                <a:spcPts val="400"/>
              </a:spcAft>
              <a:buNone/>
            </a:pPr>
            <a:r>
              <a:rPr lang="en-US" sz="1050" dirty="0">
                <a:solidFill>
                  <a:schemeClr val="tx1"/>
                </a:solidFill>
              </a:rPr>
              <a:t>Tsai, F., Philpot, W. (1998). Derivative analysis of hyperspectral data. Remote Sensing of Environment, 66, 41-51.</a:t>
            </a:r>
            <a:endParaRPr lang="en-US" sz="1050" dirty="0"/>
          </a:p>
          <a:p>
            <a:pPr indent="0" marL="0">
              <a:spcAft>
                <a:spcPts val="400"/>
              </a:spcAft>
              <a:buNone/>
            </a:pPr>
            <a:r>
              <a:rPr lang="en-US" sz="1050" dirty="0">
                <a:solidFill>
                  <a:schemeClr val="tx1"/>
                </a:solidFill>
              </a:rPr>
              <a:t>van der Maaten, L., Hinton, G. (2008). Visualizing data using t-SNE. Journal of Machine Learning Research, 9, 2579-2605.</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methods (cont.)</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Varma, S., Simon, R. (2006). Bias in error estimation when using cross-validation for model selection. BMC Bioinformatics, 7, 91.</a:t>
            </a:r>
            <a:endParaRPr lang="en-US" sz="1050" dirty="0"/>
          </a:p>
          <a:p>
            <a:pPr indent="0" marL="0">
              <a:spcAft>
                <a:spcPts val="400"/>
              </a:spcAft>
              <a:buNone/>
            </a:pPr>
            <a:r>
              <a:rPr lang="en-US" sz="1050" dirty="0">
                <a:solidFill>
                  <a:schemeClr val="tx1"/>
                </a:solidFill>
              </a:rPr>
              <a:t>Wold, S., Antti, H., Lindgren, F., Ohman, J. (1998). Orthogonal signal correction of near-infrared spectra. Chemometrics and Intelligent Laboratory Systems, 44, 175-185.</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feature-selection methods</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Das, B., Sahoo, R.N., Biswas, A., Pargal, S., Krishna, G., Verma, R., Chinnusamy, V., Sehgal, V.K., Gupta, V.K. (2020). Discrimination of rice genotypes using field spectroradiometry. Geocarto International, 35(1), 64-77.</a:t>
            </a:r>
            <a:endParaRPr lang="en-US" sz="1050" dirty="0"/>
          </a:p>
          <a:p>
            <a:pPr indent="0" marL="0">
              <a:spcAft>
                <a:spcPts val="400"/>
              </a:spcAft>
              <a:buNone/>
            </a:pPr>
            <a:r>
              <a:rPr lang="en-US" sz="1050" dirty="0">
                <a:solidFill>
                  <a:schemeClr val="tx1"/>
                </a:solidFill>
              </a:rPr>
              <a:t>Guyon, I., Elisseeff, A. (2003). An introduction to variable and feature selection. Journal of Machine Learning Research, 3, 1157-1182.</a:t>
            </a:r>
            <a:endParaRPr lang="en-US" sz="1050" dirty="0"/>
          </a:p>
          <a:p>
            <a:pPr indent="0" marL="0">
              <a:spcAft>
                <a:spcPts val="400"/>
              </a:spcAft>
              <a:buNone/>
            </a:pPr>
            <a:r>
              <a:rPr lang="en-US" sz="1050" dirty="0">
                <a:solidFill>
                  <a:schemeClr val="tx1"/>
                </a:solidFill>
              </a:rPr>
              <a:t>Guyon, I., Weston, J., Barnhill, S., Vapnik, V. (2002). Gene selection for cancer classification using support vector machines. Machine Learning, 46, 389-422.</a:t>
            </a:r>
            <a:endParaRPr lang="en-US" sz="1050" dirty="0"/>
          </a:p>
          <a:p>
            <a:pPr indent="0" marL="0">
              <a:spcAft>
                <a:spcPts val="400"/>
              </a:spcAft>
              <a:buNone/>
            </a:pPr>
            <a:r>
              <a:rPr lang="en-US" sz="1050" dirty="0">
                <a:solidFill>
                  <a:schemeClr val="tx1"/>
                </a:solidFill>
              </a:rPr>
              <a:t>Kira, K., Rendell, L.A. (1992). A practical approach to feature selection. Proceedings of the 9th International Workshop on Machine Learning, 249-256.</a:t>
            </a:r>
            <a:endParaRPr lang="en-US" sz="1050" dirty="0"/>
          </a:p>
          <a:p>
            <a:pPr indent="0" marL="0">
              <a:spcAft>
                <a:spcPts val="400"/>
              </a:spcAft>
              <a:buNone/>
            </a:pPr>
            <a:r>
              <a:rPr lang="en-US" sz="1050" dirty="0">
                <a:solidFill>
                  <a:schemeClr val="tx1"/>
                </a:solidFill>
              </a:rPr>
              <a:t>Kohavi, R., John, G.H. (1997). Wrappers for feature subset selection. Artificial Intelligence, 97, 273-324.</a:t>
            </a:r>
            <a:endParaRPr lang="en-US" sz="1050" dirty="0"/>
          </a:p>
          <a:p>
            <a:pPr indent="0" marL="0">
              <a:spcAft>
                <a:spcPts val="400"/>
              </a:spcAft>
              <a:buNone/>
            </a:pPr>
            <a:r>
              <a:rPr lang="en-US" sz="1050" dirty="0">
                <a:solidFill>
                  <a:schemeClr val="tx1"/>
                </a:solidFill>
              </a:rPr>
              <a:t>Kononenko, I. (1994). Estimating attributes: analysis and extensions of RELIEF. Machine Learning: ECML-94, LNCS 784, Springer, 171-182.</a:t>
            </a:r>
            <a:endParaRPr lang="en-US" sz="1050" dirty="0"/>
          </a:p>
          <a:p>
            <a:pPr indent="0" marL="0">
              <a:spcAft>
                <a:spcPts val="400"/>
              </a:spcAft>
              <a:buNone/>
            </a:pPr>
            <a:r>
              <a:rPr lang="en-US" sz="1050" dirty="0">
                <a:solidFill>
                  <a:schemeClr val="tx1"/>
                </a:solidFill>
              </a:rPr>
              <a:t>Kuncheva, L.I. (2007). A stability index for feature selection. Proceedings of the 25th IASTED International Multi-Conference: Artificial Intelligence and Applications, 390-395.</a:t>
            </a:r>
            <a:endParaRPr lang="en-US" sz="1050" dirty="0"/>
          </a:p>
          <a:p>
            <a:pPr indent="0" marL="0">
              <a:spcAft>
                <a:spcPts val="400"/>
              </a:spcAft>
              <a:buNone/>
            </a:pPr>
            <a:r>
              <a:rPr lang="en-US" sz="1050" dirty="0">
                <a:solidFill>
                  <a:schemeClr val="tx1"/>
                </a:solidFill>
              </a:rPr>
              <a:t>Kursa, M.B., Rudnicki, W.R. (2010). Feature selection with the Boruta package. Journal of Statistical Software, 36(11), 1-13.</a:t>
            </a:r>
            <a:endParaRPr lang="en-US" sz="1050" dirty="0"/>
          </a:p>
          <a:p>
            <a:pPr indent="0" marL="0">
              <a:spcAft>
                <a:spcPts val="400"/>
              </a:spcAft>
              <a:buNone/>
            </a:pPr>
            <a:r>
              <a:rPr lang="en-US" sz="1050" dirty="0">
                <a:solidFill>
                  <a:schemeClr val="tx1"/>
                </a:solidFill>
              </a:rPr>
              <a:t>Li, H., Liang, Y., Xu, Q., Cao, D. (2009). Key wavelengths screening using competitive adaptive reweighted sampling method for multivariate calibration. Analytica Chimica Acta, 648(1), 77-84.</a:t>
            </a:r>
            <a:endParaRPr lang="en-US" sz="1050" dirty="0"/>
          </a:p>
          <a:p>
            <a:pPr indent="0" marL="0">
              <a:spcAft>
                <a:spcPts val="400"/>
              </a:spcAft>
              <a:buNone/>
            </a:pPr>
            <a:r>
              <a:rPr lang="en-US" sz="1050" dirty="0">
                <a:solidFill>
                  <a:schemeClr val="tx1"/>
                </a:solidFill>
              </a:rPr>
              <a:t>Mustafa, G., Zheng, H., Khan, I.H., Tian, L., Jia, H., Li, G., Cheng, T., Tian, Y., Cao, W., Zhu, Y., Yao, X. (2022). Hyperspectral reflectance proxies to diagnose in-field fusarium head blight in wheat with machine learning. Remote Sensing, 14(12), 2784.</a:t>
            </a:r>
            <a:endParaRPr lang="en-US" sz="1050" dirty="0"/>
          </a:p>
          <a:p>
            <a:pPr indent="0" marL="0">
              <a:spcAft>
                <a:spcPts val="400"/>
              </a:spcAft>
              <a:buNone/>
            </a:pPr>
            <a:r>
              <a:rPr lang="en-US" sz="1050" dirty="0">
                <a:solidFill>
                  <a:schemeClr val="tx1"/>
                </a:solidFill>
              </a:rPr>
              <a:t>Mustafa, G., Zheng, H., et al. (2023). Fusarium head blight monitoring in wheat ears using machine learning and multimodal data from asymptomatic to symptomatic periods. Frontiers in Plant Science, 13, 1102341.</a:t>
            </a:r>
            <a:endParaRPr lang="en-US" sz="1050" dirty="0"/>
          </a:p>
          <a:p>
            <a:pPr indent="0" marL="0">
              <a:spcAft>
                <a:spcPts val="400"/>
              </a:spcAft>
              <a:buNone/>
            </a:pPr>
            <a:r>
              <a:rPr lang="en-US" sz="1050" dirty="0">
                <a:solidFill>
                  <a:schemeClr val="tx1"/>
                </a:solidFill>
              </a:rPr>
              <a:t>Saeys, Y., Abeel, T., Van de Peer, Y. (2008). Robust feature selection using ensemble feature selection techniques. ECML PKDD 2008, LNAI 5212, Springer, 313-325.</a:t>
            </a:r>
            <a:endParaRPr lang="en-US" sz="1050" dirty="0"/>
          </a:p>
          <a:p>
            <a:pPr indent="0" marL="0">
              <a:spcAft>
                <a:spcPts val="400"/>
              </a:spcAft>
              <a:buNone/>
            </a:pPr>
            <a:r>
              <a:rPr lang="en-US" sz="1050" dirty="0">
                <a:solidFill>
                  <a:schemeClr val="tx1"/>
                </a:solidFill>
              </a:rPr>
              <a:t>Saeys, Y., Inza, I., Larranaga, P. (2007). A review of feature selection techniques in bioinformatics. Bioinformatics, 23(19), 2507-2517.</a:t>
            </a:r>
            <a:endParaRPr lang="en-US" sz="1050" dirty="0"/>
          </a:p>
          <a:p>
            <a:pPr indent="0" marL="0">
              <a:spcAft>
                <a:spcPts val="400"/>
              </a:spcAft>
              <a:buNone/>
            </a:pPr>
            <a:r>
              <a:rPr lang="en-US" sz="1050" dirty="0">
                <a:solidFill>
                  <a:schemeClr val="tx1"/>
                </a:solidFill>
              </a:rPr>
              <a:t>Thomas, S., Kuska, M.T., Bohnenkamp, D., Brugger, A., Alisaac, E., Wahabzada, M., Behmann, J., Mahlein, A.-K. (2018). Benefits of hyperspectral imaging for plant disease detection and plant protection: a technical perspective. Journal of Plant Diseases and Protection, 125, 5-20.</a:t>
            </a:r>
            <a:endParaRPr lang="en-US" sz="1050" dirty="0"/>
          </a:p>
          <a:p>
            <a:pPr indent="0" marL="0">
              <a:spcAft>
                <a:spcPts val="400"/>
              </a:spcAft>
              <a:buNone/>
            </a:pPr>
            <a:r>
              <a:rPr lang="en-US" sz="1050" dirty="0">
                <a:solidFill>
                  <a:schemeClr val="tx1"/>
                </a:solidFill>
              </a:rPr>
              <a:t>Tibshirani, R. (1996). Regression shrinkage and selection via the lasso. Journal of the Royal Statistical Society B, 58(1), 267-288.</a:t>
            </a:r>
            <a:endParaRPr lang="en-US" sz="1050" dirty="0"/>
          </a:p>
          <a:p>
            <a:pPr indent="0" marL="0">
              <a:spcAft>
                <a:spcPts val="400"/>
              </a:spcAft>
              <a:buNone/>
            </a:pPr>
            <a:r>
              <a:rPr lang="en-US" sz="1050" dirty="0">
                <a:solidFill>
                  <a:schemeClr val="tx1"/>
                </a:solidFill>
              </a:rPr>
              <a:t>Wei, X., Johnson, M.A., Langston, D.B., Mehl, H.L., Li, S. (2021). Identifying optimal wavelengths as disease signatures using hyperspectral sensor and machine learning. Remote Sensing, 13(14), 2833.</a:t>
            </a:r>
            <a:endParaRPr lang="en-US" sz="1050" dirty="0"/>
          </a:p>
          <a:p>
            <a:pPr indent="0" marL="0">
              <a:spcAft>
                <a:spcPts val="400"/>
              </a:spcAft>
              <a:buNone/>
            </a:pPr>
            <a:r>
              <a:rPr lang="en-US" sz="1050" dirty="0">
                <a:solidFill>
                  <a:schemeClr val="tx1"/>
                </a:solidFill>
              </a:rPr>
              <a:t>Nogueira, S., Sechidis, K., Brown, G. (2018). On the stability of feature selection algorithms. Journal of Machine Learning Research, 18(174), 1-54.</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feature-selection methods (cont.)</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Belsley, D.A., Kuh, E., Welsch, R.E. (1980). Regression Diagnostics: Identifying Influential Data and Sources of Collinearity. Wiley, New York.</a:t>
            </a:r>
            <a:endParaRPr lang="en-US" sz="1050" dirty="0"/>
          </a:p>
          <a:p>
            <a:pPr indent="0" marL="0">
              <a:spcAft>
                <a:spcPts val="400"/>
              </a:spcAft>
              <a:buNone/>
            </a:pPr>
            <a:r>
              <a:rPr lang="en-US" sz="1050" dirty="0">
                <a:solidFill>
                  <a:schemeClr val="tx1"/>
                </a:solidFill>
              </a:rPr>
              <a:t>Chong, I.-G., Jun, C.-H. (2005). Performance of some variable selection methods when multicollinearity is present. Chemometrics and Intelligent Laboratory Systems, 78, 103-112.</a:t>
            </a:r>
            <a:endParaRPr lang="en-US" sz="1050" dirty="0"/>
          </a:p>
          <a:p>
            <a:pPr indent="0" marL="0">
              <a:spcAft>
                <a:spcPts val="400"/>
              </a:spcAft>
              <a:buNone/>
            </a:pPr>
            <a:r>
              <a:rPr lang="en-US" sz="1050" dirty="0">
                <a:solidFill>
                  <a:schemeClr val="tx1"/>
                </a:solidFill>
              </a:rPr>
              <a:t>Dormann, C.F., Elith, J., Bacher, S., et al. (2013). Collinearity: a review of methods to deal with it and a simulation study evaluating their performance. Ecography, 36, 27-46.</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vegetation index sources</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Apan, A., Held, A., Phinn, S., Markley, J. (2004). Detecting sugarcane 'orange rust' disease using EO-1 Hyperion hyperspectral imagery. International Journal of Remote Sensing, 25, 489-498.</a:t>
            </a:r>
            <a:endParaRPr lang="en-US" sz="1050" dirty="0"/>
          </a:p>
          <a:p>
            <a:pPr indent="0" marL="0">
              <a:spcAft>
                <a:spcPts val="400"/>
              </a:spcAft>
              <a:buNone/>
            </a:pPr>
            <a:r>
              <a:rPr lang="en-US" sz="1050" dirty="0">
                <a:solidFill>
                  <a:schemeClr val="tx1"/>
                </a:solidFill>
              </a:rPr>
              <a:t>Ashourloo, D., Mobasheri, M.R., Huete, A. (2014). Developing two spectral disease indices for detection of wheat leaf rust (Puccinia triticina). Remote Sensing, 6, 4723-4740.</a:t>
            </a:r>
            <a:endParaRPr lang="en-US" sz="1050" dirty="0"/>
          </a:p>
          <a:p>
            <a:pPr indent="0" marL="0">
              <a:spcAft>
                <a:spcPts val="400"/>
              </a:spcAft>
              <a:buNone/>
            </a:pPr>
            <a:r>
              <a:rPr lang="en-US" sz="1050" dirty="0">
                <a:solidFill>
                  <a:schemeClr val="tx1"/>
                </a:solidFill>
              </a:rPr>
              <a:t>Barnes, E.M., Clarke, T.R., Richards, S.E., et al. (2000). Coincident detection of crop water stress, nitrogen status and canopy density using ground-based multispectral data. Proc. 5th Int. Conf. Precision Agriculture, Bloomington, USA.</a:t>
            </a:r>
            <a:endParaRPr lang="en-US" sz="1050" dirty="0"/>
          </a:p>
          <a:p>
            <a:pPr indent="0" marL="0">
              <a:spcAft>
                <a:spcPts val="400"/>
              </a:spcAft>
              <a:buNone/>
            </a:pPr>
            <a:r>
              <a:rPr lang="en-US" sz="1050" dirty="0">
                <a:solidFill>
                  <a:schemeClr val="tx1"/>
                </a:solidFill>
              </a:rPr>
              <a:t>Blackburn, G.A. (1998). Quantifying chlorophylls and caroteniods at leaf and canopy scales: an evaluation of some hyperspectral approaches. Remote Sensing of Environment, 66, 273-285.</a:t>
            </a:r>
            <a:endParaRPr lang="en-US" sz="1050" dirty="0"/>
          </a:p>
          <a:p>
            <a:pPr indent="0" marL="0">
              <a:spcAft>
                <a:spcPts val="400"/>
              </a:spcAft>
              <a:buNone/>
            </a:pPr>
            <a:r>
              <a:rPr lang="en-US" sz="1050" dirty="0">
                <a:solidFill>
                  <a:schemeClr val="tx1"/>
                </a:solidFill>
              </a:rPr>
              <a:t>Broge, N.H., Leblanc, E. (2001). Comparing prediction power and stability of broadband and hyperspectral vegetation indices for estimation of green leaf area index and canopy chlorophyll density. Remote Sensing of Environment, 76, 156-172.</a:t>
            </a:r>
            <a:endParaRPr lang="en-US" sz="1050" dirty="0"/>
          </a:p>
          <a:p>
            <a:pPr indent="0" marL="0">
              <a:spcAft>
                <a:spcPts val="400"/>
              </a:spcAft>
              <a:buNone/>
            </a:pPr>
            <a:r>
              <a:rPr lang="en-US" sz="1050" dirty="0">
                <a:solidFill>
                  <a:schemeClr val="tx1"/>
                </a:solidFill>
              </a:rPr>
              <a:t>Dash, J., Curran, P.J. (2004). The MERIS terrestrial chlorophyll index. International Journal of Remote Sensing, 25, 5403-5413.</a:t>
            </a:r>
            <a:endParaRPr lang="en-US" sz="1050" dirty="0"/>
          </a:p>
          <a:p>
            <a:pPr indent="0" marL="0">
              <a:spcAft>
                <a:spcPts val="400"/>
              </a:spcAft>
              <a:buNone/>
            </a:pPr>
            <a:r>
              <a:rPr lang="en-US" sz="1050" dirty="0">
                <a:solidFill>
                  <a:schemeClr val="tx1"/>
                </a:solidFill>
              </a:rPr>
              <a:t>Datt, B. (1999). Visible/near infrared reflectance and chlorophyll content in Eucalyptus leaves. International Journal of Remote Sensing, 20, 2741-2759.</a:t>
            </a:r>
            <a:endParaRPr lang="en-US" sz="1050" dirty="0"/>
          </a:p>
          <a:p>
            <a:pPr indent="0" marL="0">
              <a:spcAft>
                <a:spcPts val="400"/>
              </a:spcAft>
              <a:buNone/>
            </a:pPr>
            <a:r>
              <a:rPr lang="en-US" sz="1050" dirty="0">
                <a:solidFill>
                  <a:schemeClr val="tx1"/>
                </a:solidFill>
              </a:rPr>
              <a:t>Daughtry, C.S.T., Walthall, C.L., Kim, M.S., de Colstoun, E.B., McMurtrey, J.E. (2000). Estimating corn leaf chlorophyll concentration from leaf and canopy reflectance. Remote Sensing of Environment, 74, 229-239.</a:t>
            </a:r>
            <a:endParaRPr lang="en-US" sz="1050" dirty="0"/>
          </a:p>
          <a:p>
            <a:pPr indent="0" marL="0">
              <a:spcAft>
                <a:spcPts val="400"/>
              </a:spcAft>
              <a:buNone/>
            </a:pPr>
            <a:r>
              <a:rPr lang="en-US" sz="1050" dirty="0">
                <a:solidFill>
                  <a:schemeClr val="tx1"/>
                </a:solidFill>
              </a:rPr>
              <a:t>Filella, I., Serrano, L., Serra, J., Penuelas, J. (1995). Evaluating wheat nitrogen status with canopy reflectance indices and discriminant analysis. Crop Science, 35, 1400-1405.</a:t>
            </a:r>
            <a:endParaRPr lang="en-US" sz="1050" dirty="0"/>
          </a:p>
          <a:p>
            <a:pPr indent="0" marL="0">
              <a:spcAft>
                <a:spcPts val="400"/>
              </a:spcAft>
              <a:buNone/>
            </a:pPr>
            <a:r>
              <a:rPr lang="en-US" sz="1050" dirty="0">
                <a:solidFill>
                  <a:schemeClr val="tx1"/>
                </a:solidFill>
              </a:rPr>
              <a:t>Galvao, L.S., Formaggio, A.R., Tisot, D.A. (2005). Discrimination of sugarcane varieties in southeastern Brazil with EO-1 Hyperion data. Remote Sensing of Environment, 94, 523-534.</a:t>
            </a:r>
            <a:endParaRPr lang="en-US" sz="1050" dirty="0"/>
          </a:p>
          <a:p>
            <a:pPr indent="0" marL="0">
              <a:spcAft>
                <a:spcPts val="400"/>
              </a:spcAft>
              <a:buNone/>
            </a:pPr>
            <a:r>
              <a:rPr lang="en-US" sz="1050" dirty="0">
                <a:solidFill>
                  <a:schemeClr val="tx1"/>
                </a:solidFill>
              </a:rPr>
              <a:t>Gamon, J.A., Penuelas, J., Field, C.B. (1992). A narrow-waveband spectral index that tracks diurnal changes in photosynthetic efficiency. Remote Sensing of Environment, 41, 35-44.</a:t>
            </a:r>
            <a:endParaRPr lang="en-US" sz="1050" dirty="0"/>
          </a:p>
          <a:p>
            <a:pPr indent="0" marL="0">
              <a:spcAft>
                <a:spcPts val="400"/>
              </a:spcAft>
              <a:buNone/>
            </a:pPr>
            <a:r>
              <a:rPr lang="en-US" sz="1050" dirty="0">
                <a:solidFill>
                  <a:schemeClr val="tx1"/>
                </a:solidFill>
              </a:rPr>
              <a:t>Gamon, J.A., Surfus, J.S. (1999). Assessing leaf pigment content and activity with a reflectometer. New Phytologist, 143, 105-117.</a:t>
            </a:r>
            <a:endParaRPr lang="en-US" sz="1050" dirty="0"/>
          </a:p>
          <a:p>
            <a:pPr indent="0" marL="0">
              <a:spcAft>
                <a:spcPts val="400"/>
              </a:spcAft>
              <a:buNone/>
            </a:pPr>
            <a:r>
              <a:rPr lang="en-US" sz="1050" dirty="0">
                <a:solidFill>
                  <a:schemeClr val="tx1"/>
                </a:solidFill>
              </a:rPr>
              <a:t>Gamon, J.A., Huemmrich, K.F., Wong, C.Y.S., et al. (2016). A remotely sensed pigment index reveals photosynthetic phenology in evergreen conifers. PNAS, 113, 13087-13092.</a:t>
            </a:r>
            <a:endParaRPr lang="en-US" sz="1050" dirty="0"/>
          </a:p>
          <a:p>
            <a:pPr indent="0" marL="0">
              <a:spcAft>
                <a:spcPts val="400"/>
              </a:spcAft>
              <a:buNone/>
            </a:pPr>
            <a:r>
              <a:rPr lang="en-US" sz="1050" dirty="0">
                <a:solidFill>
                  <a:schemeClr val="tx1"/>
                </a:solidFill>
              </a:rPr>
              <a:t>Gao, B.-C. (1996). NDWI - a normalized difference water index for remote sensing of vegetation liquid water from space. Remote Sensing of Environment, 58, 257-266.</a:t>
            </a:r>
            <a:endParaRPr lang="en-US" sz="1050" dirty="0"/>
          </a:p>
          <a:p>
            <a:pPr indent="0" marL="0">
              <a:spcAft>
                <a:spcPts val="400"/>
              </a:spcAft>
              <a:buNone/>
            </a:pPr>
            <a:r>
              <a:rPr lang="en-US" sz="1050" dirty="0">
                <a:solidFill>
                  <a:schemeClr val="tx1"/>
                </a:solidFill>
              </a:rPr>
              <a:t>Gitelson, A.A., Kaufman, Y.J., Merzlyak, M.N. (1996). Use of a green channel in remote sensing of global vegetation from EOS-MODIS. Remote Sensing of Environment, 58, 289-298.</a:t>
            </a:r>
            <a:endParaRPr lang="en-US" sz="1050" dirty="0"/>
          </a:p>
          <a:p>
            <a:pPr indent="0" marL="0">
              <a:spcAft>
                <a:spcPts val="400"/>
              </a:spcAft>
              <a:buNone/>
            </a:pPr>
            <a:r>
              <a:rPr lang="en-US" sz="1050" dirty="0">
                <a:solidFill>
                  <a:schemeClr val="tx1"/>
                </a:solidFill>
              </a:rPr>
              <a:t>Gitelson, A.A., Merzlyak, M.N., Chivkunova, O.B. (2001). Optical properties and nondestructive estimation of anthocyanin content in plant leaves. Photochemistry and Photobiology, 74, 38-45.</a:t>
            </a:r>
            <a:endParaRPr lang="en-US" sz="1050" dirty="0"/>
          </a:p>
          <a:p>
            <a:pPr indent="0" marL="0">
              <a:spcAft>
                <a:spcPts val="400"/>
              </a:spcAft>
              <a:buNone/>
            </a:pPr>
            <a:r>
              <a:rPr lang="en-US" sz="1050" dirty="0">
                <a:solidFill>
                  <a:schemeClr val="tx1"/>
                </a:solidFill>
              </a:rPr>
              <a:t>Gitelson, A.A., Zur, Y., Chivkunova, O.B., Merzlyak, M.N. (2002). Assessing carotenoid content in plant leaves with reflectance spectroscopy. Photochemistry and Photobiology, 75, 272-281.</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47120" cy="73152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vegetation index sources (cont.)</a:t>
            </a:r>
            <a:endParaRPr lang="en-US" sz="2800" dirty="0"/>
          </a:p>
        </p:txBody>
      </p:sp>
      <p:sp>
        <p:nvSpPr>
          <p:cNvPr id="3" name="Text 1"/>
          <p:cNvSpPr txBox="1"/>
          <p:nvPr/>
        </p:nvSpPr>
        <p:spPr>
          <a:xfrm>
            <a:off x="457200" y="1097280"/>
            <a:ext cx="11247120" cy="525780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Gitelson, A.A., Gritz, Y., Merzlyak, M.N. (2003). Relationships between leaf chlorophyll content and spectral reflectance and algorithms for non-destructive chlorophyll assessment in higher plant leaves. Journal of Plant Physiology, 160, 271-282.</a:t>
            </a:r>
            <a:endParaRPr lang="en-US" sz="1050" dirty="0"/>
          </a:p>
          <a:p>
            <a:pPr indent="0" marL="0">
              <a:spcAft>
                <a:spcPts val="400"/>
              </a:spcAft>
              <a:buNone/>
            </a:pPr>
            <a:r>
              <a:rPr lang="en-US" sz="1050" dirty="0">
                <a:solidFill>
                  <a:schemeClr val="tx1"/>
                </a:solidFill>
              </a:rPr>
              <a:t>Guyot, G., Baret, F. (1988). Utilisation de la haute resolution spectrale pour suivre l'etat des couverts vegetaux. Proc. 4th Int. Colloquium on Spectral Signatures of Objects in Remote Sensing, ESA SP-287, 279-286.</a:t>
            </a:r>
            <a:endParaRPr lang="en-US" sz="1050" dirty="0"/>
          </a:p>
          <a:p>
            <a:pPr indent="0" marL="0">
              <a:spcAft>
                <a:spcPts val="400"/>
              </a:spcAft>
              <a:buNone/>
            </a:pPr>
            <a:r>
              <a:rPr lang="en-US" sz="1050" dirty="0">
                <a:solidFill>
                  <a:schemeClr val="tx1"/>
                </a:solidFill>
              </a:rPr>
              <a:t>Haboudane, D., Miller, J.R., Tremblay, N., Zarco-Tejada, P.J., Dextraze, L. (2002). Integrated narrow-band vegetation indices for prediction of crop chlorophyll content for application to precision agriculture. Remote Sensing of Environment, 81, 416-426.</a:t>
            </a:r>
            <a:endParaRPr lang="en-US" sz="1050" dirty="0"/>
          </a:p>
          <a:p>
            <a:pPr indent="0" marL="0">
              <a:spcAft>
                <a:spcPts val="400"/>
              </a:spcAft>
              <a:buNone/>
            </a:pPr>
            <a:r>
              <a:rPr lang="en-US" sz="1050" dirty="0">
                <a:solidFill>
                  <a:schemeClr val="tx1"/>
                </a:solidFill>
              </a:rPr>
              <a:t>Hardisky, M.A., Klemas, V., Smart, R.M. (1983). The influence of soil salinity, growth form, and leaf moisture on the spectral radiance of Spartina alterniflora canopies. Photogrammetric Engineering and Remote Sensing, 49, 77-83.</a:t>
            </a:r>
            <a:endParaRPr lang="en-US" sz="1050" dirty="0"/>
          </a:p>
          <a:p>
            <a:pPr indent="0" marL="0">
              <a:spcAft>
                <a:spcPts val="400"/>
              </a:spcAft>
              <a:buNone/>
            </a:pPr>
            <a:r>
              <a:rPr lang="en-US" sz="1050" dirty="0">
                <a:solidFill>
                  <a:schemeClr val="tx1"/>
                </a:solidFill>
              </a:rPr>
              <a:t>Hunt, E.R., Rock, B.N. (1989). Detection of changes in leaf water content using near- and middle-infrared reflectances. Remote Sensing of Environment, 30, 43-54.</a:t>
            </a:r>
            <a:endParaRPr lang="en-US" sz="1050" dirty="0"/>
          </a:p>
          <a:p>
            <a:pPr indent="0" marL="0">
              <a:spcAft>
                <a:spcPts val="400"/>
              </a:spcAft>
              <a:buNone/>
            </a:pPr>
            <a:r>
              <a:rPr lang="en-US" sz="1050" dirty="0">
                <a:solidFill>
                  <a:schemeClr val="tx1"/>
                </a:solidFill>
              </a:rPr>
              <a:t>Jordan, C.F. (1969). Derivation of leaf-area index from quality of light on the forest floor. Ecology, 50, 663-666.</a:t>
            </a:r>
            <a:endParaRPr lang="en-US" sz="1050" dirty="0"/>
          </a:p>
          <a:p>
            <a:pPr indent="0" marL="0">
              <a:spcAft>
                <a:spcPts val="400"/>
              </a:spcAft>
              <a:buNone/>
            </a:pPr>
            <a:r>
              <a:rPr lang="en-US" sz="1050" dirty="0">
                <a:solidFill>
                  <a:schemeClr val="tx1"/>
                </a:solidFill>
              </a:rPr>
              <a:t>Merton, R., Huntington, J. (1999). Early simulation results of the ARIES-1 satellite sensor for multi-temporal vegetation research derived from AVIRIS. Summaries of the 8th JPL Airborne Earth Science Workshop, Pasadena, 299-307.</a:t>
            </a:r>
            <a:endParaRPr lang="en-US" sz="1050" dirty="0"/>
          </a:p>
          <a:p>
            <a:pPr indent="0" marL="0">
              <a:spcAft>
                <a:spcPts val="400"/>
              </a:spcAft>
              <a:buNone/>
            </a:pPr>
            <a:r>
              <a:rPr lang="en-US" sz="1050" dirty="0">
                <a:solidFill>
                  <a:schemeClr val="tx1"/>
                </a:solidFill>
              </a:rPr>
              <a:t>Merzlyak, M.N., Gitelson, A.A., Chivkunova, O.B., Rakitin, V.Y. (1999). Non-destructive optical detection of pigment changes during leaf senescence and fruit ripening. Physiologia Plantarum, 106, 135-141.</a:t>
            </a:r>
            <a:endParaRPr lang="en-US" sz="1050" dirty="0"/>
          </a:p>
          <a:p>
            <a:pPr indent="0" marL="0">
              <a:spcAft>
                <a:spcPts val="400"/>
              </a:spcAft>
              <a:buNone/>
            </a:pPr>
            <a:r>
              <a:rPr lang="en-US" sz="1050" dirty="0">
                <a:solidFill>
                  <a:schemeClr val="tx1"/>
                </a:solidFill>
              </a:rPr>
              <a:t>Nagler, P.L., Daughtry, C.S.T., Goward, S.N. (2000). Plant litter and soil reflectance. Remote Sensing of Environment, 71, 207-215.</a:t>
            </a:r>
            <a:endParaRPr lang="en-US" sz="1050" dirty="0"/>
          </a:p>
          <a:p>
            <a:pPr indent="0" marL="0">
              <a:spcAft>
                <a:spcPts val="400"/>
              </a:spcAft>
              <a:buNone/>
            </a:pPr>
            <a:r>
              <a:rPr lang="en-US" sz="1050" dirty="0">
                <a:solidFill>
                  <a:schemeClr val="tx1"/>
                </a:solidFill>
              </a:rPr>
              <a:t>Penuelas, J., Baret, F., Filella, I. (1995). Semi-empirical indices to assess carotenoids/chlorophyll a ratio from leaf spectral reflectance. Photosynthetica, 31, 221-230.</a:t>
            </a:r>
            <a:endParaRPr lang="en-US" sz="1050" dirty="0"/>
          </a:p>
          <a:p>
            <a:pPr indent="0" marL="0">
              <a:spcAft>
                <a:spcPts val="400"/>
              </a:spcAft>
              <a:buNone/>
            </a:pPr>
            <a:r>
              <a:rPr lang="en-US" sz="1050" dirty="0">
                <a:solidFill>
                  <a:schemeClr val="tx1"/>
                </a:solidFill>
              </a:rPr>
              <a:t>Penuelas, J., Pinol, J., Ogaya, R., Filella, I. (1997). Estimation of plant water concentration by the reflectance water index WI (R900/R970). International Journal of Remote Sensing, 18, 2869-2875.</a:t>
            </a:r>
            <a:endParaRPr lang="en-US" sz="1050" dirty="0"/>
          </a:p>
          <a:p>
            <a:pPr indent="0" marL="0">
              <a:spcAft>
                <a:spcPts val="400"/>
              </a:spcAft>
              <a:buNone/>
            </a:pPr>
            <a:r>
              <a:rPr lang="en-US" sz="1050" dirty="0">
                <a:solidFill>
                  <a:schemeClr val="tx1"/>
                </a:solidFill>
              </a:rPr>
              <a:t>Rondeaux, G., Steven, M., Baret, F. (1996). Optimization of soil-adjusted vegetation indices. Remote Sensing of Environment, 55, 95-107.</a:t>
            </a:r>
            <a:endParaRPr lang="en-US" sz="1050" dirty="0"/>
          </a:p>
          <a:p>
            <a:pPr indent="0" marL="0">
              <a:spcAft>
                <a:spcPts val="400"/>
              </a:spcAft>
              <a:buNone/>
            </a:pPr>
            <a:r>
              <a:rPr lang="en-US" sz="1050" dirty="0">
                <a:solidFill>
                  <a:schemeClr val="tx1"/>
                </a:solidFill>
              </a:rPr>
              <a:t>Rouse, J.W., Haas, R.H., Schell, J.A., Deering, D.W. (1974). Monitoring vegetation systems in the Great Plains with ERTS. NASA SP-351, 309-317.</a:t>
            </a:r>
            <a:endParaRPr lang="en-US" sz="1050" dirty="0"/>
          </a:p>
          <a:p>
            <a:pPr indent="0" marL="0">
              <a:spcAft>
                <a:spcPts val="400"/>
              </a:spcAft>
              <a:buNone/>
            </a:pPr>
            <a:r>
              <a:rPr lang="en-US" sz="1050" dirty="0">
                <a:solidFill>
                  <a:schemeClr val="tx1"/>
                </a:solidFill>
              </a:rPr>
              <a:t>Serrano, L., Penuelas, J., Ustin, S.L. (2002). Remote sensing of nitrogen and lignin in Mediterranean vegetation from AVIRIS data. Remote Sensing of Environment, 81, 355-364.</a:t>
            </a:r>
            <a:endParaRPr lang="en-US" sz="1050" dirty="0"/>
          </a:p>
          <a:p>
            <a:pPr indent="0" marL="0">
              <a:spcAft>
                <a:spcPts val="400"/>
              </a:spcAft>
              <a:buNone/>
            </a:pPr>
            <a:r>
              <a:rPr lang="en-US" sz="1050" dirty="0">
                <a:solidFill>
                  <a:schemeClr val="tx1"/>
                </a:solidFill>
              </a:rPr>
              <a:t>Sims, D.A., Gamon, J.A. (2002). Relationships between leaf pigment content and spectral reflectance across a wide range of species, leaf structures and developmental stages. Remote Sensing of Environment, 81, 337-354.</a:t>
            </a:r>
            <a:endParaRPr lang="en-US" sz="1050" dirty="0"/>
          </a:p>
          <a:p>
            <a:pPr indent="0" marL="0">
              <a:spcAft>
                <a:spcPts val="400"/>
              </a:spcAft>
              <a:buNone/>
            </a:pPr>
            <a:r>
              <a:rPr lang="en-US" sz="1050" dirty="0">
                <a:solidFill>
                  <a:schemeClr val="tx1"/>
                </a:solidFill>
              </a:rPr>
              <a:t>Vogelmann, J.E., Rock, B.N., Moss, D.M. (1993). Red edge spectral measurements from sugar maple leaves. International Journal of Remote Sensing, 14, 1563-1575.</a:t>
            </a:r>
            <a:endParaRPr lang="en-US" sz="10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E6E"/>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p>
            <a:pPr indent="0" marL="0">
              <a:buNone/>
            </a:pPr>
            <a:r>
              <a:rPr lang="en-US" sz="1800" dirty="0">
                <a:solidFill>
                  <a:schemeClr val="bg2"/>
                </a:solidFill>
              </a:rPr>
              <a:t>Questions and suggestions are welcome</a:t>
            </a:r>
            <a:endParaRPr lang="en-US" sz="1800" dirty="0"/>
          </a:p>
        </p:txBody>
      </p:sp>
    </p:spTree>
  </p:cSld>
  <p:clrMapOvr>
    <a:masterClrMapping/>
  </p:clrMapOvr>
</p:sld>
</file>

<file path=ppt/theme/theme1.xml><?xml version="1.0" encoding="utf-8"?>
<a:theme xmlns:a="http://schemas.openxmlformats.org/drawingml/2006/main" name="Mustard White Rust">
  <a:themeElements>
    <a:clrScheme name="Mustard White Rust">
      <a:dk1>
        <a:srgbClr val="1A1A1A"/>
      </a:dk1>
      <a:lt1>
        <a:srgbClr val="FFFFFF"/>
      </a:lt1>
      <a:dk2>
        <a:srgbClr val="1F3D2B"/>
      </a:dk2>
      <a:lt2>
        <a:srgbClr val="EEF3EC"/>
      </a:lt2>
      <a:accent1>
        <a:srgbClr val="2E7D32"/>
      </a:accent1>
      <a:accent2>
        <a:srgbClr val="D08A00"/>
      </a:accent2>
      <a:accent3>
        <a:srgbClr val="2A6FB0"/>
      </a:accent3>
      <a:accent4>
        <a:srgbClr val="B03A2E"/>
      </a:accent4>
      <a:accent5>
        <a:srgbClr val="6B8E23"/>
      </a:accent5>
      <a:accent6>
        <a:srgbClr val="6E6E6E"/>
      </a:accent6>
      <a:hlink>
        <a:srgbClr val="2A6FB0"/>
      </a:hlink>
      <a:folHlink>
        <a:srgbClr val="7A4E9C"/>
      </a:folHlink>
    </a:clrScheme>
    <a:fontScheme name="Mustard White Ru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Hyperspectral detection of white rust in Indian mustard</dc:title>
  <dc:subject>PptxGenJS Presentation</dc:subject>
  <dc:creator>PhD research seminar</dc:creator>
  <cp:lastModifiedBy>PhD research seminar</cp:lastModifiedBy>
  <cp:revision>1</cp:revision>
  <dcterms:created xsi:type="dcterms:W3CDTF">2026-10-15T23:39:58Z</dcterms:created>
  <dcterms:modified xsi:type="dcterms:W3CDTF">2026-10-15T23:39:58Z</dcterms:modified>
</cp:coreProperties>
</file>