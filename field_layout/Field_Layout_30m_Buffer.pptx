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Drawn to scale (0.14 inch per metre). Plot numbers and treatments are unchanged from the original layout; only the 30 m buffer strip is added between R3 and the healthy block. The 0.5 m bund width is inferred from the original 48 m field width (12 plots x 3.5 m = 42 m plus 11 bunds).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Bund width 0.5 m is inferred from the original 48 m field width; adjust if your bunds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rust of mustard | ICAR-IARI New Delhi, rabi 2025-26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layout with a 30 m buffer between inoculated and healthy plots</a:t>
            </a:r>
            <a:endParaRPr lang="en-US" sz="2800" dirty="0"/>
          </a:p>
        </p:txBody>
      </p:sp>
      <p:sp>
        <p:nvSpPr>
          <p:cNvPr id="3" name="field boundary"/>
          <p:cNvSpPr/>
          <p:nvPr/>
        </p:nvSpPr>
        <p:spPr>
          <a:xfrm>
            <a:off x="868680" y="1965960"/>
            <a:ext cx="9857232" cy="3072384"/>
          </a:xfrm>
          <a:prstGeom prst="rect">
            <a:avLst/>
          </a:prstGeom>
          <a:solidFill>
            <a:srgbClr val="FAFBF9"/>
          </a:solidFill>
          <a:ln w="12700">
            <a:solidFill>
              <a:srgbClr val="4A5A50"/>
            </a:solidFill>
            <a:prstDash val="solid"/>
          </a:ln>
        </p:spPr>
      </p:sp>
      <p:sp>
        <p:nvSpPr>
          <p:cNvPr id="4" name="buffer zone"/>
          <p:cNvSpPr/>
          <p:nvPr/>
        </p:nvSpPr>
        <p:spPr>
          <a:xfrm>
            <a:off x="5413248" y="1965960"/>
            <a:ext cx="3840480" cy="3072384"/>
          </a:xfrm>
          <a:prstGeom prst="rect">
            <a:avLst/>
          </a:prstGeom>
          <a:solidFill>
            <a:schemeClr val="bg2"/>
          </a:solidFill>
          <a:ln w="15875">
            <a:solidFill>
              <a:srgbClr val="6B7A70"/>
            </a:solidFill>
            <a:prstDash val="dash"/>
          </a:ln>
        </p:spPr>
      </p:sp>
      <p:sp>
        <p:nvSpPr>
          <p:cNvPr id="5" name="channel 1"/>
          <p:cNvSpPr/>
          <p:nvPr/>
        </p:nvSpPr>
        <p:spPr>
          <a:xfrm>
            <a:off x="868680" y="2606040"/>
            <a:ext cx="9857232" cy="256032"/>
          </a:xfrm>
          <a:prstGeom prst="rect">
            <a:avLst/>
          </a:prstGeom>
          <a:solidFill>
            <a:srgbClr val="DCE8F2"/>
          </a:solidFill>
          <a:ln w="6350">
            <a:solidFill>
              <a:srgbClr val="DC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0604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253728" y="260604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8" name="channel 3"/>
          <p:cNvSpPr/>
          <p:nvPr/>
        </p:nvSpPr>
        <p:spPr>
          <a:xfrm>
            <a:off x="868680" y="4142232"/>
            <a:ext cx="9857232" cy="256032"/>
          </a:xfrm>
          <a:prstGeom prst="rect">
            <a:avLst/>
          </a:prstGeom>
          <a:solidFill>
            <a:srgbClr val="DCE8F2"/>
          </a:solidFill>
          <a:ln w="6350">
            <a:solidFill>
              <a:srgbClr val="DCE8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14223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253728" y="414223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286207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BUFFER ZONE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mustard or other crucifer.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fallow or sow a non-host crop;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cruciferous weeds.</a:t>
            </a:r>
            <a:endParaRPr lang="en-US" sz="1600" dirty="0"/>
          </a:p>
        </p:txBody>
      </p:sp>
      <p:sp>
        <p:nvSpPr>
          <p:cNvPr id="12" name="plot 48"/>
          <p:cNvSpPr/>
          <p:nvPr/>
        </p:nvSpPr>
        <p:spPr>
          <a:xfrm>
            <a:off x="868680" y="1965960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(48)</a:t>
            </a:r>
            <a:endParaRPr lang="en-US" sz="1000" dirty="0"/>
          </a:p>
        </p:txBody>
      </p:sp>
      <p:sp>
        <p:nvSpPr>
          <p:cNvPr id="14" name="plot 41"/>
          <p:cNvSpPr/>
          <p:nvPr/>
        </p:nvSpPr>
        <p:spPr>
          <a:xfrm>
            <a:off x="1380744" y="1965960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80744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(41)</a:t>
            </a:r>
            <a:endParaRPr lang="en-US" sz="1000" dirty="0"/>
          </a:p>
        </p:txBody>
      </p:sp>
      <p:sp>
        <p:nvSpPr>
          <p:cNvPr id="16" name="plot 40"/>
          <p:cNvSpPr/>
          <p:nvPr/>
        </p:nvSpPr>
        <p:spPr>
          <a:xfrm>
            <a:off x="1892808" y="1965960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92808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(40)</a:t>
            </a:r>
            <a:endParaRPr lang="en-US" sz="1000" dirty="0"/>
          </a:p>
        </p:txBody>
      </p:sp>
      <p:sp>
        <p:nvSpPr>
          <p:cNvPr id="18" name="plot 33"/>
          <p:cNvSpPr/>
          <p:nvPr/>
        </p:nvSpPr>
        <p:spPr>
          <a:xfrm>
            <a:off x="2404872" y="1965960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04872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(33)</a:t>
            </a:r>
            <a:endParaRPr lang="en-US" sz="1000" dirty="0"/>
          </a:p>
        </p:txBody>
      </p:sp>
      <p:sp>
        <p:nvSpPr>
          <p:cNvPr id="20" name="plot 32"/>
          <p:cNvSpPr/>
          <p:nvPr/>
        </p:nvSpPr>
        <p:spPr>
          <a:xfrm>
            <a:off x="2916936" y="1965960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16936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(32)</a:t>
            </a:r>
            <a:endParaRPr lang="en-US" sz="1000" dirty="0"/>
          </a:p>
        </p:txBody>
      </p:sp>
      <p:sp>
        <p:nvSpPr>
          <p:cNvPr id="22" name="plot 25"/>
          <p:cNvSpPr/>
          <p:nvPr/>
        </p:nvSpPr>
        <p:spPr>
          <a:xfrm>
            <a:off x="3429000" y="1965960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9000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(25)</a:t>
            </a:r>
            <a:endParaRPr lang="en-US" sz="1000" dirty="0"/>
          </a:p>
        </p:txBody>
      </p:sp>
      <p:sp>
        <p:nvSpPr>
          <p:cNvPr id="24" name="plot 24"/>
          <p:cNvSpPr/>
          <p:nvPr/>
        </p:nvSpPr>
        <p:spPr>
          <a:xfrm>
            <a:off x="3941064" y="1965960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41064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(24)</a:t>
            </a:r>
            <a:endParaRPr lang="en-US" sz="1000" dirty="0"/>
          </a:p>
        </p:txBody>
      </p:sp>
      <p:sp>
        <p:nvSpPr>
          <p:cNvPr id="26" name="plot 17"/>
          <p:cNvSpPr/>
          <p:nvPr/>
        </p:nvSpPr>
        <p:spPr>
          <a:xfrm>
            <a:off x="4453128" y="1965960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53128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(17)</a:t>
            </a:r>
            <a:endParaRPr lang="en-US" sz="1000" dirty="0"/>
          </a:p>
        </p:txBody>
      </p:sp>
      <p:sp>
        <p:nvSpPr>
          <p:cNvPr id="28" name="plot 16"/>
          <p:cNvSpPr/>
          <p:nvPr/>
        </p:nvSpPr>
        <p:spPr>
          <a:xfrm>
            <a:off x="4965192" y="1965960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65192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(16)</a:t>
            </a:r>
            <a:endParaRPr lang="en-US" sz="1000" dirty="0"/>
          </a:p>
        </p:txBody>
      </p:sp>
      <p:sp>
        <p:nvSpPr>
          <p:cNvPr id="30" name="plot 9"/>
          <p:cNvSpPr/>
          <p:nvPr/>
        </p:nvSpPr>
        <p:spPr>
          <a:xfrm>
            <a:off x="9253728" y="1965960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53728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(9)</a:t>
            </a:r>
            <a:endParaRPr lang="en-US" sz="1000" dirty="0"/>
          </a:p>
        </p:txBody>
      </p:sp>
      <p:sp>
        <p:nvSpPr>
          <p:cNvPr id="32" name="plot 8"/>
          <p:cNvSpPr/>
          <p:nvPr/>
        </p:nvSpPr>
        <p:spPr>
          <a:xfrm>
            <a:off x="9765792" y="1965960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65792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</a:t>
            </a:r>
            <a:endParaRPr lang="en-US" sz="1000" dirty="0"/>
          </a:p>
        </p:txBody>
      </p:sp>
      <p:sp>
        <p:nvSpPr>
          <p:cNvPr id="34" name="plot 1"/>
          <p:cNvSpPr/>
          <p:nvPr/>
        </p:nvSpPr>
        <p:spPr>
          <a:xfrm>
            <a:off x="10277856" y="1965960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77856" y="1965960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</a:t>
            </a:r>
            <a:endParaRPr lang="en-US" sz="1000" dirty="0"/>
          </a:p>
        </p:txBody>
      </p:sp>
      <p:sp>
        <p:nvSpPr>
          <p:cNvPr id="36" name="plot 47"/>
          <p:cNvSpPr/>
          <p:nvPr/>
        </p:nvSpPr>
        <p:spPr>
          <a:xfrm>
            <a:off x="868680" y="286207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(47)</a:t>
            </a:r>
            <a:endParaRPr lang="en-US" sz="1000" dirty="0"/>
          </a:p>
        </p:txBody>
      </p:sp>
      <p:sp>
        <p:nvSpPr>
          <p:cNvPr id="38" name="plot 42"/>
          <p:cNvSpPr/>
          <p:nvPr/>
        </p:nvSpPr>
        <p:spPr>
          <a:xfrm>
            <a:off x="1380744" y="286207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380744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(42)</a:t>
            </a:r>
            <a:endParaRPr lang="en-US" sz="1000" dirty="0"/>
          </a:p>
        </p:txBody>
      </p:sp>
      <p:sp>
        <p:nvSpPr>
          <p:cNvPr id="40" name="plot 39"/>
          <p:cNvSpPr/>
          <p:nvPr/>
        </p:nvSpPr>
        <p:spPr>
          <a:xfrm>
            <a:off x="1892808" y="286207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892808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(39)</a:t>
            </a:r>
            <a:endParaRPr lang="en-US" sz="1000" dirty="0"/>
          </a:p>
        </p:txBody>
      </p:sp>
      <p:sp>
        <p:nvSpPr>
          <p:cNvPr id="42" name="plot 34"/>
          <p:cNvSpPr/>
          <p:nvPr/>
        </p:nvSpPr>
        <p:spPr>
          <a:xfrm>
            <a:off x="2404872" y="286207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404872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(34)</a:t>
            </a:r>
            <a:endParaRPr lang="en-US" sz="1000" dirty="0"/>
          </a:p>
        </p:txBody>
      </p:sp>
      <p:sp>
        <p:nvSpPr>
          <p:cNvPr id="44" name="plot 31"/>
          <p:cNvSpPr/>
          <p:nvPr/>
        </p:nvSpPr>
        <p:spPr>
          <a:xfrm>
            <a:off x="2916936" y="286207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916936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(31)</a:t>
            </a:r>
            <a:endParaRPr lang="en-US" sz="1000" dirty="0"/>
          </a:p>
        </p:txBody>
      </p:sp>
      <p:sp>
        <p:nvSpPr>
          <p:cNvPr id="46" name="plot 26"/>
          <p:cNvSpPr/>
          <p:nvPr/>
        </p:nvSpPr>
        <p:spPr>
          <a:xfrm>
            <a:off x="3429000" y="286207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29000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(26)</a:t>
            </a:r>
            <a:endParaRPr lang="en-US" sz="1000" dirty="0"/>
          </a:p>
        </p:txBody>
      </p:sp>
      <p:sp>
        <p:nvSpPr>
          <p:cNvPr id="48" name="plot 23"/>
          <p:cNvSpPr/>
          <p:nvPr/>
        </p:nvSpPr>
        <p:spPr>
          <a:xfrm>
            <a:off x="3941064" y="286207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941064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(23)</a:t>
            </a:r>
            <a:endParaRPr lang="en-US" sz="1000" dirty="0"/>
          </a:p>
        </p:txBody>
      </p:sp>
      <p:sp>
        <p:nvSpPr>
          <p:cNvPr id="50" name="plot 18"/>
          <p:cNvSpPr/>
          <p:nvPr/>
        </p:nvSpPr>
        <p:spPr>
          <a:xfrm>
            <a:off x="4453128" y="286207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453128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(18)</a:t>
            </a:r>
            <a:endParaRPr lang="en-US" sz="1000" dirty="0"/>
          </a:p>
        </p:txBody>
      </p:sp>
      <p:sp>
        <p:nvSpPr>
          <p:cNvPr id="52" name="plot 15"/>
          <p:cNvSpPr/>
          <p:nvPr/>
        </p:nvSpPr>
        <p:spPr>
          <a:xfrm>
            <a:off x="4965192" y="286207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965192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(15)</a:t>
            </a:r>
            <a:endParaRPr lang="en-US" sz="1000" dirty="0"/>
          </a:p>
        </p:txBody>
      </p:sp>
      <p:sp>
        <p:nvSpPr>
          <p:cNvPr id="54" name="plot 10"/>
          <p:cNvSpPr/>
          <p:nvPr/>
        </p:nvSpPr>
        <p:spPr>
          <a:xfrm>
            <a:off x="9253728" y="286207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253728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1000" dirty="0"/>
          </a:p>
        </p:txBody>
      </p:sp>
      <p:sp>
        <p:nvSpPr>
          <p:cNvPr id="56" name="plot 7"/>
          <p:cNvSpPr/>
          <p:nvPr/>
        </p:nvSpPr>
        <p:spPr>
          <a:xfrm>
            <a:off x="9765792" y="286207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765792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(7)</a:t>
            </a:r>
            <a:endParaRPr lang="en-US" sz="1000" dirty="0"/>
          </a:p>
        </p:txBody>
      </p:sp>
      <p:sp>
        <p:nvSpPr>
          <p:cNvPr id="58" name="plot 2"/>
          <p:cNvSpPr/>
          <p:nvPr/>
        </p:nvSpPr>
        <p:spPr>
          <a:xfrm>
            <a:off x="10277856" y="286207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277856" y="286207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</a:t>
            </a:r>
            <a:endParaRPr lang="en-US" sz="1000" dirty="0"/>
          </a:p>
        </p:txBody>
      </p:sp>
      <p:sp>
        <p:nvSpPr>
          <p:cNvPr id="60" name="plot 46"/>
          <p:cNvSpPr/>
          <p:nvPr/>
        </p:nvSpPr>
        <p:spPr>
          <a:xfrm>
            <a:off x="868680" y="350215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68680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(46)</a:t>
            </a:r>
            <a:endParaRPr lang="en-US" sz="1000" dirty="0"/>
          </a:p>
        </p:txBody>
      </p:sp>
      <p:sp>
        <p:nvSpPr>
          <p:cNvPr id="62" name="plot 43"/>
          <p:cNvSpPr/>
          <p:nvPr/>
        </p:nvSpPr>
        <p:spPr>
          <a:xfrm>
            <a:off x="1380744" y="350215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380744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(43)</a:t>
            </a:r>
            <a:endParaRPr lang="en-US" sz="1000" dirty="0"/>
          </a:p>
        </p:txBody>
      </p:sp>
      <p:sp>
        <p:nvSpPr>
          <p:cNvPr id="64" name="plot 38"/>
          <p:cNvSpPr/>
          <p:nvPr/>
        </p:nvSpPr>
        <p:spPr>
          <a:xfrm>
            <a:off x="1892808" y="3502152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892808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(38)</a:t>
            </a:r>
            <a:endParaRPr lang="en-US" sz="1000" dirty="0"/>
          </a:p>
        </p:txBody>
      </p:sp>
      <p:sp>
        <p:nvSpPr>
          <p:cNvPr id="66" name="plot 35"/>
          <p:cNvSpPr/>
          <p:nvPr/>
        </p:nvSpPr>
        <p:spPr>
          <a:xfrm>
            <a:off x="2404872" y="350215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04872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(35)</a:t>
            </a:r>
            <a:endParaRPr lang="en-US" sz="1000" dirty="0"/>
          </a:p>
        </p:txBody>
      </p:sp>
      <p:sp>
        <p:nvSpPr>
          <p:cNvPr id="68" name="plot 30"/>
          <p:cNvSpPr/>
          <p:nvPr/>
        </p:nvSpPr>
        <p:spPr>
          <a:xfrm>
            <a:off x="2916936" y="350215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916936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(30)</a:t>
            </a:r>
            <a:endParaRPr lang="en-US" sz="1000" dirty="0"/>
          </a:p>
        </p:txBody>
      </p:sp>
      <p:sp>
        <p:nvSpPr>
          <p:cNvPr id="70" name="plot 27"/>
          <p:cNvSpPr/>
          <p:nvPr/>
        </p:nvSpPr>
        <p:spPr>
          <a:xfrm>
            <a:off x="3429000" y="3502152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429000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(27)</a:t>
            </a:r>
            <a:endParaRPr lang="en-US" sz="1000" dirty="0"/>
          </a:p>
        </p:txBody>
      </p:sp>
      <p:sp>
        <p:nvSpPr>
          <p:cNvPr id="72" name="plot 22"/>
          <p:cNvSpPr/>
          <p:nvPr/>
        </p:nvSpPr>
        <p:spPr>
          <a:xfrm>
            <a:off x="3941064" y="350215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941064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(22)</a:t>
            </a:r>
            <a:endParaRPr lang="en-US" sz="1000" dirty="0"/>
          </a:p>
        </p:txBody>
      </p:sp>
      <p:sp>
        <p:nvSpPr>
          <p:cNvPr id="74" name="plot 19"/>
          <p:cNvSpPr/>
          <p:nvPr/>
        </p:nvSpPr>
        <p:spPr>
          <a:xfrm>
            <a:off x="4453128" y="350215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453128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(19)</a:t>
            </a:r>
            <a:endParaRPr lang="en-US" sz="1000" dirty="0"/>
          </a:p>
        </p:txBody>
      </p:sp>
      <p:sp>
        <p:nvSpPr>
          <p:cNvPr id="76" name="plot 14"/>
          <p:cNvSpPr/>
          <p:nvPr/>
        </p:nvSpPr>
        <p:spPr>
          <a:xfrm>
            <a:off x="4965192" y="3502152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965192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(14)</a:t>
            </a:r>
            <a:endParaRPr lang="en-US" sz="1000" dirty="0"/>
          </a:p>
        </p:txBody>
      </p:sp>
      <p:sp>
        <p:nvSpPr>
          <p:cNvPr id="78" name="plot 11"/>
          <p:cNvSpPr/>
          <p:nvPr/>
        </p:nvSpPr>
        <p:spPr>
          <a:xfrm>
            <a:off x="9253728" y="350215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253728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</a:t>
            </a:r>
            <a:endParaRPr lang="en-US" sz="1000" dirty="0"/>
          </a:p>
        </p:txBody>
      </p:sp>
      <p:sp>
        <p:nvSpPr>
          <p:cNvPr id="80" name="plot 6"/>
          <p:cNvSpPr/>
          <p:nvPr/>
        </p:nvSpPr>
        <p:spPr>
          <a:xfrm>
            <a:off x="9765792" y="350215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765792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</a:t>
            </a:r>
            <a:endParaRPr lang="en-US" sz="1000" dirty="0"/>
          </a:p>
        </p:txBody>
      </p:sp>
      <p:sp>
        <p:nvSpPr>
          <p:cNvPr id="82" name="plot 3"/>
          <p:cNvSpPr/>
          <p:nvPr/>
        </p:nvSpPr>
        <p:spPr>
          <a:xfrm>
            <a:off x="10277856" y="3502152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0277856" y="3502152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1000" dirty="0"/>
          </a:p>
        </p:txBody>
      </p:sp>
      <p:sp>
        <p:nvSpPr>
          <p:cNvPr id="84" name="plot 45"/>
          <p:cNvSpPr/>
          <p:nvPr/>
        </p:nvSpPr>
        <p:spPr>
          <a:xfrm>
            <a:off x="868680" y="4398264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68680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(45)</a:t>
            </a:r>
            <a:endParaRPr lang="en-US" sz="1000" dirty="0"/>
          </a:p>
        </p:txBody>
      </p:sp>
      <p:sp>
        <p:nvSpPr>
          <p:cNvPr id="86" name="plot 44"/>
          <p:cNvSpPr/>
          <p:nvPr/>
        </p:nvSpPr>
        <p:spPr>
          <a:xfrm>
            <a:off x="1380744" y="4398264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380744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(44)</a:t>
            </a:r>
            <a:endParaRPr lang="en-US" sz="1000" dirty="0"/>
          </a:p>
        </p:txBody>
      </p:sp>
      <p:sp>
        <p:nvSpPr>
          <p:cNvPr id="88" name="plot 37"/>
          <p:cNvSpPr/>
          <p:nvPr/>
        </p:nvSpPr>
        <p:spPr>
          <a:xfrm>
            <a:off x="1892808" y="4398264"/>
            <a:ext cx="448056" cy="640080"/>
          </a:xfrm>
          <a:prstGeom prst="rect">
            <a:avLst/>
          </a:prstGeom>
          <a:solidFill>
            <a:schemeClr val="accent1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892808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(37)</a:t>
            </a:r>
            <a:endParaRPr lang="en-US" sz="1000" dirty="0"/>
          </a:p>
        </p:txBody>
      </p:sp>
      <p:sp>
        <p:nvSpPr>
          <p:cNvPr id="90" name="plot 36"/>
          <p:cNvSpPr/>
          <p:nvPr/>
        </p:nvSpPr>
        <p:spPr>
          <a:xfrm>
            <a:off x="2404872" y="4398264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404872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(36)</a:t>
            </a:r>
            <a:endParaRPr lang="en-US" sz="1000" dirty="0"/>
          </a:p>
        </p:txBody>
      </p:sp>
      <p:sp>
        <p:nvSpPr>
          <p:cNvPr id="92" name="plot 29"/>
          <p:cNvSpPr/>
          <p:nvPr/>
        </p:nvSpPr>
        <p:spPr>
          <a:xfrm>
            <a:off x="2916936" y="4398264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2916936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(29)</a:t>
            </a:r>
            <a:endParaRPr lang="en-US" sz="1000" dirty="0"/>
          </a:p>
        </p:txBody>
      </p:sp>
      <p:sp>
        <p:nvSpPr>
          <p:cNvPr id="94" name="plot 28"/>
          <p:cNvSpPr/>
          <p:nvPr/>
        </p:nvSpPr>
        <p:spPr>
          <a:xfrm>
            <a:off x="3429000" y="4398264"/>
            <a:ext cx="448056" cy="640080"/>
          </a:xfrm>
          <a:prstGeom prst="rect">
            <a:avLst/>
          </a:prstGeom>
          <a:solidFill>
            <a:schemeClr val="accent2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3429000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(28)</a:t>
            </a:r>
            <a:endParaRPr lang="en-US" sz="1000" dirty="0"/>
          </a:p>
        </p:txBody>
      </p:sp>
      <p:sp>
        <p:nvSpPr>
          <p:cNvPr id="96" name="plot 21"/>
          <p:cNvSpPr/>
          <p:nvPr/>
        </p:nvSpPr>
        <p:spPr>
          <a:xfrm>
            <a:off x="3941064" y="4398264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941064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(21)</a:t>
            </a:r>
            <a:endParaRPr lang="en-US" sz="1000" dirty="0"/>
          </a:p>
        </p:txBody>
      </p:sp>
      <p:sp>
        <p:nvSpPr>
          <p:cNvPr id="98" name="plot 20"/>
          <p:cNvSpPr/>
          <p:nvPr/>
        </p:nvSpPr>
        <p:spPr>
          <a:xfrm>
            <a:off x="4453128" y="4398264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4453128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(20)</a:t>
            </a:r>
            <a:endParaRPr lang="en-US" sz="1000" dirty="0"/>
          </a:p>
        </p:txBody>
      </p:sp>
      <p:sp>
        <p:nvSpPr>
          <p:cNvPr id="100" name="plot 13"/>
          <p:cNvSpPr/>
          <p:nvPr/>
        </p:nvSpPr>
        <p:spPr>
          <a:xfrm>
            <a:off x="4965192" y="4398264"/>
            <a:ext cx="448056" cy="640080"/>
          </a:xfrm>
          <a:prstGeom prst="rect">
            <a:avLst/>
          </a:prstGeom>
          <a:solidFill>
            <a:schemeClr val="accent3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4965192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(13)</a:t>
            </a:r>
            <a:endParaRPr lang="en-US" sz="1000" dirty="0"/>
          </a:p>
        </p:txBody>
      </p:sp>
      <p:sp>
        <p:nvSpPr>
          <p:cNvPr id="102" name="plot 12"/>
          <p:cNvSpPr/>
          <p:nvPr/>
        </p:nvSpPr>
        <p:spPr>
          <a:xfrm>
            <a:off x="9253728" y="4398264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253728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(12)</a:t>
            </a:r>
            <a:endParaRPr lang="en-US" sz="1000" dirty="0"/>
          </a:p>
        </p:txBody>
      </p:sp>
      <p:sp>
        <p:nvSpPr>
          <p:cNvPr id="104" name="plot 5"/>
          <p:cNvSpPr/>
          <p:nvPr/>
        </p:nvSpPr>
        <p:spPr>
          <a:xfrm>
            <a:off x="9765792" y="4398264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765792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</a:t>
            </a:r>
            <a:endParaRPr lang="en-US" sz="1000" dirty="0"/>
          </a:p>
        </p:txBody>
      </p:sp>
      <p:sp>
        <p:nvSpPr>
          <p:cNvPr id="106" name="plot 4"/>
          <p:cNvSpPr/>
          <p:nvPr/>
        </p:nvSpPr>
        <p:spPr>
          <a:xfrm>
            <a:off x="10277856" y="4398264"/>
            <a:ext cx="448056" cy="640080"/>
          </a:xfrm>
          <a:prstGeom prst="rect">
            <a:avLst/>
          </a:prstGeom>
          <a:solidFill>
            <a:schemeClr val="accent4"/>
          </a:solidFill>
          <a:ln w="9525">
            <a:solidFill>
              <a:srgbClr val="4A5A5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277856" y="4398264"/>
            <a:ext cx="448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1000" dirty="0"/>
          </a:p>
        </p:txBody>
      </p:sp>
      <p:sp>
        <p:nvSpPr>
          <p:cNvPr id="108" name="R1 label"/>
          <p:cNvSpPr/>
          <p:nvPr/>
        </p:nvSpPr>
        <p:spPr>
          <a:xfrm>
            <a:off x="868680" y="5148072"/>
            <a:ext cx="1472184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68680" y="514807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10" name="R2 label"/>
          <p:cNvSpPr/>
          <p:nvPr/>
        </p:nvSpPr>
        <p:spPr>
          <a:xfrm>
            <a:off x="2404872" y="5148072"/>
            <a:ext cx="1472184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404872" y="514807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12" name="R3 label"/>
          <p:cNvSpPr/>
          <p:nvPr/>
        </p:nvSpPr>
        <p:spPr>
          <a:xfrm>
            <a:off x="3941064" y="5148072"/>
            <a:ext cx="1472184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3941064" y="514807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14" name="HEALTHY label"/>
          <p:cNvSpPr/>
          <p:nvPr/>
        </p:nvSpPr>
        <p:spPr>
          <a:xfrm>
            <a:off x="9253728" y="5148072"/>
            <a:ext cx="1472184" cy="292608"/>
          </a:xfrm>
          <a:prstGeom prst="roundRect">
            <a:avLst>
              <a:gd name="adj" fmla="val 156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253728" y="514807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868680" y="5495544"/>
            <a:ext cx="4544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Inoculated (05/02/2026)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8979408" y="549554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Uninoculated control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68680" y="1673352"/>
            <a:ext cx="4544568" cy="0"/>
          </a:xfrm>
          <a:prstGeom prst="line">
            <a:avLst/>
          </a:prstGeom>
          <a:noFill/>
          <a:ln w="12700">
            <a:solidFill>
              <a:srgbClr val="4A5A50"/>
            </a:solidFill>
            <a:prstDash val="solid"/>
            <a:headEnd type="triangle"/>
            <a:tailEnd type="triangle"/>
          </a:ln>
        </p:spPr>
      </p:sp>
      <p:sp>
        <p:nvSpPr>
          <p:cNvPr id="119" name="Text 117"/>
          <p:cNvSpPr txBox="1"/>
          <p:nvPr/>
        </p:nvSpPr>
        <p:spPr>
          <a:xfrm>
            <a:off x="868680" y="1399032"/>
            <a:ext cx="4544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 m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5413248" y="1673352"/>
            <a:ext cx="3840480" cy="0"/>
          </a:xfrm>
          <a:prstGeom prst="line">
            <a:avLst/>
          </a:prstGeom>
          <a:noFill/>
          <a:ln w="12700">
            <a:solidFill>
              <a:srgbClr val="4A5A50"/>
            </a:solidFill>
            <a:prstDash val="solid"/>
            <a:headEnd type="triangle"/>
            <a:tailEnd type="triangle"/>
          </a:ln>
        </p:spPr>
      </p:sp>
      <p:sp>
        <p:nvSpPr>
          <p:cNvPr id="121" name="Text 119"/>
          <p:cNvSpPr txBox="1"/>
          <p:nvPr/>
        </p:nvSpPr>
        <p:spPr>
          <a:xfrm>
            <a:off x="5413248" y="1399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buffer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253728" y="1673352"/>
            <a:ext cx="1472184" cy="0"/>
          </a:xfrm>
          <a:prstGeom prst="line">
            <a:avLst/>
          </a:prstGeom>
          <a:noFill/>
          <a:ln w="12700">
            <a:solidFill>
              <a:srgbClr val="4A5A50"/>
            </a:solidFill>
            <a:prstDash val="solid"/>
            <a:headEnd type="triangle"/>
            <a:tailEnd type="triangle"/>
          </a:ln>
        </p:spPr>
      </p:sp>
      <p:sp>
        <p:nvSpPr>
          <p:cNvPr id="123" name="Text 121"/>
          <p:cNvSpPr txBox="1"/>
          <p:nvPr/>
        </p:nvSpPr>
        <p:spPr>
          <a:xfrm>
            <a:off x="9253728" y="1399032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m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868680" y="1106424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77 m × 24 m</a:t>
            </a:r>
            <a:endParaRPr lang="en-US" sz="1300" dirty="0"/>
          </a:p>
        </p:txBody>
      </p:sp>
      <p:sp>
        <p:nvSpPr>
          <p:cNvPr id="125" name="facing field arrow"/>
          <p:cNvSpPr/>
          <p:nvPr/>
        </p:nvSpPr>
        <p:spPr>
          <a:xfrm>
            <a:off x="868680" y="1106424"/>
            <a:ext cx="274320" cy="256032"/>
          </a:xfrm>
          <a:prstGeom prst="down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216152" y="11064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field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94360" y="1965960"/>
            <a:ext cx="0" cy="3072384"/>
          </a:xfrm>
          <a:prstGeom prst="line">
            <a:avLst/>
          </a:prstGeom>
          <a:noFill/>
          <a:ln w="12700">
            <a:solidFill>
              <a:srgbClr val="4A5A50"/>
            </a:solidFill>
            <a:prstDash val="solid"/>
            <a:headEnd type="triangle"/>
            <a:tailEnd type="triangle"/>
          </a:ln>
        </p:spPr>
      </p:sp>
      <p:sp>
        <p:nvSpPr>
          <p:cNvPr id="128" name="Text 126"/>
          <p:cNvSpPr txBox="1"/>
          <p:nvPr/>
        </p:nvSpPr>
        <p:spPr>
          <a:xfrm>
            <a:off x="91440" y="3364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21792" y="20116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</a:t>
            </a:r>
            <a:endParaRPr lang="en-US" sz="1000" dirty="0"/>
          </a:p>
        </p:txBody>
      </p:sp>
      <p:sp>
        <p:nvSpPr>
          <p:cNvPr id="130" name="Amrit Sarovar"/>
          <p:cNvSpPr/>
          <p:nvPr/>
        </p:nvSpPr>
        <p:spPr>
          <a:xfrm>
            <a:off x="10908792" y="2862072"/>
            <a:ext cx="868680" cy="1005840"/>
          </a:xfrm>
          <a:prstGeom prst="roundRect">
            <a:avLst>
              <a:gd name="adj" fmla="val 1263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0908792" y="2862072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Sarovar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5 m × 3.5 m, 0.5 m bunds, 2 m channels.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grows from 48 m to 77 m wide (1,848 m²).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winds at IARI blew from NW, W or N on 86 of 102 days (9 Dec-20 Mar, your weather file): place the healthy block on the north-west / west (upwind) side.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 and area of the revised layout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280160"/>
                <a:gridCol w="46908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(m)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(m²)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treatment (sowing date × variety)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Inoculated block (R1-R3)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plots, 3 replications × 12 treatments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 zone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Fallow or non-host crop; no crucifers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uninoculated control plots (1-12)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plots + buffer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Why a buffer card"/>
          <p:cNvSpPr/>
          <p:nvPr/>
        </p:nvSpPr>
        <p:spPr>
          <a:xfrm>
            <a:off x="457200" y="397764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Why a buffer marker"/>
          <p:cNvSpPr/>
          <p:nvPr/>
        </p:nvSpPr>
        <p:spPr>
          <a:xfrm>
            <a:off x="685800" y="420624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4178808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buffer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727448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Albugo candida sporangia spread by wind and rain splash. A 30 m strip reduces spore drift from inoculated plots onto the healthy control, so the control stays a clean reference for the spectra and physiology.</a:t>
            </a:r>
            <a:endParaRPr lang="en-US" sz="1400" dirty="0"/>
          </a:p>
        </p:txBody>
      </p:sp>
      <p:sp>
        <p:nvSpPr>
          <p:cNvPr id="9" name="Which side card"/>
          <p:cNvSpPr/>
          <p:nvPr/>
        </p:nvSpPr>
        <p:spPr>
          <a:xfrm>
            <a:off x="4279392" y="397764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Which side marker"/>
          <p:cNvSpPr/>
          <p:nvPr/>
        </p:nvSpPr>
        <p:spPr>
          <a:xfrm>
            <a:off x="4507992" y="420624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0799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10912" y="4178808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side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07992" y="4727448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winds at IARI came from NW, W or N on 86 of 102 days this season. Keep the healthy block upwind (north-west or west of the inoculated plots) where the site allows.</a:t>
            </a:r>
            <a:endParaRPr lang="en-US" sz="1400" dirty="0"/>
          </a:p>
        </p:txBody>
      </p:sp>
      <p:sp>
        <p:nvSpPr>
          <p:cNvPr id="14" name="Inside the buffer card"/>
          <p:cNvSpPr/>
          <p:nvPr/>
        </p:nvSpPr>
        <p:spPr>
          <a:xfrm>
            <a:off x="8101584" y="397764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nside the buffer marker"/>
          <p:cNvSpPr/>
          <p:nvPr/>
        </p:nvSpPr>
        <p:spPr>
          <a:xfrm>
            <a:off x="8330184" y="420624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0184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833104" y="4178808"/>
            <a:ext cx="2715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buffer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30184" y="4727448"/>
            <a:ext cx="3172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fallow or sow a non-crucifer (e.g. wheat). Remove cruciferous weeds such as shepherd's purse, which also host white rust.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Layout">
  <a:themeElements>
    <a:clrScheme name="Field Layout">
      <a:dk1>
        <a:srgbClr val="1F2A24"/>
      </a:dk1>
      <a:lt1>
        <a:srgbClr val="FFFFFF"/>
      </a:lt1>
      <a:dk2>
        <a:srgbClr val="1F4D2B"/>
      </a:dk2>
      <a:lt2>
        <a:srgbClr val="EEF2EC"/>
      </a:lt2>
      <a:accent1>
        <a:srgbClr val="D9D9D6"/>
      </a:accent1>
      <a:accent2>
        <a:srgbClr val="F6EBC0"/>
      </a:accent2>
      <a:accent3>
        <a:srgbClr val="D7E8CF"/>
      </a:accent3>
      <a:accent4>
        <a:srgbClr val="F2C9A8"/>
      </a:accent4>
      <a:accent5>
        <a:srgbClr val="2E6DA4"/>
      </a:accent5>
      <a:accent6>
        <a:srgbClr val="6B7A70"/>
      </a:accent6>
      <a:hlink>
        <a:srgbClr val="2E6DA4"/>
      </a:hlink>
      <a:folHlink>
        <a:srgbClr val="6B7A70"/>
      </a:folHlink>
    </a:clrScheme>
    <a:fontScheme name="Field Layou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 layout with 30 m buffer</dc:title>
  <dc:subject>PptxGenJS Presentation</dc:subject>
  <dc:creator>PptxGenJS</dc:creator>
  <cp:lastModifiedBy>PptxGenJS</cp:lastModifiedBy>
  <cp:revision>1</cp:revision>
  <dcterms:created xsi:type="dcterms:W3CDTF">2026-10-23T00:39:46Z</dcterms:created>
  <dcterms:modified xsi:type="dcterms:W3CDTF">2026-10-23T00:39:46Z</dcterms:modified>
</cp:coreProperties>
</file>