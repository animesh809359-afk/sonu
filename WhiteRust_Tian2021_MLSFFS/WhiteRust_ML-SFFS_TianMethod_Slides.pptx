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1ac6310-fc19-53ca-f5a8-f6a2368c3359}">
          <p14:sldIdLst>
            <p14:sldId id="256"/>
            <p14:sldId id="257"/>
          </p14:sldIdLst>
        </p14:section>
        <p14:section name="Method" id="{9b857731-3dd0-cbba-9c99-a2a091e018d5}">
          <p14:sldIdLst>
            <p14:sldId id="258"/>
            <p14:sldId id="259"/>
            <p14:sldId id="260"/>
          </p14:sldIdLst>
        </p14:section>
        <p14:section name="Steps 1–2" id="{9f998131-4eec-7486-d496-5cdc3198bc49}">
          <p14:sldIdLst>
            <p14:sldId id="261"/>
            <p14:sldId id="262"/>
            <p14:sldId id="263"/>
          </p14:sldIdLst>
        </p14:section>
        <p14:section name="Steps 3–5" id="{88123e23-182d-4fa7-fd7d-4fbd5a3f1eda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Step 6" id="{0be860e5-3e23-f7e5-205e-71bfd540ef2d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Interpretation" id="{1c02fae6-ab97-247e-f5cf-7b17d114f90c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366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D366B"/>
                </a:solidFill>
                <a:latin typeface="+mn-lt"/>
              </a:rPr>
              <a:t>Balanced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paper-faithful BA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T1 LDA</c:v>
                  </c:pt>
                  <c:pt idx="1">
                    <c:v>T1 kNN</c:v>
                  </c:pt>
                  <c:pt idx="2">
                    <c:v>T1 SVM</c:v>
                  </c:pt>
                  <c:pt idx="3">
                    <c:v>T2 LDA</c:v>
                  </c:pt>
                  <c:pt idx="4">
                    <c:v>T2 kNN</c:v>
                  </c:pt>
                  <c:pt idx="5">
                    <c:v>T2 SVM</c:v>
                  </c:pt>
                  <c:pt idx="6">
                    <c:v>T3 LDA</c:v>
                  </c:pt>
                  <c:pt idx="7">
                    <c:v>T3 kNN</c:v>
                  </c:pt>
                  <c:pt idx="8">
                    <c:v>T3 SVM</c:v>
                  </c:pt>
                  <c:pt idx="9">
                    <c:v>T4 LDA</c:v>
                  </c:pt>
                  <c:pt idx="10">
                    <c:v>T4 kNN</c:v>
                  </c:pt>
                  <c:pt idx="11">
                    <c:v>T4 SVM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95.6</c:v>
                </c:pt>
                <c:pt idx="1">
                  <c:v>97.6</c:v>
                </c:pt>
                <c:pt idx="2">
                  <c:v>99.6</c:v>
                </c:pt>
                <c:pt idx="3">
                  <c:v>99.7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99.8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nested-CV BA</c:v>
                </c:pt>
              </c:strCache>
            </c:strRef>
          </c:tx>
          <c:spPr>
            <a:solidFill>
              <a:srgbClr val="1C5C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T1 LDA</c:v>
                  </c:pt>
                  <c:pt idx="1">
                    <c:v>T1 kNN</c:v>
                  </c:pt>
                  <c:pt idx="2">
                    <c:v>T1 SVM</c:v>
                  </c:pt>
                  <c:pt idx="3">
                    <c:v>T2 LDA</c:v>
                  </c:pt>
                  <c:pt idx="4">
                    <c:v>T2 kNN</c:v>
                  </c:pt>
                  <c:pt idx="5">
                    <c:v>T2 SVM</c:v>
                  </c:pt>
                  <c:pt idx="6">
                    <c:v>T3 LDA</c:v>
                  </c:pt>
                  <c:pt idx="7">
                    <c:v>T3 kNN</c:v>
                  </c:pt>
                  <c:pt idx="8">
                    <c:v>T3 SVM</c:v>
                  </c:pt>
                  <c:pt idx="9">
                    <c:v>T4 LDA</c:v>
                  </c:pt>
                  <c:pt idx="10">
                    <c:v>T4 kNN</c:v>
                  </c:pt>
                  <c:pt idx="11">
                    <c:v>T4 SVM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86.2</c:v>
                </c:pt>
                <c:pt idx="1">
                  <c:v>83.5</c:v>
                </c:pt>
                <c:pt idx="2">
                  <c:v>86.4</c:v>
                </c:pt>
                <c:pt idx="3">
                  <c:v>93.1</c:v>
                </c:pt>
                <c:pt idx="4">
                  <c:v>92.9</c:v>
                </c:pt>
                <c:pt idx="5">
                  <c:v>92.6</c:v>
                </c:pt>
                <c:pt idx="6">
                  <c:v>94.2</c:v>
                </c:pt>
                <c:pt idx="7">
                  <c:v>98.8</c:v>
                </c:pt>
                <c:pt idx="8">
                  <c:v>93.1</c:v>
                </c:pt>
                <c:pt idx="9">
                  <c:v>95.3</c:v>
                </c:pt>
                <c:pt idx="10">
                  <c:v>89</c:v>
                </c:pt>
                <c:pt idx="11">
                  <c:v>87.2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The deck follows the workbook and the thesis chapter step by step (Steps 1–7).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blocks: method, data, research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mirrors Fig. 2 of Tian et al.; evaluation is reported in four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factorial design; note the separate control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correction is explained in the workbook (sheet S03) and the thesis chapter (Table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Spectra are means ± 1 SD. Diseased plots: higher red reflectance and a flatter NIR plateau.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Proxies replace the paper's measured biochemistry (C8). Test rule: median ± 3 MAD outliers, Shapiro–Wilk + Levene → t-test or Mann–Whitney, BH-FDR.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Analogue of Fig. 3 in Tian et al.; BA replaces OA because the classes are imbalanced.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T1: visible bands and the NIR slope; T2: red / red edge; T3: nearly everything; T4: SWIR.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Analogue of Fig. 7 of Tian et 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Relevance-aware VIF (C5): among features with VIF ≥ 10 the least separable is removed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Analogue of Table 2 of Tian et 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Analogue of Table 3 of Tian et 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SFFS gains most on T1 (as SVM-SFFS vs SVM-all in Tian et al., Fig. 8). Under nested CV (black) the gain largely disappears.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Ambroise &amp; McLachlan (2002), Varma &amp; Simon (2006), Cawley &amp; Talbot (2010).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permutations × 5 repetitions for LDA and k-NN; 4 × 2 for SVM (indicative). Ojala &amp; Garriga (2010).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= date × inoculation timing; analogue of the per-DAI results of Tian et 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Interpretations rest on spectral proxies (no measured biochemistry).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FLAGs: control block measured first (confound), duplicate indices in source workbooks, optimism of procedure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procedure B as the accuracy of the method; A only for comparison with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points are expanded in Section 5.4–5.5 of the chapter.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45 references were checked against publisher/repository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A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rust of mustard · ML-SFFS after Tian et al. (2021)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Spectroscopic detection of white rust in mustard with ML-SFFS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application and critical re-evaluation of Tian et al. (2021), Remote Sensing of Environment 257, 112350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Plot-average hyperspectral data · 48 plots · 4 dates (11 Feb – 13 Mar 2026)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Aim: early detection with few interpretable features</a:t>
            </a:r>
            <a:endParaRPr lang="en-US" sz="3000" dirty="0"/>
          </a:p>
        </p:txBody>
      </p:sp>
      <p:sp>
        <p:nvSpPr>
          <p:cNvPr id="3" name="c1-bg"/>
          <p:cNvSpPr/>
          <p:nvPr/>
        </p:nvSpPr>
        <p:spPr>
          <a:xfrm>
            <a:off x="457200" y="128016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4" name="c1-dot"/>
          <p:cNvSpPr/>
          <p:nvPr/>
        </p:nvSpPr>
        <p:spPr>
          <a:xfrm>
            <a:off x="640080" y="1481328"/>
            <a:ext cx="384048" cy="384048"/>
          </a:xfrm>
          <a:prstGeom prst="ellipse">
            <a:avLst/>
          </a:prstGeom>
          <a:solidFill>
            <a:srgbClr val="1C5CAB"/>
          </a:solidFill>
          <a:ln w="12700">
            <a:solidFill>
              <a:srgbClr val="1C5CAB"/>
            </a:solidFill>
            <a:prstDash val="solid"/>
          </a:ln>
        </p:spPr>
      </p:sp>
      <p:sp>
        <p:nvSpPr>
          <p:cNvPr id="5" name="c1-head"/>
          <p:cNvSpPr txBox="1"/>
          <p:nvPr/>
        </p:nvSpPr>
        <p:spPr>
          <a:xfrm>
            <a:off x="1143000" y="14173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</a:t>
            </a:r>
            <a:endParaRPr lang="en-US" sz="1700" dirty="0"/>
          </a:p>
        </p:txBody>
      </p:sp>
      <p:sp>
        <p:nvSpPr>
          <p:cNvPr id="6" name="c1-body"/>
          <p:cNvSpPr txBox="1"/>
          <p:nvPr/>
        </p:nvSpPr>
        <p:spPr>
          <a:xfrm>
            <a:off x="685800" y="2011680"/>
            <a:ext cx="32461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 et al. (2021) detected rice leaf blast from the asymptomatic to the mild stage by (1) data preparation, (2) selecting disease-specific spectral features (DSSFs) by thresholding, consistency across dates and VIF, and (3) ML-SFFS: sequential floating forward selection wrapped around LDA, k-NN or SVM.</a:t>
            </a:r>
            <a:endParaRPr lang="en-US" sz="1600" dirty="0"/>
          </a:p>
        </p:txBody>
      </p:sp>
      <p:sp>
        <p:nvSpPr>
          <p:cNvPr id="7" name="c2-bg"/>
          <p:cNvSpPr/>
          <p:nvPr/>
        </p:nvSpPr>
        <p:spPr>
          <a:xfrm>
            <a:off x="4270248" y="128016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8" name="c2-dot"/>
          <p:cNvSpPr/>
          <p:nvPr/>
        </p:nvSpPr>
        <p:spPr>
          <a:xfrm>
            <a:off x="4453128" y="1481328"/>
            <a:ext cx="384048" cy="384048"/>
          </a:xfrm>
          <a:prstGeom prst="ellipse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9" name="c2-head"/>
          <p:cNvSpPr txBox="1"/>
          <p:nvPr/>
        </p:nvSpPr>
        <p:spPr>
          <a:xfrm>
            <a:off x="4956048" y="14173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1700" dirty="0"/>
          </a:p>
        </p:txBody>
      </p:sp>
      <p:sp>
        <p:nvSpPr>
          <p:cNvPr id="10" name="c2-body"/>
          <p:cNvSpPr txBox="1"/>
          <p:nvPr/>
        </p:nvSpPr>
        <p:spPr>
          <a:xfrm>
            <a:off x="4498848" y="2011680"/>
            <a:ext cx="32461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mustard plots: 3 varieties × 4 inoculation timings (D1–D4) × 3 replications + 12 uninoculated controls. Leaf spectra averaged per plot on 4 dates (T1–T4). Features: reflectance, 1st–3rd derivatives, continuum-removal, 87 vegetation indices, red-edge parameters (+ wavelets).</a:t>
            </a:r>
            <a:endParaRPr lang="en-US" sz="1600" dirty="0"/>
          </a:p>
        </p:txBody>
      </p:sp>
      <p:sp>
        <p:nvSpPr>
          <p:cNvPr id="11" name="c3-bg"/>
          <p:cNvSpPr/>
          <p:nvPr/>
        </p:nvSpPr>
        <p:spPr>
          <a:xfrm>
            <a:off x="8083296" y="128016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12" name="c3-dot"/>
          <p:cNvSpPr/>
          <p:nvPr/>
        </p:nvSpPr>
        <p:spPr>
          <a:xfrm>
            <a:off x="8266176" y="1481328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3" name="c3-head"/>
          <p:cNvSpPr txBox="1"/>
          <p:nvPr/>
        </p:nvSpPr>
        <p:spPr>
          <a:xfrm>
            <a:off x="8769096" y="14173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</a:t>
            </a:r>
            <a:endParaRPr lang="en-US" sz="1700" dirty="0"/>
          </a:p>
        </p:txBody>
      </p:sp>
      <p:sp>
        <p:nvSpPr>
          <p:cNvPr id="14" name="c3-body"/>
          <p:cNvSpPr txBox="1"/>
          <p:nvPr/>
        </p:nvSpPr>
        <p:spPr>
          <a:xfrm>
            <a:off x="8311896" y="2011680"/>
            <a:ext cx="32461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spectral features are disease-specific? How few are needed? How accurate is detection on each date and infection stage – and how much of the paper's accuracy survives an unbiased (nested) evaluation?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Workflow: Tian et al. (2021) applied in seven steps</a:t>
            </a:r>
            <a:endParaRPr lang="en-US" sz="3000" dirty="0"/>
          </a:p>
        </p:txBody>
      </p:sp>
      <p:pic>
        <p:nvPicPr>
          <p:cNvPr id="3" name="workflow" descr="/tmp/claude-0/-home-user-sonu/8224ffc3-5a98-59f7-ba40-3e7eaa93e9a7/scratchpad/figs/fig01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94" y="1097280"/>
            <a:ext cx="4051893" cy="5212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577840" y="1463040"/>
            <a:ext cx="61264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1–5 build the pool of DSSFs exactly as in the paper (with corrections C1–C9)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selects the optimal feature combination (OFC) with ML-SFFS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paper-faithful (4-fold CV × 100), B = nested CV (unbiased), C = permutation null, D = infection stages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= cross-checks: Excel formulas, independent recomputation, reference verification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experimental design</a:t>
            </a:r>
            <a:endParaRPr lang="en-US" sz="3000" dirty="0"/>
          </a:p>
        </p:txBody>
      </p:sp>
      <p:sp>
        <p:nvSpPr>
          <p:cNvPr id="3" name="s1-big"/>
          <p:cNvSpPr txBox="1"/>
          <p:nvPr/>
        </p:nvSpPr>
        <p:spPr>
          <a:xfrm>
            <a:off x="54864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4000" dirty="0"/>
          </a:p>
        </p:txBody>
      </p:sp>
      <p:sp>
        <p:nvSpPr>
          <p:cNvPr id="4" name="s1-small"/>
          <p:cNvSpPr txBox="1"/>
          <p:nvPr/>
        </p:nvSpPr>
        <p:spPr>
          <a:xfrm>
            <a:off x="54864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plots: 12 controls + 36 inoculated</a:t>
            </a:r>
            <a:endParaRPr lang="en-US" sz="1300" dirty="0"/>
          </a:p>
        </p:txBody>
      </p:sp>
      <p:sp>
        <p:nvSpPr>
          <p:cNvPr id="5" name="s2-big"/>
          <p:cNvSpPr txBox="1"/>
          <p:nvPr/>
        </p:nvSpPr>
        <p:spPr>
          <a:xfrm>
            <a:off x="329184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s2-small"/>
          <p:cNvSpPr txBox="1"/>
          <p:nvPr/>
        </p:nvSpPr>
        <p:spPr>
          <a:xfrm>
            <a:off x="329184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T1–T4, vegetative → pod formation</a:t>
            </a:r>
            <a:endParaRPr lang="en-US" sz="1300" dirty="0"/>
          </a:p>
        </p:txBody>
      </p:sp>
      <p:sp>
        <p:nvSpPr>
          <p:cNvPr id="7" name="s3-big"/>
          <p:cNvSpPr txBox="1"/>
          <p:nvPr/>
        </p:nvSpPr>
        <p:spPr>
          <a:xfrm>
            <a:off x="6035040" y="1280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19,548</a:t>
            </a:r>
            <a:endParaRPr lang="en-US" sz="4000" dirty="0"/>
          </a:p>
        </p:txBody>
      </p:sp>
      <p:sp>
        <p:nvSpPr>
          <p:cNvPr id="8" name="s3-small"/>
          <p:cNvSpPr txBox="1"/>
          <p:nvPr/>
        </p:nvSpPr>
        <p:spPr>
          <a:xfrm>
            <a:off x="603504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features per date</a:t>
            </a:r>
            <a:endParaRPr lang="en-US" sz="1300" dirty="0"/>
          </a:p>
        </p:txBody>
      </p:sp>
      <p:sp>
        <p:nvSpPr>
          <p:cNvPr id="9" name="s4-big"/>
          <p:cNvSpPr txBox="1"/>
          <p:nvPr/>
        </p:nvSpPr>
        <p:spPr>
          <a:xfrm>
            <a:off x="8961120" y="1280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: 36</a:t>
            </a:r>
            <a:endParaRPr lang="en-US" sz="4000" dirty="0"/>
          </a:p>
        </p:txBody>
      </p:sp>
      <p:sp>
        <p:nvSpPr>
          <p:cNvPr id="10" name="s4-small"/>
          <p:cNvSpPr txBox="1"/>
          <p:nvPr/>
        </p:nvSpPr>
        <p:spPr>
          <a:xfrm>
            <a:off x="896112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: diseased – imbalanced</a:t>
            </a:r>
            <a:endParaRPr lang="en-US" sz="1300" dirty="0"/>
          </a:p>
        </p:txBody>
      </p:sp>
      <p:graphicFrame>
        <p:nvGraphicFramePr>
          <p:cNvPr id="5" name="desig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2011680"/>
                <a:gridCol w="2011680"/>
                <a:gridCol w="3931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(D1–D4)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(D1–D4)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(D1–D4)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1 1 1 1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1 1 1 1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1 1 1 1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uninoculated controls (healthy)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1 1 1 1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1 1 1 1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1 1 1 1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inoculated, replication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1 1 1 1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1 1 1 1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1 1 1 1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inoculated, replication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1 1 1 1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1 1 1 1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1 1 1 1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inoculated, replication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D1–D4 = inoculation timings (days after sowing). Controls were measured first on every date and form their own block – a confound reported as C9.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Corrections to the paper's procedure (C1–C9)</a:t>
            </a:r>
            <a:endParaRPr lang="en-US" sz="3000" dirty="0"/>
          </a:p>
        </p:txBody>
      </p:sp>
      <p:graphicFrame>
        <p:nvGraphicFramePr>
          <p:cNvPr id="6" name="correc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78638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range and instrument artefacts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 350–399 nm and 2401–2500 nm (low signal-to-noise at the detector ends) and the detector-join guard zones 990–1010 nm and 1795–1835 nm (ASD VNIR/SWIR1 and SWIR1/SWIR2 joi…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 (12 healthy vs 36 diseased plots)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accuracy BA = (sensitivity + specificity)/2 chooses the optimal threshold and ranks the features; OA, BA, κ, sensitivity and specificity are all reported. In the corr…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Multi-date consistency 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rule: a feature is 'common' if it is in the top 5 % on at least k* of the 4 dates, where k* is the largest k (4, 3, 2) that leaves ≥ 1 common feature in that family. 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bias / optimistic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 A replicates the paper exactly. Procedure B (nested CV) repeats the whole pipeline – separability, DSSF pool, VIF, SFFS and SVM tuning – inside every outer training 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Collinearity reduction 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VIF: while any VIF ≥ 10, the least separable (lowest mean BA) of the features with VIF ≥ 10 is removed; the plain 'drop the highest VIF' rule is reported for compari…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scaling and classifier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z-scored inside each training fold (scaler never sees test plots); k-NN k = 3, Euclidean (Minkowski p = 2), uniform weights; SVM-RBF with exponential grid C ∈ {2⁻¹, 2…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decision rule (Shapiro–Wilk + Levene → Student t, else Mann–Whitney U, outliers = median ± 3 MAD) plus Benjamini–Hochberg FDR over all tests.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leaf biochemistry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index proxies of the same constituents were tested (CIrededge, MTCI, REIP, CRI1, ARI, PRI, WI, NDWI).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 design confounds (treatment file)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12 control plots form their own block (C), separate from the inoculated replications R1–R3, and were always measured first on every date (spectra 1–100). Variety and inocu…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1–2 · Data preparation and physiology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E3A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control, instrument artefacts, confounds, physiological proxies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· Plot-average spectra and quality control</a:t>
            </a:r>
            <a:endParaRPr lang="en-US" sz="3000" dirty="0"/>
          </a:p>
        </p:txBody>
      </p:sp>
      <p:pic>
        <p:nvPicPr>
          <p:cNvPr id="3" name="spectra" descr="/tmp/claude-0/-home-user-sonu/8224ffc3-5a98-59f7-ba40-3e7eaa93e9a7/scratchpad/figs/fig02_mean_spec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53" y="1097280"/>
            <a:ext cx="6944254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498080" y="1280160"/>
            <a:ext cx="429768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varieties and treatment identical across all files (PASS)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edges and joins (grey) excluded: derivatives at 1825–1830 nm separated the classes 'perfectly' – an instrument step, not biology (C1)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mCARI1 ≡ MTVI1 and RARSc ≡ GM2 in the source workbooks (duplicates)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CWT (Mexican hat, scales 2³–2⁸) computed to follow the paper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· Water first, then pigments: the physiological basis</a:t>
            </a:r>
            <a:endParaRPr lang="en-US" sz="3000" dirty="0"/>
          </a:p>
        </p:txBody>
      </p:sp>
      <p:pic>
        <p:nvPicPr>
          <p:cNvPr id="3" name="physio" descr="/tmp/claude-0/-home-user-sonu/8224ffc3-5a98-59f7-ba40-3e7eaa93e9a7/scratchpad/figs/fig06_physiology_boxp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8321040" cy="42100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869680" y="1188720"/>
            <a:ext cx="301752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only the water indices (WI, NDWI) lower in diseased plots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T2–T4: chlorophyll (CIrededge, MTCI, REIP), carotenoid (CRI1) and PRI lower; anthocyanin (ARI) higher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32 tests significant after BH-FDR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as rice blast in Tian et al. (Fig. 4), but water before pigments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3–5 · Feature selection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E3A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Thresholding separability → DSSFs → VIF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· Separability of a single feature by thresholding</a:t>
            </a:r>
            <a:endParaRPr lang="en-US" sz="3000" dirty="0"/>
          </a:p>
        </p:txBody>
      </p:sp>
      <p:pic>
        <p:nvPicPr>
          <p:cNvPr id="3" name="threshold" descr="/tmp/claude-0/-home-user-sonu/8224ffc3-5a98-59f7-ba40-3e7eaa93e9a7/scratchpad/figs/fig03_threshold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6583680" cy="4027131"/>
          </a:xfrm>
          <a:prstGeom prst="rect">
            <a:avLst/>
          </a:prstGeom>
        </p:spPr>
      </p:pic>
      <p:sp>
        <p:nvSpPr>
          <p:cNvPr id="4" name="thr-bg"/>
          <p:cNvSpPr/>
          <p:nvPr/>
        </p:nvSpPr>
        <p:spPr>
          <a:xfrm>
            <a:off x="7315200" y="1188720"/>
            <a:ext cx="4389120" cy="4480560"/>
          </a:xfrm>
          <a:prstGeom prst="roundRect">
            <a:avLst>
              <a:gd name="adj" fmla="val 1667"/>
            </a:avLst>
          </a:prstGeom>
          <a:solidFill>
            <a:srgbClr val="F3F6FA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5" name="thr-dot"/>
          <p:cNvSpPr/>
          <p:nvPr/>
        </p:nvSpPr>
        <p:spPr>
          <a:xfrm>
            <a:off x="7498080" y="1389888"/>
            <a:ext cx="384048" cy="384048"/>
          </a:xfrm>
          <a:prstGeom prst="ellipse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6" name="thr-head"/>
          <p:cNvSpPr txBox="1"/>
          <p:nvPr/>
        </p:nvSpPr>
        <p:spPr>
          <a:xfrm>
            <a:off x="800100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7" name="thr-body"/>
          <p:cNvSpPr txBox="1"/>
          <p:nvPr/>
        </p:nvSpPr>
        <p:spPr>
          <a:xfrm>
            <a:off x="7543800" y="1920240"/>
            <a:ext cx="39776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 between the class means Mh and Mi is divided into 100 steps; each step is tried as a threshold. Separability = balanced accuracy BA = (sensitivity + specificity)/2 at the best threshold (C2). With 12 vs 36 plots, calling every plot 'diseased' already gives OA = 75 % but BA = 50 %.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· Classification scalograms</a:t>
            </a:r>
            <a:endParaRPr lang="en-US" sz="3000" dirty="0"/>
          </a:p>
        </p:txBody>
      </p:sp>
      <p:pic>
        <p:nvPicPr>
          <p:cNvPr id="3" name="scR" descr="/tmp/claude-0/-home-user-sonu/8224ffc3-5a98-59f7-ba40-3e7eaa93e9a7/scratchpad/figs/fig04_scalogram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760720" cy="1874643"/>
          </a:xfrm>
          <a:prstGeom prst="rect">
            <a:avLst/>
          </a:prstGeom>
        </p:spPr>
      </p:pic>
      <p:pic>
        <p:nvPicPr>
          <p:cNvPr id="4" name="scD1" descr="/tmp/claude-0/-home-user-sonu/8224ffc3-5a98-59f7-ba40-3e7eaa93e9a7/scratchpad/figs/fig04_scalogram_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51560"/>
            <a:ext cx="5760720" cy="1874643"/>
          </a:xfrm>
          <a:prstGeom prst="rect">
            <a:avLst/>
          </a:prstGeom>
        </p:spPr>
      </p:pic>
      <p:pic>
        <p:nvPicPr>
          <p:cNvPr id="5" name="scD2" descr="/tmp/claude-0/-home-user-sonu/8224ffc3-5a98-59f7-ba40-3e7eaa93e9a7/scratchpad/figs/fig04_scalogram_D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11880"/>
            <a:ext cx="5760720" cy="1874643"/>
          </a:xfrm>
          <a:prstGeom prst="rect">
            <a:avLst/>
          </a:prstGeom>
        </p:spPr>
      </p:pic>
      <p:pic>
        <p:nvPicPr>
          <p:cNvPr id="6" name="scD3" descr="/tmp/claude-0/-home-user-sonu/8224ffc3-5a98-59f7-ba40-3e7eaa93e9a7/scratchpad/figs/fig04_scalogram_D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611880"/>
            <a:ext cx="5760720" cy="18746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· Wavelet scalograms (scales 3–8)</a:t>
            </a:r>
            <a:endParaRPr lang="en-US" sz="3000" dirty="0"/>
          </a:p>
        </p:txBody>
      </p:sp>
      <p:pic>
        <p:nvPicPr>
          <p:cNvPr id="3" name="scCWT" descr="/tmp/claude-0/-home-user-sonu/8224ffc3-5a98-59f7-ba40-3e7eaa93e9a7/scratchpad/figs/fig05_scalogram_CW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90" y="1005840"/>
            <a:ext cx="6253301" cy="5303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1371600"/>
            <a:ext cx="365760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5 % per date (orange)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 ≥ k* dates (bottom), k* = largest of 4/3/2 with common features (C3)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representative per connected region (▼)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4–5 · 19,548 candidates → 16 DSSFs</a:t>
            </a:r>
            <a:endParaRPr lang="en-US" sz="3000" dirty="0"/>
          </a:p>
        </p:txBody>
      </p:sp>
      <p:sp>
        <p:nvSpPr>
          <p:cNvPr id="3" name="f1-big"/>
          <p:cNvSpPr txBox="1"/>
          <p:nvPr/>
        </p:nvSpPr>
        <p:spPr>
          <a:xfrm>
            <a:off x="548640" y="1280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19,548</a:t>
            </a:r>
            <a:endParaRPr lang="en-US" sz="4000" dirty="0"/>
          </a:p>
        </p:txBody>
      </p:sp>
      <p:sp>
        <p:nvSpPr>
          <p:cNvPr id="4" name="f1-small"/>
          <p:cNvSpPr txBox="1"/>
          <p:nvPr/>
        </p:nvSpPr>
        <p:spPr>
          <a:xfrm>
            <a:off x="54864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features per date</a:t>
            </a:r>
            <a:endParaRPr lang="en-US" sz="1300" dirty="0"/>
          </a:p>
        </p:txBody>
      </p:sp>
      <p:sp>
        <p:nvSpPr>
          <p:cNvPr id="5" name="f2-big"/>
          <p:cNvSpPr txBox="1"/>
          <p:nvPr/>
        </p:nvSpPr>
        <p:spPr>
          <a:xfrm>
            <a:off x="54864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4000" dirty="0"/>
          </a:p>
        </p:txBody>
      </p:sp>
      <p:sp>
        <p:nvSpPr>
          <p:cNvPr id="6" name="f2-small"/>
          <p:cNvSpPr txBox="1"/>
          <p:nvPr/>
        </p:nvSpPr>
        <p:spPr>
          <a:xfrm>
            <a:off x="54864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representatives + top-10 % scalar features</a:t>
            </a:r>
            <a:endParaRPr lang="en-US" sz="1300" dirty="0"/>
          </a:p>
        </p:txBody>
      </p:sp>
      <p:sp>
        <p:nvSpPr>
          <p:cNvPr id="7" name="f3-big"/>
          <p:cNvSpPr txBox="1"/>
          <p:nvPr/>
        </p:nvSpPr>
        <p:spPr>
          <a:xfrm>
            <a:off x="548640" y="4206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8" name="f3-small"/>
          <p:cNvSpPr txBox="1"/>
          <p:nvPr/>
        </p:nvSpPr>
        <p:spPr>
          <a:xfrm>
            <a:off x="548640" y="5029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DSSFs with VIF &lt; 10</a:t>
            </a:r>
            <a:endParaRPr lang="en-US" sz="1300" dirty="0"/>
          </a:p>
        </p:txBody>
      </p:sp>
      <p:pic>
        <p:nvPicPr>
          <p:cNvPr id="9" name="vif" descr="/tmp/claude-0/-home-user-sonu/8224ffc3-5a98-59f7-ba40-3e7eaa93e9a7/scratchpad/figs/fig07_v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143000"/>
            <a:ext cx="8046720" cy="450383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· The 16 disease-specific spectral features</a:t>
            </a:r>
            <a:endParaRPr lang="en-US" sz="3000" dirty="0"/>
          </a:p>
        </p:txBody>
      </p:sp>
      <p:graphicFrame>
        <p:nvGraphicFramePr>
          <p:cNvPr id="15" name="dss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69494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108960"/>
                <a:gridCol w="1920240"/>
                <a:gridCol w="731520"/>
                <a:gridCol w="5486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R_641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Reflectance band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D1_852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derivative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D2_1350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derivative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S3_1736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Wavelet coefficient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S3_1752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Wavelet coefficient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S3_1932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Wavelet coefficient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S3_2318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Wavelet coefficient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S4_634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Wavelet coefficient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S5_1875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Wavelet coefficient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Vegetation index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Vegetation index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 1721–2304 nm: left area (nm)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Continuum-removal 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CR3 914–1069 nm: depth / area (1/nm)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Continuum-removal 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 1721–2304 nm: right area (nm)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Continuum-removal 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CR1 400–548 nm: right area (nm)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Continuum-removal 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Blue-edge position λb (nm)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Red-edge 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meaning-bg"/>
          <p:cNvSpPr/>
          <p:nvPr/>
        </p:nvSpPr>
        <p:spPr>
          <a:xfrm>
            <a:off x="7680960" y="1097280"/>
            <a:ext cx="4114800" cy="4846320"/>
          </a:xfrm>
          <a:prstGeom prst="roundRect">
            <a:avLst>
              <a:gd name="adj" fmla="val 1778"/>
            </a:avLst>
          </a:prstGeom>
          <a:solidFill>
            <a:srgbClr val="F3F6FA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5" name="meaning-dot"/>
          <p:cNvSpPr/>
          <p:nvPr/>
        </p:nvSpPr>
        <p:spPr>
          <a:xfrm>
            <a:off x="7863840" y="1298448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6" name="meaning-head"/>
          <p:cNvSpPr txBox="1"/>
          <p:nvPr/>
        </p:nvSpPr>
        <p:spPr>
          <a:xfrm>
            <a:off x="8366760" y="1234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measure</a:t>
            </a:r>
            <a:endParaRPr lang="en-US" sz="1700" dirty="0"/>
          </a:p>
        </p:txBody>
      </p:sp>
      <p:sp>
        <p:nvSpPr>
          <p:cNvPr id="7" name="meaning-body"/>
          <p:cNvSpPr txBox="1"/>
          <p:nvPr/>
        </p:nvSpPr>
        <p:spPr>
          <a:xfrm>
            <a:off x="7909560" y="1828800"/>
            <a:ext cx="3703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Pigments: R641, wavelet 634 nm, Lic, ARI2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structure: slope at 852 nm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Water: 970, 1350, 1875–1940 nm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matter (C–H): 1736, 1752, 2318 nm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Blue-edge position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slope ≈ WF850/866 and yellow edge ≈ WF608 of Tian et 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· ML-SFFS classification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E3A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paper-faithful · B nested CV · C permutation null · D infection stages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6A · Paper-faithful: one to four features give 95–100 % OA</a:t>
            </a:r>
            <a:endParaRPr lang="en-US" sz="3000" dirty="0"/>
          </a:p>
        </p:txBody>
      </p:sp>
      <p:graphicFrame>
        <p:nvGraphicFramePr>
          <p:cNvPr id="17" name="faithfu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67665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05840"/>
                <a:gridCol w="2194560"/>
                <a:gridCol w="914400"/>
                <a:gridCol w="960120"/>
                <a:gridCol w="960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frequent OFC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OFC freq.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OA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BA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F5, F13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F5, F8, F13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F2, F8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F2, F8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F2, F8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F2, F4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F1, F8, F13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F9, F13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F1, F3, F4, F13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498080" y="1188720"/>
            <a:ext cx="429768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4-fold CV × 100 repetitions, SFFS with OA criterion – exactly as Tian et 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OA 94.9–100 %; SVM-SFFS best (as in the paper)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T2 the pair F2 + F8 (NIR slope + yellow–red edge) is the OFC of all three classifiers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Codes: see DSSF slide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6A · SFFS vs all DSSFs, and which features are chosen</a:t>
            </a:r>
            <a:endParaRPr lang="en-US" sz="3000" dirty="0"/>
          </a:p>
        </p:txBody>
      </p:sp>
      <p:pic>
        <p:nvPicPr>
          <p:cNvPr id="3" name="sva" descr="/tmp/claude-0/-home-user-sonu/8224ffc3-5a98-59f7-ba40-3e7eaa93e9a7/scratchpad/figs/fig08_sffs_vs_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2405" y="1051560"/>
            <a:ext cx="8556710" cy="2651760"/>
          </a:xfrm>
          <a:prstGeom prst="rect">
            <a:avLst/>
          </a:prstGeom>
        </p:spPr>
      </p:pic>
      <p:pic>
        <p:nvPicPr>
          <p:cNvPr id="4" name="selfreq" descr="/tmp/claude-0/-home-user-sonu/8224ffc3-5a98-59f7-ba40-3e7eaa93e9a7/scratchpad/figs/fig10_selection_frequen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535" y="3794760"/>
            <a:ext cx="5039010" cy="2514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6B · Nested CV: honest accuracy is lower but still high</a:t>
            </a:r>
            <a:endParaRPr lang="en-US" sz="3000" dirty="0"/>
          </a:p>
        </p:txBody>
      </p:sp>
      <p:graphicFrame>
        <p:nvGraphicFramePr>
          <p:cNvPr id="3" name="chartAB" descr=""/>
          <p:cNvGraphicFramePr/>
          <p:nvPr/>
        </p:nvGraphicFramePr>
        <p:xfrm>
          <a:off x="365760" y="1097280"/>
          <a:ext cx="78638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1-big"/>
          <p:cNvSpPr txBox="1"/>
          <p:nvPr/>
        </p:nvSpPr>
        <p:spPr>
          <a:xfrm>
            <a:off x="8503920" y="1280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83.5–98.8 %</a:t>
            </a:r>
            <a:endParaRPr lang="en-US" sz="4000" dirty="0"/>
          </a:p>
        </p:txBody>
      </p:sp>
      <p:sp>
        <p:nvSpPr>
          <p:cNvPr id="5" name="n1-small"/>
          <p:cNvSpPr txBox="1"/>
          <p:nvPr/>
        </p:nvSpPr>
        <p:spPr>
          <a:xfrm>
            <a:off x="850392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on held-out plots (nested CV)</a:t>
            </a:r>
            <a:endParaRPr lang="en-US" sz="1300" dirty="0"/>
          </a:p>
        </p:txBody>
      </p:sp>
      <p:sp>
        <p:nvSpPr>
          <p:cNvPr id="6" name="n2-big"/>
          <p:cNvSpPr txBox="1"/>
          <p:nvPr/>
        </p:nvSpPr>
        <p:spPr>
          <a:xfrm>
            <a:off x="8503920" y="3017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1.2–14.1</a:t>
            </a:r>
            <a:endParaRPr lang="en-US" sz="4000" dirty="0"/>
          </a:p>
        </p:txBody>
      </p:sp>
      <p:sp>
        <p:nvSpPr>
          <p:cNvPr id="7" name="n2-small"/>
          <p:cNvSpPr txBox="1"/>
          <p:nvPr/>
        </p:nvSpPr>
        <p:spPr>
          <a:xfrm>
            <a:off x="8503920" y="3840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points of optimism in the paper-faithful estimate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4754880"/>
            <a:ext cx="32918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pipeline (separability, DSSF pool, VIF, SFFS, SVM tuning) re-run inside every outer fold (C4).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6C · Random labels still give 85.1–91.7 % OA</a:t>
            </a:r>
            <a:endParaRPr lang="en-US" sz="3000" dirty="0"/>
          </a:p>
        </p:txBody>
      </p:sp>
      <p:pic>
        <p:nvPicPr>
          <p:cNvPr id="3" name="perm" descr="/tmp/claude-0/-home-user-sonu/8224ffc3-5a98-59f7-ba40-3e7eaa93e9a7/scratchpad/figs/fig11_permutation_n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11430000" cy="3234414"/>
          </a:xfrm>
          <a:prstGeom prst="rect">
            <a:avLst/>
          </a:prstGeom>
        </p:spPr>
      </p:pic>
      <p:sp>
        <p:nvSpPr>
          <p:cNvPr id="4" name="p1-big"/>
          <p:cNvSpPr txBox="1"/>
          <p:nvPr/>
        </p:nvSpPr>
        <p:spPr>
          <a:xfrm>
            <a:off x="731520" y="4572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25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85.1–91.7 %</a:t>
            </a:r>
            <a:endParaRPr lang="en-US" sz="4000" dirty="0"/>
          </a:p>
        </p:txBody>
      </p:sp>
      <p:sp>
        <p:nvSpPr>
          <p:cNvPr id="5" name="p1-small"/>
          <p:cNvSpPr txBox="1"/>
          <p:nvPr/>
        </p:nvSpPr>
        <p:spPr>
          <a:xfrm>
            <a:off x="731520" y="5394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OA with shuffled labels (procedure A)</a:t>
            </a:r>
            <a:endParaRPr lang="en-US" sz="1300" dirty="0"/>
          </a:p>
        </p:txBody>
      </p:sp>
      <p:sp>
        <p:nvSpPr>
          <p:cNvPr id="6" name="p2-big"/>
          <p:cNvSpPr txBox="1"/>
          <p:nvPr/>
        </p:nvSpPr>
        <p:spPr>
          <a:xfrm>
            <a:off x="4480560" y="4572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25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73.4–84.4 %</a:t>
            </a:r>
            <a:endParaRPr lang="en-US" sz="4000" dirty="0"/>
          </a:p>
        </p:txBody>
      </p:sp>
      <p:sp>
        <p:nvSpPr>
          <p:cNvPr id="7" name="p2-small"/>
          <p:cNvSpPr txBox="1"/>
          <p:nvPr/>
        </p:nvSpPr>
        <p:spPr>
          <a:xfrm>
            <a:off x="4480560" y="5394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 with shuffled labels</a:t>
            </a:r>
            <a:endParaRPr lang="en-US" sz="1300" dirty="0"/>
          </a:p>
        </p:txBody>
      </p:sp>
      <p:sp>
        <p:nvSpPr>
          <p:cNvPr id="8" name="p3-big"/>
          <p:cNvSpPr txBox="1"/>
          <p:nvPr/>
        </p:nvSpPr>
        <p:spPr>
          <a:xfrm>
            <a:off x="8229600" y="4572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0.048</a:t>
            </a:r>
            <a:endParaRPr lang="en-US" sz="4000" dirty="0"/>
          </a:p>
        </p:txBody>
      </p:sp>
      <p:sp>
        <p:nvSpPr>
          <p:cNvPr id="9" name="p3-small"/>
          <p:cNvSpPr txBox="1"/>
          <p:nvPr/>
        </p:nvSpPr>
        <p:spPr>
          <a:xfrm>
            <a:off x="8229600" y="5394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labels beat every permutation (LDA, k-NN)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6D · Infection stages: every inoculation timing is detected</a:t>
            </a:r>
            <a:endParaRPr lang="en-US" sz="3000" dirty="0"/>
          </a:p>
        </p:txBody>
      </p:sp>
      <p:pic>
        <p:nvPicPr>
          <p:cNvPr id="3" name="stage" descr="/tmp/claude-0/-home-user-sonu/8224ffc3-5a98-59f7-ba40-3e7eaa93e9a7/scratchpad/figs/fig12_stage_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700" y="1051560"/>
            <a:ext cx="985612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00600"/>
            <a:ext cx="54864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CV (SVM): 89–100 % of inoculated plots detected in every group and date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on controls: 9–22 %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217920" y="4800600"/>
            <a:ext cx="54864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ordering by inoculation timing; 9 plots per group → 1 plot = 11 points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Paper-faithful per-stage SVM-SFFS OA 97.1–100.0 % (optimistic)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Interpretation, cross-checks and conclusions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E3A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features mean, how robust the results are, what to report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features: the physiology behind the DSSFs</a:t>
            </a:r>
            <a:endParaRPr lang="en-US" sz="3000" dirty="0"/>
          </a:p>
        </p:txBody>
      </p:sp>
      <p:sp>
        <p:nvSpPr>
          <p:cNvPr id="3" name="i1-bg"/>
          <p:cNvSpPr/>
          <p:nvPr/>
        </p:nvSpPr>
        <p:spPr>
          <a:xfrm>
            <a:off x="457200" y="1188720"/>
            <a:ext cx="2743200" cy="4023360"/>
          </a:xfrm>
          <a:prstGeom prst="roundRect">
            <a:avLst>
              <a:gd name="adj" fmla="val 2667"/>
            </a:avLst>
          </a:prstGeom>
          <a:solidFill>
            <a:srgbClr val="F3F6FA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4" name="i1-dot"/>
          <p:cNvSpPr/>
          <p:nvPr/>
        </p:nvSpPr>
        <p:spPr>
          <a:xfrm>
            <a:off x="640080" y="1389888"/>
            <a:ext cx="384048" cy="384048"/>
          </a:xfrm>
          <a:prstGeom prst="ellipse">
            <a:avLst/>
          </a:prstGeom>
          <a:solidFill>
            <a:srgbClr val="1C5CAB"/>
          </a:solidFill>
          <a:ln w="12700">
            <a:solidFill>
              <a:srgbClr val="1C5CAB"/>
            </a:solidFill>
            <a:prstDash val="solid"/>
          </a:ln>
        </p:spPr>
      </p:sp>
      <p:sp>
        <p:nvSpPr>
          <p:cNvPr id="5" name="i1-head"/>
          <p:cNvSpPr txBox="1"/>
          <p:nvPr/>
        </p:nvSpPr>
        <p:spPr>
          <a:xfrm>
            <a:off x="114300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NIR structure</a:t>
            </a:r>
            <a:endParaRPr lang="en-US" sz="1700" dirty="0"/>
          </a:p>
        </p:txBody>
      </p:sp>
      <p:sp>
        <p:nvSpPr>
          <p:cNvPr id="6" name="i1-body"/>
          <p:cNvSpPr txBox="1"/>
          <p:nvPr/>
        </p:nvSpPr>
        <p:spPr>
          <a:xfrm>
            <a:off x="685800" y="1920240"/>
            <a:ext cx="2331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at 852 nm: controls decline 800–900 nm, diseased plots flat or rising – pustules disrupt epidermis and mesophyll scattering (cf. WF850 of Tian et al.).</a:t>
            </a:r>
            <a:endParaRPr lang="en-US" sz="1600" dirty="0"/>
          </a:p>
        </p:txBody>
      </p:sp>
      <p:sp>
        <p:nvSpPr>
          <p:cNvPr id="7" name="i2-bg"/>
          <p:cNvSpPr/>
          <p:nvPr/>
        </p:nvSpPr>
        <p:spPr>
          <a:xfrm>
            <a:off x="3291840" y="1188720"/>
            <a:ext cx="2743200" cy="4023360"/>
          </a:xfrm>
          <a:prstGeom prst="roundRect">
            <a:avLst>
              <a:gd name="adj" fmla="val 2667"/>
            </a:avLst>
          </a:prstGeom>
          <a:solidFill>
            <a:srgbClr val="F3F6FA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8" name="i2-dot"/>
          <p:cNvSpPr/>
          <p:nvPr/>
        </p:nvSpPr>
        <p:spPr>
          <a:xfrm>
            <a:off x="3474720" y="1389888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i2-head"/>
          <p:cNvSpPr txBox="1"/>
          <p:nvPr/>
        </p:nvSpPr>
        <p:spPr>
          <a:xfrm>
            <a:off x="397764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Pigments</a:t>
            </a:r>
            <a:endParaRPr lang="en-US" sz="1700" dirty="0"/>
          </a:p>
        </p:txBody>
      </p:sp>
      <p:sp>
        <p:nvSpPr>
          <p:cNvPr id="10" name="i2-body"/>
          <p:cNvSpPr txBox="1"/>
          <p:nvPr/>
        </p:nvSpPr>
        <p:spPr>
          <a:xfrm>
            <a:off x="3520440" y="1920240"/>
            <a:ext cx="2331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reflectance up, Lic down, ARI2 up: chlorophyll loss and anthocyanin accumulation; yellow–red edge wavelet at 634 nm (cf. WF608).</a:t>
            </a:r>
            <a:endParaRPr lang="en-US" sz="1600" dirty="0"/>
          </a:p>
        </p:txBody>
      </p:sp>
      <p:sp>
        <p:nvSpPr>
          <p:cNvPr id="11" name="i3-bg"/>
          <p:cNvSpPr/>
          <p:nvPr/>
        </p:nvSpPr>
        <p:spPr>
          <a:xfrm>
            <a:off x="6126480" y="1188720"/>
            <a:ext cx="2743200" cy="4023360"/>
          </a:xfrm>
          <a:prstGeom prst="roundRect">
            <a:avLst>
              <a:gd name="adj" fmla="val 2667"/>
            </a:avLst>
          </a:prstGeom>
          <a:solidFill>
            <a:srgbClr val="F3F6FA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12" name="i3-dot"/>
          <p:cNvSpPr/>
          <p:nvPr/>
        </p:nvSpPr>
        <p:spPr>
          <a:xfrm>
            <a:off x="6309360" y="1389888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3" name="i3-head"/>
          <p:cNvSpPr txBox="1"/>
          <p:nvPr/>
        </p:nvSpPr>
        <p:spPr>
          <a:xfrm>
            <a:off x="681228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</a:t>
            </a:r>
            <a:endParaRPr lang="en-US" sz="1700" dirty="0"/>
          </a:p>
        </p:txBody>
      </p:sp>
      <p:sp>
        <p:nvSpPr>
          <p:cNvPr id="14" name="i3-body"/>
          <p:cNvSpPr txBox="1"/>
          <p:nvPr/>
        </p:nvSpPr>
        <p:spPr>
          <a:xfrm>
            <a:off x="6355080" y="1920240"/>
            <a:ext cx="2331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970, 1350 and 1875–1940 nm features; water indices lower already on T1.</a:t>
            </a:r>
            <a:endParaRPr lang="en-US" sz="1600" dirty="0"/>
          </a:p>
        </p:txBody>
      </p:sp>
      <p:sp>
        <p:nvSpPr>
          <p:cNvPr id="15" name="i4-bg"/>
          <p:cNvSpPr/>
          <p:nvPr/>
        </p:nvSpPr>
        <p:spPr>
          <a:xfrm>
            <a:off x="8961120" y="1188720"/>
            <a:ext cx="2743200" cy="4023360"/>
          </a:xfrm>
          <a:prstGeom prst="roundRect">
            <a:avLst>
              <a:gd name="adj" fmla="val 2667"/>
            </a:avLst>
          </a:prstGeom>
          <a:solidFill>
            <a:srgbClr val="F3F6FA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16" name="i4-dot"/>
          <p:cNvSpPr/>
          <p:nvPr/>
        </p:nvSpPr>
        <p:spPr>
          <a:xfrm>
            <a:off x="9144000" y="1389888"/>
            <a:ext cx="384048" cy="384048"/>
          </a:xfrm>
          <a:prstGeom prst="ellipse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17" name="i4-head"/>
          <p:cNvSpPr txBox="1"/>
          <p:nvPr/>
        </p:nvSpPr>
        <p:spPr>
          <a:xfrm>
            <a:off x="964692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matter</a:t>
            </a:r>
            <a:endParaRPr lang="en-US" sz="1700" dirty="0"/>
          </a:p>
        </p:txBody>
      </p:sp>
      <p:sp>
        <p:nvSpPr>
          <p:cNvPr id="18" name="i4-body"/>
          <p:cNvSpPr txBox="1"/>
          <p:nvPr/>
        </p:nvSpPr>
        <p:spPr>
          <a:xfrm>
            <a:off x="9189720" y="1920240"/>
            <a:ext cx="2331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Wavelets at 1736, 1752, 2318 nm lie in C–H absorptions of cellulose, lignin and protein (Kokaly &amp; Clark, 1999).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Cross-checks: 18 PASS, 3 FLAG</a:t>
            </a:r>
            <a:endParaRPr lang="en-US" sz="3000" dirty="0"/>
          </a:p>
        </p:txBody>
      </p:sp>
      <p:graphicFrame>
        <p:nvGraphicFramePr>
          <p:cNvPr id="24" name="check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309360"/>
                <a:gridCol w="8229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labels identical for the 48 plots on all 4 dates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 file agrees with the spectral workbooks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balanced (each Variety x Inoculation timing once per block C, R1, R2, R3)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order of the control plots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derivative of the workbook = central difference of the reflectance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CWT coefficients (PyWavelets 'mexh') = direct convolution with the Mexican-hat (Ricker) wavelet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vegetation indices in the source workbooks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BH-FDR q ≥ p for every test and decision rule applied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separability agrees with the threshold-free AUC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100-step threshold grid vs exhaustive optimal threshold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Representative features lie inside the analysed range and outside the guard zones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VIF of the final pool recomputed with statsmodels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OA, BA and kappa functions = scikit-learn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SFFS finds the optimum of an exhaustive 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CV: every plot tested exactly once per repetition, same test plots on every 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Scaler and SVM parameters fitted on training plots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repetitions per date and classifier in procedure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repetitions per stage (date × inoculation timing × classifier) in procedure 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OA of procedure A exceeds every permuted-label OA (LDA, k-NN)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Permuted-label OA of procedure A far above 75 % majority / 50 % BA chance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(B) accuracy ≤ faithful (A) 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4" name="ck2-bg"/>
          <p:cNvSpPr/>
          <p:nvPr/>
        </p:nvSpPr>
        <p:spPr>
          <a:xfrm>
            <a:off x="8412480" y="1097280"/>
            <a:ext cx="3383280" cy="4846320"/>
          </a:xfrm>
          <a:prstGeom prst="roundRect">
            <a:avLst>
              <a:gd name="adj" fmla="val 2162"/>
            </a:avLst>
          </a:prstGeom>
          <a:solidFill>
            <a:srgbClr val="F3F6FA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5" name="ck2-dot"/>
          <p:cNvSpPr/>
          <p:nvPr/>
        </p:nvSpPr>
        <p:spPr>
          <a:xfrm>
            <a:off x="8595360" y="1298448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6" name="ck2-head"/>
          <p:cNvSpPr txBox="1"/>
          <p:nvPr/>
        </p:nvSpPr>
        <p:spPr>
          <a:xfrm>
            <a:off x="9098280" y="1234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verified</a:t>
            </a:r>
            <a:endParaRPr lang="en-US" sz="1700" dirty="0"/>
          </a:p>
        </p:txBody>
      </p:sp>
      <p:sp>
        <p:nvSpPr>
          <p:cNvPr id="7" name="ck2-body"/>
          <p:cNvSpPr txBox="1"/>
          <p:nvPr/>
        </p:nvSpPr>
        <p:spPr>
          <a:xfrm>
            <a:off x="8641080" y="1828800"/>
            <a:ext cx="29718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formulas reproduce class means, threshold BA of all 16 DSSFs × 4 dates and the summary accuracies exactly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references checked; 5 errors found in the reference list of Tian et al. (2021)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ML-SFFS workflow runs step by step on plot-average spectra: 19,548 candidates → 16 DSSFs covering pigments, NIR structure, water and dry matter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rust lowers water indices first (T1), then chlorophyll and carotenoids; anthocyanins rise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Paper-faithful ML-SFFS: 1–4 features, OA 94.9–100 %, SVM best – but optimistic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CV (report this): BA 83.5–98.8 %, best on T1 86.4 %; optimism 1.2–14.1 points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inoculation timings and varieties detected similarly; the control-block confound must be removed in future trials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000" dirty="0"/>
          </a:p>
        </p:txBody>
      </p:sp>
      <p:sp>
        <p:nvSpPr>
          <p:cNvPr id="3" name="lim-bg"/>
          <p:cNvSpPr/>
          <p:nvPr/>
        </p:nvSpPr>
        <p:spPr>
          <a:xfrm>
            <a:off x="457200" y="11887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3F6FA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4" name="lim-dot"/>
          <p:cNvSpPr/>
          <p:nvPr/>
        </p:nvSpPr>
        <p:spPr>
          <a:xfrm>
            <a:off x="640080" y="1389888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lim-head"/>
          <p:cNvSpPr txBox="1"/>
          <p:nvPr/>
        </p:nvSpPr>
        <p:spPr>
          <a:xfrm>
            <a:off x="1143000" y="1325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6" name="lim-body"/>
          <p:cNvSpPr txBox="1"/>
          <p:nvPr/>
        </p:nvSpPr>
        <p:spPr>
          <a:xfrm>
            <a:off x="685800" y="1920240"/>
            <a:ext cx="5074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in one block and measured first (C9)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vs 36 plots; 9 per inoculation group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biochemistry – proxies only (C8)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Inoculation dates (DAS) not available → no DAI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permutation test small; stage-wise pool from all plots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season, one site</a:t>
            </a:r>
            <a:endParaRPr lang="en-US" sz="1600" dirty="0"/>
          </a:p>
        </p:txBody>
      </p:sp>
      <p:sp>
        <p:nvSpPr>
          <p:cNvPr id="7" name="next-bg"/>
          <p:cNvSpPr/>
          <p:nvPr/>
        </p:nvSpPr>
        <p:spPr>
          <a:xfrm>
            <a:off x="6217920" y="11887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3F6FA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8" name="next-dot"/>
          <p:cNvSpPr/>
          <p:nvPr/>
        </p:nvSpPr>
        <p:spPr>
          <a:xfrm>
            <a:off x="6400800" y="1389888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9" name="next-head"/>
          <p:cNvSpPr txBox="1"/>
          <p:nvPr/>
        </p:nvSpPr>
        <p:spPr>
          <a:xfrm>
            <a:off x="6903720" y="1325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10" name="next-body"/>
          <p:cNvSpPr txBox="1"/>
          <p:nvPr/>
        </p:nvSpPr>
        <p:spPr>
          <a:xfrm>
            <a:off x="6446520" y="1920240"/>
            <a:ext cx="5074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 controls among blocks and measurement order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inoculation dates; express stages as DAI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chlorophyll, anthocyanin and water on a subset of leaves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stable DSSF core (852, 634, 970/1350/1940 nm, ARI2) on an independent season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cross-check: errors in Tian et al.'s reference list</a:t>
            </a:r>
            <a:endParaRPr lang="en-US" sz="3000" dirty="0"/>
          </a:p>
        </p:txBody>
      </p:sp>
      <p:graphicFrame>
        <p:nvGraphicFramePr>
          <p:cNvPr id="27" name="refer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citation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 (1936)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title: 'The use of multiple measurements in taxonomic problems', Ann. Eugenics 7 (2), 179–188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 and Lin (2011)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LIBSVM: a library for support vector machines. ACM TIST 2 (3), 27:1–27:27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Huang et al. (2019)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PNAS 116 (31), 15386–15391; authors Huang, Li, Risinger, Enslow, Zeman, Gong, Yang, Schanze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Jacquemoud and Féret (1990)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Jacquemoud, S., Baret, F., 1990. PROSPECT. Remote Sens. Environ. 34, 75–91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Leys et al. (2013) as used in Tian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Leys et al. recommend the median ± k·MAD (k = 2.5 moderately, 3 very conservative); median ± 3 MAD is used 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references: Tian et al. (2021) RSE 257:112350 · Pudil et al. (1994) PRL 15:1119–1125 · Mahlein et al. (2013) RSE 128:21–30 · Cheng et al. (2010) RSE 114:899–910 · Ambroise &amp; McLachlan (2002) PNAS 99:6562–6566 · Varma &amp; Simon (2006) BMC Bioinf. 7:91 · Brodersen et al. (2010) ICPR · Ojala &amp; Garriga (2010) JMLR 11:1833–1863. Full verified list: workbook sheet S24 and chapter references.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B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stard Navy">
  <a:themeElements>
    <a:clrScheme name="Mustard Navy">
      <a:dk1>
        <a:srgbClr val="1B1B1B"/>
      </a:dk1>
      <a:lt1>
        <a:srgbClr val="FFFFFF"/>
      </a:lt1>
      <a:dk2>
        <a:srgbClr val="0D366B"/>
      </a:dk2>
      <a:lt2>
        <a:srgbClr val="F3F6FA"/>
      </a:lt2>
      <a:accent1>
        <a:srgbClr val="1C5CAB"/>
      </a:accent1>
      <a:accent2>
        <a:srgbClr val="E3A21A"/>
      </a:accent2>
      <a:accent3>
        <a:srgbClr val="1BAF7A"/>
      </a:accent3>
      <a:accent4>
        <a:srgbClr val="EB6834"/>
      </a:accent4>
      <a:accent5>
        <a:srgbClr val="6250D6"/>
      </a:accent5>
      <a:accent6>
        <a:srgbClr val="52514E"/>
      </a:accent6>
      <a:hlink>
        <a:srgbClr val="1C5CAB"/>
      </a:hlink>
      <a:folHlink>
        <a:srgbClr val="6250D6"/>
      </a:folHlink>
    </a:clrScheme>
    <a:fontScheme name="Mustard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rust ML-SFFS (Tian et al. 2021 method)</dc:title>
  <dc:subject>PptxGenJS Presentation</dc:subject>
  <dc:creator>PptxGenJS</dc:creator>
  <cp:lastModifiedBy>PptxGenJS</cp:lastModifiedBy>
  <cp:revision>1</cp:revision>
  <dcterms:created xsi:type="dcterms:W3CDTF">2026-10-21T15:48:05Z</dcterms:created>
  <dcterms:modified xsi:type="dcterms:W3CDTF">2026-10-21T15:48:05Z</dcterms:modified>
</cp:coreProperties>
</file>