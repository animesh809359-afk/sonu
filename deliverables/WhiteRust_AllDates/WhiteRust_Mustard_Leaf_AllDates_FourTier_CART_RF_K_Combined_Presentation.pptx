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7148a08-1d3d-d687-19fd-390b52961830}">
          <p14:sldIdLst>
            <p14:sldId id="256"/>
            <p14:sldId id="257"/>
            <p14:sldId id="258"/>
            <p14:sldId id="259"/>
            <p14:sldId id="260"/>
          </p14:sldIdLst>
        </p14:section>
        <p14:section name="Part A · Four-tier analysis (CART)" id="{e308101d-33f5-b5aa-b121-9e64692aa8ea}">
          <p14:sldIdLst>
            <p14:sldId id="261"/>
            <p14:sldId id="262"/>
            <p14:sldId id="263"/>
            <p14:sldId id="264"/>
            <p14:sldId id="265"/>
            <p14:sldId id="266"/>
            <p14:sldId id="267"/>
            <p14:sldId id="268"/>
            <p14:sldId id="269"/>
            <p14:sldId id="270"/>
            <p14:sldId id="271"/>
          </p14:sldIdLst>
        </p14:section>
        <p14:section name="Part A · CART vs Random Forest" id="{9f291c67-1869-0daa-74b6-9d4402738eeb}">
          <p14:sldIdLst>
            <p14:sldId id="272"/>
            <p14:sldId id="273"/>
            <p14:sldId id="274"/>
            <p14:sldId id="275"/>
            <p14:sldId id="276"/>
          </p14:sldIdLst>
        </p14:section>
        <p14:section name="Part K · Disease-sensitive features" id="{f70595d6-820d-5aa4-a8f7-e9c86ef8af98}">
          <p14:sldIdLst>
            <p14:sldId id="277"/>
            <p14:sldId id="278"/>
            <p14:sldId id="279"/>
            <p14:sldId id="280"/>
            <p14:sldId id="281"/>
            <p14:sldId id="282"/>
            <p14:sldId id="283"/>
            <p14:sldId id="284"/>
            <p14:sldId id="285"/>
            <p14:sldId id="286"/>
          </p14:sldIdLst>
        </p14:section>
        <p14:section name="Part C · Four tiers on the combined pool" id="{eaeacd7c-c854-6430-e23d-77c87c391a92}">
          <p14:sldIdLst>
            <p14:sldId id="287"/>
            <p14:sldId id="288"/>
            <p14:sldId id="289"/>
            <p14:sldId id="290"/>
            <p14:sldId id="291"/>
            <p14:sldId id="292"/>
            <p14:sldId id="293"/>
            <p14:sldId id="294"/>
          </p14:sldIdLst>
        </p14:section>
        <p14:section name="Additional checks and synthesis" id="{4e0167df-952f-8282-9f0c-dc2855e84468}">
          <p14:sldIdLst>
            <p14:sldId id="295"/>
            <p14:sldId id="296"/>
            <p14:sldId id="297"/>
            <p14:sldId id="298"/>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0"/>
            <a:ext cx="11277295" cy="146304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457200" y="3474720"/>
            <a:ext cx="11277295" cy="2011680"/>
          </a:xfrm>
          <a:prstGeom prst="rect">
            <a:avLst/>
          </a:prstGeom>
          <a:noFill/>
          <a:ln/>
        </p:spPr>
        <p:txBody>
          <a:bodyPr wrap="square" rtlCol="0"/>
          <a:lstStyle>
            <a:lvl1pPr indent="0" marL="0">
              <a:buNone/>
              <a:defRPr lang="en-US" sz="1800" dirty="0">
                <a:solidFill>
                  <a:srgbClr val="E3F4E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lstStyle>
            <a:lvl1pPr indent="0" marL="0">
              <a:buNone/>
              <a:defRPr lang="en-US" sz="3600" b="1" dirty="0">
                <a:solidFill>
                  <a:srgbClr val="FFFFFF"/>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457200" y="3566160"/>
            <a:ext cx="11277295" cy="1463040"/>
          </a:xfrm>
          <a:prstGeom prst="rect">
            <a:avLst/>
          </a:prstGeom>
          <a:noFill/>
          <a:ln/>
        </p:spPr>
        <p:txBody>
          <a:bodyPr wrap="square" rtlCol="0"/>
          <a:lstStyle>
            <a:lvl1pPr indent="0" marL="0">
              <a:buNone/>
              <a:defRPr lang="en-US" sz="1800" dirty="0">
                <a:solidFill>
                  <a:srgbClr val="E3F4EC"/>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lstStyle>
            <a:lvl1pPr indent="0" marL="0">
              <a:buNone/>
              <a:defRPr lang="en-US" sz="2600" b="1" dirty="0">
                <a:solidFill>
                  <a:srgbClr val="1F3D2B"/>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3" name="Text 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8A8981"/>
                </a:solidFill>
              </a:rPr>
              <a:t>White rust · mustard leaves · all dates combined · four-tier analysis (Das et al. 2020) + CART vs RF + K + combined pool</a:t>
            </a:r>
            <a:endParaRPr lang="en-US" sz="9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0"/>
            <a:ext cx="11277295" cy="1463040"/>
          </a:xfrm>
          <a:prstGeom prst="rect">
            <a:avLst/>
          </a:prstGeom>
          <a:noFill/>
          <a:ln/>
        </p:spPr>
        <p:txBody>
          <a:bodyPr wrap="square"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Discriminating healthy and white-rust-diseased mustard leaves with field spectroradiometry</a:t>
            </a:r>
            <a:endParaRPr lang="en-US" sz="4000" dirty="0"/>
          </a:p>
        </p:txBody>
      </p:sp>
      <p:sp>
        <p:nvSpPr>
          <p:cNvPr id="3" name="Text 0"/>
          <p:cNvSpPr/>
          <p:nvPr>
            <p:ph idx="101" type="body" hasCustomPrompt="1"/>
          </p:nvPr>
        </p:nvSpPr>
        <p:spPr>
          <a:xfrm>
            <a:off x="457200" y="3474720"/>
            <a:ext cx="11277295" cy="2011680"/>
          </a:xfrm>
          <a:prstGeom prst="rect">
            <a:avLst/>
          </a:prstGeom>
          <a:noFill/>
          <a:ln/>
        </p:spPr>
        <p:txBody>
          <a:bodyPr wrap="square" rtlCol="0" anchor="t"/>
          <a:lstStyle/>
          <a:p>
            <a:pPr indent="0" marL="0">
              <a:buNone/>
            </a:pPr>
            <a:r>
              <a:rPr lang="en-US" sz="1800" dirty="0">
                <a:solidFill>
                  <a:srgbClr val="E3F4EC"/>
                </a:solidFill>
              </a:rPr>
              <a:t>Four-tier hierarchical analysis (Das et al., 2020) with imbalance correction · CART vs Random Forest · disease-sensitive features (K) · four tiers on the combined feature pool</a:t>
            </a:r>
            <a:endParaRPr lang="en-US" sz="1800" dirty="0"/>
          </a:p>
          <a:p>
            <a:pPr indent="0" marL="0">
              <a:buNone/>
            </a:pPr>
            <a:r>
              <a:rPr lang="en-US" sz="1400" dirty="0">
                <a:solidFill>
                  <a:srgbClr val="B5D6C3"/>
                </a:solidFill>
              </a:rPr>
              <a:t>2264 leaf spectra (378 healthy, 1886 diseased) · 4 dates · 3 growth stages · 3 varieties · ASD contact probe, 400–2500 nm</a:t>
            </a:r>
            <a:endParaRPr lang="en-US" sz="1800" dirty="0"/>
          </a:p>
          <a:p>
            <a:pPr indent="0" marL="0">
              <a:buNone/>
            </a:pPr>
            <a:r>
              <a:rPr lang="en-US" sz="1400" dirty="0">
                <a:solidFill>
                  <a:srgbClr val="B5D6C3"/>
                </a:solidFill>
              </a:rPr>
              <a:t>Animesh Panda · Division of Agricultural Physics, ICAR-IARI, New Delhi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Key results at a glance</a:t>
            </a:r>
            <a:endParaRPr lang="en-US" sz="2600" dirty="0"/>
          </a:p>
        </p:txBody>
      </p:sp>
      <p:sp>
        <p:nvSpPr>
          <p:cNvPr id="3" name="Shape 1"/>
          <p:cNvSpPr/>
          <p:nvPr/>
        </p:nvSpPr>
        <p:spPr>
          <a:xfrm>
            <a:off x="457200" y="1188720"/>
            <a:ext cx="2651760" cy="1417320"/>
          </a:xfrm>
          <a:prstGeom prst="roundRect">
            <a:avLst>
              <a:gd name="adj" fmla="val 5161"/>
            </a:avLst>
          </a:prstGeom>
          <a:solidFill>
            <a:srgbClr val="F0EFEC"/>
          </a:solidFill>
          <a:ln w="12700">
            <a:solidFill>
              <a:srgbClr val="F0EFEC"/>
            </a:solidFill>
            <a:prstDash val="solid"/>
          </a:ln>
        </p:spPr>
      </p:sp>
      <p:sp>
        <p:nvSpPr>
          <p:cNvPr id="4" name="Text 2"/>
          <p:cNvSpPr txBox="1"/>
          <p:nvPr/>
        </p:nvSpPr>
        <p:spPr>
          <a:xfrm>
            <a:off x="594360" y="1280160"/>
            <a:ext cx="2377440" cy="731520"/>
          </a:xfrm>
          <a:prstGeom prst="rect">
            <a:avLst/>
          </a:prstGeom>
          <a:noFill/>
          <a:ln/>
        </p:spPr>
        <p:txBody>
          <a:bodyPr wrap="square" lIns="0" tIns="0" rIns="0" bIns="0" rtlCol="0" anchor="ctr"/>
          <a:lstStyle/>
          <a:p>
            <a:pPr indent="0" marL="0">
              <a:buNone/>
            </a:pPr>
            <a:r>
              <a:rPr lang="en-US" sz="3400" b="1" dirty="0">
                <a:solidFill>
                  <a:srgbClr val="1F3D2B"/>
                </a:solidFill>
                <a:latin typeface="Cambria" pitchFamily="34" charset="0"/>
                <a:ea typeface="Cambria" pitchFamily="34" charset="-122"/>
                <a:cs typeface="Cambria" pitchFamily="34" charset="-120"/>
              </a:rPr>
              <a:t>1653/2101</a:t>
            </a:r>
            <a:endParaRPr lang="en-US" sz="3400" dirty="0"/>
          </a:p>
        </p:txBody>
      </p:sp>
      <p:sp>
        <p:nvSpPr>
          <p:cNvPr id="5" name="Text 3"/>
          <p:cNvSpPr txBox="1"/>
          <p:nvPr/>
        </p:nvSpPr>
        <p:spPr>
          <a:xfrm>
            <a:off x="594360" y="1993392"/>
            <a:ext cx="2377440" cy="548640"/>
          </a:xfrm>
          <a:prstGeom prst="rect">
            <a:avLst/>
          </a:prstGeom>
          <a:noFill/>
          <a:ln/>
        </p:spPr>
        <p:txBody>
          <a:bodyPr wrap="square" lIns="0" tIns="0" rIns="0" bIns="0" rtlCol="0" anchor="t"/>
          <a:lstStyle/>
          <a:p>
            <a:pPr indent="0" marL="0">
              <a:buNone/>
            </a:pPr>
            <a:r>
              <a:rPr lang="en-US" sz="1200" dirty="0">
                <a:solidFill>
                  <a:srgbClr val="52514E"/>
                </a:solidFill>
              </a:rPr>
              <a:t>bands differ significantly (Tier 1, Welch + FDR)</a:t>
            </a:r>
            <a:endParaRPr lang="en-US" sz="1200" dirty="0"/>
          </a:p>
        </p:txBody>
      </p:sp>
      <p:sp>
        <p:nvSpPr>
          <p:cNvPr id="6" name="Shape 4"/>
          <p:cNvSpPr/>
          <p:nvPr/>
        </p:nvSpPr>
        <p:spPr>
          <a:xfrm>
            <a:off x="3291840" y="1188720"/>
            <a:ext cx="2651760" cy="1417320"/>
          </a:xfrm>
          <a:prstGeom prst="roundRect">
            <a:avLst>
              <a:gd name="adj" fmla="val 5161"/>
            </a:avLst>
          </a:prstGeom>
          <a:solidFill>
            <a:srgbClr val="F0EFEC"/>
          </a:solidFill>
          <a:ln w="12700">
            <a:solidFill>
              <a:srgbClr val="F0EFEC"/>
            </a:solidFill>
            <a:prstDash val="solid"/>
          </a:ln>
        </p:spPr>
      </p:sp>
      <p:sp>
        <p:nvSpPr>
          <p:cNvPr id="7" name="Text 5"/>
          <p:cNvSpPr txBox="1"/>
          <p:nvPr/>
        </p:nvSpPr>
        <p:spPr>
          <a:xfrm>
            <a:off x="3429000" y="1280160"/>
            <a:ext cx="2377440" cy="731520"/>
          </a:xfrm>
          <a:prstGeom prst="rect">
            <a:avLst/>
          </a:prstGeom>
          <a:noFill/>
          <a:ln/>
        </p:spPr>
        <p:txBody>
          <a:bodyPr wrap="square" lIns="0" tIns="0" rIns="0" bIns="0" rtlCol="0" anchor="ctr"/>
          <a:lstStyle/>
          <a:p>
            <a:pPr indent="0" marL="0">
              <a:buNone/>
            </a:pPr>
            <a:r>
              <a:rPr lang="en-US" sz="3400" b="1" dirty="0">
                <a:solidFill>
                  <a:srgbClr val="2A78D6"/>
                </a:solidFill>
                <a:latin typeface="Cambria" pitchFamily="34" charset="0"/>
                <a:ea typeface="Cambria" pitchFamily="34" charset="-122"/>
                <a:cs typeface="Cambria" pitchFamily="34" charset="-120"/>
              </a:rPr>
              <a:t>1.27</a:t>
            </a:r>
            <a:endParaRPr lang="en-US" sz="3400" dirty="0"/>
          </a:p>
        </p:txBody>
      </p:sp>
      <p:sp>
        <p:nvSpPr>
          <p:cNvPr id="8" name="Text 6"/>
          <p:cNvSpPr txBox="1"/>
          <p:nvPr/>
        </p:nvSpPr>
        <p:spPr>
          <a:xfrm>
            <a:off x="3429000" y="1993392"/>
            <a:ext cx="2377440" cy="548640"/>
          </a:xfrm>
          <a:prstGeom prst="rect">
            <a:avLst/>
          </a:prstGeom>
          <a:noFill/>
          <a:ln/>
        </p:spPr>
        <p:txBody>
          <a:bodyPr wrap="square" lIns="0" tIns="0" rIns="0" bIns="0" rtlCol="0" anchor="t"/>
          <a:lstStyle/>
          <a:p>
            <a:pPr indent="0" marL="0">
              <a:buNone/>
            </a:pPr>
            <a:r>
              <a:rPr lang="en-US" sz="1200" dirty="0">
                <a:solidFill>
                  <a:srgbClr val="52514E"/>
                </a:solidFill>
              </a:rPr>
              <a:t>J–M on CART-11 bands (threshold 1.90)</a:t>
            </a:r>
            <a:endParaRPr lang="en-US" sz="1200" dirty="0"/>
          </a:p>
        </p:txBody>
      </p:sp>
      <p:sp>
        <p:nvSpPr>
          <p:cNvPr id="9" name="Shape 7"/>
          <p:cNvSpPr/>
          <p:nvPr/>
        </p:nvSpPr>
        <p:spPr>
          <a:xfrm>
            <a:off x="6126480" y="1188720"/>
            <a:ext cx="2651760" cy="1417320"/>
          </a:xfrm>
          <a:prstGeom prst="roundRect">
            <a:avLst>
              <a:gd name="adj" fmla="val 5161"/>
            </a:avLst>
          </a:prstGeom>
          <a:solidFill>
            <a:srgbClr val="F0EFEC"/>
          </a:solidFill>
          <a:ln w="12700">
            <a:solidFill>
              <a:srgbClr val="F0EFEC"/>
            </a:solidFill>
            <a:prstDash val="solid"/>
          </a:ln>
        </p:spPr>
      </p:sp>
      <p:sp>
        <p:nvSpPr>
          <p:cNvPr id="10" name="Text 8"/>
          <p:cNvSpPr txBox="1"/>
          <p:nvPr/>
        </p:nvSpPr>
        <p:spPr>
          <a:xfrm>
            <a:off x="6263640" y="1280160"/>
            <a:ext cx="2377440" cy="731520"/>
          </a:xfrm>
          <a:prstGeom prst="rect">
            <a:avLst/>
          </a:prstGeom>
          <a:noFill/>
          <a:ln/>
        </p:spPr>
        <p:txBody>
          <a:bodyPr wrap="square" lIns="0" tIns="0" rIns="0" bIns="0" rtlCol="0" anchor="ctr"/>
          <a:lstStyle/>
          <a:p>
            <a:pPr indent="0" marL="0">
              <a:buNone/>
            </a:pPr>
            <a:r>
              <a:rPr lang="en-US" sz="3400" b="1" dirty="0">
                <a:solidFill>
                  <a:srgbClr val="2A78D6"/>
                </a:solidFill>
                <a:latin typeface="Cambria" pitchFamily="34" charset="0"/>
                <a:ea typeface="Cambria" pitchFamily="34" charset="-122"/>
                <a:cs typeface="Cambria" pitchFamily="34" charset="-120"/>
              </a:rPr>
              <a:t>72.0 %</a:t>
            </a:r>
            <a:endParaRPr lang="en-US" sz="3400" dirty="0"/>
          </a:p>
        </p:txBody>
      </p:sp>
      <p:sp>
        <p:nvSpPr>
          <p:cNvPr id="11" name="Text 9"/>
          <p:cNvSpPr txBox="1"/>
          <p:nvPr/>
        </p:nvSpPr>
        <p:spPr>
          <a:xfrm>
            <a:off x="6263640" y="1993392"/>
            <a:ext cx="2377440" cy="548640"/>
          </a:xfrm>
          <a:prstGeom prst="rect">
            <a:avLst/>
          </a:prstGeom>
          <a:noFill/>
          <a:ln/>
        </p:spPr>
        <p:txBody>
          <a:bodyPr wrap="square" lIns="0" tIns="0" rIns="0" bIns="0" rtlCol="0" anchor="t"/>
          <a:lstStyle/>
          <a:p>
            <a:pPr indent="0" marL="0">
              <a:buNone/>
            </a:pPr>
            <a:r>
              <a:rPr lang="en-US" sz="1200" dirty="0">
                <a:solidFill>
                  <a:srgbClr val="52514E"/>
                </a:solidFill>
              </a:rPr>
              <a:t>QDA on CART bands, honest nested CV (V3)</a:t>
            </a:r>
            <a:endParaRPr lang="en-US" sz="1200" dirty="0"/>
          </a:p>
        </p:txBody>
      </p:sp>
      <p:sp>
        <p:nvSpPr>
          <p:cNvPr id="12" name="Shape 10"/>
          <p:cNvSpPr/>
          <p:nvPr/>
        </p:nvSpPr>
        <p:spPr>
          <a:xfrm>
            <a:off x="8961120" y="1188720"/>
            <a:ext cx="2651760" cy="1417320"/>
          </a:xfrm>
          <a:prstGeom prst="roundRect">
            <a:avLst>
              <a:gd name="adj" fmla="val 5161"/>
            </a:avLst>
          </a:prstGeom>
          <a:solidFill>
            <a:srgbClr val="F0EFEC"/>
          </a:solidFill>
          <a:ln w="12700">
            <a:solidFill>
              <a:srgbClr val="F0EFEC"/>
            </a:solidFill>
            <a:prstDash val="solid"/>
          </a:ln>
        </p:spPr>
      </p:sp>
      <p:sp>
        <p:nvSpPr>
          <p:cNvPr id="13" name="Text 11"/>
          <p:cNvSpPr txBox="1"/>
          <p:nvPr/>
        </p:nvSpPr>
        <p:spPr>
          <a:xfrm>
            <a:off x="9098280" y="1280160"/>
            <a:ext cx="2377440" cy="731520"/>
          </a:xfrm>
          <a:prstGeom prst="rect">
            <a:avLst/>
          </a:prstGeom>
          <a:noFill/>
          <a:ln/>
        </p:spPr>
        <p:txBody>
          <a:bodyPr wrap="square" lIns="0" tIns="0" rIns="0" bIns="0" rtlCol="0" anchor="ctr"/>
          <a:lstStyle/>
          <a:p>
            <a:pPr indent="0" marL="0">
              <a:buNone/>
            </a:pPr>
            <a:r>
              <a:rPr lang="en-US" sz="3400" b="1" dirty="0">
                <a:solidFill>
                  <a:srgbClr val="C98500"/>
                </a:solidFill>
                <a:latin typeface="Cambria" pitchFamily="34" charset="0"/>
                <a:ea typeface="Cambria" pitchFamily="34" charset="-122"/>
                <a:cs typeface="Cambria" pitchFamily="34" charset="-120"/>
              </a:rPr>
              <a:t>83.7 %</a:t>
            </a:r>
            <a:endParaRPr lang="en-US" sz="3400" dirty="0"/>
          </a:p>
        </p:txBody>
      </p:sp>
      <p:sp>
        <p:nvSpPr>
          <p:cNvPr id="14" name="Text 12"/>
          <p:cNvSpPr txBox="1"/>
          <p:nvPr/>
        </p:nvSpPr>
        <p:spPr>
          <a:xfrm>
            <a:off x="9098280" y="1993392"/>
            <a:ext cx="2377440" cy="548640"/>
          </a:xfrm>
          <a:prstGeom prst="rect">
            <a:avLst/>
          </a:prstGeom>
          <a:noFill/>
          <a:ln/>
        </p:spPr>
        <p:txBody>
          <a:bodyPr wrap="square" lIns="0" tIns="0" rIns="0" bIns="0" rtlCol="0" anchor="t"/>
          <a:lstStyle/>
          <a:p>
            <a:pPr indent="0" marL="0">
              <a:buNone/>
            </a:pPr>
            <a:r>
              <a:rPr lang="en-US" sz="1200" dirty="0">
                <a:solidFill>
                  <a:srgbClr val="52514E"/>
                </a:solidFill>
              </a:rPr>
              <a:t>QDA on RF-selected features of the combined pool (V3)</a:t>
            </a:r>
            <a:endParaRPr lang="en-US" sz="1200" dirty="0"/>
          </a:p>
        </p:txBody>
      </p:sp>
      <p:sp>
        <p:nvSpPr>
          <p:cNvPr id="15" name="Text 13"/>
          <p:cNvSpPr txBox="1"/>
          <p:nvPr/>
        </p:nvSpPr>
        <p:spPr>
          <a:xfrm>
            <a:off x="457200" y="2880360"/>
            <a:ext cx="11277295" cy="3291840"/>
          </a:xfrm>
          <a:prstGeom prst="rect">
            <a:avLst/>
          </a:prstGeom>
          <a:noFill/>
          <a:ln/>
        </p:spPr>
        <p:txBody>
          <a:bodyPr wrap="square" rtlCol="0" anchor="t"/>
          <a:lstStyle/>
          <a:p>
            <a:pPr marL="342900" indent="-342900">
              <a:spcAft>
                <a:spcPts val="600"/>
              </a:spcAft>
              <a:buSzPct val="100000"/>
              <a:buChar char="•"/>
            </a:pPr>
            <a:r>
              <a:rPr lang="en-US" sz="1500" dirty="0">
                <a:solidFill>
                  <a:srgbClr val="1B1B1A"/>
                </a:solidFill>
              </a:rPr>
              <a:t>Healthy and white-rust leaves differ significantly at 1653 of 2101 bands even with all dates, stages and varieties pooled (1604 bands with a plot random effect), but the differences are small: no single reflectance band reaches AUC 0.70.</a:t>
            </a:r>
            <a:endParaRPr lang="en-US" sz="1500" dirty="0"/>
          </a:p>
          <a:p>
            <a:pPr marL="342900" indent="-342900">
              <a:spcAft>
                <a:spcPts val="600"/>
              </a:spcAft>
              <a:buSzPct val="100000"/>
              <a:buChar char="•"/>
            </a:pPr>
            <a:r>
              <a:rPr lang="en-US" sz="1500" dirty="0">
                <a:solidFill>
                  <a:srgbClr val="1B1B1A"/>
                </a:solidFill>
              </a:rPr>
              <a:t>The four-tier method on reflectance (Part A) gives J–M 1.27 (CART-11) and 1.67 (RF-17), below the 1.90 separability threshold, and QDA with equal priors reaches 72 % balanced accuracy on new plots (V3 72.0 %, V4 72.8 %).</a:t>
            </a:r>
            <a:endParaRPr lang="en-US" sz="1500" dirty="0"/>
          </a:p>
          <a:p>
            <a:pPr marL="342900" indent="-342900">
              <a:spcAft>
                <a:spcPts val="600"/>
              </a:spcAft>
              <a:buSzPct val="100000"/>
              <a:buChar char="•"/>
            </a:pPr>
            <a:r>
              <a:rPr lang="en-US" sz="1500" dirty="0">
                <a:solidFill>
                  <a:srgbClr val="1B1B1A"/>
                </a:solidFill>
              </a:rPr>
              <a:t>Random Forest is the better classifier (+6 points over CART, 48 of 50 folds) and the far more stable band selector (Jaccard 0.72 vs 0.30); as a band selector for QDA, CART bands were slightly better on reflectance.</a:t>
            </a:r>
            <a:endParaRPr lang="en-US" sz="1500" dirty="0"/>
          </a:p>
          <a:p>
            <a:pPr marL="342900" indent="-342900">
              <a:spcAft>
                <a:spcPts val="600"/>
              </a:spcAft>
              <a:buSzPct val="100000"/>
              <a:buChar char="•"/>
            </a:pPr>
            <a:r>
              <a:rPr lang="en-US" sz="1500" dirty="0">
                <a:solidFill>
                  <a:srgbClr val="1B1B1A"/>
                </a:solidFill>
              </a:rPr>
              <a:t>Disease-sensitive features carry much more information: first-derivative bands (845–875 nm, 1915–1945 nm) and continuum-removed water features (970 nm width, 1940 nm symmetry). The four-tier analysis of the combined pool reaches 83.7 % (V3) and 84.6 % (V4) with QDA on 17 RF-selected features, +15 points over reflectance.</a:t>
            </a:r>
            <a:endParaRPr lang="en-US" sz="1500" dirty="0"/>
          </a:p>
          <a:p>
            <a:pPr marL="342900" indent="-342900">
              <a:spcAft>
                <a:spcPts val="600"/>
              </a:spcAft>
              <a:buSzPct val="100000"/>
              <a:buChar char="•"/>
            </a:pPr>
            <a:r>
              <a:rPr lang="en-US" sz="1500" dirty="0">
                <a:solidFill>
                  <a:srgbClr val="1B1B1A"/>
                </a:solidFill>
              </a:rPr>
              <a:t>Transfer to an unseen date in unseen plots is poor (53–62 %): growth stage changes the spectra more than the disease; pod-formation leaves of 13-03-2026 were all called diseased when that date was held out.</a:t>
            </a:r>
            <a:endParaRPr lang="en-US" sz="15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Data: 2264 unique leaf spectra pooled over dates, stages and varieties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754880" cy="914400"/>
        </p:xfrm>
        <a:graphic>
          <a:graphicData uri="http://schemas.openxmlformats.org/drawingml/2006/table">
            <a:tbl>
              <a:tblPr/>
              <a:tblGrid>
                <a:gridCol w="1554480"/>
                <a:gridCol w="1051560"/>
                <a:gridCol w="1097280"/>
                <a:gridCol w="1051560"/>
              </a:tblGrid>
              <a:tr h="237744">
                <a:tc>
                  <a:txBody>
                    <a:bodyPr/>
                    <a:lstStyle/>
                    <a:p>
                      <a:pPr indent="0" marL="0">
                        <a:buNone/>
                      </a:pPr>
                      <a:r>
                        <a:rPr lang="en-US" sz="1100" b="1" dirty="0">
                          <a:solidFill>
                            <a:srgbClr val="FFFFFF"/>
                          </a:solidFill>
                        </a:rPr>
                        <a:t>Date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Healthy</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Diseased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Total</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11-02-2026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356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428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24-02-2026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450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540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03-03-2026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648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13-03-2026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108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540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648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4754880" cy="914400"/>
        </p:xfrm>
        <a:graphic>
          <a:graphicData uri="http://schemas.openxmlformats.org/drawingml/2006/table">
            <a:tbl>
              <a:tblPr/>
              <a:tblGrid>
                <a:gridCol w="1828800"/>
                <a:gridCol w="1463040"/>
                <a:gridCol w="1463040"/>
              </a:tblGrid>
              <a:tr h="237744">
                <a:tc>
                  <a:txBody>
                    <a:bodyPr/>
                    <a:lstStyle/>
                    <a:p>
                      <a:pPr indent="0" marL="0">
                        <a:buNone/>
                      </a:pPr>
                      <a:r>
                        <a:rPr lang="en-US" sz="1100" b="1" dirty="0">
                          <a:solidFill>
                            <a:srgbClr val="FFFFFF"/>
                          </a:solidFill>
                        </a:rPr>
                        <a:t>Growth stage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Healthy</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Diseased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Flowering</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195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965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Pod formation</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450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Vegetative</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471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457200" y="4023360"/>
          <a:ext cx="4754880" cy="914400"/>
        </p:xfrm>
        <a:graphic>
          <a:graphicData uri="http://schemas.openxmlformats.org/drawingml/2006/table">
            <a:tbl>
              <a:tblPr/>
              <a:tblGrid>
                <a:gridCol w="1828800"/>
                <a:gridCol w="1463040"/>
                <a:gridCol w="1463040"/>
              </a:tblGrid>
              <a:tr h="237744">
                <a:tc>
                  <a:txBody>
                    <a:bodyPr/>
                    <a:lstStyle/>
                    <a:p>
                      <a:pPr indent="0" marL="0">
                        <a:buNone/>
                      </a:pPr>
                      <a:r>
                        <a:rPr lang="en-US" sz="1100" b="1" dirty="0">
                          <a:solidFill>
                            <a:srgbClr val="FFFFFF"/>
                          </a:solidFill>
                        </a:rPr>
                        <a:t>Variety</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Healthy</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Diseased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V1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620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V2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640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V3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669280" y="1188720"/>
            <a:ext cx="6035040" cy="411480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Four ASD export files, one column per leaf; plot-average columns ignored (leaf level only).</a:t>
            </a:r>
            <a:endParaRPr lang="en-US" sz="1400" dirty="0"/>
          </a:p>
          <a:p>
            <a:pPr marL="342900" indent="-342900">
              <a:spcAft>
                <a:spcPts val="600"/>
              </a:spcAft>
              <a:buSzPct val="100000"/>
              <a:buChar char="•"/>
            </a:pPr>
            <a:r>
              <a:rPr lang="en-US" sz="1400" dirty="0">
                <a:solidFill>
                  <a:srgbClr val="1B1B1A"/>
                </a:solidFill>
              </a:rPr>
              <a:t>79 exact copies removed: 75 in the second block of 13-03-2026, 4 unnamed spectra of plot 27 (11-02-2026).</a:t>
            </a:r>
            <a:endParaRPr lang="en-US" sz="1400" dirty="0"/>
          </a:p>
          <a:p>
            <a:pPr marL="342900" indent="-342900">
              <a:spcAft>
                <a:spcPts val="600"/>
              </a:spcAft>
              <a:buSzPct val="100000"/>
              <a:buChar char="•"/>
            </a:pPr>
            <a:r>
              <a:rPr lang="en-US" sz="1400" dirty="0">
                <a:solidFill>
                  <a:srgbClr val="1B1B1A"/>
                </a:solidFill>
              </a:rPr>
              <a:t>48 plots: 12 healthy controls (plots 1–12), 36 inoculated; every plot measured on all four dates.</a:t>
            </a:r>
            <a:endParaRPr lang="en-US" sz="1400" dirty="0"/>
          </a:p>
          <a:p>
            <a:pPr marL="342900" indent="-342900">
              <a:spcAft>
                <a:spcPts val="600"/>
              </a:spcAft>
              <a:buSzPct val="100000"/>
              <a:buChar char="•"/>
            </a:pPr>
            <a:r>
              <a:rPr lang="en-US" sz="1400" dirty="0">
                <a:solidFill>
                  <a:srgbClr val="1B1B1A"/>
                </a:solidFill>
              </a:rPr>
              <a:t>Diseased : healthy = 4.99 : 1 → equal priors, balanced sampling and balanced accuracy throughout.</a:t>
            </a:r>
            <a:endParaRPr lang="en-US" sz="1400" dirty="0"/>
          </a:p>
          <a:p>
            <a:pPr marL="342900" indent="-342900">
              <a:spcAft>
                <a:spcPts val="600"/>
              </a:spcAft>
              <a:buSzPct val="100000"/>
              <a:buChar char="•"/>
            </a:pPr>
            <a:r>
              <a:rPr lang="en-US" sz="1400" dirty="0">
                <a:solidFill>
                  <a:srgbClr val="1B1B1A"/>
                </a:solidFill>
              </a:rPr>
              <a:t>Leaf level and disease score not used — healthy vs diseased only.</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Workflow: Das et al. (2020) four tiers, extended and validated</a:t>
            </a:r>
            <a:endParaRPr lang="en-US" sz="2600" dirty="0"/>
          </a:p>
        </p:txBody>
      </p:sp>
      <p:pic>
        <p:nvPicPr>
          <p:cNvPr id="3" name="Image 0" descr="F01_workflow">    </p:cNvPr>
          <p:cNvPicPr>
            <a:picLocks noChangeAspect="1"/>
          </p:cNvPicPr>
          <p:nvPr/>
        </p:nvPicPr>
        <p:blipFill>
          <a:blip r:embed="rId1"/>
          <a:stretch>
            <a:fillRect/>
          </a:stretch>
        </p:blipFill>
        <p:spPr>
          <a:xfrm>
            <a:off x="1854099" y="1051560"/>
            <a:ext cx="8483498" cy="5303520"/>
          </a:xfrm>
          <a:prstGeom prst="rect">
            <a:avLst/>
          </a:prstGeom>
        </p:spPr>
      </p:pic>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Corrections to the published protocol and how validation was made honest</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583680" cy="914400"/>
        </p:xfrm>
        <a:graphic>
          <a:graphicData uri="http://schemas.openxmlformats.org/drawingml/2006/table">
            <a:tbl>
              <a:tblPr/>
              <a:tblGrid>
                <a:gridCol w="2377440"/>
                <a:gridCol w="4206240"/>
              </a:tblGrid>
              <a:tr h="384048">
                <a:tc>
                  <a:txBody>
                    <a:bodyPr/>
                    <a:lstStyle/>
                    <a:p>
                      <a:pPr indent="0" marL="0">
                        <a:buNone/>
                      </a:pPr>
                      <a:r>
                        <a:rPr lang="en-US" sz="1200" b="1" dirty="0">
                          <a:solidFill>
                            <a:srgbClr val="FFFFFF"/>
                          </a:solidFill>
                        </a:rPr>
                        <a:t>Issue</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Correction</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84048">
                <a:tc>
                  <a:txBody>
                    <a:bodyPr/>
                    <a:lstStyle/>
                    <a:p>
                      <a:pPr indent="0" marL="0">
                        <a:buNone/>
                      </a:pPr>
                      <a:r>
                        <a:rPr lang="en-US" sz="1200" dirty="0">
                          <a:solidFill>
                            <a:srgbClr val="1B1B1A"/>
                          </a:solidFill>
                        </a:rPr>
                        <a:t>Class imbalance 1 : 5</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equal priors (QDA, rpart), balanced RF, balanced accuracy, 1000 balanced subsets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Two classes, unequal variances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Welch t-test (ANOVA reported for comparison)</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200" dirty="0">
                          <a:solidFill>
                            <a:srgbClr val="1B1B1A"/>
                          </a:solidFill>
                        </a:rPr>
                        <a:t>2101 tests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Benjamini–Hochberg FDR</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Leaves nested in plots, plots on 4 dates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mixed model; all honest folds grouped by plot across dates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200" dirty="0">
                          <a:solidFill>
                            <a:srgbClr val="1B1B1A"/>
                          </a:solidFill>
                        </a:rPr>
                        <a:t>Selection bias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Tier 1 + selection + classifier refitted in every training set (V3, V4, V5)</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Water bands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kept — contact probe (Das et al. removed them for canopy data)</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200" dirty="0">
                          <a:solidFill>
                            <a:srgbClr val="1B1B1A"/>
                          </a:solidFill>
                        </a:rPr>
                        <a:t>Detector joins (1000, 1800 nm)</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splice correction + guard zones in Part K</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914400"/>
        </p:xfrm>
        <a:graphic>
          <a:graphicData uri="http://schemas.openxmlformats.org/drawingml/2006/table">
            <a:tbl>
              <a:tblPr/>
              <a:tblGrid>
                <a:gridCol w="1005840"/>
                <a:gridCol w="2103120"/>
                <a:gridCol w="1280160"/>
              </a:tblGrid>
              <a:tr h="384048">
                <a:tc>
                  <a:txBody>
                    <a:bodyPr/>
                    <a:lstStyle/>
                    <a:p>
                      <a:pPr indent="0" marL="0">
                        <a:buNone/>
                      </a:pPr>
                      <a:r>
                        <a:rPr lang="en-US" sz="1200" b="1" dirty="0">
                          <a:solidFill>
                            <a:srgbClr val="FFFFFF"/>
                          </a:solidFill>
                        </a:rPr>
                        <a:t>Scheme</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Test leaves</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Refitted</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84048">
                <a:tc>
                  <a:txBody>
                    <a:bodyPr/>
                    <a:lstStyle/>
                    <a:p>
                      <a:pPr indent="0" marL="0">
                        <a:buNone/>
                      </a:pPr>
                      <a:r>
                        <a:rPr lang="en-US" sz="1200" dirty="0">
                          <a:solidFill>
                            <a:srgbClr val="1B1B1A"/>
                          </a:solidFill>
                        </a:rPr>
                        <a:t>V1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leaf-level 10-fold (paper)</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classifier only</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V2</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plot-grouped 10-fold</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classifier only</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200" dirty="0">
                          <a:solidFill>
                            <a:srgbClr val="1B1B1A"/>
                          </a:solidFill>
                        </a:rPr>
                        <a:t>V3</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plot-grouped 10-fold × 5, nested</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everything</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V4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30 % of plots × 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everything</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200" dirty="0">
                          <a:solidFill>
                            <a:srgbClr val="1B1B1A"/>
                          </a:solidFill>
                        </a:rPr>
                        <a:t>V5 (extra)</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new date + new plots</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everything</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Part A · The four-tier method of Das et al. (2020)</a:t>
            </a:r>
            <a:endParaRPr lang="en-US" sz="3600" dirty="0"/>
          </a:p>
        </p:txBody>
      </p:sp>
      <p:sp>
        <p:nvSpPr>
          <p:cNvPr id="3" name="Text 0"/>
          <p:cNvSpPr/>
          <p:nvPr>
            <p:ph idx="101" type="body" hasCustomPrompt="1"/>
          </p:nvPr>
        </p:nvSpPr>
        <p:spPr>
          <a:xfrm>
            <a:off x="457200" y="3566160"/>
            <a:ext cx="11277295" cy="1463040"/>
          </a:xfrm>
          <a:prstGeom prst="rect">
            <a:avLst/>
          </a:prstGeom>
          <a:noFill/>
          <a:ln/>
        </p:spPr>
        <p:txBody>
          <a:bodyPr wrap="square" rtlCol="0" anchor="t"/>
          <a:lstStyle/>
          <a:p>
            <a:pPr indent="0" marL="0">
              <a:buNone/>
            </a:pPr>
            <a:r>
              <a:rPr lang="en-US" sz="1800" dirty="0">
                <a:solidFill>
                  <a:srgbClr val="E3F4EC"/>
                </a:solidFill>
              </a:rPr>
              <a:t>Step 0–1 data and band set → Tier 1 statistical screening → Tier 2 CART band selection → Tier 3 J–M separability → Tier 4 QDA → validation</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Step 0–1 · Data audit and band set: 350–399 nm removed, water bands kept</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7132320" cy="914400"/>
        </p:xfrm>
        <a:graphic>
          <a:graphicData uri="http://schemas.openxmlformats.org/drawingml/2006/table">
            <a:tbl>
              <a:tblPr/>
              <a:tblGrid>
                <a:gridCol w="2926080"/>
                <a:gridCol w="3474720"/>
                <a:gridCol w="731520"/>
              </a:tblGrid>
              <a:tr h="274320">
                <a:tc>
                  <a:txBody>
                    <a:bodyPr/>
                    <a:lstStyle/>
                    <a:p>
                      <a:pPr indent="0" marL="0">
                        <a:buNone/>
                      </a:pPr>
                      <a:r>
                        <a:rPr lang="en-US" sz="1000" b="1" dirty="0">
                          <a:solidFill>
                            <a:srgbClr val="FFFFFF"/>
                          </a:solidFill>
                        </a:rPr>
                        <a:t>Check</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Result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Status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Missing values in spectra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Reflectance range (350–2500 nm)</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0.026 – 0.935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Wavelength grid identical in all files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350–2500 nm, 1 nm, 2151 bands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Plot-average formula columns ignored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197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Second data block 13-03-2026: exact copies of block 1 (same plot)</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75 of 75 identical → removed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Exact duplicates among the remaining spectra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 (the unnamed plot-27 spectra of 11-02-2026) → removed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FLAG</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Each plot has one class on every date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 of 48 plots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Each plot has one variety on every date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48 of 48 plots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Healthy = plots 1–12, diseased = plots 13–48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consistent</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Repeated ASD file names within a date (counter restarted on 13-03-2026)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75 names repeated; spectra differ (max |Δ| ≥ 0.025) → distin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7863840" y="1097280"/>
          <a:ext cx="3840480" cy="914400"/>
        </p:xfrm>
        <a:graphic>
          <a:graphicData uri="http://schemas.openxmlformats.org/drawingml/2006/table">
            <a:tbl>
              <a:tblPr/>
              <a:tblGrid>
                <a:gridCol w="1371600"/>
                <a:gridCol w="1280160"/>
                <a:gridCol w="1188720"/>
              </a:tblGrid>
              <a:tr h="237744">
                <a:tc>
                  <a:txBody>
                    <a:bodyPr/>
                    <a:lstStyle/>
                    <a:p>
                      <a:pPr indent="0" marL="0">
                        <a:buNone/>
                      </a:pPr>
                      <a:r>
                        <a:rPr lang="en-US" sz="1100" b="1" dirty="0">
                          <a:solidFill>
                            <a:srgbClr val="FFFFFF"/>
                          </a:solidFill>
                        </a:rPr>
                        <a:t>Range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Noise (SD)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 500–699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350–399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6.4e-03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115.7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400–499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7.7e-04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13.9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500–699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5.6e-05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700–1000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7.1e-05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1001–1349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5.2e-05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1350–1430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1.7e-05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1431–1799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1.1e-05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1800–1950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1.9e-05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1951–2349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1.7e-05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2350–2500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7.9e-05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Noise = SD of the Savitzky–Golay residual; the 350–399 nm detector edge is ~116 × noisier than 500–699 nm and was removed.</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Mean spectra: diseased leaves brighter in VIS and SWIR, darker in NIR</a:t>
            </a:r>
            <a:endParaRPr lang="en-US" sz="2600" dirty="0"/>
          </a:p>
        </p:txBody>
      </p:sp>
      <p:pic>
        <p:nvPicPr>
          <p:cNvPr id="3" name="Image 0" descr="F02_mean_spectra">    </p:cNvPr>
          <p:cNvPicPr>
            <a:picLocks noChangeAspect="1"/>
          </p:cNvPicPr>
          <p:nvPr/>
        </p:nvPicPr>
        <p:blipFill>
          <a:blip r:embed="rId1"/>
          <a:stretch>
            <a:fillRect/>
          </a:stretch>
        </p:blipFill>
        <p:spPr>
          <a:xfrm>
            <a:off x="607473" y="1005840"/>
            <a:ext cx="6648893" cy="3657600"/>
          </a:xfrm>
          <a:prstGeom prst="rect">
            <a:avLst/>
          </a:prstGeom>
        </p:spPr>
      </p:pic>
      <p:pic>
        <p:nvPicPr>
          <p:cNvPr id="4" name="Image 1" descr="F02b_mean_spectra_by_date">    </p:cNvPr>
          <p:cNvPicPr>
            <a:picLocks noChangeAspect="1"/>
          </p:cNvPicPr>
          <p:nvPr/>
        </p:nvPicPr>
        <p:blipFill>
          <a:blip r:embed="rId2"/>
          <a:stretch>
            <a:fillRect/>
          </a:stretch>
        </p:blipFill>
        <p:spPr>
          <a:xfrm>
            <a:off x="3124787" y="4572000"/>
            <a:ext cx="5942120" cy="1828800"/>
          </a:xfrm>
          <a:prstGeom prst="rect">
            <a:avLst/>
          </a:prstGeom>
        </p:spPr>
      </p:pic>
      <p:sp>
        <p:nvSpPr>
          <p:cNvPr id="5" name="Text 1"/>
          <p:cNvSpPr txBox="1"/>
          <p:nvPr/>
        </p:nvSpPr>
        <p:spPr>
          <a:xfrm>
            <a:off x="7589520" y="1097280"/>
            <a:ext cx="4114800" cy="347472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Diseased leaves reflect slightly more in the visible (chlorophyll loss, white pustules) and in the SWIR beyond 1350 nm (lower leaf water), and less on the NIR plateau at 750–930 nm (damage to the mesophyll structure).</a:t>
            </a:r>
            <a:endParaRPr lang="en-US" sz="1400" dirty="0"/>
          </a:p>
          <a:p>
            <a:pPr marL="342900" indent="-342900">
              <a:spcAft>
                <a:spcPts val="600"/>
              </a:spcAft>
              <a:buSzPct val="100000"/>
              <a:buChar char="•"/>
            </a:pPr>
            <a:r>
              <a:rPr lang="en-US" sz="1400" dirty="0">
                <a:solidFill>
                  <a:srgbClr val="1B1B1A"/>
                </a:solidFill>
              </a:rPr>
              <a:t>The differences are small compared with the variation between dates and growth stages (lower panels): the mean spectra of the four dates differ more than healthy and diseased leaves within a date.</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1 · 1653 of 2101 bands differ significantly (Welch + FDR)</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486400" cy="914400"/>
        </p:xfrm>
        <a:graphic>
          <a:graphicData uri="http://schemas.openxmlformats.org/drawingml/2006/table">
            <a:tbl>
              <a:tblPr/>
              <a:tblGrid>
                <a:gridCol w="4297680"/>
                <a:gridCol w="1188720"/>
              </a:tblGrid>
              <a:tr h="310896">
                <a:tc>
                  <a:txBody>
                    <a:bodyPr/>
                    <a:lstStyle/>
                    <a:p>
                      <a:pPr indent="0" marL="0">
                        <a:buNone/>
                      </a:pPr>
                      <a:r>
                        <a:rPr lang="en-US" sz="1100" b="1" dirty="0">
                          <a:solidFill>
                            <a:srgbClr val="FFFFFF"/>
                          </a:solidFill>
                        </a:rPr>
                        <a:t>Test</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Significant bands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100" dirty="0">
                          <a:solidFill>
                            <a:srgbClr val="1B1B1A"/>
                          </a:solidFill>
                        </a:rPr>
                        <a:t>Welch t-test + BH-FDR q &lt; 0.05 (used for Tier 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1653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One-way ANOVA p &lt; 0.05, uncorrected (rule of Das et al.)</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1675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One-way ANOVA + BH-FDR q &lt; 0.05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1667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Welch t-test p &lt; 0.05, uncorrected</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1664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Mixed model (random plot effect) + BH-FDR q &lt; 0.05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1604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Balanced subsets (378 vs 378): significant in ≥ 95 % of 1000 subsets</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1335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Levene test p &lt; 0.05 (unequal variances → Welch)</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1386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pic>
        <p:nvPicPr>
          <p:cNvPr id="4" name="Image 0" descr="F03_tier1_significant_regions">    </p:cNvPr>
          <p:cNvPicPr>
            <a:picLocks noChangeAspect="1"/>
          </p:cNvPicPr>
          <p:nvPr/>
        </p:nvPicPr>
        <p:blipFill>
          <a:blip r:embed="rId1"/>
          <a:stretch>
            <a:fillRect/>
          </a:stretch>
        </p:blipFill>
        <p:spPr>
          <a:xfrm>
            <a:off x="6172732" y="1005840"/>
            <a:ext cx="5485337" cy="3017520"/>
          </a:xfrm>
          <a:prstGeom prst="rect">
            <a:avLst/>
          </a:prstGeom>
        </p:spPr>
      </p:pic>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7200" y="3657600"/>
          <a:ext cx="5486400" cy="914400"/>
        </p:xfrm>
        <a:graphic>
          <a:graphicData uri="http://schemas.openxmlformats.org/drawingml/2006/table">
            <a:tbl>
              <a:tblPr/>
              <a:tblGrid>
                <a:gridCol w="2194560"/>
                <a:gridCol w="1097280"/>
                <a:gridCol w="2194560"/>
              </a:tblGrid>
              <a:tr h="237744">
                <a:tc>
                  <a:txBody>
                    <a:bodyPr/>
                    <a:lstStyle/>
                    <a:p>
                      <a:pPr indent="0" marL="0">
                        <a:buNone/>
                      </a:pPr>
                      <a:r>
                        <a:rPr lang="en-US" sz="1100" b="1" dirty="0">
                          <a:solidFill>
                            <a:srgbClr val="FFFFFF"/>
                          </a:solidFill>
                        </a:rPr>
                        <a:t>Range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Bands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Result</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400–436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not 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437–718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282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719–727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not 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728–930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931–1332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402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not 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1333–2500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1168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significant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6" name="Text 1"/>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Mixed model with a random plot effect: 1604 bands remain significant (pseudo-replication check).</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1 · Significance frequency over 1000 balanced subsets (Das et al. Fig. 5)</a:t>
            </a:r>
            <a:endParaRPr lang="en-US" sz="2600" dirty="0"/>
          </a:p>
        </p:txBody>
      </p:sp>
      <p:pic>
        <p:nvPicPr>
          <p:cNvPr id="3" name="Image 0" descr="F04_tier1_frequency">    </p:cNvPr>
          <p:cNvPicPr>
            <a:picLocks noChangeAspect="1"/>
          </p:cNvPicPr>
          <p:nvPr/>
        </p:nvPicPr>
        <p:blipFill>
          <a:blip r:embed="rId1"/>
          <a:stretch>
            <a:fillRect/>
          </a:stretch>
        </p:blipFill>
        <p:spPr>
          <a:xfrm>
            <a:off x="457200" y="1088136"/>
            <a:ext cx="7315200" cy="4681728"/>
          </a:xfrm>
          <a:prstGeom prst="rect">
            <a:avLst/>
          </a:prstGeom>
        </p:spPr>
      </p:pic>
      <p:sp>
        <p:nvSpPr>
          <p:cNvPr id="4" name="Text 1"/>
          <p:cNvSpPr txBox="1"/>
          <p:nvPr/>
        </p:nvSpPr>
        <p:spPr>
          <a:xfrm>
            <a:off x="8046720" y="1188720"/>
            <a:ext cx="3657600" cy="411480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378 healthy vs 378 randomly drawn diseased leaves, 1000 times.</a:t>
            </a:r>
            <a:endParaRPr lang="en-US" sz="1400" dirty="0"/>
          </a:p>
          <a:p>
            <a:pPr marL="342900" indent="-342900">
              <a:spcAft>
                <a:spcPts val="600"/>
              </a:spcAft>
              <a:buSzPct val="100000"/>
              <a:buChar char="•"/>
            </a:pPr>
            <a:r>
              <a:rPr lang="en-US" sz="1400" dirty="0">
                <a:solidFill>
                  <a:srgbClr val="1B1B1A"/>
                </a:solidFill>
              </a:rPr>
              <a:t>Median 1568 significant bands per subset (min 1287, max 1751).</a:t>
            </a:r>
            <a:endParaRPr lang="en-US" sz="1400" dirty="0"/>
          </a:p>
          <a:p>
            <a:pPr marL="342900" indent="-342900">
              <a:spcAft>
                <a:spcPts val="600"/>
              </a:spcAft>
              <a:buSzPct val="100000"/>
              <a:buChar char="•"/>
            </a:pPr>
            <a:r>
              <a:rPr lang="en-US" sz="1400" dirty="0">
                <a:solidFill>
                  <a:srgbClr val="1B1B1A"/>
                </a:solidFill>
              </a:rPr>
              <a:t>1335 bands significant in ≥ 95 % of subsets; 1109 in all.</a:t>
            </a:r>
            <a:endParaRPr lang="en-US" sz="1400" dirty="0"/>
          </a:p>
          <a:p>
            <a:pPr marL="342900" indent="-342900">
              <a:spcAft>
                <a:spcPts val="600"/>
              </a:spcAft>
              <a:buSzPct val="100000"/>
              <a:buChar char="•"/>
            </a:pPr>
            <a:r>
              <a:rPr lang="en-US" sz="1400" dirty="0">
                <a:solidFill>
                  <a:srgbClr val="1B1B1A"/>
                </a:solidFill>
              </a:rPr>
              <a:t>The imbalance inflates significance only slightly: the significant regions are the same.</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1 · −log₁₀(p) against wavelength</a:t>
            </a:r>
            <a:endParaRPr lang="en-US" sz="2600" dirty="0"/>
          </a:p>
        </p:txBody>
      </p:sp>
      <p:pic>
        <p:nvPicPr>
          <p:cNvPr id="3" name="Image 0" descr="F05_minus_log10_p">    </p:cNvPr>
          <p:cNvPicPr>
            <a:picLocks noChangeAspect="1"/>
          </p:cNvPicPr>
          <p:nvPr/>
        </p:nvPicPr>
        <p:blipFill>
          <a:blip r:embed="rId1"/>
          <a:stretch>
            <a:fillRect/>
          </a:stretch>
        </p:blipFill>
        <p:spPr>
          <a:xfrm>
            <a:off x="515620" y="1005840"/>
            <a:ext cx="7106920" cy="3931920"/>
          </a:xfrm>
          <a:prstGeom prst="rect">
            <a:avLst/>
          </a:prstGeom>
        </p:spPr>
      </p:pic>
      <p:sp>
        <p:nvSpPr>
          <p:cNvPr id="4" name="Text 1"/>
          <p:cNvSpPr txBox="1"/>
          <p:nvPr/>
        </p:nvSpPr>
        <p:spPr>
          <a:xfrm>
            <a:off x="457200" y="5029200"/>
            <a:ext cx="7223760" cy="128016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The Welch test is extremely significant in the red / red edge (≈ 650–700 nm) and in the water bands (1400–1450, 1880–2020 nm); it is not significant at 931–1332 nm (NIR) or at 719–727 nm, where the healthy and diseased curves cross.</a:t>
            </a:r>
            <a:endParaRPr lang="en-US" sz="1200" dirty="0"/>
          </a:p>
          <a:p>
            <a:pPr marL="342900" indent="-342900">
              <a:spcAft>
                <a:spcPts val="600"/>
              </a:spcAft>
              <a:buSzPct val="100000"/>
              <a:buChar char="•"/>
            </a:pPr>
            <a:r>
              <a:rPr lang="en-US" sz="1200" dirty="0">
                <a:solidFill>
                  <a:srgbClr val="1B1B1A"/>
                </a:solidFill>
              </a:rPr>
              <a:t>With a random plot effect (orange) the significance drops by tens of orders of magnitude, because the effective sample size is the number of plots (48), not the number of leaves; still 1604 bands remain significant.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863840" y="1097280"/>
          <a:ext cx="3840480" cy="914400"/>
        </p:xfrm>
        <a:graphic>
          <a:graphicData uri="http://schemas.openxmlformats.org/drawingml/2006/table">
            <a:tbl>
              <a:tblPr/>
              <a:tblGrid>
                <a:gridCol w="1645920"/>
                <a:gridCol w="548640"/>
                <a:gridCol w="822960"/>
                <a:gridCol w="822960"/>
              </a:tblGrid>
              <a:tr h="274320">
                <a:tc>
                  <a:txBody>
                    <a:bodyPr/>
                    <a:lstStyle/>
                    <a:p>
                      <a:pPr indent="0" marL="0">
                        <a:buNone/>
                      </a:pPr>
                      <a:r>
                        <a:rPr lang="en-US" sz="950" b="1" dirty="0">
                          <a:solidFill>
                            <a:srgbClr val="FFFFFF"/>
                          </a:solidFill>
                        </a:rPr>
                        <a:t>Region</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Bands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Welch+FDR significant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Mixed-model significant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B1B1A"/>
                          </a:solidFill>
                        </a:rPr>
                        <a:t>Blue (400–499)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63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Green (500–599)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Red (600–679)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Red edge (680–759)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NIR (760–1349)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590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188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187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Water band I (1350–1430)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SWIR-1 (1431–1799)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Water band II (1800–1950)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SWIR-2 (1951–2349)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399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SWIR-2 end (2350–2500)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2 · CART (rpart, prior 0.5/0.5) selects 11 bands</a:t>
            </a:r>
            <a:endParaRPr lang="en-US" sz="2600" dirty="0"/>
          </a:p>
        </p:txBody>
      </p:sp>
      <p:pic>
        <p:nvPicPr>
          <p:cNvPr id="3" name="Image 0" descr="F06_cart_tree">    </p:cNvPr>
          <p:cNvPicPr>
            <a:picLocks noChangeAspect="1"/>
          </p:cNvPicPr>
          <p:nvPr/>
        </p:nvPicPr>
        <p:blipFill>
          <a:blip r:embed="rId1"/>
          <a:stretch>
            <a:fillRect/>
          </a:stretch>
        </p:blipFill>
        <p:spPr>
          <a:xfrm>
            <a:off x="2955862" y="1005840"/>
            <a:ext cx="6279971" cy="4754880"/>
          </a:xfrm>
          <a:prstGeom prst="rect">
            <a:avLst/>
          </a:prstGeom>
        </p:spPr>
      </p:pic>
      <p:sp>
        <p:nvSpPr>
          <p:cNvPr id="4" name="Text 1"/>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CART-11: 1893, 2405, 767, 702, 1333, 540, 1729, 588, 1874, 1531, 1872 nm</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2 · The CART bands, their regions and how often they are re-selected</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7589520" cy="914400"/>
        </p:xfrm>
        <a:graphic>
          <a:graphicData uri="http://schemas.openxmlformats.org/drawingml/2006/table">
            <a:tbl>
              <a:tblPr/>
              <a:tblGrid>
                <a:gridCol w="822960"/>
                <a:gridCol w="1280160"/>
                <a:gridCol w="1005840"/>
                <a:gridCol w="822960"/>
                <a:gridCol w="1371600"/>
                <a:gridCol w="1371600"/>
                <a:gridCol w="914400"/>
              </a:tblGrid>
              <a:tr h="219456">
                <a:tc>
                  <a:txBody>
                    <a:bodyPr/>
                    <a:lstStyle/>
                    <a:p>
                      <a:pPr indent="0" marL="0">
                        <a:buNone/>
                      </a:pPr>
                      <a:r>
                        <a:rPr lang="en-US" sz="1000" b="1" dirty="0">
                          <a:solidFill>
                            <a:srgbClr val="FFFFFF"/>
                          </a:solidFill>
                        </a:rPr>
                        <a:t>Band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Region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First used at node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Welch 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Bootstrap re-selection (±10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Nested-CV re-selection (±10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Mixed model significant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9456">
                <a:tc>
                  <a:txBody>
                    <a:bodyPr/>
                    <a:lstStyle/>
                    <a:p>
                      <a:pPr indent="0" marL="0">
                        <a:buNone/>
                      </a:pPr>
                      <a:r>
                        <a:rPr lang="en-US" sz="1000" dirty="0">
                          <a:solidFill>
                            <a:srgbClr val="1B1B1A"/>
                          </a:solidFill>
                        </a:rPr>
                        <a:t>540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Green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25.0 %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no</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1000" dirty="0">
                          <a:solidFill>
                            <a:srgbClr val="1B1B1A"/>
                          </a:solidFill>
                        </a:rPr>
                        <a:t>588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Green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13.5 %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1000" dirty="0">
                          <a:solidFill>
                            <a:srgbClr val="1B1B1A"/>
                          </a:solidFill>
                        </a:rPr>
                        <a:t>702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Red edge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88.0 %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1000" dirty="0">
                          <a:solidFill>
                            <a:srgbClr val="1B1B1A"/>
                          </a:solidFill>
                        </a:rPr>
                        <a:t>767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NIR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33.0 %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84.0 %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1000" dirty="0">
                          <a:solidFill>
                            <a:srgbClr val="1B1B1A"/>
                          </a:solidFill>
                        </a:rPr>
                        <a:t>1333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NIR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38.0 %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no</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1000" dirty="0">
                          <a:solidFill>
                            <a:srgbClr val="1B1B1A"/>
                          </a:solidFill>
                        </a:rPr>
                        <a:t>1531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SWIR-1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12.0 %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1000" dirty="0">
                          <a:solidFill>
                            <a:srgbClr val="1B1B1A"/>
                          </a:solidFill>
                        </a:rPr>
                        <a:t>1729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SWIR-1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1000" dirty="0">
                          <a:solidFill>
                            <a:srgbClr val="1B1B1A"/>
                          </a:solidFill>
                        </a:rPr>
                        <a:t>1872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Water band II</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189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12.0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33.5 %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1000" dirty="0">
                          <a:solidFill>
                            <a:srgbClr val="1B1B1A"/>
                          </a:solidFill>
                        </a:rPr>
                        <a:t>1874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Water band II</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12.6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35.5 %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1000" dirty="0">
                          <a:solidFill>
                            <a:srgbClr val="1B1B1A"/>
                          </a:solidFill>
                        </a:rPr>
                        <a:t>1893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Water band II</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62.0 %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1000" dirty="0">
                          <a:solidFill>
                            <a:srgbClr val="1B1B1A"/>
                          </a:solidFill>
                        </a:rPr>
                        <a:t>2405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SWIR-2 end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12.0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19.5 %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yes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pic>
        <p:nvPicPr>
          <p:cNvPr id="4" name="Image 0" descr="F08_cart_reselection">    </p:cNvPr>
          <p:cNvPicPr>
            <a:picLocks noChangeAspect="1"/>
          </p:cNvPicPr>
          <p:nvPr/>
        </p:nvPicPr>
        <p:blipFill>
          <a:blip r:embed="rId1"/>
          <a:stretch>
            <a:fillRect/>
          </a:stretch>
        </p:blipFill>
        <p:spPr>
          <a:xfrm>
            <a:off x="8138160" y="1422719"/>
            <a:ext cx="3566160" cy="2000883"/>
          </a:xfrm>
          <a:prstGeom prst="rect">
            <a:avLst/>
          </a:prstGeom>
        </p:spPr>
      </p:pic>
      <p:pic>
        <p:nvPicPr>
          <p:cNvPr id="5" name="Image 1" descr="F07_cart_cp">    </p:cNvPr>
          <p:cNvPicPr>
            <a:picLocks noChangeAspect="1"/>
          </p:cNvPicPr>
          <p:nvPr/>
        </p:nvPicPr>
        <p:blipFill>
          <a:blip r:embed="rId2"/>
          <a:stretch>
            <a:fillRect/>
          </a:stretch>
        </p:blipFill>
        <p:spPr>
          <a:xfrm>
            <a:off x="8138160" y="3843313"/>
            <a:ext cx="3566160" cy="2280333"/>
          </a:xfrm>
          <a:prstGeom prst="rect">
            <a:avLst/>
          </a:prstGeom>
        </p:spPr>
      </p:pic>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3 · J–M = 1.27 on the CART bands: not separable at 1.90</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914400"/>
        </p:xfrm>
        <a:graphic>
          <a:graphicData uri="http://schemas.openxmlformats.org/drawingml/2006/table">
            <a:tbl>
              <a:tblPr/>
              <a:tblGrid>
                <a:gridCol w="2560320"/>
                <a:gridCol w="1005840"/>
                <a:gridCol w="1188720"/>
              </a:tblGrid>
              <a:tr h="310896">
                <a:tc>
                  <a:txBody>
                    <a:bodyPr/>
                    <a:lstStyle/>
                    <a:p>
                      <a:pPr indent="0" marL="0">
                        <a:buNone/>
                      </a:pPr>
                      <a:r>
                        <a:rPr lang="en-US" sz="1200" b="1" dirty="0">
                          <a:solidFill>
                            <a:srgbClr val="FFFFFF"/>
                          </a:solidFill>
                        </a:rPr>
                        <a:t>Set</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Features</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JM</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200" dirty="0">
                          <a:solidFill>
                            <a:srgbClr val="1B1B1A"/>
                          </a:solidFill>
                        </a:rPr>
                        <a:t>CART-11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1.266</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CART-4 (1-SE)</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0.634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1.665</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RF-10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1.181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RF-11 (size-matched)</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1.232</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pic>
        <p:nvPicPr>
          <p:cNvPr id="4" name="Image 0" descr="F09_tier3_tier4_incremental">    </p:cNvPr>
          <p:cNvPicPr>
            <a:picLocks noChangeAspect="1"/>
          </p:cNvPicPr>
          <p:nvPr/>
        </p:nvPicPr>
        <p:blipFill>
          <a:blip r:embed="rId1"/>
          <a:stretch>
            <a:fillRect/>
          </a:stretch>
        </p:blipFill>
        <p:spPr>
          <a:xfrm>
            <a:off x="5839167" y="1097280"/>
            <a:ext cx="5420946" cy="2377440"/>
          </a:xfrm>
          <a:prstGeom prst="rect">
            <a:avLst/>
          </a:prstGeom>
        </p:spPr>
      </p:pic>
      <p:sp>
        <p:nvSpPr>
          <p:cNvPr id="5" name="Text 1"/>
          <p:cNvSpPr txBox="1"/>
          <p:nvPr/>
        </p:nvSpPr>
        <p:spPr>
          <a:xfrm>
            <a:off x="5394960" y="3657600"/>
            <a:ext cx="6309360" cy="237744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J–M increases steadily as bands are added but stays below 1.90 for both band sets: on the CART bands 1.27, on the RF bands 1.67. By the criterion of Das et al. the classes are not spectrally separable — healthy and diseased leaves overlap, as expected when four dates, three stages and three varieties are pooled.</a:t>
            </a:r>
            <a:endParaRPr lang="en-US" sz="1400" dirty="0"/>
          </a:p>
          <a:p>
            <a:pPr marL="342900" indent="-342900">
              <a:spcAft>
                <a:spcPts val="600"/>
              </a:spcAft>
              <a:buSzPct val="100000"/>
              <a:buChar char="•"/>
            </a:pPr>
            <a:r>
              <a:rPr lang="en-US" sz="1400" dirty="0">
                <a:solidFill>
                  <a:srgbClr val="1B1B1A"/>
                </a:solidFill>
              </a:rPr>
              <a:t>The 1-SE tree (4 bands) gives J–M 0.63.</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Tier 4 · QDA with equal priors on the CART bands (Das et al. Table 2)</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852160" cy="914400"/>
        </p:xfrm>
        <a:graphic>
          <a:graphicData uri="http://schemas.openxmlformats.org/drawingml/2006/table">
            <a:tbl>
              <a:tblPr/>
              <a:tblGrid>
                <a:gridCol w="1737360"/>
                <a:gridCol w="1005840"/>
                <a:gridCol w="1005840"/>
                <a:gridCol w="1005840"/>
                <a:gridCol w="1097280"/>
              </a:tblGrid>
              <a:tr h="384048">
                <a:tc>
                  <a:txBody>
                    <a:bodyPr/>
                    <a:lstStyle/>
                    <a:p>
                      <a:pPr indent="0" marL="0">
                        <a:buNone/>
                      </a:pPr>
                      <a:r>
                        <a:rPr lang="en-US" sz="1300" b="1" dirty="0">
                          <a:solidFill>
                            <a:srgbClr val="FFFFFF"/>
                          </a:solidFill>
                        </a:rPr>
                        <a:t>Classified \ Reference</a:t>
                      </a:r>
                      <a:endParaRPr lang="en-US" sz="13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Healthy</a:t>
                      </a:r>
                      <a:endParaRPr lang="en-US" sz="13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Diseased</a:t>
                      </a:r>
                      <a:endParaRPr lang="en-US" sz="13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Row total</a:t>
                      </a:r>
                      <a:endParaRPr lang="en-US" sz="13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User's acc.</a:t>
                      </a:r>
                      <a:endParaRPr lang="en-US" sz="13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84048">
                <a:tc>
                  <a:txBody>
                    <a:bodyPr/>
                    <a:lstStyle/>
                    <a:p>
                      <a:pPr indent="0" marL="0">
                        <a:buNone/>
                      </a:pPr>
                      <a:r>
                        <a:rPr lang="en-US" sz="1300" dirty="0">
                          <a:solidFill>
                            <a:srgbClr val="1B1B1A"/>
                          </a:solidFill>
                        </a:rPr>
                        <a:t>Healthy</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336</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880</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1216</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27.6 %</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Diseased</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42</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1006</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1048</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96.0 %</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84048">
                <a:tc>
                  <a:txBody>
                    <a:bodyPr/>
                    <a:lstStyle/>
                    <a:p>
                      <a:pPr indent="0" marL="0">
                        <a:buNone/>
                      </a:pPr>
                      <a:r>
                        <a:rPr lang="en-US" sz="1300" dirty="0">
                          <a:solidFill>
                            <a:srgbClr val="1B1B1A"/>
                          </a:solidFill>
                        </a:rPr>
                        <a:t>Column total</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378</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1886</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2264</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Producer's acc.</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88.9 %</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300" dirty="0">
                          <a:solidFill>
                            <a:srgbClr val="1B1B1A"/>
                          </a:solidFill>
                        </a:rPr>
                        <a:t>53.3 %</a:t>
                      </a: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3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Shape 1"/>
          <p:cNvSpPr/>
          <p:nvPr/>
        </p:nvSpPr>
        <p:spPr>
          <a:xfrm>
            <a:off x="457200" y="3474720"/>
            <a:ext cx="1828800" cy="1417320"/>
          </a:xfrm>
          <a:prstGeom prst="roundRect">
            <a:avLst>
              <a:gd name="adj" fmla="val 5161"/>
            </a:avLst>
          </a:prstGeom>
          <a:solidFill>
            <a:srgbClr val="F0EFEC"/>
          </a:solidFill>
          <a:ln w="12700">
            <a:solidFill>
              <a:srgbClr val="F0EFEC"/>
            </a:solidFill>
            <a:prstDash val="solid"/>
          </a:ln>
        </p:spPr>
      </p:sp>
      <p:sp>
        <p:nvSpPr>
          <p:cNvPr id="5" name="Text 2"/>
          <p:cNvSpPr txBox="1"/>
          <p:nvPr/>
        </p:nvSpPr>
        <p:spPr>
          <a:xfrm>
            <a:off x="594360" y="3566160"/>
            <a:ext cx="1554480" cy="731520"/>
          </a:xfrm>
          <a:prstGeom prst="rect">
            <a:avLst/>
          </a:prstGeom>
          <a:noFill/>
          <a:ln/>
        </p:spPr>
        <p:txBody>
          <a:bodyPr wrap="square" lIns="0" tIns="0" rIns="0" bIns="0" rtlCol="0" anchor="ctr"/>
          <a:lstStyle/>
          <a:p>
            <a:pPr indent="0" marL="0">
              <a:buNone/>
            </a:pPr>
            <a:r>
              <a:rPr lang="en-US" sz="3400" b="1" dirty="0">
                <a:solidFill>
                  <a:srgbClr val="1F3D2B"/>
                </a:solidFill>
                <a:latin typeface="Cambria" pitchFamily="34" charset="0"/>
                <a:ea typeface="Cambria" pitchFamily="34" charset="-122"/>
                <a:cs typeface="Cambria" pitchFamily="34" charset="-120"/>
              </a:rPr>
              <a:t>59.3 %</a:t>
            </a:r>
            <a:endParaRPr lang="en-US" sz="3400" dirty="0"/>
          </a:p>
        </p:txBody>
      </p:sp>
      <p:sp>
        <p:nvSpPr>
          <p:cNvPr id="6" name="Text 3"/>
          <p:cNvSpPr txBox="1"/>
          <p:nvPr/>
        </p:nvSpPr>
        <p:spPr>
          <a:xfrm>
            <a:off x="594360" y="4279392"/>
            <a:ext cx="1554480" cy="548640"/>
          </a:xfrm>
          <a:prstGeom prst="rect">
            <a:avLst/>
          </a:prstGeom>
          <a:noFill/>
          <a:ln/>
        </p:spPr>
        <p:txBody>
          <a:bodyPr wrap="square" lIns="0" tIns="0" rIns="0" bIns="0" rtlCol="0" anchor="t"/>
          <a:lstStyle/>
          <a:p>
            <a:pPr indent="0" marL="0">
              <a:buNone/>
            </a:pPr>
            <a:r>
              <a:rPr lang="en-US" sz="1200" dirty="0">
                <a:solidFill>
                  <a:srgbClr val="52514E"/>
                </a:solidFill>
              </a:rPr>
              <a:t>overall accuracy</a:t>
            </a:r>
            <a:endParaRPr lang="en-US" sz="1200" dirty="0"/>
          </a:p>
        </p:txBody>
      </p:sp>
      <p:sp>
        <p:nvSpPr>
          <p:cNvPr id="7" name="Shape 4"/>
          <p:cNvSpPr/>
          <p:nvPr/>
        </p:nvSpPr>
        <p:spPr>
          <a:xfrm>
            <a:off x="2468880" y="3474720"/>
            <a:ext cx="1828800" cy="1417320"/>
          </a:xfrm>
          <a:prstGeom prst="roundRect">
            <a:avLst>
              <a:gd name="adj" fmla="val 5161"/>
            </a:avLst>
          </a:prstGeom>
          <a:solidFill>
            <a:srgbClr val="F0EFEC"/>
          </a:solidFill>
          <a:ln w="12700">
            <a:solidFill>
              <a:srgbClr val="F0EFEC"/>
            </a:solidFill>
            <a:prstDash val="solid"/>
          </a:ln>
        </p:spPr>
      </p:sp>
      <p:sp>
        <p:nvSpPr>
          <p:cNvPr id="8" name="Text 5"/>
          <p:cNvSpPr txBox="1"/>
          <p:nvPr/>
        </p:nvSpPr>
        <p:spPr>
          <a:xfrm>
            <a:off x="2606040" y="3566160"/>
            <a:ext cx="1554480" cy="731520"/>
          </a:xfrm>
          <a:prstGeom prst="rect">
            <a:avLst/>
          </a:prstGeom>
          <a:noFill/>
          <a:ln/>
        </p:spPr>
        <p:txBody>
          <a:bodyPr wrap="square" lIns="0" tIns="0" rIns="0" bIns="0" rtlCol="0" anchor="ctr"/>
          <a:lstStyle/>
          <a:p>
            <a:pPr indent="0" marL="0">
              <a:buNone/>
            </a:pPr>
            <a:r>
              <a:rPr lang="en-US" sz="3400" b="1" dirty="0">
                <a:solidFill>
                  <a:srgbClr val="2A78D6"/>
                </a:solidFill>
                <a:latin typeface="Cambria" pitchFamily="34" charset="0"/>
                <a:ea typeface="Cambria" pitchFamily="34" charset="-122"/>
                <a:cs typeface="Cambria" pitchFamily="34" charset="-120"/>
              </a:rPr>
              <a:t>71.1 %</a:t>
            </a:r>
            <a:endParaRPr lang="en-US" sz="3400" dirty="0"/>
          </a:p>
        </p:txBody>
      </p:sp>
      <p:sp>
        <p:nvSpPr>
          <p:cNvPr id="9" name="Text 6"/>
          <p:cNvSpPr txBox="1"/>
          <p:nvPr/>
        </p:nvSpPr>
        <p:spPr>
          <a:xfrm>
            <a:off x="2606040" y="4279392"/>
            <a:ext cx="1554480" cy="548640"/>
          </a:xfrm>
          <a:prstGeom prst="rect">
            <a:avLst/>
          </a:prstGeom>
          <a:noFill/>
          <a:ln/>
        </p:spPr>
        <p:txBody>
          <a:bodyPr wrap="square" lIns="0" tIns="0" rIns="0" bIns="0" rtlCol="0" anchor="t"/>
          <a:lstStyle/>
          <a:p>
            <a:pPr indent="0" marL="0">
              <a:buNone/>
            </a:pPr>
            <a:r>
              <a:rPr lang="en-US" sz="1200" dirty="0">
                <a:solidFill>
                  <a:srgbClr val="52514E"/>
                </a:solidFill>
              </a:rPr>
              <a:t>balanced accuracy</a:t>
            </a:r>
            <a:endParaRPr lang="en-US" sz="1200" dirty="0"/>
          </a:p>
        </p:txBody>
      </p:sp>
      <p:sp>
        <p:nvSpPr>
          <p:cNvPr id="10" name="Shape 7"/>
          <p:cNvSpPr/>
          <p:nvPr/>
        </p:nvSpPr>
        <p:spPr>
          <a:xfrm>
            <a:off x="4480560" y="3474720"/>
            <a:ext cx="1828800" cy="1417320"/>
          </a:xfrm>
          <a:prstGeom prst="roundRect">
            <a:avLst>
              <a:gd name="adj" fmla="val 5161"/>
            </a:avLst>
          </a:prstGeom>
          <a:solidFill>
            <a:srgbClr val="F0EFEC"/>
          </a:solidFill>
          <a:ln w="12700">
            <a:solidFill>
              <a:srgbClr val="F0EFEC"/>
            </a:solidFill>
            <a:prstDash val="solid"/>
          </a:ln>
        </p:spPr>
      </p:sp>
      <p:sp>
        <p:nvSpPr>
          <p:cNvPr id="11" name="Text 8"/>
          <p:cNvSpPr txBox="1"/>
          <p:nvPr/>
        </p:nvSpPr>
        <p:spPr>
          <a:xfrm>
            <a:off x="4617720" y="3566160"/>
            <a:ext cx="1554480" cy="731520"/>
          </a:xfrm>
          <a:prstGeom prst="rect">
            <a:avLst/>
          </a:prstGeom>
          <a:noFill/>
          <a:ln/>
        </p:spPr>
        <p:txBody>
          <a:bodyPr wrap="square" lIns="0" tIns="0" rIns="0" bIns="0" rtlCol="0" anchor="ctr"/>
          <a:lstStyle/>
          <a:p>
            <a:pPr indent="0" marL="0">
              <a:buNone/>
            </a:pPr>
            <a:r>
              <a:rPr lang="en-US" sz="3400" b="1" dirty="0">
                <a:solidFill>
                  <a:srgbClr val="52514E"/>
                </a:solidFill>
                <a:latin typeface="Cambria" pitchFamily="34" charset="0"/>
                <a:ea typeface="Cambria" pitchFamily="34" charset="-122"/>
                <a:cs typeface="Cambria" pitchFamily="34" charset="-120"/>
              </a:rPr>
              <a:t>0.224</a:t>
            </a:r>
            <a:endParaRPr lang="en-US" sz="3400" dirty="0"/>
          </a:p>
        </p:txBody>
      </p:sp>
      <p:sp>
        <p:nvSpPr>
          <p:cNvPr id="12" name="Text 9"/>
          <p:cNvSpPr txBox="1"/>
          <p:nvPr/>
        </p:nvSpPr>
        <p:spPr>
          <a:xfrm>
            <a:off x="4617720" y="4279392"/>
            <a:ext cx="1554480" cy="548640"/>
          </a:xfrm>
          <a:prstGeom prst="rect">
            <a:avLst/>
          </a:prstGeom>
          <a:noFill/>
          <a:ln/>
        </p:spPr>
        <p:txBody>
          <a:bodyPr wrap="square" lIns="0" tIns="0" rIns="0" bIns="0" rtlCol="0" anchor="t"/>
          <a:lstStyle/>
          <a:p>
            <a:pPr indent="0" marL="0">
              <a:buNone/>
            </a:pPr>
            <a:r>
              <a:rPr lang="en-US" sz="1200" dirty="0">
                <a:solidFill>
                  <a:srgbClr val="52514E"/>
                </a:solidFill>
              </a:rPr>
              <a:t>Cohen's κ</a:t>
            </a:r>
            <a:endParaRPr lang="en-US" sz="12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583680" y="1188720"/>
          <a:ext cx="5120640" cy="914400"/>
        </p:xfrm>
        <a:graphic>
          <a:graphicData uri="http://schemas.openxmlformats.org/drawingml/2006/table">
            <a:tbl>
              <a:tblPr/>
              <a:tblGrid>
                <a:gridCol w="1005840"/>
                <a:gridCol w="1188720"/>
                <a:gridCol w="566928"/>
                <a:gridCol w="566928"/>
                <a:gridCol w="603504"/>
                <a:gridCol w="603504"/>
                <a:gridCol w="585216"/>
              </a:tblGrid>
              <a:tr h="274320">
                <a:tc>
                  <a:txBody>
                    <a:bodyPr/>
                    <a:lstStyle/>
                    <a:p>
                      <a:pPr indent="0" marL="0">
                        <a:buNone/>
                      </a:pPr>
                      <a:r>
                        <a:rPr lang="en-US" sz="1000" b="1" dirty="0">
                          <a:solidFill>
                            <a:srgbClr val="FFFFFF"/>
                          </a:solidFill>
                        </a:rPr>
                        <a:t>Set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Classifier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OA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PA_H</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PA_D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kappa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CART-11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QDA equal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59.3 %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71.1 %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88.9 %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53.3 %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0.224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CART-11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QDA sample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72.2 %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76.1 %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82.0 %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70.3 %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0.344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CART-11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LDA equal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75.2 %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78.6 %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74.5 %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0.374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CART-4 (1-SE)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QDA equal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45.0 %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63.2 %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90.5 %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35.8 %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0.117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CART-4 (1-SE)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QDA sample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75.0 %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57.7 %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31.7 %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83.6 %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0.146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CART-4 (1-SE)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LDA equal priors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60.6 %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63.4 %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67.7 %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59.2 %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0.160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14" name="Text 10"/>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Equal priors correct the 1 : 5 imbalance: the minority (healthy) class is recognised far better than with sample priors.</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Validation · honest estimates for new plots: 72.0 % (V3) and 72.8 % (V4)</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583680" cy="914400"/>
        </p:xfrm>
        <a:graphic>
          <a:graphicData uri="http://schemas.openxmlformats.org/drawingml/2006/table">
            <a:tbl>
              <a:tblPr/>
              <a:tblGrid>
                <a:gridCol w="2377440"/>
                <a:gridCol w="1188720"/>
                <a:gridCol w="548640"/>
                <a:gridCol w="548640"/>
                <a:gridCol w="548640"/>
                <a:gridCol w="457200"/>
                <a:gridCol w="457200"/>
                <a:gridCol w="457200"/>
              </a:tblGrid>
              <a:tr h="219456">
                <a:tc>
                  <a:txBody>
                    <a:bodyPr/>
                    <a:lstStyle/>
                    <a:p>
                      <a:pPr indent="0" marL="0">
                        <a:buNone/>
                      </a:pPr>
                      <a:r>
                        <a:rPr lang="en-US" sz="900" b="1" dirty="0">
                          <a:solidFill>
                            <a:srgbClr val="FFFFFF"/>
                          </a:solidFill>
                        </a:rPr>
                        <a:t>Scheme</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Priors</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OA</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BA_SD</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kappa</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PA_H</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PA_D</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9456">
                <a:tc>
                  <a:txBody>
                    <a:bodyPr/>
                    <a:lstStyle/>
                    <a:p>
                      <a:pPr indent="0" marL="0">
                        <a:buNone/>
                      </a:pPr>
                      <a:r>
                        <a:rPr lang="en-US" sz="900" dirty="0">
                          <a:solidFill>
                            <a:srgbClr val="1B1B1A"/>
                          </a:solidFill>
                        </a:rPr>
                        <a:t>V1 · leaf-level 10-fold, bands fixed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59.3 %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71.1 %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0.224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88.9 %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53.3 %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V2 · plot-grouped 10-fold, bands fixed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58.7 %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70.4 %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0.216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87.8 %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52.9 %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00" dirty="0">
                          <a:solidFill>
                            <a:srgbClr val="1B1B1A"/>
                          </a:solidFill>
                        </a:rPr>
                        <a:t>V3 · nested plot-grouped 10-fold × 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72.0 %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0.239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88.5 %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55.5 %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V4 · 30 % plot hold-out × 10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63.2 %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72.8 %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4.7 %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0.274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88.0 %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57.7 %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00" dirty="0">
                          <a:solidFill>
                            <a:srgbClr val="1B1B1A"/>
                          </a:solidFill>
                        </a:rPr>
                        <a:t>V5 · new date and new plots (leave-one-date-out × 10)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63.3 %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54.6 %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3.3 %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0.070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40.8 %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68.3 %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V1 · leaf-level 10-fold, bands fixed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72.2 %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76.1 %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0.344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82.0 %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70.3 %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00" dirty="0">
                          <a:solidFill>
                            <a:srgbClr val="1B1B1A"/>
                          </a:solidFill>
                        </a:rPr>
                        <a:t>V2 · plot-grouped 10-fold, bands fixed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72.3 %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75.3 %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0.337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79.6 %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70.9 %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V3 · nested plot-grouped 10-fold × 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72.1 %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76.0 %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0.342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81.9 %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70.1 %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00" dirty="0">
                          <a:solidFill>
                            <a:srgbClr val="1B1B1A"/>
                          </a:solidFill>
                        </a:rPr>
                        <a:t>V4 · 30 % plot hold-out × 10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72.5 %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75.2 %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0.356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79.7 %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70.8 %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V5 · new date and new plots (leave-one-date-out × 10)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66.7 %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54.0 %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2.6 %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0.067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33.9 %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74.0 %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00" dirty="0">
                          <a:solidFill>
                            <a:srgbClr val="1B1B1A"/>
                          </a:solidFill>
                        </a:rPr>
                        <a:t>V3-RUS · nested + random under-sampling</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equal (corrected)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72.4 %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0.243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89.2 %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55.6 %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A"/>
                          </a:solidFill>
                        </a:rPr>
                        <a:t>V3-RUS · nested + random under-sampling</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sample (uncorrected)</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61.2 %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72.4 %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0.243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89.2 %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55.6 %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pic>
        <p:nvPicPr>
          <p:cNvPr id="4" name="Image 0" descr="F11_validation_qda_cart">    </p:cNvPr>
          <p:cNvPicPr>
            <a:picLocks noChangeAspect="1"/>
          </p:cNvPicPr>
          <p:nvPr/>
        </p:nvPicPr>
        <p:blipFill>
          <a:blip r:embed="rId1"/>
          <a:stretch>
            <a:fillRect/>
          </a:stretch>
        </p:blipFill>
        <p:spPr>
          <a:xfrm>
            <a:off x="7223760" y="1241184"/>
            <a:ext cx="4480560" cy="2089632"/>
          </a:xfrm>
          <a:prstGeom prst="rect">
            <a:avLst/>
          </a:prstGeom>
        </p:spPr>
      </p:pic>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7223760" y="3840480"/>
          <a:ext cx="4480560" cy="914400"/>
        </p:xfrm>
        <a:graphic>
          <a:graphicData uri="http://schemas.openxmlformats.org/drawingml/2006/table">
            <a:tbl>
              <a:tblPr/>
              <a:tblGrid>
                <a:gridCol w="1828800"/>
                <a:gridCol w="548640"/>
                <a:gridCol w="685800"/>
                <a:gridCol w="731520"/>
                <a:gridCol w="685800"/>
              </a:tblGrid>
              <a:tr h="237744">
                <a:tc>
                  <a:txBody>
                    <a:bodyPr/>
                    <a:lstStyle/>
                    <a:p>
                      <a:pPr indent="0" marL="0">
                        <a:buNone/>
                      </a:pPr>
                      <a:r>
                        <a:rPr lang="en-US" sz="950" b="1" dirty="0">
                          <a:solidFill>
                            <a:srgbClr val="FFFFFF"/>
                          </a:solidFill>
                        </a:rPr>
                        <a:t>Band set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CART bands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 V1</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 V3 nested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 V4 hold-out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950" dirty="0">
                          <a:solidFill>
                            <a:srgbClr val="1B1B1A"/>
                          </a:solidFill>
                        </a:rPr>
                        <a:t>400–2500 nm (main: 350–399 removed)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72.0 %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72.8 %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350–2500 nm (nothing removed)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67.2 %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68.8 %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71.5 %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450–2450 nm (both detector edges trimmed)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72.2 %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73.1 %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Random Forest instead of CART</a:t>
            </a:r>
            <a:endParaRPr lang="en-US" sz="3600" dirty="0"/>
          </a:p>
        </p:txBody>
      </p:sp>
      <p:sp>
        <p:nvSpPr>
          <p:cNvPr id="3" name="Text 0"/>
          <p:cNvSpPr/>
          <p:nvPr>
            <p:ph idx="101" type="body" hasCustomPrompt="1"/>
          </p:nvPr>
        </p:nvSpPr>
        <p:spPr>
          <a:xfrm>
            <a:off x="457200" y="3566160"/>
            <a:ext cx="11277295" cy="1463040"/>
          </a:xfrm>
          <a:prstGeom prst="rect">
            <a:avLst/>
          </a:prstGeom>
          <a:noFill/>
          <a:ln/>
        </p:spPr>
        <p:txBody>
          <a:bodyPr wrap="square" rtlCol="0" anchor="t"/>
          <a:lstStyle/>
          <a:p>
            <a:pPr indent="0" marL="0">
              <a:buNone/>
            </a:pPr>
            <a:r>
              <a:rPr lang="en-US" sz="1800" dirty="0">
                <a:solidFill>
                  <a:srgbClr val="E3F4EC"/>
                </a:solidFill>
              </a:rPr>
              <a:t>A1 RF importance as the Tier-2 selector · A2 Tiers 3–4 on each band set · A3 CART and RF as classifiers · A4 band stability</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A1 · Where the Random Forest finds the disease signal</a:t>
            </a:r>
            <a:endParaRPr lang="en-US" sz="2600" dirty="0"/>
          </a:p>
        </p:txBody>
      </p:sp>
      <p:pic>
        <p:nvPicPr>
          <p:cNvPr id="3" name="Image 0" descr="F12_A1_rf_importance">    </p:cNvPr>
          <p:cNvPicPr>
            <a:picLocks noChangeAspect="1"/>
          </p:cNvPicPr>
          <p:nvPr/>
        </p:nvPicPr>
        <p:blipFill>
          <a:blip r:embed="rId1"/>
          <a:stretch>
            <a:fillRect/>
          </a:stretch>
        </p:blipFill>
        <p:spPr>
          <a:xfrm>
            <a:off x="773002" y="1005840"/>
            <a:ext cx="6866476" cy="347472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572000"/>
          <a:ext cx="11277295" cy="914400"/>
        </p:xfrm>
        <a:graphic>
          <a:graphicData uri="http://schemas.openxmlformats.org/drawingml/2006/table">
            <a:tbl>
              <a:tblPr/>
              <a:tblGrid>
                <a:gridCol w="2194560"/>
                <a:gridCol w="9052560"/>
              </a:tblGrid>
              <a:tr h="246888">
                <a:tc>
                  <a:txBody>
                    <a:bodyPr/>
                    <a:lstStyle/>
                    <a:p>
                      <a:pPr indent="0" marL="0">
                        <a:buNone/>
                      </a:pPr>
                      <a:r>
                        <a:rPr lang="en-US" sz="1000" b="1" dirty="0">
                          <a:solidFill>
                            <a:srgbClr val="FFFFFF"/>
                          </a:solidFill>
                        </a:rPr>
                        <a:t>Band set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Wavelengths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46888">
                <a:tc>
                  <a:txBody>
                    <a:bodyPr/>
                    <a:lstStyle/>
                    <a:p>
                      <a:pPr indent="0" marL="0">
                        <a:buNone/>
                      </a:pPr>
                      <a:r>
                        <a:rPr lang="en-US" sz="1000" dirty="0">
                          <a:solidFill>
                            <a:srgbClr val="1B1B1A"/>
                          </a:solidFill>
                        </a:rPr>
                        <a:t>CART-11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1893, 2405, 767, 702, 1333, 540, 1729, 588, 1874, 1531, 1872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CART-4 (1-SE)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1893, 2405, 767, 1333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1000" dirty="0">
                          <a:solidFill>
                            <a:srgbClr val="1B1B1A"/>
                          </a:solidFill>
                        </a:rPr>
                        <a:t>RF-17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692, 1893, 1996, 640, 2009, 703, 1984, 761, 651, 747, 1925, 773, 2019, 621, 1882, 715, 664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RF-10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692, 1893, 1996, 640, 2009, 703, 1984, 761, 651, 747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1000" dirty="0">
                          <a:solidFill>
                            <a:srgbClr val="1B1B1A"/>
                          </a:solidFill>
                        </a:rPr>
                        <a:t>RF-11 (size-matched)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692, 1893, 1996, 640, 2009, 703, 1984, 761, 651, 747, 1925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8138160" y="1097280"/>
          <a:ext cx="3566160" cy="914400"/>
        </p:xfrm>
        <a:graphic>
          <a:graphicData uri="http://schemas.openxmlformats.org/drawingml/2006/table">
            <a:tbl>
              <a:tblPr/>
              <a:tblGrid>
                <a:gridCol w="2194560"/>
                <a:gridCol w="822960"/>
                <a:gridCol w="548640"/>
              </a:tblGrid>
              <a:tr h="274320">
                <a:tc>
                  <a:txBody>
                    <a:bodyPr/>
                    <a:lstStyle/>
                    <a:p>
                      <a:pPr indent="0" marL="0">
                        <a:buNone/>
                      </a:pPr>
                      <a:r>
                        <a:rPr lang="en-US" sz="850" b="1" dirty="0">
                          <a:solidFill>
                            <a:srgbClr val="FFFFFF"/>
                          </a:solidFill>
                        </a:rPr>
                        <a:t>Check</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Value</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Status</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850" dirty="0">
                          <a:solidFill>
                            <a:srgbClr val="1B1B1A"/>
                          </a:solidFill>
                        </a:rPr>
                        <a:t>Reproducibility: importance of seed 42 vs seed</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0.891</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PASS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B1B1A"/>
                          </a:solidFill>
                        </a:rPr>
                        <a:t>R randomForest (stratified sampsize 378 + 378)</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ρ = 0.893</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PASS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850" dirty="0">
                          <a:solidFill>
                            <a:srgbClr val="1B1B1A"/>
                          </a:solidFill>
                        </a:rPr>
                        <a:t>Permutation importance (drop in AUC, 5 plot-gr</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ρ = -0.06</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FLAG</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B1B1A"/>
                          </a:solidFill>
                        </a:rPr>
                        <a:t>Ordinary RF with class weights only (no balanc</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BA 0.703</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PASS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A2 · J–M 1.67 (RF) vs 1.27 (CART); QDA BA 70.1 % vs 71.1 %</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206240" cy="914400"/>
        </p:xfrm>
        <a:graphic>
          <a:graphicData uri="http://schemas.openxmlformats.org/drawingml/2006/table">
            <a:tbl>
              <a:tblPr/>
              <a:tblGrid>
                <a:gridCol w="2194560"/>
                <a:gridCol w="914400"/>
                <a:gridCol w="1097280"/>
              </a:tblGrid>
              <a:tr h="310896">
                <a:tc>
                  <a:txBody>
                    <a:bodyPr/>
                    <a:lstStyle/>
                    <a:p>
                      <a:pPr indent="0" marL="0">
                        <a:buNone/>
                      </a:pPr>
                      <a:r>
                        <a:rPr lang="en-US" sz="1200" b="1" dirty="0">
                          <a:solidFill>
                            <a:srgbClr val="FFFFFF"/>
                          </a:solidFill>
                        </a:rPr>
                        <a:t>Set</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Features</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JM</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200" dirty="0">
                          <a:solidFill>
                            <a:srgbClr val="1B1B1A"/>
                          </a:solidFill>
                        </a:rPr>
                        <a:t>CART-11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1.266</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CART-4 (1-SE)</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0.634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1.665</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RF-10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1.181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RF-11 (size-matched)</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1.232</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3200400"/>
          <a:ext cx="4206240" cy="914400"/>
        </p:xfrm>
        <a:graphic>
          <a:graphicData uri="http://schemas.openxmlformats.org/drawingml/2006/table">
            <a:tbl>
              <a:tblPr/>
              <a:tblGrid>
                <a:gridCol w="1280160"/>
                <a:gridCol w="731520"/>
                <a:gridCol w="731520"/>
                <a:gridCol w="731520"/>
                <a:gridCol w="731520"/>
              </a:tblGrid>
              <a:tr h="274320">
                <a:tc>
                  <a:txBody>
                    <a:bodyPr/>
                    <a:lstStyle/>
                    <a:p>
                      <a:pPr indent="0" marL="0">
                        <a:buNone/>
                      </a:pPr>
                      <a:r>
                        <a:rPr lang="en-US" sz="1000" b="1" dirty="0">
                          <a:solidFill>
                            <a:srgbClr val="FFFFFF"/>
                          </a:solidFill>
                        </a:rPr>
                        <a:t>Classified \ Reference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Healthy</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Diseased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Row total</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User's acc.</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Healthy</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336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880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1216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27.6 %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Diseased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1006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1048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Column total</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378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1886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2264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Producer's acc.</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88.9 %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53.3 %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457200" y="4846320"/>
          <a:ext cx="4206240" cy="914400"/>
        </p:xfrm>
        <a:graphic>
          <a:graphicData uri="http://schemas.openxmlformats.org/drawingml/2006/table">
            <a:tbl>
              <a:tblPr/>
              <a:tblGrid>
                <a:gridCol w="1280160"/>
                <a:gridCol w="731520"/>
                <a:gridCol w="731520"/>
                <a:gridCol w="731520"/>
                <a:gridCol w="731520"/>
              </a:tblGrid>
              <a:tr h="274320">
                <a:tc>
                  <a:txBody>
                    <a:bodyPr/>
                    <a:lstStyle/>
                    <a:p>
                      <a:pPr indent="0" marL="0">
                        <a:buNone/>
                      </a:pPr>
                      <a:r>
                        <a:rPr lang="en-US" sz="1000" b="1" dirty="0">
                          <a:solidFill>
                            <a:srgbClr val="FFFFFF"/>
                          </a:solidFill>
                        </a:rPr>
                        <a:t>Classified \ Reference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Healthy</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Diseased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Row total</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User's acc.</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Healthy</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979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1327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26.2 %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Diseased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907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937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96.8 %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Column total</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378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1886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2264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Producer's acc.</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92.1 %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48.1 %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6" name="Text 1"/>
          <p:cNvSpPr txBox="1"/>
          <p:nvPr/>
        </p:nvSpPr>
        <p:spPr>
          <a:xfrm>
            <a:off x="457200" y="2944368"/>
            <a:ext cx="2743200" cy="256032"/>
          </a:xfrm>
          <a:prstGeom prst="rect">
            <a:avLst/>
          </a:prstGeom>
          <a:noFill/>
          <a:ln/>
        </p:spPr>
        <p:txBody>
          <a:bodyPr wrap="square" lIns="0" tIns="0" rIns="0" bIns="0" rtlCol="0" anchor="ctr"/>
          <a:lstStyle/>
          <a:p>
            <a:pPr indent="0" marL="0">
              <a:buNone/>
            </a:pPr>
            <a:r>
              <a:rPr lang="en-US" sz="1100" b="1" dirty="0">
                <a:solidFill>
                  <a:srgbClr val="2A78D6"/>
                </a:solidFill>
              </a:rPr>
              <a:t>CART-11</a:t>
            </a:r>
            <a:endParaRPr lang="en-US" sz="1100" dirty="0"/>
          </a:p>
        </p:txBody>
      </p:sp>
      <p:sp>
        <p:nvSpPr>
          <p:cNvPr id="7" name="Text 2"/>
          <p:cNvSpPr txBox="1"/>
          <p:nvPr/>
        </p:nvSpPr>
        <p:spPr>
          <a:xfrm>
            <a:off x="457200" y="4590288"/>
            <a:ext cx="2743200" cy="256032"/>
          </a:xfrm>
          <a:prstGeom prst="rect">
            <a:avLst/>
          </a:prstGeom>
          <a:noFill/>
          <a:ln/>
        </p:spPr>
        <p:txBody>
          <a:bodyPr wrap="square" lIns="0" tIns="0" rIns="0" bIns="0" rtlCol="0" anchor="ctr"/>
          <a:lstStyle/>
          <a:p>
            <a:pPr indent="0" marL="0">
              <a:buNone/>
            </a:pPr>
            <a:r>
              <a:rPr lang="en-US" sz="1100" b="1" dirty="0">
                <a:solidFill>
                  <a:srgbClr val="C98500"/>
                </a:solidFill>
              </a:rPr>
              <a:t>RF-17</a:t>
            </a:r>
            <a:endParaRPr lang="en-US" sz="1100" dirty="0"/>
          </a:p>
        </p:txBody>
      </p:sp>
      <p:pic>
        <p:nvPicPr>
          <p:cNvPr id="8" name="Image 0" descr="F09_tier3_tier4_incremental">    </p:cNvPr>
          <p:cNvPicPr>
            <a:picLocks noChangeAspect="1"/>
          </p:cNvPicPr>
          <p:nvPr/>
        </p:nvPicPr>
        <p:blipFill>
          <a:blip r:embed="rId1"/>
          <a:stretch>
            <a:fillRect/>
          </a:stretch>
        </p:blipFill>
        <p:spPr>
          <a:xfrm>
            <a:off x="5402069" y="1097280"/>
            <a:ext cx="5837941" cy="2560320"/>
          </a:xfrm>
          <a:prstGeom prst="rect">
            <a:avLst/>
          </a:prstGeom>
        </p:spPr>
      </p:pic>
      <p:sp>
        <p:nvSpPr>
          <p:cNvPr id="9" name="Text 3"/>
          <p:cNvSpPr txBox="1"/>
          <p:nvPr/>
        </p:nvSpPr>
        <p:spPr>
          <a:xfrm>
            <a:off x="4937760" y="3840480"/>
            <a:ext cx="6766560" cy="219456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On all leaves the RF bands separate the classes better than the CART bands (J–M 1.67 vs 1.27) but QDA on them is not more accurate (BA 70.1 vs 71.1 %): RF picks many correlated bands in the same two regions, CART picks complementary regions (green, red edge, NIR, SWIR).</a:t>
            </a:r>
            <a:endParaRPr lang="en-US" sz="1400" dirty="0"/>
          </a:p>
          <a:p>
            <a:pPr marL="342900" indent="-342900">
              <a:spcAft>
                <a:spcPts val="600"/>
              </a:spcAft>
              <a:buSzPct val="100000"/>
              <a:buChar char="•"/>
            </a:pPr>
            <a:r>
              <a:rPr lang="en-US" sz="1400" dirty="0">
                <a:solidFill>
                  <a:srgbClr val="1B1B1A"/>
                </a:solidFill>
              </a:rPr>
              <a:t>RF-17 concentrates on the red / red edge (621–773 nm) and on 1882–2019 nm, the same two regions where Tier 1 is most significant.</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A3 · CART and RF as classifiers and as band selectors (identical folds)</a:t>
            </a:r>
            <a:endParaRPr lang="en-US" sz="2600" dirty="0"/>
          </a:p>
        </p:txBody>
      </p:sp>
      <p:pic>
        <p:nvPicPr>
          <p:cNvPr id="3" name="Image 0" descr="F13_A3_pipelines">    </p:cNvPr>
          <p:cNvPicPr>
            <a:picLocks noChangeAspect="1"/>
          </p:cNvPicPr>
          <p:nvPr/>
        </p:nvPicPr>
        <p:blipFill>
          <a:blip r:embed="rId1"/>
          <a:stretch>
            <a:fillRect/>
          </a:stretch>
        </p:blipFill>
        <p:spPr>
          <a:xfrm>
            <a:off x="715288" y="1005840"/>
            <a:ext cx="7073344" cy="310896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4206240"/>
          <a:ext cx="11277295" cy="914400"/>
        </p:xfrm>
        <a:graphic>
          <a:graphicData uri="http://schemas.openxmlformats.org/drawingml/2006/table">
            <a:tbl>
              <a:tblPr/>
              <a:tblGrid>
                <a:gridCol w="4206240"/>
                <a:gridCol w="2011680"/>
                <a:gridCol w="1463040"/>
                <a:gridCol w="1097280"/>
                <a:gridCol w="1188720"/>
                <a:gridCol w="1280160"/>
              </a:tblGrid>
              <a:tr h="210312">
                <a:tc>
                  <a:txBody>
                    <a:bodyPr/>
                    <a:lstStyle/>
                    <a:p>
                      <a:pPr indent="0" marL="0">
                        <a:buNone/>
                      </a:pPr>
                      <a:r>
                        <a:rPr lang="en-US" sz="1000" b="1" dirty="0">
                          <a:solidFill>
                            <a:srgbClr val="FFFFFF"/>
                          </a:solidFill>
                        </a:rPr>
                        <a:t>Comparison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Units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difference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First better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Second better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Wilcoxon p</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0312">
                <a:tc>
                  <a:txBody>
                    <a:bodyPr/>
                    <a:lstStyle/>
                    <a:p>
                      <a:pPr indent="0" marL="0">
                        <a:buNone/>
                      </a:pPr>
                      <a:r>
                        <a:rPr lang="en-US" sz="1000" dirty="0">
                          <a:solidFill>
                            <a:srgbClr val="1B1B1A"/>
                          </a:solidFill>
                        </a:rPr>
                        <a:t>RF classifier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9.8e-14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RF classifier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RF features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-3.1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RF features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0.105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CART features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1.6e-09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CART features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RF features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0.087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RF features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1.000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8229600" y="1097280"/>
            <a:ext cx="3474720" cy="301752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RF beats CART as a classifier by 6.0 points (V3, 48 of 50 folds) and 5.3 points (V4, 10 of 10).</a:t>
            </a:r>
            <a:endParaRPr lang="en-US" sz="1300" dirty="0"/>
          </a:p>
          <a:p>
            <a:pPr marL="342900" indent="-342900">
              <a:spcAft>
                <a:spcPts val="600"/>
              </a:spcAft>
              <a:buSzPct val="100000"/>
              <a:buChar char="•"/>
            </a:pPr>
            <a:r>
              <a:rPr lang="en-US" sz="1300" dirty="0">
                <a:solidFill>
                  <a:srgbClr val="1B1B1A"/>
                </a:solidFill>
              </a:rPr>
              <a:t>QDA on CART bands beats QDA on RF bands by 3.1 points in V3 (35 of 50 folds, p = 0.003); in V4 the difference is not significant.</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A4 · How stable are the selected bands across 50 training sets?</a:t>
            </a:r>
            <a:endParaRPr lang="en-US" sz="2600" dirty="0"/>
          </a:p>
        </p:txBody>
      </p:sp>
      <p:pic>
        <p:nvPicPr>
          <p:cNvPr id="3" name="Image 0" descr="F14_A4_stability">    </p:cNvPr>
          <p:cNvPicPr>
            <a:picLocks noChangeAspect="1"/>
          </p:cNvPicPr>
          <p:nvPr/>
        </p:nvPicPr>
        <p:blipFill>
          <a:blip r:embed="rId1"/>
          <a:stretch>
            <a:fillRect/>
          </a:stretch>
        </p:blipFill>
        <p:spPr>
          <a:xfrm>
            <a:off x="2137691" y="1005840"/>
            <a:ext cx="7916314" cy="3291840"/>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4480560"/>
          <a:ext cx="11277295" cy="914400"/>
        </p:xfrm>
        <a:graphic>
          <a:graphicData uri="http://schemas.openxmlformats.org/drawingml/2006/table">
            <a:tbl>
              <a:tblPr/>
              <a:tblGrid>
                <a:gridCol w="1097280"/>
                <a:gridCol w="1463040"/>
                <a:gridCol w="2011680"/>
                <a:gridCol w="2377440"/>
                <a:gridCol w="2103120"/>
                <a:gridCol w="2194560"/>
              </a:tblGrid>
              <a:tr h="237744">
                <a:tc>
                  <a:txBody>
                    <a:bodyPr/>
                    <a:lstStyle/>
                    <a:p>
                      <a:pPr indent="0" marL="0">
                        <a:buNone/>
                      </a:pPr>
                      <a:r>
                        <a:rPr lang="en-US" sz="1100" b="1" dirty="0">
                          <a:solidFill>
                            <a:srgbClr val="FFFFFF"/>
                          </a:solidFill>
                        </a:rPr>
                        <a:t>Method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features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Unique features (union)</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Stability index (exact) = all / union</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Stability index (±10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pairwise Jaccard (±10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CART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0.000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0.000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0.296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RF</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17.0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308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0.000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0.269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0.724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Part K · Disease-sensitive feature extraction</a:t>
            </a:r>
            <a:endParaRPr lang="en-US" sz="3600" dirty="0"/>
          </a:p>
        </p:txBody>
      </p:sp>
      <p:sp>
        <p:nvSpPr>
          <p:cNvPr id="3" name="Text 0"/>
          <p:cNvSpPr/>
          <p:nvPr>
            <p:ph idx="101" type="body" hasCustomPrompt="1"/>
          </p:nvPr>
        </p:nvSpPr>
        <p:spPr>
          <a:xfrm>
            <a:off x="457200" y="3566160"/>
            <a:ext cx="11277295" cy="1463040"/>
          </a:xfrm>
          <a:prstGeom prst="rect">
            <a:avLst/>
          </a:prstGeom>
          <a:noFill/>
          <a:ln/>
        </p:spPr>
        <p:txBody>
          <a:bodyPr wrap="square" rtlCol="0" anchor="t"/>
          <a:lstStyle/>
          <a:p>
            <a:pPr indent="0" marL="0">
              <a:buNone/>
            </a:pPr>
            <a:r>
              <a:rPr lang="en-US" sz="1800" dirty="0">
                <a:solidFill>
                  <a:srgbClr val="E3F4EC"/>
                </a:solidFill>
              </a:rPr>
              <a:t>K0 denoising → K1 band reflectance · K2 continuum removal · K3 spectral indices (+ K3b optimised index) · K4 first derivative and REIP · K6 correlation spectra → K5 CART vs RF on every feature group</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K0 · Splice correction, smoothing and the detector artefact at 1800 nm</a:t>
            </a:r>
            <a:endParaRPr lang="en-US" sz="2600" dirty="0"/>
          </a:p>
        </p:txBody>
      </p:sp>
      <p:pic>
        <p:nvPicPr>
          <p:cNvPr id="3" name="Image 0" descr="F15_K0_detector_joins">    </p:cNvPr>
          <p:cNvPicPr>
            <a:picLocks noChangeAspect="1"/>
          </p:cNvPicPr>
          <p:nvPr/>
        </p:nvPicPr>
        <p:blipFill>
          <a:blip r:embed="rId1"/>
          <a:stretch>
            <a:fillRect/>
          </a:stretch>
        </p:blipFill>
        <p:spPr>
          <a:xfrm>
            <a:off x="1048249" y="1005840"/>
            <a:ext cx="6498862" cy="274320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4572000" cy="914400"/>
        </p:xfrm>
        <a:graphic>
          <a:graphicData uri="http://schemas.openxmlformats.org/drawingml/2006/table">
            <a:tbl>
              <a:tblPr/>
              <a:tblGrid>
                <a:gridCol w="1645920"/>
                <a:gridCol w="1463040"/>
                <a:gridCol w="1463040"/>
              </a:tblGrid>
              <a:tr h="237744">
                <a:tc>
                  <a:txBody>
                    <a:bodyPr/>
                    <a:lstStyle/>
                    <a:p>
                      <a:pPr indent="0" marL="0">
                        <a:buNone/>
                      </a:pPr>
                      <a:r>
                        <a:rPr lang="en-US" sz="1200" b="1" dirty="0">
                          <a:solidFill>
                            <a:srgbClr val="FFFFFF"/>
                          </a:solidFill>
                        </a:rPr>
                        <a:t>Join</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Offset healthy</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Offset diseased</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200" dirty="0">
                          <a:solidFill>
                            <a:srgbClr val="1B1B1A"/>
                          </a:solidFill>
                        </a:rPr>
                        <a:t>1000/1001 nm</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0.0019</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0.0020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200" dirty="0">
                          <a:solidFill>
                            <a:srgbClr val="1B1B1A"/>
                          </a:solidFill>
                        </a:rPr>
                        <a:t>1800/1801 nm</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-0.0000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-0.0001</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8321040" y="1097280"/>
            <a:ext cx="3383280" cy="457200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Savitzky–Golay: SG(11,2) smoothing, SG(15,2) first and SG(21,2) second derivative.</a:t>
            </a:r>
            <a:endParaRPr lang="en-US" sz="1300" dirty="0"/>
          </a:p>
          <a:p>
            <a:pPr marL="342900" indent="-342900">
              <a:spcAft>
                <a:spcPts val="600"/>
              </a:spcAft>
              <a:buSzPct val="100000"/>
              <a:buChar char="•"/>
            </a:pPr>
            <a:r>
              <a:rPr lang="en-US" sz="1300" dirty="0">
                <a:solidFill>
                  <a:srgbClr val="1B1B1A"/>
                </a:solidFill>
              </a:rPr>
              <a:t>Signal preserved: r ≥ 0.99999; Tier-1 bands 1653 (raw) vs 1652 (smoothed).</a:t>
            </a:r>
            <a:endParaRPr lang="en-US" sz="1300" dirty="0"/>
          </a:p>
          <a:p>
            <a:pPr marL="342900" indent="-342900">
              <a:spcAft>
                <a:spcPts val="600"/>
              </a:spcAft>
              <a:buSzPct val="100000"/>
              <a:buChar char="•"/>
            </a:pPr>
            <a:r>
              <a:rPr lang="en-US" sz="1300" dirty="0">
                <a:solidFill>
                  <a:srgbClr val="1B1B1A"/>
                </a:solidFill>
              </a:rPr>
              <a:t>Start-up bump after 1801 nm detected → guard zones 990–1010 and 1795–1835 nm (wider for derivatives) excluded from rankings.</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K1 · Band reflectance: best single band 1890 nm (AUC 0.691)</a:t>
            </a:r>
            <a:endParaRPr lang="en-US" sz="2600" dirty="0"/>
          </a:p>
        </p:txBody>
      </p:sp>
      <p:pic>
        <p:nvPicPr>
          <p:cNvPr id="3" name="Image 0" descr="F16_K1_K4_band_auc">    </p:cNvPr>
          <p:cNvPicPr>
            <a:picLocks noChangeAspect="1"/>
          </p:cNvPicPr>
          <p:nvPr/>
        </p:nvPicPr>
        <p:blipFill>
          <a:blip r:embed="rId1"/>
          <a:stretch>
            <a:fillRect/>
          </a:stretch>
        </p:blipFill>
        <p:spPr>
          <a:xfrm>
            <a:off x="716817" y="1005840"/>
            <a:ext cx="5881566" cy="283464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931920"/>
          <a:ext cx="11277295" cy="914400"/>
        </p:xfrm>
        <a:graphic>
          <a:graphicData uri="http://schemas.openxmlformats.org/drawingml/2006/table">
            <a:tbl>
              <a:tblPr/>
              <a:tblGrid>
                <a:gridCol w="1645920"/>
                <a:gridCol w="1280160"/>
                <a:gridCol w="914400"/>
                <a:gridCol w="1005840"/>
                <a:gridCol w="914400"/>
                <a:gridCol w="1645920"/>
                <a:gridCol w="1463040"/>
              </a:tblGrid>
              <a:tr h="192024">
                <a:tc>
                  <a:txBody>
                    <a:bodyPr/>
                    <a:lstStyle/>
                    <a:p>
                      <a:pPr indent="0" marL="0">
                        <a:buNone/>
                      </a:pPr>
                      <a:r>
                        <a:rPr lang="en-US" sz="1000" b="1" dirty="0">
                          <a:solidFill>
                            <a:srgbClr val="FFFFFF"/>
                          </a:solidFill>
                        </a:rPr>
                        <a:t>Region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Wavelength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AUC</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Direction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Hedges g</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BA plot-grouped CV</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BA hold-out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192024">
                <a:tc>
                  <a:txBody>
                    <a:bodyPr/>
                    <a:lstStyle/>
                    <a:p>
                      <a:pPr indent="0" marL="0">
                        <a:buNone/>
                      </a:pPr>
                      <a:r>
                        <a:rPr lang="en-US" sz="1000" dirty="0">
                          <a:solidFill>
                            <a:srgbClr val="1B1B1A"/>
                          </a:solidFill>
                        </a:rPr>
                        <a:t>400–499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499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0.576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0.28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54.3 %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54.6 %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92024">
                <a:tc>
                  <a:txBody>
                    <a:bodyPr/>
                    <a:lstStyle/>
                    <a:p>
                      <a:pPr indent="0" marL="0">
                        <a:buNone/>
                      </a:pPr>
                      <a:r>
                        <a:rPr lang="en-US" sz="1000" dirty="0">
                          <a:solidFill>
                            <a:srgbClr val="1B1B1A"/>
                          </a:solidFill>
                        </a:rPr>
                        <a:t>500–599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599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0.625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0.44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59.1 %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58.6 %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92024">
                <a:tc>
                  <a:txBody>
                    <a:bodyPr/>
                    <a:lstStyle/>
                    <a:p>
                      <a:pPr indent="0" marL="0">
                        <a:buNone/>
                      </a:pPr>
                      <a:r>
                        <a:rPr lang="en-US" sz="1000" dirty="0">
                          <a:solidFill>
                            <a:srgbClr val="1B1B1A"/>
                          </a:solidFill>
                        </a:rPr>
                        <a:t>600–679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656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0.669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62.8 %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62.2 %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92024">
                <a:tc>
                  <a:txBody>
                    <a:bodyPr/>
                    <a:lstStyle/>
                    <a:p>
                      <a:pPr indent="0" marL="0">
                        <a:buNone/>
                      </a:pPr>
                      <a:r>
                        <a:rPr lang="en-US" sz="1000" dirty="0">
                          <a:solidFill>
                            <a:srgbClr val="1B1B1A"/>
                          </a:solidFill>
                        </a:rPr>
                        <a:t>680–759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692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0.678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0.56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62.5 %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63.0 %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92024">
                <a:tc>
                  <a:txBody>
                    <a:bodyPr/>
                    <a:lstStyle/>
                    <a:p>
                      <a:pPr indent="0" marL="0">
                        <a:buNone/>
                      </a:pPr>
                      <a:r>
                        <a:rPr lang="en-US" sz="1000" dirty="0">
                          <a:solidFill>
                            <a:srgbClr val="1B1B1A"/>
                          </a:solidFill>
                        </a:rPr>
                        <a:t>760–1349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0.605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&lt;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-0.28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59.9 %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92024">
                <a:tc>
                  <a:txBody>
                    <a:bodyPr/>
                    <a:lstStyle/>
                    <a:p>
                      <a:pPr indent="0" marL="0">
                        <a:buNone/>
                      </a:pPr>
                      <a:r>
                        <a:rPr lang="en-US" sz="1000" dirty="0">
                          <a:solidFill>
                            <a:srgbClr val="1B1B1A"/>
                          </a:solidFill>
                        </a:rPr>
                        <a:t>1350–1430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1430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0.655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60.1 %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60.4 %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92024">
                <a:tc>
                  <a:txBody>
                    <a:bodyPr/>
                    <a:lstStyle/>
                    <a:p>
                      <a:pPr indent="0" marL="0">
                        <a:buNone/>
                      </a:pPr>
                      <a:r>
                        <a:rPr lang="en-US" sz="1000" dirty="0">
                          <a:solidFill>
                            <a:srgbClr val="1B1B1A"/>
                          </a:solidFill>
                        </a:rPr>
                        <a:t>1431–1799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1431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0.655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92024">
                <a:tc>
                  <a:txBody>
                    <a:bodyPr/>
                    <a:lstStyle/>
                    <a:p>
                      <a:pPr indent="0" marL="0">
                        <a:buNone/>
                      </a:pPr>
                      <a:r>
                        <a:rPr lang="en-US" sz="1000" dirty="0">
                          <a:solidFill>
                            <a:srgbClr val="1B1B1A"/>
                          </a:solidFill>
                        </a:rPr>
                        <a:t>1800–1950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1890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0.691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63.9 %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63.6 %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92024">
                <a:tc>
                  <a:txBody>
                    <a:bodyPr/>
                    <a:lstStyle/>
                    <a:p>
                      <a:pPr indent="0" marL="0">
                        <a:buNone/>
                      </a:pPr>
                      <a:r>
                        <a:rPr lang="en-US" sz="1000" dirty="0">
                          <a:solidFill>
                            <a:srgbClr val="1B1B1A"/>
                          </a:solidFill>
                        </a:rPr>
                        <a:t>1951–2349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0.684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64.6 %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64.4 %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92024">
                <a:tc>
                  <a:txBody>
                    <a:bodyPr/>
                    <a:lstStyle/>
                    <a:p>
                      <a:pPr indent="0" marL="0">
                        <a:buNone/>
                      </a:pPr>
                      <a:r>
                        <a:rPr lang="en-US" sz="1000" dirty="0">
                          <a:solidFill>
                            <a:srgbClr val="1B1B1A"/>
                          </a:solidFill>
                        </a:rPr>
                        <a:t>2350–2500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2496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0.634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&gt;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0.43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57.6 %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58.5 %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7132320" y="1097280"/>
            <a:ext cx="4572000" cy="256032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1652 of 2101 smoothed bands significant; 0 bands reach AUC ≥ 0.70.</a:t>
            </a:r>
            <a:endParaRPr lang="en-US" sz="1300" dirty="0"/>
          </a:p>
          <a:p>
            <a:pPr marL="342900" indent="-342900">
              <a:spcAft>
                <a:spcPts val="600"/>
              </a:spcAft>
              <a:buSzPct val="100000"/>
              <a:buChar char="•"/>
            </a:pPr>
            <a:r>
              <a:rPr lang="en-US" sz="1300" dirty="0">
                <a:solidFill>
                  <a:srgbClr val="1B1B1A"/>
                </a:solidFill>
              </a:rPr>
              <a:t>Threshold chosen on training plots and tested on new plots (CV and hold-out columns).</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K2 · Continuum-removed absorption features</a:t>
            </a:r>
            <a:endParaRPr lang="en-US" sz="2600" dirty="0"/>
          </a:p>
        </p:txBody>
      </p:sp>
      <p:pic>
        <p:nvPicPr>
          <p:cNvPr id="3" name="Image 0" descr="F17_K2_continuum">    </p:cNvPr>
          <p:cNvPicPr>
            <a:picLocks noChangeAspect="1"/>
          </p:cNvPicPr>
          <p:nvPr/>
        </p:nvPicPr>
        <p:blipFill>
          <a:blip r:embed="rId1"/>
          <a:stretch>
            <a:fillRect/>
          </a:stretch>
        </p:blipFill>
        <p:spPr>
          <a:xfrm>
            <a:off x="457200" y="1132502"/>
            <a:ext cx="6035040" cy="3038517"/>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75120" y="1097280"/>
          <a:ext cx="5029200" cy="914400"/>
        </p:xfrm>
        <a:graphic>
          <a:graphicData uri="http://schemas.openxmlformats.org/drawingml/2006/table">
            <a:tbl>
              <a:tblPr/>
              <a:tblGrid>
                <a:gridCol w="1645920"/>
                <a:gridCol w="594360"/>
                <a:gridCol w="594360"/>
                <a:gridCol w="457200"/>
                <a:gridCol w="548640"/>
                <a:gridCol w="594360"/>
                <a:gridCol w="594360"/>
              </a:tblGrid>
              <a:tr h="237744">
                <a:tc>
                  <a:txBody>
                    <a:bodyPr/>
                    <a:lstStyle/>
                    <a:p>
                      <a:pPr indent="0" marL="0">
                        <a:buNone/>
                      </a:pPr>
                      <a:r>
                        <a:rPr lang="en-US" sz="900" b="1" dirty="0">
                          <a:solidFill>
                            <a:srgbClr val="FFFFFF"/>
                          </a:solidFill>
                        </a:rPr>
                        <a:t>name</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Mean healthy</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Mean diseased</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AUC</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Direction</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 plot-grouped CV</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 hold-out</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900" dirty="0">
                          <a:solidFill>
                            <a:srgbClr val="1B1B1A"/>
                          </a:solidFill>
                        </a:rPr>
                        <a:t>CR3 water 970 width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64.159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60.944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0.765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70.1 %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70.5 %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1B1B1A"/>
                          </a:solidFill>
                        </a:rPr>
                        <a:t>CR6 water 1940 position</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1912.193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1916.592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0.686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&gt;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64.3 %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64.6 %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00" dirty="0">
                          <a:solidFill>
                            <a:srgbClr val="1B1B1A"/>
                          </a:solidFill>
                        </a:rPr>
                        <a:t>CR6 water 1940 symmetry</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0.238</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0.250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0.669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&gt;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67.0 %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67.3 %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1B1B1A"/>
                          </a:solidFill>
                        </a:rPr>
                        <a:t>CR2 red area</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95.305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88.115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0.666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62.5 %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61.8 %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00" dirty="0">
                          <a:solidFill>
                            <a:srgbClr val="1B1B1A"/>
                          </a:solidFill>
                        </a:rPr>
                        <a:t>CR2 red width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129.997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124.995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0.655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1B1B1A"/>
                          </a:solidFill>
                        </a:rPr>
                        <a:t>CR2 red depth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0.791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0.757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0.652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58.8 %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59.6 %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00" dirty="0">
                          <a:solidFill>
                            <a:srgbClr val="1B1B1A"/>
                          </a:solidFill>
                        </a:rPr>
                        <a:t>CR3 water 970 area</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3.069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2.674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0.645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62.1 %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1B1B1A"/>
                          </a:solidFill>
                        </a:rPr>
                        <a:t>CR5 water 1450 depth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0.751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0.716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0.636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59.0 %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59.8 %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57200" y="457200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Depth, position, area, width (FWHM) and symmetry of six absorption windows (30 parameters); ranked by AUC.</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K3 · Disease-sensitive spectral indices (31 indices)</a:t>
            </a:r>
            <a:endParaRPr lang="en-US" sz="2600" dirty="0"/>
          </a:p>
        </p:txBody>
      </p:sp>
      <p:pic>
        <p:nvPicPr>
          <p:cNvPr id="3" name="Image 0" descr="F18_K3_indices">    </p:cNvPr>
          <p:cNvPicPr>
            <a:picLocks noChangeAspect="1"/>
          </p:cNvPicPr>
          <p:nvPr/>
        </p:nvPicPr>
        <p:blipFill>
          <a:blip r:embed="rId1"/>
          <a:stretch>
            <a:fillRect/>
          </a:stretch>
        </p:blipFill>
        <p:spPr>
          <a:xfrm>
            <a:off x="457200" y="1425603"/>
            <a:ext cx="4206240" cy="4463994"/>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937760" y="1097280"/>
          <a:ext cx="6766560" cy="914400"/>
        </p:xfrm>
        <a:graphic>
          <a:graphicData uri="http://schemas.openxmlformats.org/drawingml/2006/table">
            <a:tbl>
              <a:tblPr/>
              <a:tblGrid>
                <a:gridCol w="1188720"/>
                <a:gridCol w="1005840"/>
                <a:gridCol w="1005840"/>
                <a:gridCol w="731520"/>
                <a:gridCol w="822960"/>
                <a:gridCol w="1005840"/>
                <a:gridCol w="1005840"/>
              </a:tblGrid>
              <a:tr h="274320">
                <a:tc>
                  <a:txBody>
                    <a:bodyPr/>
                    <a:lstStyle/>
                    <a:p>
                      <a:pPr indent="0" marL="0">
                        <a:buNone/>
                      </a:pPr>
                      <a:r>
                        <a:rPr lang="en-US" sz="1050" b="1" dirty="0">
                          <a:solidFill>
                            <a:srgbClr val="FFFFFF"/>
                          </a:solidFill>
                        </a:rPr>
                        <a:t>name</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Mean healthy</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Mean diseased</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AUC</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Direction</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BA plot-grouped CV</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BA hold-out</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50" dirty="0">
                          <a:solidFill>
                            <a:srgbClr val="1B1B1A"/>
                          </a:solidFill>
                        </a:rPr>
                        <a:t>NWI2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-0.027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-0.020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0.700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 &gt;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65.4 %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65.8 %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1B1A"/>
                          </a:solidFill>
                        </a:rPr>
                        <a:t>RVS2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-1.467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-1.604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0.672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61.9 %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60.7 %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50" dirty="0">
                          <a:solidFill>
                            <a:srgbClr val="1B1B1A"/>
                          </a:solidFill>
                        </a:rPr>
                        <a:t>NDVI761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0.689</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0.642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0.671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61.7 %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60.7 %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1B1A"/>
                          </a:solidFill>
                        </a:rPr>
                        <a:t>SR761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5.609</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4.874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0.671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61.7 %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60.7 %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50" dirty="0">
                          <a:solidFill>
                            <a:srgbClr val="1B1B1A"/>
                          </a:solidFill>
                        </a:rPr>
                        <a:t>RARSc</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3.068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2.711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0.669</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62.6 %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61.8 %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1B1A"/>
                          </a:solidFill>
                        </a:rPr>
                        <a:t>WI</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1.052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1.043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0.667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63.1 %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63.1 %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50" dirty="0">
                          <a:solidFill>
                            <a:srgbClr val="1B1B1A"/>
                          </a:solidFill>
                        </a:rPr>
                        <a:t>NDVI850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0.687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0.644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0.664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61.8 %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60.9 %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1B1A"/>
                          </a:solidFill>
                        </a:rPr>
                        <a:t>NDVI780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0.722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0.681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0.660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62.6 %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62.4 %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50" dirty="0">
                          <a:solidFill>
                            <a:srgbClr val="1B1B1A"/>
                          </a:solidFill>
                        </a:rPr>
                        <a:t>RDVI</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0.578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0.538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0.656</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59.5 %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59.6 %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1B1A"/>
                          </a:solidFill>
                        </a:rPr>
                        <a:t>PSSRa</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6.241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5.495</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0.655</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 &lt; H</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60.4 %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60.9 %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937760" y="4206240"/>
            <a:ext cx="6766560" cy="731520"/>
          </a:xfrm>
          <a:prstGeom prst="rect">
            <a:avLst/>
          </a:prstGeom>
          <a:noFill/>
          <a:ln/>
        </p:spPr>
        <p:txBody>
          <a:bodyPr wrap="square" lIns="0" tIns="0" rIns="0" bIns="0" rtlCol="0" anchor="ctr"/>
          <a:lstStyle/>
          <a:p>
            <a:pPr indent="0" marL="0">
              <a:buNone/>
            </a:pPr>
            <a:r>
              <a:rPr lang="en-US" sz="1100" i="1" dirty="0">
                <a:solidFill>
                  <a:srgbClr val="52514E"/>
                </a:solidFill>
              </a:rPr>
              <a:t>mCARI1 and MTVI1 are algebraically identical; SR761 and NDVI761 rank leaves identically (same AUC). Ranking: AUC on all leaves; BA columns: threshold chosen on training plots, tested on new plots.</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K3b · Optimised two-band index: 82,621 band pairs searched</a:t>
            </a:r>
            <a:endParaRPr lang="en-US" sz="2600" dirty="0"/>
          </a:p>
        </p:txBody>
      </p:sp>
      <p:pic>
        <p:nvPicPr>
          <p:cNvPr id="3" name="Image 0" descr="F19_K3b_ndsi_heatmap">    </p:cNvPr>
          <p:cNvPicPr>
            <a:picLocks noChangeAspect="1"/>
          </p:cNvPicPr>
          <p:nvPr/>
        </p:nvPicPr>
        <p:blipFill>
          <a:blip r:embed="rId1"/>
          <a:stretch>
            <a:fillRect/>
          </a:stretch>
        </p:blipFill>
        <p:spPr>
          <a:xfrm>
            <a:off x="621439" y="1005840"/>
            <a:ext cx="4426401" cy="420624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0" y="1097280"/>
          <a:ext cx="3108960" cy="914400"/>
        </p:xfrm>
        <a:graphic>
          <a:graphicData uri="http://schemas.openxmlformats.org/drawingml/2006/table">
            <a:tbl>
              <a:tblPr/>
              <a:tblGrid>
                <a:gridCol w="2103120"/>
                <a:gridCol w="1005840"/>
              </a:tblGrid>
              <a:tr h="237744">
                <a:tc>
                  <a:txBody>
                    <a:bodyPr/>
                    <a:lstStyle/>
                    <a:p>
                      <a:pPr indent="0" marL="0">
                        <a:buNone/>
                      </a:pPr>
                      <a:r>
                        <a:rPr lang="en-US" sz="1100" b="1" dirty="0">
                          <a:solidFill>
                            <a:srgbClr val="FFFFFF"/>
                          </a:solidFill>
                        </a:rPr>
                        <a:t>Index</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NDSI(1790, 1840)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0.812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NDSI(1785, 1840)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0.807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NDSI(1780, 1840)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0.793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DI(870, 875)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0.791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DI(845, 850)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DI(845, 865)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0.785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486400" y="2834640"/>
          <a:ext cx="6217920" cy="914400"/>
        </p:xfrm>
        <a:graphic>
          <a:graphicData uri="http://schemas.openxmlformats.org/drawingml/2006/table">
            <a:tbl>
              <a:tblPr/>
              <a:tblGrid>
                <a:gridCol w="1280160"/>
                <a:gridCol w="914400"/>
                <a:gridCol w="914400"/>
                <a:gridCol w="640080"/>
                <a:gridCol w="731520"/>
                <a:gridCol w="914400"/>
                <a:gridCol w="822960"/>
              </a:tblGrid>
              <a:tr h="237744">
                <a:tc>
                  <a:txBody>
                    <a:bodyPr/>
                    <a:lstStyle/>
                    <a:p>
                      <a:pPr indent="0" marL="0">
                        <a:buNone/>
                      </a:pPr>
                      <a:r>
                        <a:rPr lang="en-US" sz="1000" b="1" dirty="0">
                          <a:solidFill>
                            <a:srgbClr val="FFFFFF"/>
                          </a:solidFill>
                        </a:rPr>
                        <a:t>name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healthy</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diseased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AUC</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Direction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BA plot-grouped CV</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BA hold-out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000" dirty="0">
                          <a:solidFill>
                            <a:srgbClr val="1B1B1A"/>
                          </a:solidFill>
                        </a:rPr>
                        <a:t>NDSI(1794,1837)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0.019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0.013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&lt;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B1A"/>
                          </a:solidFill>
                        </a:rPr>
                        <a:t>DI(872,874)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1.0e-04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-6.2e-06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0.792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D &lt; H</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70.6 %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71.2 %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82" name="Table 2"/>
          <p:cNvGraphicFramePr>
            <a:graphicFrameLocks noGrp="1"/>
          </p:cNvGraphicFramePr>
          <p:nvPr>
            <p:extLst>
              <p:ext uri="{D42A27DB-BD31-4B8C-83A1-F6EECF244321}">
                <p14:modId xmlns:p14="http://schemas.microsoft.com/office/powerpoint/2010/main" val="1579011935"/>
              </p:ext>
            </p:extLst>
          </p:nvPr>
        </p:nvGraphicFramePr>
        <p:xfrm>
          <a:off x="5486400" y="3931920"/>
          <a:ext cx="6217920" cy="914400"/>
        </p:xfrm>
        <a:graphic>
          <a:graphicData uri="http://schemas.openxmlformats.org/drawingml/2006/table">
            <a:tbl>
              <a:tblPr/>
              <a:tblGrid>
                <a:gridCol w="3291840"/>
                <a:gridCol w="1463040"/>
                <a:gridCol w="1463040"/>
              </a:tblGrid>
              <a:tr h="237744">
                <a:tc>
                  <a:txBody>
                    <a:bodyPr/>
                    <a:lstStyle/>
                    <a:p>
                      <a:pPr indent="0" marL="0">
                        <a:buNone/>
                      </a:pPr>
                      <a:r>
                        <a:rPr lang="en-US" sz="1100" b="1" dirty="0">
                          <a:solidFill>
                            <a:srgbClr val="FFFFFF"/>
                          </a:solidFill>
                        </a:rPr>
                        <a:t>Honest (search inside training sets)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 CV</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 hold-out</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NDSI, all pairs (straddles 1800 nm join)</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73.0 %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72.8 %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NDSI, join-free pairs</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70.2 %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70.7 %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100" dirty="0">
                          <a:solidFill>
                            <a:srgbClr val="1B1B1A"/>
                          </a:solidFill>
                        </a:rPr>
                        <a:t>DI, join-free pairs</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70.7 %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71.3 %</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109" name="Table 3"/>
          <p:cNvGraphicFramePr>
            <a:graphicFrameLocks noGrp="1"/>
          </p:cNvGraphicFramePr>
          <p:nvPr>
            <p:extLst>
              <p:ext uri="{D42A27DB-BD31-4B8C-83A1-F6EECF244321}">
                <p14:modId xmlns:p14="http://schemas.microsoft.com/office/powerpoint/2010/main" val="1579011935"/>
              </p:ext>
            </p:extLst>
          </p:nvPr>
        </p:nvGraphicFramePr>
        <p:xfrm>
          <a:off x="5486400" y="5257800"/>
          <a:ext cx="6217920" cy="914400"/>
        </p:xfrm>
        <a:graphic>
          <a:graphicData uri="http://schemas.openxmlformats.org/drawingml/2006/table">
            <a:tbl>
              <a:tblPr/>
              <a:tblGrid>
                <a:gridCol w="1280160"/>
                <a:gridCol w="914400"/>
                <a:gridCol w="914400"/>
                <a:gridCol w="640080"/>
                <a:gridCol w="731520"/>
                <a:gridCol w="914400"/>
                <a:gridCol w="822960"/>
              </a:tblGrid>
              <a:tr h="201168">
                <a:tc>
                  <a:txBody>
                    <a:bodyPr/>
                    <a:lstStyle/>
                    <a:p>
                      <a:pPr indent="0" marL="0">
                        <a:buNone/>
                      </a:pPr>
                      <a:r>
                        <a:rPr lang="en-US" sz="950" b="1" dirty="0">
                          <a:solidFill>
                            <a:srgbClr val="FFFFFF"/>
                          </a:solidFill>
                        </a:rPr>
                        <a:t>name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Mean healthy</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Mean diseased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AUC</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Direction</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 plot-grouped CV</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BA hold-out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01168">
                <a:tc>
                  <a:txBody>
                    <a:bodyPr/>
                    <a:lstStyle/>
                    <a:p>
                      <a:pPr indent="0" marL="0">
                        <a:buNone/>
                      </a:pPr>
                      <a:r>
                        <a:rPr lang="en-US" sz="950" dirty="0">
                          <a:solidFill>
                            <a:srgbClr val="1B1B1A"/>
                          </a:solidFill>
                        </a:rPr>
                        <a:t>NDSI(849,850)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3.1e-05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-2.7e-05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0.798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D &lt; H</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72.1 %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950" dirty="0">
                          <a:solidFill>
                            <a:srgbClr val="1B1B1A"/>
                          </a:solidFill>
                        </a:rPr>
                        <a:t>DI(872,874)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1.0e-04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-6.2e-06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0.792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D &lt; H</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70.6 %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71.2 %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K4 · First-derivative spectra and edge parameters</a:t>
            </a:r>
            <a:endParaRPr lang="en-US" sz="2600" dirty="0"/>
          </a:p>
        </p:txBody>
      </p:sp>
      <p:pic>
        <p:nvPicPr>
          <p:cNvPr id="3" name="Image 0" descr="F20_K4_first_derivative">    </p:cNvPr>
          <p:cNvPicPr>
            <a:picLocks noChangeAspect="1"/>
          </p:cNvPicPr>
          <p:nvPr/>
        </p:nvPicPr>
        <p:blipFill>
          <a:blip r:embed="rId1"/>
          <a:stretch>
            <a:fillRect/>
          </a:stretch>
        </p:blipFill>
        <p:spPr>
          <a:xfrm>
            <a:off x="781604" y="1005840"/>
            <a:ext cx="6666392" cy="2651760"/>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3794760"/>
          <a:ext cx="7315200" cy="914400"/>
        </p:xfrm>
        <a:graphic>
          <a:graphicData uri="http://schemas.openxmlformats.org/drawingml/2006/table">
            <a:tbl>
              <a:tblPr/>
              <a:tblGrid>
                <a:gridCol w="2194560"/>
                <a:gridCol w="1188720"/>
                <a:gridCol w="1371600"/>
                <a:gridCol w="822960"/>
                <a:gridCol w="1737360"/>
              </a:tblGrid>
              <a:tr h="237744">
                <a:tc>
                  <a:txBody>
                    <a:bodyPr/>
                    <a:lstStyle/>
                    <a:p>
                      <a:pPr indent="0" marL="0">
                        <a:buNone/>
                      </a:pPr>
                      <a:r>
                        <a:rPr lang="en-US" sz="1000" b="1" dirty="0">
                          <a:solidFill>
                            <a:srgbClr val="FFFFFF"/>
                          </a:solidFill>
                        </a:rPr>
                        <a:t>Derivative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Significant (FDR)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Best AUC outside guard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at (nm)</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Best AUC inside guard (excluded)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000" dirty="0">
                          <a:solidFill>
                            <a:srgbClr val="1B1B1A"/>
                          </a:solidFill>
                        </a:rPr>
                        <a:t>First derivative (SG 15, 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1488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0.786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872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0.891 at 1819 nm</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B1A"/>
                          </a:solidFill>
                        </a:rPr>
                        <a:t>Second derivative (SG 21, 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1558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0.740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801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0.893 at 1809 nm</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7955280" y="1097280"/>
          <a:ext cx="3749040" cy="914400"/>
        </p:xfrm>
        <a:graphic>
          <a:graphicData uri="http://schemas.openxmlformats.org/drawingml/2006/table">
            <a:tbl>
              <a:tblPr/>
              <a:tblGrid>
                <a:gridCol w="1737360"/>
                <a:gridCol w="457200"/>
                <a:gridCol w="548640"/>
                <a:gridCol w="502920"/>
                <a:gridCol w="502920"/>
              </a:tblGrid>
              <a:tr h="256032">
                <a:tc>
                  <a:txBody>
                    <a:bodyPr/>
                    <a:lstStyle/>
                    <a:p>
                      <a:pPr indent="0" marL="0">
                        <a:buNone/>
                      </a:pPr>
                      <a:r>
                        <a:rPr lang="en-US" sz="900" b="1" dirty="0">
                          <a:solidFill>
                            <a:srgbClr val="FFFFFF"/>
                          </a:solidFill>
                        </a:rPr>
                        <a:t>name</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AUC</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Direction</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 plot-grouped CV</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 hold-out</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56032">
                <a:tc>
                  <a:txBody>
                    <a:bodyPr/>
                    <a:lstStyle/>
                    <a:p>
                      <a:pPr indent="0" marL="0">
                        <a:buNone/>
                      </a:pPr>
                      <a:r>
                        <a:rPr lang="en-US" sz="900" dirty="0">
                          <a:solidFill>
                            <a:srgbClr val="1B1B1A"/>
                          </a:solidFill>
                        </a:rPr>
                        <a:t>Ro (red well 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0.659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&gt;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58.9 %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59.8 %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00" dirty="0">
                          <a:solidFill>
                            <a:srgbClr val="1B1B1A"/>
                          </a:solidFill>
                        </a:rPr>
                        <a:t>λr = REP (red-edge position, n</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0.638</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59.0 %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58.9 %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56032">
                <a:tc>
                  <a:txBody>
                    <a:bodyPr/>
                    <a:lstStyle/>
                    <a:p>
                      <a:pPr indent="0" marL="0">
                        <a:buNone/>
                      </a:pPr>
                      <a:r>
                        <a:rPr lang="en-US" sz="900" dirty="0">
                          <a:solidFill>
                            <a:srgbClr val="1B1B1A"/>
                          </a:solidFill>
                        </a:rPr>
                        <a:t>REP, linear 4-point (nm)</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0.634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61.3 %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59.7 %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00" dirty="0">
                          <a:solidFill>
                            <a:srgbClr val="1B1B1A"/>
                          </a:solidFill>
                        </a:rPr>
                        <a:t>SDr (red-edge area)</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0.630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60.8 %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60.5 %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56032">
                <a:tc>
                  <a:txBody>
                    <a:bodyPr/>
                    <a:lstStyle/>
                    <a:p>
                      <a:pPr indent="0" marL="0">
                        <a:buNone/>
                      </a:pPr>
                      <a:r>
                        <a:rPr lang="en-US" sz="900" dirty="0">
                          <a:solidFill>
                            <a:srgbClr val="1B1B1A"/>
                          </a:solidFill>
                        </a:rPr>
                        <a:t>λb (blue-edge position, nm)</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0.622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57.6 %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57.6 %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00" dirty="0">
                          <a:solidFill>
                            <a:srgbClr val="1B1B1A"/>
                          </a:solidFill>
                        </a:rPr>
                        <a:t>Dr = REV (red-edge amplitude)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0.606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58.1 %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57.6 %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56032">
                <a:tc>
                  <a:txBody>
                    <a:bodyPr/>
                    <a:lstStyle/>
                    <a:p>
                      <a:pPr indent="0" marL="0">
                        <a:buNone/>
                      </a:pPr>
                      <a:r>
                        <a:rPr lang="en-US" sz="900" dirty="0">
                          <a:solidFill>
                            <a:srgbClr val="1B1B1A"/>
                          </a:solidFill>
                        </a:rPr>
                        <a:t>(Rg − Ro)/(Rg + Ro)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0.604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53.5 %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54.4 %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00" dirty="0">
                          <a:solidFill>
                            <a:srgbClr val="1B1B1A"/>
                          </a:solidFill>
                        </a:rPr>
                        <a:t>Rg/Ro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0.604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D &lt; H</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53.5 %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54.4 %</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K4b · Red-edge inflection point (REIP): four methods agree on a blue shift</a:t>
            </a:r>
            <a:endParaRPr lang="en-US" sz="2600" dirty="0"/>
          </a:p>
        </p:txBody>
      </p:sp>
      <p:pic>
        <p:nvPicPr>
          <p:cNvPr id="3" name="Image 0" descr="F21_K4_REIP">    </p:cNvPr>
          <p:cNvPicPr>
            <a:picLocks noChangeAspect="1"/>
          </p:cNvPicPr>
          <p:nvPr/>
        </p:nvPicPr>
        <p:blipFill>
          <a:blip r:embed="rId1"/>
          <a:stretch>
            <a:fillRect/>
          </a:stretch>
        </p:blipFill>
        <p:spPr>
          <a:xfrm>
            <a:off x="547017" y="1005840"/>
            <a:ext cx="7501326" cy="2926080"/>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4114800"/>
          <a:ext cx="7680960" cy="914400"/>
        </p:xfrm>
        <a:graphic>
          <a:graphicData uri="http://schemas.openxmlformats.org/drawingml/2006/table">
            <a:tbl>
              <a:tblPr/>
              <a:tblGrid>
                <a:gridCol w="2651760"/>
                <a:gridCol w="1005840"/>
                <a:gridCol w="1005840"/>
                <a:gridCol w="731520"/>
                <a:gridCol w="1188720"/>
                <a:gridCol w="1097280"/>
              </a:tblGrid>
              <a:tr h="237744">
                <a:tc>
                  <a:txBody>
                    <a:bodyPr/>
                    <a:lstStyle/>
                    <a:p>
                      <a:pPr indent="0" marL="0">
                        <a:buNone/>
                      </a:pPr>
                      <a:r>
                        <a:rPr lang="en-US" sz="1050" b="1" dirty="0">
                          <a:solidFill>
                            <a:srgbClr val="FFFFFF"/>
                          </a:solidFill>
                        </a:rPr>
                        <a:t>name</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Mean healthy</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Mean diseased</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AUC</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BA plot-grouped CV</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BA hold-out</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050" dirty="0">
                          <a:solidFill>
                            <a:srgbClr val="1B1B1A"/>
                          </a:solidFill>
                        </a:rPr>
                        <a:t>linear extrapolation</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707.241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703.383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0.644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60.5 %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59.2 %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50" dirty="0">
                          <a:solidFill>
                            <a:srgbClr val="1B1B1A"/>
                          </a:solidFill>
                        </a:rPr>
                        <a:t>Lagrangian interpolation</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708.150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705.712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0.638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59.6 %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59.1 %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050" dirty="0">
                          <a:solidFill>
                            <a:srgbClr val="1B1B1A"/>
                          </a:solidFill>
                        </a:rPr>
                        <a:t>maximum first derivative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708.143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705.703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0.638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59.0 %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58.9 %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50" dirty="0">
                          <a:solidFill>
                            <a:srgbClr val="1B1B1A"/>
                          </a:solidFill>
                        </a:rPr>
                        <a:t>linear 4-point interpolation</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715.599</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714.061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0.634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61.3 %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59.7 %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8321040" y="1097280"/>
            <a:ext cx="3383280" cy="457200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All four REIP estimators shift to shorter wavelengths in diseased leaves (1.5 nm for the linear four-point method, 2.4–3.9 nm for the derivative-based methods; AUC 0.63–0.64), the classical red-edge 'blue shift' of chlorophyll loss. The four methods agree closely (r 0.85–1.00).</a:t>
            </a:r>
            <a:endParaRPr lang="en-US" sz="1300" dirty="0"/>
          </a:p>
          <a:p>
            <a:pPr marL="342900" indent="-342900">
              <a:spcAft>
                <a:spcPts val="600"/>
              </a:spcAft>
              <a:buSzPct val="100000"/>
              <a:buChar char="•"/>
            </a:pPr>
            <a:r>
              <a:rPr lang="en-US" sz="1300" dirty="0">
                <a:solidFill>
                  <a:srgbClr val="1B1B1A"/>
                </a:solidFill>
              </a:rPr>
              <a:t>The shift is clear at flowering (−3.9 nm, AUC 0.72) and on 03-03-2026 (−4.9 nm), small at pod formation (−1.1 nm) and absent at the vegetative stage and on 11-02-2026 (+0.2 nm), when symptoms were still developing.</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K6 · Correlation spectra: r between band value and disease status</a:t>
            </a:r>
            <a:endParaRPr lang="en-US" sz="2600" dirty="0"/>
          </a:p>
        </p:txBody>
      </p:sp>
      <p:pic>
        <p:nvPicPr>
          <p:cNvPr id="3" name="Image 0" descr="F22_K6_correlation">    </p:cNvPr>
          <p:cNvPicPr>
            <a:picLocks noChangeAspect="1"/>
          </p:cNvPicPr>
          <p:nvPr/>
        </p:nvPicPr>
        <p:blipFill>
          <a:blip r:embed="rId1"/>
          <a:stretch>
            <a:fillRect/>
          </a:stretch>
        </p:blipFill>
        <p:spPr>
          <a:xfrm>
            <a:off x="459255" y="1005840"/>
            <a:ext cx="6579570" cy="4389120"/>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223760" y="1097280"/>
          <a:ext cx="4480560" cy="914400"/>
        </p:xfrm>
        <a:graphic>
          <a:graphicData uri="http://schemas.openxmlformats.org/drawingml/2006/table">
            <a:tbl>
              <a:tblPr/>
              <a:tblGrid>
                <a:gridCol w="1097280"/>
                <a:gridCol w="914400"/>
                <a:gridCol w="822960"/>
                <a:gridCol w="640080"/>
                <a:gridCol w="1005840"/>
              </a:tblGrid>
              <a:tr h="210312">
                <a:tc>
                  <a:txBody>
                    <a:bodyPr/>
                    <a:lstStyle/>
                    <a:p>
                      <a:pPr indent="0" marL="0">
                        <a:buNone/>
                      </a:pPr>
                      <a:r>
                        <a:rPr lang="en-US" sz="900" b="1" dirty="0">
                          <a:solidFill>
                            <a:srgbClr val="FFFFFF"/>
                          </a:solidFill>
                        </a:rPr>
                        <a:t>Spectrum</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Region (nm)</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Band of max |r|</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r</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00" b="1" dirty="0">
                          <a:solidFill>
                            <a:srgbClr val="FFFFFF"/>
                          </a:solidFill>
                        </a:rPr>
                        <a:t>Same sign on all 4 dates</a:t>
                      </a:r>
                      <a:endParaRPr lang="en-US" sz="9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400–499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499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+0.104</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500–599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+0.162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600–679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653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+0.197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680–759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693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+0.206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760–1349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760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-0.105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1350–1430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1426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+0.182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1431–1799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1431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+0.182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1800–1950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1882</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+0.190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1951–2349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2041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+0.187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Reflectance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2350–2500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2418</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+0.163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400–499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498</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+0.089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500–599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565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+0.129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600–679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667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-0.159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no</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680–759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721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-0.195</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760–1349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848</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+0.319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1350–1430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1353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+0.137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1431–1799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1750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+0.167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1800–1950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1937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+0.237</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1951–2349</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1971</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+0.226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900" dirty="0">
                          <a:solidFill>
                            <a:srgbClr val="1B1B1A"/>
                          </a:solidFill>
                        </a:rPr>
                        <a:t>First derivative</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2350–2500</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2483</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-0.156</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00" dirty="0">
                          <a:solidFill>
                            <a:srgbClr val="1B1B1A"/>
                          </a:solidFill>
                        </a:rPr>
                        <a:t>yes</a:t>
                      </a:r>
                      <a:endParaRPr lang="en-US" sz="9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Severity scores were not used (healthy vs diseased only), so the point-biserial correlation with the 0/1 status is shown.</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K5 · CART vs Random Forest on each feature group</a:t>
            </a:r>
            <a:endParaRPr lang="en-US" sz="2600" dirty="0"/>
          </a:p>
        </p:txBody>
      </p:sp>
      <p:pic>
        <p:nvPicPr>
          <p:cNvPr id="3" name="Image 0" descr="F23_K5_cart_vs_rf">    </p:cNvPr>
          <p:cNvPicPr>
            <a:picLocks noChangeAspect="1"/>
          </p:cNvPicPr>
          <p:nvPr/>
        </p:nvPicPr>
        <p:blipFill>
          <a:blip r:embed="rId1"/>
          <a:stretch>
            <a:fillRect/>
          </a:stretch>
        </p:blipFill>
        <p:spPr>
          <a:xfrm>
            <a:off x="1177862" y="1005840"/>
            <a:ext cx="5508116" cy="2560320"/>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3703320"/>
          <a:ext cx="6949440" cy="914400"/>
        </p:xfrm>
        <a:graphic>
          <a:graphicData uri="http://schemas.openxmlformats.org/drawingml/2006/table">
            <a:tbl>
              <a:tblPr/>
              <a:tblGrid>
                <a:gridCol w="3017520"/>
                <a:gridCol w="731520"/>
                <a:gridCol w="822960"/>
                <a:gridCol w="822960"/>
                <a:gridCol w="777240"/>
                <a:gridCol w="777240"/>
              </a:tblGrid>
              <a:tr h="219456">
                <a:tc>
                  <a:txBody>
                    <a:bodyPr/>
                    <a:lstStyle/>
                    <a:p>
                      <a:pPr indent="0" marL="0">
                        <a:buNone/>
                      </a:pPr>
                      <a:r>
                        <a:rPr lang="en-US" sz="950" b="1" dirty="0">
                          <a:solidFill>
                            <a:srgbClr val="FFFFFF"/>
                          </a:solidFill>
                        </a:rPr>
                        <a:t>Feature group</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Features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CART CV</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RF CV</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CART hold-out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RF hold-out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9456">
                <a:tc>
                  <a:txBody>
                    <a:bodyPr/>
                    <a:lstStyle/>
                    <a:p>
                      <a:pPr indent="0" marL="0">
                        <a:buNone/>
                      </a:pPr>
                      <a:r>
                        <a:rPr lang="en-US" sz="950" dirty="0">
                          <a:solidFill>
                            <a:srgbClr val="1B1B1A"/>
                          </a:solidFill>
                        </a:rPr>
                        <a:t>Full spectrum (raw reflectance)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2101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64.4 %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64.7 %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70.1 %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B1B1A"/>
                          </a:solidFill>
                        </a:rPr>
                        <a:t>K1 band reflectance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2039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65.0 %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70.8 %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64.8 %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69.7 %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50" dirty="0">
                          <a:solidFill>
                            <a:srgbClr val="1B1B1A"/>
                          </a:solidFill>
                        </a:rPr>
                        <a:t>K2 continuum-removed parameters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83.2 %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83.0 %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B1B1A"/>
                          </a:solidFill>
                        </a:rPr>
                        <a:t>K3 vegetation indices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31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66.6 %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70.2 %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65.3 %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69.1 %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50" dirty="0">
                          <a:solidFill>
                            <a:srgbClr val="1B1B1A"/>
                          </a:solidFill>
                        </a:rPr>
                        <a:t>K4 derivatives + edge parameters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2051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79.2 %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86.8 %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80.2 %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B1B1A"/>
                          </a:solidFill>
                        </a:rPr>
                        <a:t>K1–K4 combined pool</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4151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80.3 %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86.3 %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80.0 %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85.4 %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9456">
                <a:tc>
                  <a:txBody>
                    <a:bodyPr/>
                    <a:lstStyle/>
                    <a:p>
                      <a:pPr indent="0" marL="0">
                        <a:buNone/>
                      </a:pPr>
                      <a:r>
                        <a:rPr lang="en-US" sz="950" dirty="0">
                          <a:solidFill>
                            <a:srgbClr val="1B1B1A"/>
                          </a:solidFill>
                        </a:rPr>
                        <a:t>K4 incl. guard-zone bands (artefact test)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2121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91.1 %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90.6 %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B1B1A"/>
                          </a:solidFill>
                        </a:rPr>
                        <a:t>K-selected (top 15 non-redundant, chosen inside each training set)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76.2 %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76.6 %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7589520" y="1097280"/>
          <a:ext cx="4114800" cy="914400"/>
        </p:xfrm>
        <a:graphic>
          <a:graphicData uri="http://schemas.openxmlformats.org/drawingml/2006/table">
            <a:tbl>
              <a:tblPr/>
              <a:tblGrid>
                <a:gridCol w="1463040"/>
                <a:gridCol w="731520"/>
                <a:gridCol w="914400"/>
                <a:gridCol w="1005840"/>
              </a:tblGrid>
              <a:tr h="237744">
                <a:tc>
                  <a:txBody>
                    <a:bodyPr/>
                    <a:lstStyle/>
                    <a:p>
                      <a:pPr indent="0" marL="0">
                        <a:buNone/>
                      </a:pPr>
                      <a:r>
                        <a:rPr lang="en-US" sz="950" b="1" dirty="0">
                          <a:solidFill>
                            <a:srgbClr val="FFFFFF"/>
                          </a:solidFill>
                        </a:rPr>
                        <a:t>Feature type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Features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Share of RF importance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Importance per feature (K1 band = 1)</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950" dirty="0">
                          <a:solidFill>
                            <a:srgbClr val="1B1B1A"/>
                          </a:solidFill>
                        </a:rPr>
                        <a:t>K1 reflectance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2039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19.4 %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K2 continuum</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30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5.32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K3 index</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K4 derivative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2031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78.0 %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4.03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K4 edge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2.46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589520" y="3108960"/>
            <a:ext cx="4114800" cy="292608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RF beats CART on every feature group (2–8 points, all p &lt; 0.01).</a:t>
            </a:r>
            <a:endParaRPr lang="en-US" sz="1300" dirty="0"/>
          </a:p>
          <a:p>
            <a:pPr marL="342900" indent="-342900">
              <a:spcAft>
                <a:spcPts val="600"/>
              </a:spcAft>
              <a:buSzPct val="100000"/>
              <a:buChar char="•"/>
            </a:pPr>
            <a:r>
              <a:rPr lang="en-US" sz="1300" dirty="0">
                <a:solidFill>
                  <a:srgbClr val="1B1B1A"/>
                </a:solidFill>
              </a:rPr>
              <a:t>Derivatives (K4) and continuum-removed parameters (K2) carry far more information than reflectance (K1) or the 31 indices (K3): RF 86.8 % and 83.2 % vs 70.8 % and 70.2 % (V3).</a:t>
            </a:r>
            <a:endParaRPr lang="en-US" sz="1300" dirty="0"/>
          </a:p>
          <a:p>
            <a:pPr marL="342900" indent="-342900">
              <a:spcAft>
                <a:spcPts val="600"/>
              </a:spcAft>
              <a:buSzPct val="100000"/>
              <a:buChar char="•"/>
            </a:pPr>
            <a:r>
              <a:rPr lang="en-US" sz="1300" dirty="0">
                <a:solidFill>
                  <a:srgbClr val="1B1B1A"/>
                </a:solidFill>
              </a:rPr>
              <a:t>Keeping the guard-zone derivative bands raises RF to 91.1 % — an instrument artefact, not disease, so they are excluded.</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Part C · The four-tier method on all extracted features</a:t>
            </a:r>
            <a:endParaRPr lang="en-US" sz="3600" dirty="0"/>
          </a:p>
        </p:txBody>
      </p:sp>
      <p:sp>
        <p:nvSpPr>
          <p:cNvPr id="3" name="Text 0"/>
          <p:cNvSpPr/>
          <p:nvPr>
            <p:ph idx="101" type="body" hasCustomPrompt="1"/>
          </p:nvPr>
        </p:nvSpPr>
        <p:spPr>
          <a:xfrm>
            <a:off x="457200" y="3566160"/>
            <a:ext cx="11277295" cy="1463040"/>
          </a:xfrm>
          <a:prstGeom prst="rect">
            <a:avLst/>
          </a:prstGeom>
          <a:noFill/>
          <a:ln/>
        </p:spPr>
        <p:txBody>
          <a:bodyPr wrap="square" rtlCol="0" anchor="t"/>
          <a:lstStyle/>
          <a:p>
            <a:pPr indent="0" marL="0">
              <a:buNone/>
            </a:pPr>
            <a:r>
              <a:rPr lang="en-US" sz="1800" dirty="0">
                <a:solidFill>
                  <a:srgbClr val="E3F4EC"/>
                </a:solidFill>
              </a:rPr>
              <a:t>K1 reflectance + K2 continuum removal + K3 indices + K4 derivative bands and edge parameters = 4151 features → Tier 1 → CART / RF selection → J–M → QDA → nested validation</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C0–C1 · Pool of 4150 features; 3115 pass Tier 1</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1409662"/>
                <a:gridCol w="1409662"/>
                <a:gridCol w="1409662"/>
                <a:gridCol w="1409662"/>
                <a:gridCol w="1409662"/>
                <a:gridCol w="1409662"/>
                <a:gridCol w="1409662"/>
                <a:gridCol w="1409662"/>
              </a:tblGrid>
              <a:tr h="310896">
                <a:tc>
                  <a:txBody>
                    <a:bodyPr/>
                    <a:lstStyle/>
                    <a:p>
                      <a:pPr indent="0" marL="0">
                        <a:buNone/>
                      </a:pPr>
                      <a:r>
                        <a:rPr lang="en-US" sz="1100" b="1" dirty="0">
                          <a:solidFill>
                            <a:srgbClr val="FFFFFF"/>
                          </a:solidFill>
                        </a:rPr>
                        <a:t>Feature type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Features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Tier-1 significant</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CART-13</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CART-8 (1-SE)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RF-17</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RF-10</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RF-13 (size-matched)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100" dirty="0">
                          <a:solidFill>
                            <a:srgbClr val="1B1B1A"/>
                          </a:solidFill>
                        </a:rPr>
                        <a:t>K1 band reflectance</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2039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1610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K2 continuum removal</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30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K3 vegetation index</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K4 edge parameter</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20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K4 first-derivative band</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2031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1440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566160"/>
            <a:ext cx="11277295" cy="219456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Duplicates removed before Tier 1: MTVI1 (= mCARI1).</a:t>
            </a:r>
            <a:endParaRPr lang="en-US" sz="1400" dirty="0"/>
          </a:p>
          <a:p>
            <a:pPr marL="342900" indent="-342900">
              <a:spcAft>
                <a:spcPts val="600"/>
              </a:spcAft>
              <a:buSzPct val="100000"/>
              <a:buChar char="•"/>
            </a:pPr>
            <a:r>
              <a:rPr lang="en-US" sz="1400" dirty="0">
                <a:solidFill>
                  <a:srgbClr val="1B1B1A"/>
                </a:solidFill>
              </a:rPr>
              <a:t>RF peaks picked within each spectral series (bands ≥ 10 nm apart); every scalar feature is its own candidate.</a:t>
            </a:r>
            <a:endParaRPr lang="en-US" sz="1400" dirty="0"/>
          </a:p>
          <a:p>
            <a:pPr marL="342900" indent="-342900">
              <a:spcAft>
                <a:spcPts val="600"/>
              </a:spcAft>
              <a:buSzPct val="100000"/>
              <a:buChar char="•"/>
            </a:pPr>
            <a:r>
              <a:rPr lang="en-US" sz="1400" dirty="0">
                <a:solidFill>
                  <a:srgbClr val="1B1B1A"/>
                </a:solidFill>
              </a:rPr>
              <a:t>Same settings, seeds and folds as Part A; Tier 1 + selection refitted inside every training set in V3–V5.</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C2 · CART on the combined pool selects 13 features</a:t>
            </a:r>
            <a:endParaRPr lang="en-US" sz="2600" dirty="0"/>
          </a:p>
        </p:txBody>
      </p:sp>
      <p:pic>
        <p:nvPicPr>
          <p:cNvPr id="3" name="Image 0" descr="F26_C_cart_tree">    </p:cNvPr>
          <p:cNvPicPr>
            <a:picLocks noChangeAspect="1"/>
          </p:cNvPicPr>
          <p:nvPr/>
        </p:nvPicPr>
        <p:blipFill>
          <a:blip r:embed="rId1"/>
          <a:stretch>
            <a:fillRect/>
          </a:stretch>
        </p:blipFill>
        <p:spPr>
          <a:xfrm>
            <a:off x="1860587" y="1005840"/>
            <a:ext cx="8470521" cy="4206240"/>
          </a:xfrm>
          <a:prstGeom prst="rect">
            <a:avLst/>
          </a:prstGeom>
        </p:spPr>
      </p:pic>
      <p:sp>
        <p:nvSpPr>
          <p:cNvPr id="4" name="Text 1"/>
          <p:cNvSpPr txBox="1"/>
          <p:nvPr/>
        </p:nvSpPr>
        <p:spPr>
          <a:xfrm>
            <a:off x="457200" y="53949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CART-13: D1_861, CR6 water 1940 symmetry, CR3 water 970 width, D1_1163, D1_1164, D1_900, D1_2224, D1_1945, R639, D1_1739, D1_1931, D1_630, R743</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C2 · Which feature families CART and RF pick from the pool</a:t>
            </a:r>
            <a:endParaRPr lang="en-US" sz="2600" dirty="0"/>
          </a:p>
        </p:txBody>
      </p:sp>
      <p:pic>
        <p:nvPicPr>
          <p:cNvPr id="3" name="Image 0" descr="F25_C_top_importance">    </p:cNvPr>
          <p:cNvPicPr>
            <a:picLocks noChangeAspect="1"/>
          </p:cNvPicPr>
          <p:nvPr/>
        </p:nvPicPr>
        <p:blipFill>
          <a:blip r:embed="rId1"/>
          <a:stretch>
            <a:fillRect/>
          </a:stretch>
        </p:blipFill>
        <p:spPr>
          <a:xfrm>
            <a:off x="457200" y="1683993"/>
            <a:ext cx="4846320" cy="3947214"/>
          </a:xfrm>
          <a:prstGeom prst="rect">
            <a:avLst/>
          </a:prstGeom>
        </p:spPr>
      </p:pic>
      <p:pic>
        <p:nvPicPr>
          <p:cNvPr id="4" name="Image 1" descr="F24_C_composition">    </p:cNvPr>
          <p:cNvPicPr>
            <a:picLocks noChangeAspect="1"/>
          </p:cNvPicPr>
          <p:nvPr/>
        </p:nvPicPr>
        <p:blipFill>
          <a:blip r:embed="rId2"/>
          <a:stretch>
            <a:fillRect/>
          </a:stretch>
        </p:blipFill>
        <p:spPr>
          <a:xfrm>
            <a:off x="5954547" y="1005840"/>
            <a:ext cx="5281626" cy="2743200"/>
          </a:xfrm>
          <a:prstGeom prst="rect">
            <a:avLst/>
          </a:prstGeom>
        </p:spPr>
      </p:pic>
      <p:sp>
        <p:nvSpPr>
          <p:cNvPr id="5" name="Text 1"/>
          <p:cNvSpPr txBox="1"/>
          <p:nvPr/>
        </p:nvSpPr>
        <p:spPr>
          <a:xfrm>
            <a:off x="5486400" y="3931920"/>
            <a:ext cx="6217920" cy="2194560"/>
          </a:xfrm>
          <a:prstGeom prst="rect">
            <a:avLst/>
          </a:prstGeom>
          <a:noFill/>
          <a:ln/>
        </p:spPr>
        <p:txBody>
          <a:bodyPr wrap="square" rtlCol="0" anchor="t"/>
          <a:lstStyle/>
          <a:p>
            <a:pPr indent="0" marL="0">
              <a:buNone/>
            </a:pPr>
            <a:r>
              <a:rPr lang="en-US" sz="1200" dirty="0">
                <a:solidFill>
                  <a:srgbClr val="1B1B1A"/>
                </a:solidFill>
              </a:rPr>
              <a:t>RF-17: CR3 water 970 width, D1_861, D1_871, CR6 water 1940 symmetry, D1_848, D1_1915, D1_888, D1_2223, D1_2209, D1_1944, D1_899, D1_1934, D1_911, D1_1740, D1_837, D1_1792, D1_1163</a:t>
            </a:r>
            <a:endParaRPr lang="en-US" sz="12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C3–C4 · J–M and QDA on the selected features of the combined pool</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389120" cy="914400"/>
        </p:xfrm>
        <a:graphic>
          <a:graphicData uri="http://schemas.openxmlformats.org/drawingml/2006/table">
            <a:tbl>
              <a:tblPr/>
              <a:tblGrid>
                <a:gridCol w="2377440"/>
                <a:gridCol w="914400"/>
                <a:gridCol w="1097280"/>
              </a:tblGrid>
              <a:tr h="310896">
                <a:tc>
                  <a:txBody>
                    <a:bodyPr/>
                    <a:lstStyle/>
                    <a:p>
                      <a:pPr indent="0" marL="0">
                        <a:buNone/>
                      </a:pPr>
                      <a:r>
                        <a:rPr lang="en-US" sz="1200" b="1" dirty="0">
                          <a:solidFill>
                            <a:srgbClr val="FFFFFF"/>
                          </a:solidFill>
                        </a:rPr>
                        <a:t>Set</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Features</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JM</a:t>
                      </a:r>
                      <a:endParaRPr lang="en-US" sz="12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200" dirty="0">
                          <a:solidFill>
                            <a:srgbClr val="1B1B1A"/>
                          </a:solidFill>
                        </a:rPr>
                        <a:t>CART-13</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13</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1.626</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CART-8 (1-SE)</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8</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1.197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1.684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B1B1A"/>
                          </a:solidFill>
                        </a:rPr>
                        <a:t>RF-10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10</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200" dirty="0">
                          <a:solidFill>
                            <a:srgbClr val="1B1B1A"/>
                          </a:solidFill>
                        </a:rPr>
                        <a:t>1.437</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200" dirty="0">
                          <a:solidFill>
                            <a:srgbClr val="1B1B1A"/>
                          </a:solidFill>
                        </a:rPr>
                        <a:t>RF-13 (size-matched)</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13</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1.554</a:t>
                      </a:r>
                      <a:endParaRPr lang="en-US" sz="12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457200" y="3108960"/>
          <a:ext cx="6949440" cy="914400"/>
        </p:xfrm>
        <a:graphic>
          <a:graphicData uri="http://schemas.openxmlformats.org/drawingml/2006/table">
            <a:tbl>
              <a:tblPr/>
              <a:tblGrid>
                <a:gridCol w="2011680"/>
                <a:gridCol w="1463040"/>
                <a:gridCol w="548640"/>
                <a:gridCol w="548640"/>
                <a:gridCol w="594360"/>
                <a:gridCol w="594360"/>
                <a:gridCol w="594360"/>
                <a:gridCol w="594360"/>
              </a:tblGrid>
              <a:tr h="237744">
                <a:tc>
                  <a:txBody>
                    <a:bodyPr/>
                    <a:lstStyle/>
                    <a:p>
                      <a:pPr indent="0" marL="0">
                        <a:buNone/>
                      </a:pPr>
                      <a:r>
                        <a:rPr lang="en-US" sz="1050" b="1" dirty="0">
                          <a:solidFill>
                            <a:srgbClr val="FFFFFF"/>
                          </a:solidFill>
                        </a:rPr>
                        <a:t>Set</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Classifier</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OA</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BA</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PA_H</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PA_D</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kappa</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AUC</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050" dirty="0">
                          <a:solidFill>
                            <a:srgbClr val="1B1B1A"/>
                          </a:solidFill>
                        </a:rPr>
                        <a:t>CART-13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QDA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68.3 %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77.4 %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91.0 %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63.8 %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0.325</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0.912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50" dirty="0">
                          <a:solidFill>
                            <a:srgbClr val="1B1B1A"/>
                          </a:solidFill>
                        </a:rPr>
                        <a:t>CART-8 (1-SE)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QDA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67.5 %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76.7 %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90.5 %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62.9 %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0.313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0.888</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050" dirty="0">
                          <a:solidFill>
                            <a:srgbClr val="1B1B1A"/>
                          </a:solidFill>
                        </a:rPr>
                        <a:t>RF-17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QDA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78.8 %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84.6 %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93.4 %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75.9 %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0.476</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0.937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50" dirty="0">
                          <a:solidFill>
                            <a:srgbClr val="1B1B1A"/>
                          </a:solidFill>
                        </a:rPr>
                        <a:t>RF-10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QDA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66.1 %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76.3 %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91.5 %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61.0 %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0.301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0.887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1050" dirty="0">
                          <a:solidFill>
                            <a:srgbClr val="1B1B1A"/>
                          </a:solidFill>
                        </a:rPr>
                        <a:t>RF-13 (size-matched)</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QDA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74.0 %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81.7 %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93.4 %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70.1 %</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0.404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0.915</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109" name="Table 2"/>
          <p:cNvGraphicFramePr>
            <a:graphicFrameLocks noGrp="1"/>
          </p:cNvGraphicFramePr>
          <p:nvPr>
            <p:extLst>
              <p:ext uri="{D42A27DB-BD31-4B8C-83A1-F6EECF244321}">
                <p14:modId xmlns:p14="http://schemas.microsoft.com/office/powerpoint/2010/main" val="1579011935"/>
              </p:ext>
            </p:extLst>
          </p:nvPr>
        </p:nvGraphicFramePr>
        <p:xfrm>
          <a:off x="7589520" y="1097280"/>
          <a:ext cx="4114800" cy="914400"/>
        </p:xfrm>
        <a:graphic>
          <a:graphicData uri="http://schemas.openxmlformats.org/drawingml/2006/table">
            <a:tbl>
              <a:tblPr/>
              <a:tblGrid>
                <a:gridCol w="1280160"/>
                <a:gridCol w="731520"/>
                <a:gridCol w="731520"/>
                <a:gridCol w="685800"/>
                <a:gridCol w="685800"/>
              </a:tblGrid>
              <a:tr h="274320">
                <a:tc>
                  <a:txBody>
                    <a:bodyPr/>
                    <a:lstStyle/>
                    <a:p>
                      <a:pPr indent="0" marL="0">
                        <a:buNone/>
                      </a:pPr>
                      <a:r>
                        <a:rPr lang="en-US" sz="1000" b="1" dirty="0">
                          <a:solidFill>
                            <a:srgbClr val="FFFFFF"/>
                          </a:solidFill>
                        </a:rPr>
                        <a:t>Classified \ Reference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Healthy</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Diseased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Row total</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User's acc.</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Healthy</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353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455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808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43.7 %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Diseased</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25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1431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1456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98.3 %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Column total</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378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1886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2264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Producer's acc.</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93.4 %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75.9 %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6" name="Text 1"/>
          <p:cNvSpPr txBox="1"/>
          <p:nvPr/>
        </p:nvSpPr>
        <p:spPr>
          <a:xfrm>
            <a:off x="7589520" y="868680"/>
            <a:ext cx="4114800" cy="228600"/>
          </a:xfrm>
          <a:prstGeom prst="rect">
            <a:avLst/>
          </a:prstGeom>
          <a:noFill/>
          <a:ln/>
        </p:spPr>
        <p:txBody>
          <a:bodyPr wrap="square" lIns="0" tIns="0" rIns="0" bIns="0" rtlCol="0" anchor="ctr"/>
          <a:lstStyle/>
          <a:p>
            <a:pPr indent="0" marL="0">
              <a:buNone/>
            </a:pPr>
            <a:r>
              <a:rPr lang="en-US" sz="1100" b="1" dirty="0">
                <a:solidFill>
                  <a:srgbClr val="C98500"/>
                </a:solidFill>
              </a:rPr>
              <a:t>Error matrix · QDA on RF-17 (V1)</a:t>
            </a:r>
            <a:endParaRPr lang="en-US" sz="1100" dirty="0"/>
          </a:p>
        </p:txBody>
      </p:sp>
      <p:pic>
        <p:nvPicPr>
          <p:cNvPr id="7" name="Image 0" descr="F27_C_incremental">    </p:cNvPr>
          <p:cNvPicPr>
            <a:picLocks noChangeAspect="1"/>
          </p:cNvPicPr>
          <p:nvPr/>
        </p:nvPicPr>
        <p:blipFill>
          <a:blip r:embed="rId1"/>
          <a:stretch>
            <a:fillRect/>
          </a:stretch>
        </p:blipFill>
        <p:spPr>
          <a:xfrm>
            <a:off x="7589520" y="3029615"/>
            <a:ext cx="4114800" cy="1804610"/>
          </a:xfrm>
          <a:prstGeom prst="rect">
            <a:avLst/>
          </a:prstGeom>
        </p:spPr>
      </p:pic>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C5 · Honest validation of the combined-pool pipeline</a:t>
            </a:r>
            <a:endParaRPr lang="en-US" sz="2600" dirty="0"/>
          </a:p>
        </p:txBody>
      </p:sp>
      <p:pic>
        <p:nvPicPr>
          <p:cNvPr id="3" name="Image 0" descr="F28_C_pipelines">    </p:cNvPr>
          <p:cNvPicPr>
            <a:picLocks noChangeAspect="1"/>
          </p:cNvPicPr>
          <p:nvPr/>
        </p:nvPicPr>
        <p:blipFill>
          <a:blip r:embed="rId1"/>
          <a:stretch>
            <a:fillRect/>
          </a:stretch>
        </p:blipFill>
        <p:spPr>
          <a:xfrm>
            <a:off x="682148" y="1005840"/>
            <a:ext cx="6865304" cy="3017520"/>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4206240"/>
          <a:ext cx="11277295" cy="914400"/>
        </p:xfrm>
        <a:graphic>
          <a:graphicData uri="http://schemas.openxmlformats.org/drawingml/2006/table">
            <a:tbl>
              <a:tblPr/>
              <a:tblGrid>
                <a:gridCol w="4206240"/>
                <a:gridCol w="2011680"/>
                <a:gridCol w="1463040"/>
                <a:gridCol w="1097280"/>
                <a:gridCol w="1188720"/>
                <a:gridCol w="1280160"/>
              </a:tblGrid>
              <a:tr h="210312">
                <a:tc>
                  <a:txBody>
                    <a:bodyPr/>
                    <a:lstStyle/>
                    <a:p>
                      <a:pPr indent="0" marL="0">
                        <a:buNone/>
                      </a:pPr>
                      <a:r>
                        <a:rPr lang="en-US" sz="1000" b="1" dirty="0">
                          <a:solidFill>
                            <a:srgbClr val="FFFFFF"/>
                          </a:solidFill>
                        </a:rPr>
                        <a:t>Comparison</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Units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difference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First better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Second better</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Wilcoxon p</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10312">
                <a:tc>
                  <a:txBody>
                    <a:bodyPr/>
                    <a:lstStyle/>
                    <a:p>
                      <a:pPr indent="0" marL="0">
                        <a:buNone/>
                      </a:pPr>
                      <a:r>
                        <a:rPr lang="en-US" sz="1000" dirty="0">
                          <a:solidFill>
                            <a:srgbClr val="1B1B1A"/>
                          </a:solidFill>
                        </a:rPr>
                        <a:t>RF classifier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+5.6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1.1e-09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RF classifier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+5.4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RF features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+5.8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1.4e-10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RF features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CART features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-1.9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0.058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CART features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0.846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10312">
                <a:tc>
                  <a:txBody>
                    <a:bodyPr/>
                    <a:lstStyle/>
                    <a:p>
                      <a:pPr indent="0" marL="0">
                        <a:buNone/>
                      </a:pPr>
                      <a:r>
                        <a:rPr lang="en-US" sz="1000" dirty="0">
                          <a:solidFill>
                            <a:srgbClr val="1B1B1A"/>
                          </a:solidFill>
                        </a:rPr>
                        <a:t>QDA on RF features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V3 nested (folds)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1B1B1A"/>
                          </a:solidFill>
                        </a:rPr>
                        <a:t>QDA on RF features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V4 hold-out (splits)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-0.5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0.770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7955280" y="1097280"/>
            <a:ext cx="3749040" cy="301752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In the combined pool the RF-selected features beat the CART-selected features for QDA by 5.8 points (44 of 50 folds), and QDA on 17 RF features (83.7 %) is close to a Balanced RF on all 4150 features (86.3 %).</a:t>
            </a:r>
            <a:endParaRPr lang="en-US" sz="1300" dirty="0"/>
          </a:p>
          <a:p>
            <a:pPr marL="342900" indent="-342900">
              <a:spcAft>
                <a:spcPts val="600"/>
              </a:spcAft>
              <a:buSzPct val="100000"/>
              <a:buChar char="•"/>
            </a:pPr>
            <a:r>
              <a:rPr lang="en-US" sz="1300" dirty="0">
                <a:solidFill>
                  <a:srgbClr val="1B1B1A"/>
                </a:solidFill>
              </a:rPr>
              <a:t>Selection is stable: the width of the 970 nm water feature is chosen in all 50 training sets by both selectors, the symmetry of the 1940 nm feature in 50 (RF) and 45 (CART); RF Jaccard 0.82, CART 0.37.</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C6 · Stability and the families chosen across 50 training sets</a:t>
            </a:r>
            <a:endParaRPr lang="en-US" sz="2600" dirty="0"/>
          </a:p>
        </p:txBody>
      </p:sp>
      <p:pic>
        <p:nvPicPr>
          <p:cNvPr id="3" name="Image 0" descr="F28b_C_stability">    </p:cNvPr>
          <p:cNvPicPr>
            <a:picLocks noChangeAspect="1"/>
          </p:cNvPicPr>
          <p:nvPr/>
        </p:nvPicPr>
        <p:blipFill>
          <a:blip r:embed="rId1"/>
          <a:stretch>
            <a:fillRect/>
          </a:stretch>
        </p:blipFill>
        <p:spPr>
          <a:xfrm>
            <a:off x="1414622" y="1005840"/>
            <a:ext cx="5583236" cy="3017520"/>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4206240"/>
          <a:ext cx="7498080" cy="914400"/>
        </p:xfrm>
        <a:graphic>
          <a:graphicData uri="http://schemas.openxmlformats.org/drawingml/2006/table">
            <a:tbl>
              <a:tblPr/>
              <a:tblGrid>
                <a:gridCol w="1097280"/>
                <a:gridCol w="1280160"/>
                <a:gridCol w="1737360"/>
                <a:gridCol w="1645920"/>
                <a:gridCol w="1737360"/>
              </a:tblGrid>
              <a:tr h="237744">
                <a:tc>
                  <a:txBody>
                    <a:bodyPr/>
                    <a:lstStyle/>
                    <a:p>
                      <a:pPr indent="0" marL="0">
                        <a:buNone/>
                      </a:pPr>
                      <a:r>
                        <a:rPr lang="en-US" sz="1100" b="1" dirty="0">
                          <a:solidFill>
                            <a:srgbClr val="FFFFFF"/>
                          </a:solidFill>
                        </a:rPr>
                        <a:t>Method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features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Unique features (union)</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Stability index (±10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pairwise Jaccard (±10 nm)</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1100" dirty="0">
                          <a:solidFill>
                            <a:srgbClr val="1B1B1A"/>
                          </a:solidFill>
                        </a:rPr>
                        <a:t>CART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170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0.006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0.370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100" dirty="0">
                          <a:solidFill>
                            <a:srgbClr val="1B1B1A"/>
                          </a:solidFill>
                        </a:rPr>
                        <a:t>RF</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17.0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169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0.503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0.816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8138160" y="1097280"/>
          <a:ext cx="3566160" cy="914400"/>
        </p:xfrm>
        <a:graphic>
          <a:graphicData uri="http://schemas.openxmlformats.org/drawingml/2006/table">
            <a:tbl>
              <a:tblPr/>
              <a:tblGrid>
                <a:gridCol w="731520"/>
                <a:gridCol w="1554480"/>
                <a:gridCol w="731520"/>
                <a:gridCol w="548640"/>
              </a:tblGrid>
              <a:tr h="237744">
                <a:tc>
                  <a:txBody>
                    <a:bodyPr/>
                    <a:lstStyle/>
                    <a:p>
                      <a:pPr indent="0" marL="0">
                        <a:buNone/>
                      </a:pPr>
                      <a:r>
                        <a:rPr lang="en-US" sz="950" b="1" dirty="0">
                          <a:solidFill>
                            <a:srgbClr val="FFFFFF"/>
                          </a:solidFill>
                        </a:rPr>
                        <a:t>Selector</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Feature type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Selected (50 training sets)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Share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37744">
                <a:tc>
                  <a:txBody>
                    <a:bodyPr/>
                    <a:lstStyle/>
                    <a:p>
                      <a:pPr indent="0" marL="0">
                        <a:buNone/>
                      </a:pPr>
                      <a:r>
                        <a:rPr lang="en-US" sz="950" dirty="0">
                          <a:solidFill>
                            <a:srgbClr val="1B1B1A"/>
                          </a:solidFill>
                        </a:rPr>
                        <a:t>CART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first-derivative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440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CART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K2 continuum removal</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101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16.3 %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CART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K1 band reflectance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6.9 %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CART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edge parameter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31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5.0 %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CART</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K3 vegetation index</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RF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first-derivative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740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87.1 %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37744">
                <a:tc>
                  <a:txBody>
                    <a:bodyPr/>
                    <a:lstStyle/>
                    <a:p>
                      <a:pPr indent="0" marL="0">
                        <a:buNone/>
                      </a:pPr>
                      <a:r>
                        <a:rPr lang="en-US" sz="950" dirty="0">
                          <a:solidFill>
                            <a:srgbClr val="1B1B1A"/>
                          </a:solidFill>
                        </a:rPr>
                        <a:t>RF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K2 continuum removal</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109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12.8 %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1B1B1A"/>
                          </a:solidFill>
                        </a:rPr>
                        <a:t>RF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edge parameter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C7 · Combined pool vs reflectance only vs K5 (paired tests, same folds)</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3108960"/>
                <a:gridCol w="3108960"/>
                <a:gridCol w="868680"/>
                <a:gridCol w="777240"/>
                <a:gridCol w="777240"/>
                <a:gridCol w="868680"/>
                <a:gridCol w="777240"/>
                <a:gridCol w="987552"/>
              </a:tblGrid>
              <a:tr h="329184">
                <a:tc>
                  <a:txBody>
                    <a:bodyPr/>
                    <a:lstStyle/>
                    <a:p>
                      <a:pPr indent="0" marL="0">
                        <a:buNone/>
                      </a:pPr>
                      <a:r>
                        <a:rPr lang="en-US" sz="1000" b="1" dirty="0">
                          <a:solidFill>
                            <a:srgbClr val="FFFFFF"/>
                          </a:solidFill>
                        </a:rPr>
                        <a:t>First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Second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V3 Δ BA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V3 wins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V3 p</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V4 Δ BA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V4 wins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V4 p</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29184">
                <a:tc>
                  <a:txBody>
                    <a:bodyPr/>
                    <a:lstStyle/>
                    <a:p>
                      <a:pPr indent="0" marL="0">
                        <a:buNone/>
                      </a:pPr>
                      <a:r>
                        <a:rPr lang="en-US" sz="1000" dirty="0">
                          <a:solidFill>
                            <a:srgbClr val="1B1B1A"/>
                          </a:solidFill>
                        </a:rPr>
                        <a:t>Combined pool: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Reflectance: QDA on CART bands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+6.1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41/50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1.1e-06</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+6.6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9/10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0.014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Combined pool: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Reflectance: QDA on RF bands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+15.0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7.6e-10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+15.0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Combined pool: RF classifier (Tier-1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Reflectance: RF classifier (Tier-1 bands)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7.6e-10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Combined pool: CART classifier (Tier-1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Reflectance: CART classifier (Tier-1 bands)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50/50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1.8e-15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+15.6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Combined pool: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Combined pool: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+5.8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44/50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1.4e-10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Combined pool: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K5: RF classifier on all 4151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-2.1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13/49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-0.8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0.492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Combined pool: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K5: QDA on 15 features chosen by AUC</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+5.7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43/50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1.1e-07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+5.8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9/10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0.014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Combined pool: RF classifier (Tier-1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K5: RF classifier on all 4151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16/39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0.115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0.625</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Text 1"/>
          <p:cNvSpPr txBox="1"/>
          <p:nvPr/>
        </p:nvSpPr>
        <p:spPr>
          <a:xfrm>
            <a:off x="457200" y="4754880"/>
            <a:ext cx="11277295" cy="118872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The combined pool beats reflectance alone in every pipeline (+6 to +16 points, 41–50 of 50 folds, all p &lt; 10⁻⁵). QDA on 17 RF-selected features is 2.1 points below an RF on all features in V3 and equal in V4 — a compact, interpretable 17-feature model loses little.</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Additional step · V5: an unseen date in unseen plots</a:t>
            </a:r>
            <a:endParaRPr lang="en-US" sz="2600" dirty="0"/>
          </a:p>
        </p:txBody>
      </p:sp>
      <p:pic>
        <p:nvPicPr>
          <p:cNvPr id="3" name="Image 0" descr="F30_V5_leave_one_date_out">    </p:cNvPr>
          <p:cNvPicPr>
            <a:picLocks noChangeAspect="1"/>
          </p:cNvPicPr>
          <p:nvPr/>
        </p:nvPicPr>
        <p:blipFill>
          <a:blip r:embed="rId1"/>
          <a:stretch>
            <a:fillRect/>
          </a:stretch>
        </p:blipFill>
        <p:spPr>
          <a:xfrm>
            <a:off x="698529" y="1005840"/>
            <a:ext cx="6466782" cy="3291840"/>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4389120"/>
          <a:ext cx="11277295" cy="914400"/>
        </p:xfrm>
        <a:graphic>
          <a:graphicData uri="http://schemas.openxmlformats.org/drawingml/2006/table">
            <a:tbl>
              <a:tblPr/>
              <a:tblGrid>
                <a:gridCol w="3931920"/>
                <a:gridCol w="1828800"/>
                <a:gridCol w="1828800"/>
                <a:gridCol w="1828800"/>
                <a:gridCol w="1828800"/>
              </a:tblGrid>
              <a:tr h="201168">
                <a:tc>
                  <a:txBody>
                    <a:bodyPr/>
                    <a:lstStyle/>
                    <a:p>
                      <a:pPr indent="0" marL="0">
                        <a:buNone/>
                      </a:pPr>
                      <a:r>
                        <a:rPr lang="en-US" sz="1000" b="1" dirty="0">
                          <a:solidFill>
                            <a:srgbClr val="FFFFFF"/>
                          </a:solidFill>
                        </a:rPr>
                        <a:t>Feature set · pipeline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11-02-2026</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24-02-2026</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03-03-2026</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13-03-2026</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01168">
                <a:tc>
                  <a:txBody>
                    <a:bodyPr/>
                    <a:lstStyle/>
                    <a:p>
                      <a:pPr indent="0" marL="0">
                        <a:buNone/>
                      </a:pPr>
                      <a:r>
                        <a:rPr lang="en-US" sz="1000" dirty="0">
                          <a:solidFill>
                            <a:srgbClr val="1B1B1A"/>
                          </a:solidFill>
                        </a:rPr>
                        <a:t>Reflectance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57.2 %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53.3 %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1000" dirty="0">
                          <a:solidFill>
                            <a:srgbClr val="1B1B1A"/>
                          </a:solidFill>
                        </a:rPr>
                        <a:t>Reflectance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49.4 %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55.1 %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57.9 %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52.8 %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1000" dirty="0">
                          <a:solidFill>
                            <a:srgbClr val="1B1B1A"/>
                          </a:solidFill>
                        </a:rPr>
                        <a:t>Reflectance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49.4 %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56.5 %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1000" dirty="0">
                          <a:solidFill>
                            <a:srgbClr val="1B1B1A"/>
                          </a:solidFill>
                        </a:rPr>
                        <a:t>Reflectance ·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56.3 %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65.4 %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60.1 %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1000" dirty="0">
                          <a:solidFill>
                            <a:srgbClr val="1B1B1A"/>
                          </a:solidFill>
                        </a:rPr>
                        <a:t>Combined pool · CART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65.4 %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72.2 %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59.5 %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51.6 %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1000" dirty="0">
                          <a:solidFill>
                            <a:srgbClr val="1B1B1A"/>
                          </a:solidFill>
                        </a:rPr>
                        <a:t>Combined pool · RF classifier</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59.1 %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69.7 %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65.1 %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1000" dirty="0">
                          <a:solidFill>
                            <a:srgbClr val="1B1B1A"/>
                          </a:solidFill>
                        </a:rPr>
                        <a:t>Combined pool · QDA on CART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60.2 %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64.1 %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68.0 %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1000" dirty="0">
                          <a:solidFill>
                            <a:srgbClr val="1B1B1A"/>
                          </a:solidFill>
                        </a:rPr>
                        <a:t>Combined pool · QDA on RF features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74.4 %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57.2 %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68.8 %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50.0 %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7589520" y="1097280"/>
            <a:ext cx="4114800" cy="310896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Trained on three dates and tested on the fourth date in new plots, accuracy falls to 53–58 % (reflectance) and 61–62 % (combined pool). When 13-03-2026 (mostly pod formation) is held out, every leaf — healthy or diseased — is called diseased: senescing pod-stage leaves resemble diseased leaves spectrally, and the training dates contained few pod-stage leaves.</a:t>
            </a:r>
            <a:endParaRPr lang="en-US" sz="1300" dirty="0"/>
          </a:p>
          <a:p>
            <a:pPr marL="342900" indent="-342900">
              <a:spcAft>
                <a:spcPts val="600"/>
              </a:spcAft>
              <a:buSzPct val="100000"/>
              <a:buChar char="•"/>
            </a:pPr>
            <a:r>
              <a:rPr lang="en-US" sz="1300" dirty="0">
                <a:solidFill>
                  <a:srgbClr val="1B1B1A"/>
                </a:solidFill>
              </a:rPr>
              <a:t>The disease signal is real but stage-dependent; models must be trained on the growth stages and dates to which they will be applied.</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Additional step · Does the signal hold within each date, stage and variety?</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4023360"/>
                <a:gridCol w="1463040"/>
                <a:gridCol w="1920240"/>
                <a:gridCol w="1920240"/>
                <a:gridCol w="1920240"/>
              </a:tblGrid>
              <a:tr h="310896">
                <a:tc>
                  <a:txBody>
                    <a:bodyPr/>
                    <a:lstStyle/>
                    <a:p>
                      <a:pPr indent="0" marL="0">
                        <a:buNone/>
                      </a:pPr>
                      <a:r>
                        <a:rPr lang="en-US" sz="1100" b="1" dirty="0">
                          <a:solidFill>
                            <a:srgbClr val="FFFFFF"/>
                          </a:solidFill>
                        </a:rPr>
                        <a:t>Feature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 all leaves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 range over dates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over growth stages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over varieties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10896">
                <a:tc>
                  <a:txBody>
                    <a:bodyPr/>
                    <a:lstStyle/>
                    <a:p>
                      <a:pPr indent="0" marL="0">
                        <a:buNone/>
                      </a:pPr>
                      <a:r>
                        <a:rPr lang="en-US" sz="1100" dirty="0">
                          <a:solidFill>
                            <a:srgbClr val="1B1B1A"/>
                          </a:solidFill>
                        </a:rPr>
                        <a:t>K1 reflectance R1890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0.691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0.54–0.83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0.53–0.75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0.67–0.72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K4 first derivative D1_872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0.786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0.69–0.90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0.70–0.85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0.74–0.82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K2 CR3 water 970 width</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0.765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0.57–0.87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0.65–0.85</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0.75–0.78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K3 NWI2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0.700</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0.61–0.87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0.59–0.77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0.66–0.76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10896">
                <a:tc>
                  <a:txBody>
                    <a:bodyPr/>
                    <a:lstStyle/>
                    <a:p>
                      <a:pPr indent="0" marL="0">
                        <a:buNone/>
                      </a:pPr>
                      <a:r>
                        <a:rPr lang="en-US" sz="1100" dirty="0">
                          <a:solidFill>
                            <a:srgbClr val="1B1B1A"/>
                          </a:solidFill>
                        </a:rPr>
                        <a:t>K4 edge Ro (red well reflectance)</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0.659</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0.56–0.74</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0.54–0.72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0.64–0.67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1B1A"/>
                          </a:solidFill>
                        </a:rPr>
                        <a:t>REIP (Lagrangian)</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0.638</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0.52–0.77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0.54–0.72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0.60–0.67</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Text 1"/>
          <p:cNvSpPr txBox="1"/>
          <p:nvPr/>
        </p:nvSpPr>
        <p:spPr>
          <a:xfrm>
            <a:off x="457200" y="4206240"/>
            <a:ext cx="11277295" cy="182880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The key features work inside every date, growth stage and variety (same direction in nearly all strata), but their AUC varies widely between dates (e.g. D1 at 872 nm 0.69–0.90; CR3 width 0.57–0.87).</a:t>
            </a:r>
            <a:endParaRPr lang="en-US" sz="1400" dirty="0"/>
          </a:p>
          <a:p>
            <a:pPr marL="342900" indent="-342900">
              <a:spcAft>
                <a:spcPts val="600"/>
              </a:spcAft>
              <a:buSzPct val="100000"/>
              <a:buChar char="•"/>
            </a:pPr>
            <a:r>
              <a:rPr lang="en-US" sz="1400" dirty="0">
                <a:solidFill>
                  <a:srgbClr val="1B1B1A"/>
                </a:solidFill>
              </a:rPr>
              <a:t>Classifier accuracy (V3 out-of-fold) of QDA on the combined-pool RF features is 82–86 % in each variety, 73–88 % in each growth stage (lowest at pod formation) and 68–94 % in each date.</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Synthesis · All approaches on new plots</a:t>
            </a:r>
            <a:endParaRPr lang="en-US" sz="2600" dirty="0"/>
          </a:p>
        </p:txBody>
      </p:sp>
      <p:pic>
        <p:nvPicPr>
          <p:cNvPr id="3" name="Image 0" descr="F29_synthesis">    </p:cNvPr>
          <p:cNvPicPr>
            <a:picLocks noChangeAspect="1"/>
          </p:cNvPicPr>
          <p:nvPr/>
        </p:nvPicPr>
        <p:blipFill>
          <a:blip r:embed="rId1"/>
          <a:stretch>
            <a:fillRect/>
          </a:stretch>
        </p:blipFill>
        <p:spPr>
          <a:xfrm>
            <a:off x="457200" y="1818896"/>
            <a:ext cx="6035040" cy="3494528"/>
          </a:xfrm>
          <a:prstGeom prst="rect">
            <a:avLst/>
          </a:prstGeom>
        </p:spPr>
      </p:pic>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675120" y="1097280"/>
          <a:ext cx="5029200" cy="914400"/>
        </p:xfrm>
        <a:graphic>
          <a:graphicData uri="http://schemas.openxmlformats.org/drawingml/2006/table">
            <a:tbl>
              <a:tblPr/>
              <a:tblGrid>
                <a:gridCol w="2834640"/>
                <a:gridCol w="731520"/>
                <a:gridCol w="731520"/>
                <a:gridCol w="731520"/>
              </a:tblGrid>
              <a:tr h="246888">
                <a:tc>
                  <a:txBody>
                    <a:bodyPr/>
                    <a:lstStyle/>
                    <a:p>
                      <a:pPr indent="0" marL="0">
                        <a:buNone/>
                      </a:pPr>
                      <a:r>
                        <a:rPr lang="en-US" sz="850" b="1" dirty="0">
                          <a:solidFill>
                            <a:srgbClr val="FFFFFF"/>
                          </a:solidFill>
                        </a:rPr>
                        <a:t>Approach</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BA V3 (nested CV)</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BA V4 (hold-out plots)</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BA V5 (new date + plots)</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46888">
                <a:tc>
                  <a:txBody>
                    <a:bodyPr/>
                    <a:lstStyle/>
                    <a:p>
                      <a:pPr indent="0" marL="0">
                        <a:buNone/>
                      </a:pPr>
                      <a:r>
                        <a:rPr lang="en-US" sz="850" dirty="0">
                          <a:solidFill>
                            <a:srgbClr val="1B1B1A"/>
                          </a:solidFill>
                        </a:rPr>
                        <a:t>K5 · K4 incl. guard bands (artefact): RF</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91.1 %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90.6 %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K5 · K4 derivatives + edge: RF</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86.8 %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85.9 %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850" dirty="0">
                          <a:solidFill>
                            <a:srgbClr val="1B1B1A"/>
                          </a:solidFill>
                        </a:rPr>
                        <a:t>K5 · K1–K4 combined: RF</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86.3 %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85.4 %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Part C · combined-pool four-tier: RF classifier (Bal</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86.1 %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85.1 %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61.3 %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850" dirty="0">
                          <a:solidFill>
                            <a:srgbClr val="1B1B1A"/>
                          </a:solidFill>
                        </a:rPr>
                        <a:t>K5 · K4 incl. guard bands (artefact): CART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85.4 %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85.8 %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Part C · combined-pool four-tier: QDA on RF-17 (RF-s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83.7 %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84.6 %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62.1 %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850" dirty="0">
                          <a:solidFill>
                            <a:srgbClr val="1B1B1A"/>
                          </a:solidFill>
                        </a:rPr>
                        <a:t>K5 · K2 continuum removal: RF</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83.2 %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83.0 %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K5 · K-selected 15: RF</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82.6 %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82.0 %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850" dirty="0">
                          <a:solidFill>
                            <a:srgbClr val="1B1B1A"/>
                          </a:solidFill>
                        </a:rPr>
                        <a:t>K5 · K2 continuum removal: CART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80.7 %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80.5 %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K5 · K1–K4 combined: CART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80.3 %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80.0 %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850" dirty="0">
                          <a:solidFill>
                            <a:srgbClr val="1B1B1A"/>
                          </a:solidFill>
                        </a:rPr>
                        <a:t>Part C · combined-pool four-tier: CART classifier (r</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80.1 %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79.7 %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61.6 %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1B1B1A"/>
                          </a:solidFill>
                        </a:rPr>
                        <a:t>K5 · K4 derivatives + edge: CART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79.2 %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80.2 %</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Conclusions</a:t>
            </a:r>
            <a:endParaRPr lang="en-US" sz="2600" dirty="0"/>
          </a:p>
        </p:txBody>
      </p:sp>
      <p:sp>
        <p:nvSpPr>
          <p:cNvPr id="3" name="Text 1"/>
          <p:cNvSpPr txBox="1"/>
          <p:nvPr/>
        </p:nvSpPr>
        <p:spPr>
          <a:xfrm>
            <a:off x="457200" y="1097280"/>
            <a:ext cx="11277295" cy="5120640"/>
          </a:xfrm>
          <a:prstGeom prst="rect">
            <a:avLst/>
          </a:prstGeom>
          <a:noFill/>
          <a:ln/>
        </p:spPr>
        <p:txBody>
          <a:bodyPr wrap="square" rtlCol="0" anchor="t"/>
          <a:lstStyle/>
          <a:p>
            <a:pPr marL="342900" indent="-342900">
              <a:spcAft>
                <a:spcPts val="600"/>
              </a:spcAft>
              <a:buSzPct val="100000"/>
              <a:buChar char="•"/>
            </a:pPr>
            <a:r>
              <a:rPr lang="en-US" sz="1500" dirty="0">
                <a:solidFill>
                  <a:srgbClr val="1B1B1A"/>
                </a:solidFill>
              </a:rPr>
              <a:t>White rust changes mustard leaf reflectance significantly at 1653 of 2101 bands (1604 with a plot random effect), mainly in the red / red edge, the NIR plateau and the water absorption bands, irrespective of date, growth stage and variety.</a:t>
            </a:r>
            <a:endParaRPr lang="en-US" sz="1500" dirty="0"/>
          </a:p>
          <a:p>
            <a:pPr marL="342900" indent="-342900">
              <a:spcAft>
                <a:spcPts val="600"/>
              </a:spcAft>
              <a:buSzPct val="100000"/>
              <a:buChar char="•"/>
            </a:pPr>
            <a:r>
              <a:rPr lang="en-US" sz="1500" dirty="0">
                <a:solidFill>
                  <a:srgbClr val="1B1B1A"/>
                </a:solidFill>
              </a:rPr>
              <a:t>The four-tier method of Das et al. (2020), corrected for imbalance, selects 11 CART bands (root 1893 nm) that give QDA balanced accuracies of 71–73 % on new plots; the classes are not separable by the J–M criterion (1.27 &lt; 1.90).</a:t>
            </a:r>
            <a:endParaRPr lang="en-US" sz="1500" dirty="0"/>
          </a:p>
          <a:p>
            <a:pPr marL="342900" indent="-342900">
              <a:spcAft>
                <a:spcPts val="600"/>
              </a:spcAft>
              <a:buSzPct val="100000"/>
              <a:buChar char="•"/>
            </a:pPr>
            <a:r>
              <a:rPr lang="en-US" sz="1500" dirty="0">
                <a:solidFill>
                  <a:srgbClr val="1B1B1A"/>
                </a:solidFill>
              </a:rPr>
              <a:t>Random Forest is a better classifier than CART (+6 points) and a far more stable band selector; RF and CART agree on the red edge (≈ 690–705 nm) and the 1890 nm water band.</a:t>
            </a:r>
            <a:endParaRPr lang="en-US" sz="1500" dirty="0"/>
          </a:p>
          <a:p>
            <a:pPr marL="342900" indent="-342900">
              <a:spcAft>
                <a:spcPts val="600"/>
              </a:spcAft>
              <a:buSzPct val="100000"/>
              <a:buChar char="•"/>
            </a:pPr>
            <a:r>
              <a:rPr lang="en-US" sz="1500" dirty="0">
                <a:solidFill>
                  <a:srgbClr val="1B1B1A"/>
                </a:solidFill>
              </a:rPr>
              <a:t>First-derivative spectra and continuum-removed water features are the most disease-sensitive features; the red-edge inflection point shows a blue shift of 1.5–3.9 nm in diseased leaves, strongest at flowering.</a:t>
            </a:r>
            <a:endParaRPr lang="en-US" sz="1500" dirty="0"/>
          </a:p>
          <a:p>
            <a:pPr marL="342900" indent="-342900">
              <a:spcAft>
                <a:spcPts val="600"/>
              </a:spcAft>
              <a:buSzPct val="100000"/>
              <a:buChar char="•"/>
            </a:pPr>
            <a:r>
              <a:rPr lang="en-US" sz="1500" dirty="0">
                <a:solidFill>
                  <a:srgbClr val="1B1B1A"/>
                </a:solidFill>
              </a:rPr>
              <a:t>Applying the four tiers to the combined feature pool (4150 features) raises accuracy to 83.7–84.6 % with QDA on 17 RF-selected features and to 86 % with an RF on all features — 15 points above reflectance alone.</a:t>
            </a:r>
            <a:endParaRPr lang="en-US" sz="1500" dirty="0"/>
          </a:p>
          <a:p>
            <a:pPr marL="342900" indent="-342900">
              <a:spcAft>
                <a:spcPts val="600"/>
              </a:spcAft>
              <a:buSzPct val="100000"/>
              <a:buChar char="•"/>
            </a:pPr>
            <a:r>
              <a:rPr lang="en-US" sz="1500" dirty="0">
                <a:solidFill>
                  <a:srgbClr val="1B1B1A"/>
                </a:solidFill>
              </a:rPr>
              <a:t>Models transfer poorly to an unseen date (53–62 %) because growth stage changes the spectra more than the disease; practical detection needs stage-specific calibration or training data covering all stages.</a:t>
            </a:r>
            <a:endParaRPr lang="en-US" sz="15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Recommendations</a:t>
            </a:r>
            <a:endParaRPr lang="en-US" sz="2600" dirty="0"/>
          </a:p>
        </p:txBody>
      </p:sp>
      <p:sp>
        <p:nvSpPr>
          <p:cNvPr id="3" name="Text 1"/>
          <p:cNvSpPr txBox="1"/>
          <p:nvPr/>
        </p:nvSpPr>
        <p:spPr>
          <a:xfrm>
            <a:off x="457200" y="1097280"/>
            <a:ext cx="11277295" cy="5120640"/>
          </a:xfrm>
          <a:prstGeom prst="rect">
            <a:avLst/>
          </a:prstGeom>
          <a:noFill/>
          <a:ln/>
        </p:spPr>
        <p:txBody>
          <a:bodyPr wrap="square" rtlCol="0" anchor="t"/>
          <a:lstStyle/>
          <a:p>
            <a:pPr marL="342900" indent="-342900">
              <a:spcAft>
                <a:spcPts val="600"/>
              </a:spcAft>
              <a:buSzPct val="100000"/>
              <a:buChar char="•"/>
            </a:pPr>
            <a:r>
              <a:rPr lang="en-US" sz="1500" dirty="0">
                <a:solidFill>
                  <a:srgbClr val="1B1B1A"/>
                </a:solidFill>
              </a:rPr>
              <a:t>Use first-derivative bands (845–875 and 1915–1945 nm) together with the width of the 970 nm and the symmetry of the 1940 nm continuum-removed water features; select them with Random Forest importance and classify with QDA or RF.</a:t>
            </a:r>
            <a:endParaRPr lang="en-US" sz="1500" dirty="0"/>
          </a:p>
          <a:p>
            <a:pPr marL="342900" indent="-342900">
              <a:spcAft>
                <a:spcPts val="600"/>
              </a:spcAft>
              <a:buSzPct val="100000"/>
              <a:buChar char="•"/>
            </a:pPr>
            <a:r>
              <a:rPr lang="en-US" sz="1500" dirty="0">
                <a:solidFill>
                  <a:srgbClr val="1B1B1A"/>
                </a:solidFill>
              </a:rPr>
              <a:t>Report balanced accuracy and both class recalls; state the priors used (equal priors favour the healthy class here).</a:t>
            </a:r>
            <a:endParaRPr lang="en-US" sz="1500" dirty="0"/>
          </a:p>
          <a:p>
            <a:pPr marL="342900" indent="-342900">
              <a:spcAft>
                <a:spcPts val="600"/>
              </a:spcAft>
              <a:buSzPct val="100000"/>
              <a:buChar char="•"/>
            </a:pPr>
            <a:r>
              <a:rPr lang="en-US" sz="1500" dirty="0">
                <a:solidFill>
                  <a:srgbClr val="1B1B1A"/>
                </a:solidFill>
              </a:rPr>
              <a:t>Validate with plots grouped across dates and test transfer to new dates; calibrate per growth stage or include all stages in training.</a:t>
            </a:r>
            <a:endParaRPr lang="en-US" sz="1500" dirty="0"/>
          </a:p>
          <a:p>
            <a:pPr marL="342900" indent="-342900">
              <a:spcAft>
                <a:spcPts val="600"/>
              </a:spcAft>
              <a:buSzPct val="100000"/>
              <a:buChar char="•"/>
            </a:pPr>
            <a:r>
              <a:rPr lang="en-US" sz="1500" dirty="0">
                <a:solidFill>
                  <a:srgbClr val="1B1B1A"/>
                </a:solidFill>
              </a:rPr>
              <a:t>Apply splice correction and guard zones at the ASD detector joins and avoid indices whose bands bracket a join.</a:t>
            </a:r>
            <a:endParaRPr lang="en-US" sz="1500" dirty="0"/>
          </a:p>
          <a:p>
            <a:pPr marL="342900" indent="-342900">
              <a:spcAft>
                <a:spcPts val="600"/>
              </a:spcAft>
              <a:buSzPct val="100000"/>
              <a:buChar char="•"/>
            </a:pPr>
            <a:r>
              <a:rPr lang="en-US" sz="1500" dirty="0">
                <a:solidFill>
                  <a:srgbClr val="1B1B1A"/>
                </a:solidFill>
              </a:rPr>
              <a:t>Record a disease-severity score per leaf in future campaigns, so that severity-related spectral changes can be modelled directly.</a:t>
            </a:r>
            <a:endParaRPr lang="en-US" sz="15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Appendix · Every step was cross-checked (45 PASS, 6 FLAG, 0 FAIL)</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577840" cy="914400"/>
        </p:xfrm>
        <a:graphic>
          <a:graphicData uri="http://schemas.openxmlformats.org/drawingml/2006/table">
            <a:tbl>
              <a:tblPr/>
              <a:tblGrid>
                <a:gridCol w="822960"/>
                <a:gridCol w="1828800"/>
                <a:gridCol w="2377440"/>
                <a:gridCol w="548640"/>
              </a:tblGrid>
              <a:tr h="201168">
                <a:tc>
                  <a:txBody>
                    <a:bodyPr/>
                    <a:lstStyle/>
                    <a:p>
                      <a:pPr indent="0" marL="0">
                        <a:buNone/>
                      </a:pPr>
                      <a:r>
                        <a:rPr lang="en-US" sz="750" b="1" dirty="0">
                          <a:solidFill>
                            <a:srgbClr val="FFFFFF"/>
                          </a:solidFill>
                        </a:rPr>
                        <a:t>Step</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What was checked</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Result</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Status</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Missing values in spectra</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Reflectance range (350–2500 nm)</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0.026 – 0.935</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Wavelength grid identical in all fil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350–2500 nm, 1 nm, 2151 bands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Plot-average formula columns ignored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197</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Second data block 13-03-2026: exact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75 of 75 identical → removed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Exact duplicates among the remaining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4 (the unnamed plot-27 spectra of 11-02-2026) →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FLAG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Each plot has one class on every dat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48 of 48 plots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Each plot has one variety on every 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48 of 48 plots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Healthy = plots 1–12, diseased = plo</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consistent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Step 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Repeated ASD file names within a dat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75 names repeated; spectra differ (max |Δ| ≥ 0.0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J–M implementation (Part A (raw refl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|Δα| = 3.0e-13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QDA implementation (Part A (raw refl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99.91 % identical predictions — the 2 differing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Welch t-statistic</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|Δt| = 3.6e-15</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Benjamini–Hochberg q-values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max |Δq| = 1.1e-16</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ANOVA equivalence</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relative |F − t²| = 3.8e-14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Class imbalance</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median 1568 significant bands per subset vs 1653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2</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CART implementation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root variable rpart 'WV1893&lt; 0.08056' vs sklearn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2</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Stability of the selected bands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1893 nm 86 %; 767 nm 84 %; 2405 nm 76 %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J–M formula</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0.0e+00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QDA in R</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CART-11 equal: 99.91 % identical; CART-11 sample</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A1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Reproducibility: importance of seed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0.891; 17 of 17 peaks within ±10 nm</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A1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R randomForest (stratified sampsize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ρ = 0.893; 16 of 17 peaks within ±10 nm; R out-o</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172200" y="1051560"/>
          <a:ext cx="5577840" cy="914400"/>
        </p:xfrm>
        <a:graphic>
          <a:graphicData uri="http://schemas.openxmlformats.org/drawingml/2006/table">
            <a:tbl>
              <a:tblPr/>
              <a:tblGrid>
                <a:gridCol w="822960"/>
                <a:gridCol w="1828800"/>
                <a:gridCol w="2377440"/>
                <a:gridCol w="548640"/>
              </a:tblGrid>
              <a:tr h="201168">
                <a:tc>
                  <a:txBody>
                    <a:bodyPr/>
                    <a:lstStyle/>
                    <a:p>
                      <a:pPr indent="0" marL="0">
                        <a:buNone/>
                      </a:pPr>
                      <a:r>
                        <a:rPr lang="en-US" sz="750" b="1" dirty="0">
                          <a:solidFill>
                            <a:srgbClr val="FFFFFF"/>
                          </a:solidFill>
                        </a:rPr>
                        <a:t>Step</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What was checked</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Result</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750" b="1" dirty="0">
                          <a:solidFill>
                            <a:srgbClr val="FFFFFF"/>
                          </a:solidFill>
                        </a:rPr>
                        <a:t>Status</a:t>
                      </a:r>
                      <a:endParaRPr lang="en-US" sz="7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01168">
                <a:tc>
                  <a:txBody>
                    <a:bodyPr/>
                    <a:lstStyle/>
                    <a:p>
                      <a:pPr indent="0" marL="0">
                        <a:buNone/>
                      </a:pPr>
                      <a:r>
                        <a:rPr lang="en-US" sz="750" dirty="0">
                          <a:solidFill>
                            <a:srgbClr val="1B1B1A"/>
                          </a:solidFill>
                        </a:rPr>
                        <a:t>A1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Permutation importance (drop in AUC,</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ρ = -0.06; shuffling one band hardly changes the</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FLAG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A1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Ordinary RF with class weights only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BA 0.703; healthy recall 0.49: class weights alo</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Pseudo-replication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1604 of 2101 bands significant (Welch: 1653); pl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Mixed model implementation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Spearman ρ of p-values 1.000; max |ΔICC| 0.000 (</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Invertibility of the class covarianc</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3.3e+07 (well below the ~1e12 limit of doubl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J–M is scale-invariant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max |ΔJ–M| = 4.9e-11</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Smoothing preserves the signal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 ≥ 0.999988; 1653 (raw) vs 1652 (smoothed) sign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K0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Detector artefact at the 1800/1801 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start-up bump detected → guard zones applied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FLAG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K2</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Convex hull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|Δ continuum| = 0.0e+00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K3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Duplicated indices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max |mCARI1 − MTVI1| = 4.4e-16 (algebraically id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REIP by four methods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 between methods 0.849 – 0.999</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K4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REP by two methods (Excel)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see 'largest difference' on sheet K4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Derivative filter</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r = 0.9995</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K6</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Correlation vs t-test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ρ = 0.9829 (r_pb is a monotone function of Stude</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K3b</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NDSI vs simple ratio</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|ΔAUC| = 0.0e+00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K3b</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Selection optimism</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honest BA 73.0 % (CV) / 72.8 % (hold-out) vs 76.</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FLAG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K3b</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Best pair straddles a detector join?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all-pair best NDSI(1794,1837) brackets the 1800/</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FLAG</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Part C · 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J–M implementation (Part C (combined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|Δα| = 3.3e-15</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Part C · Tier 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QDA implementation (Part C (combined</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99.91 % identical predictions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Part C · 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Invertibility of the class covarianc</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max 7.8e+03 (well below the ~1e12 limit of doubl</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01168">
                <a:tc>
                  <a:txBody>
                    <a:bodyPr/>
                    <a:lstStyle/>
                    <a:p>
                      <a:pPr indent="0" marL="0">
                        <a:buNone/>
                      </a:pPr>
                      <a:r>
                        <a:rPr lang="en-US" sz="750" dirty="0">
                          <a:solidFill>
                            <a:srgbClr val="1B1B1A"/>
                          </a:solidFill>
                        </a:rPr>
                        <a:t>Part C · Tier 3</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J–M is scale-invariant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max |ΔJ–M| = 2.4e-14</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01168">
                <a:tc>
                  <a:txBody>
                    <a:bodyPr/>
                    <a:lstStyle/>
                    <a:p>
                      <a:pPr indent="0" marL="0">
                        <a:buNone/>
                      </a:pPr>
                      <a:r>
                        <a:rPr lang="en-US" sz="750" dirty="0">
                          <a:solidFill>
                            <a:srgbClr val="1B1B1A"/>
                          </a:solidFill>
                        </a:rPr>
                        <a:t>Validation</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No plot in both training and test</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passed for all folds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750" dirty="0">
                          <a:solidFill>
                            <a:srgbClr val="1B1B1A"/>
                          </a:solidFill>
                        </a:rPr>
                        <a:t>PASS</a:t>
                      </a:r>
                      <a:endParaRPr lang="en-US" sz="7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57200" y="6080760"/>
            <a:ext cx="11277295" cy="365760"/>
          </a:xfrm>
          <a:prstGeom prst="rect">
            <a:avLst/>
          </a:prstGeom>
          <a:noFill/>
          <a:ln/>
        </p:spPr>
        <p:txBody>
          <a:bodyPr wrap="square" lIns="0" tIns="0" rIns="0" bIns="0" rtlCol="0" anchor="ctr"/>
          <a:lstStyle/>
          <a:p>
            <a:pPr indent="0" marL="0">
              <a:buNone/>
            </a:pPr>
            <a:r>
              <a:rPr lang="en-US" sz="1100" i="1" dirty="0">
                <a:solidFill>
                  <a:srgbClr val="52514E"/>
                </a:solidFill>
              </a:rPr>
              <a:t>Full register with methods: workbook sheet 33_CrossChecks.</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References (1/3)</a:t>
            </a:r>
            <a:endParaRPr lang="en-US" sz="26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100" dirty="0">
                <a:solidFill>
                  <a:srgbClr val="1B1B1A"/>
                </a:solidFill>
              </a:rPr>
              <a:t>Ambroise C, McLachlan GJ. 2002. Selection bias in gene extraction on the basis of microarray gene-expression data. Proceedings of the National Academy of Sciences 99:6562–6566.</a:t>
            </a:r>
            <a:endParaRPr lang="en-US" sz="1100" dirty="0"/>
          </a:p>
          <a:p>
            <a:pPr marL="342900" indent="-342900">
              <a:spcAft>
                <a:spcPts val="600"/>
              </a:spcAft>
              <a:buSzPct val="100000"/>
              <a:buChar char="•"/>
            </a:pPr>
            <a:r>
              <a:rPr lang="en-US" sz="1100" dirty="0">
                <a:solidFill>
                  <a:srgbClr val="1B1B1A"/>
                </a:solidFill>
              </a:rPr>
              <a:t>Babar MA, Reynolds MP, van Ginkel M, Klatt AR, Raun WR, Stone ML. 2006. Spectral reflectance indices as a potential indirect selection criteria for wheat yield under irrigation. Crop Science 46:578–588.</a:t>
            </a:r>
            <a:endParaRPr lang="en-US" sz="1100" dirty="0"/>
          </a:p>
          <a:p>
            <a:pPr marL="342900" indent="-342900">
              <a:spcAft>
                <a:spcPts val="600"/>
              </a:spcAft>
              <a:buSzPct val="100000"/>
              <a:buChar char="•"/>
            </a:pPr>
            <a:r>
              <a:rPr lang="en-US" sz="1100" dirty="0">
                <a:solidFill>
                  <a:srgbClr val="1B1B1A"/>
                </a:solidFill>
              </a:rPr>
              <a:t>Benjamini Y, Hochberg Y. 1995. Controlling the false discovery rate: a practical and powerful approach to multiple testing. Journal of the Royal Statistical Society B 57:289–300.</a:t>
            </a:r>
            <a:endParaRPr lang="en-US" sz="1100" dirty="0"/>
          </a:p>
          <a:p>
            <a:pPr marL="342900" indent="-342900">
              <a:spcAft>
                <a:spcPts val="600"/>
              </a:spcAft>
              <a:buSzPct val="100000"/>
              <a:buChar char="•"/>
            </a:pPr>
            <a:r>
              <a:rPr lang="en-US" sz="1100" dirty="0">
                <a:solidFill>
                  <a:srgbClr val="1B1B1A"/>
                </a:solidFill>
              </a:rPr>
              <a:t>Bhattacharyya A. 1943. On a measure of divergence between two statistical populations defined by their probability distributions. Bulletin of the Calcutta Mathematical Society 35:99–109.</a:t>
            </a:r>
            <a:endParaRPr lang="en-US" sz="1100" dirty="0"/>
          </a:p>
          <a:p>
            <a:pPr marL="342900" indent="-342900">
              <a:spcAft>
                <a:spcPts val="600"/>
              </a:spcAft>
              <a:buSzPct val="100000"/>
              <a:buChar char="•"/>
            </a:pPr>
            <a:r>
              <a:rPr lang="en-US" sz="1100" dirty="0">
                <a:solidFill>
                  <a:srgbClr val="1B1B1A"/>
                </a:solidFill>
              </a:rPr>
              <a:t>Breiman L. 2001. Random forests. Machine Learning 45:5–32.</a:t>
            </a:r>
            <a:endParaRPr lang="en-US" sz="1100" dirty="0"/>
          </a:p>
          <a:p>
            <a:pPr marL="342900" indent="-342900">
              <a:spcAft>
                <a:spcPts val="600"/>
              </a:spcAft>
              <a:buSzPct val="100000"/>
              <a:buChar char="•"/>
            </a:pPr>
            <a:r>
              <a:rPr lang="en-US" sz="1100" dirty="0">
                <a:solidFill>
                  <a:srgbClr val="1B1B1A"/>
                </a:solidFill>
              </a:rPr>
              <a:t>Breiman L, Friedman JH, Olshen RA, Stone CJ. 1984. Classification and regression trees. Belmont (CA): Wadsworth.</a:t>
            </a:r>
            <a:endParaRPr lang="en-US" sz="1100" dirty="0"/>
          </a:p>
          <a:p>
            <a:pPr marL="342900" indent="-342900">
              <a:spcAft>
                <a:spcPts val="600"/>
              </a:spcAft>
              <a:buSzPct val="100000"/>
              <a:buChar char="•"/>
            </a:pPr>
            <a:r>
              <a:rPr lang="en-US" sz="1100" dirty="0">
                <a:solidFill>
                  <a:srgbClr val="1B1B1A"/>
                </a:solidFill>
              </a:rPr>
              <a:t>Brodersen KH, Ong CS, Stephan KE, Buhmann JM. 2010. The balanced accuracy and its posterior distribution. Proceedings of the 20th International Conference on Pattern Recognition, 3121–3124.</a:t>
            </a:r>
            <a:endParaRPr lang="en-US" sz="1100" dirty="0"/>
          </a:p>
          <a:p>
            <a:pPr marL="342900" indent="-342900">
              <a:spcAft>
                <a:spcPts val="600"/>
              </a:spcAft>
              <a:buSzPct val="100000"/>
              <a:buChar char="•"/>
            </a:pPr>
            <a:r>
              <a:rPr lang="en-US" sz="1100" dirty="0">
                <a:solidFill>
                  <a:srgbClr val="1B1B1A"/>
                </a:solidFill>
              </a:rPr>
              <a:t>Chen C, Liaw A, Breiman L. 2004. Using random forest to learn imbalanced data. Technical Report 666, Department of Statistics, University of California, Berkeley.</a:t>
            </a:r>
            <a:endParaRPr lang="en-US" sz="1100" dirty="0"/>
          </a:p>
          <a:p>
            <a:pPr marL="342900" indent="-342900">
              <a:spcAft>
                <a:spcPts val="600"/>
              </a:spcAft>
              <a:buSzPct val="100000"/>
              <a:buChar char="•"/>
            </a:pPr>
            <a:r>
              <a:rPr lang="en-US" sz="1100" dirty="0">
                <a:solidFill>
                  <a:srgbClr val="1B1B1A"/>
                </a:solidFill>
              </a:rPr>
              <a:t>Cho MA, Skidmore AK. 2006. A new technique for extracting the red edge position from hyperspectral data: the linear extrapolation method. Remote Sensing of Environment 101:181–193.</a:t>
            </a:r>
            <a:endParaRPr lang="en-US" sz="1100" dirty="0"/>
          </a:p>
          <a:p>
            <a:pPr marL="342900" indent="-342900">
              <a:spcAft>
                <a:spcPts val="600"/>
              </a:spcAft>
              <a:buSzPct val="100000"/>
              <a:buChar char="•"/>
            </a:pPr>
            <a:r>
              <a:rPr lang="en-US" sz="1100" dirty="0">
                <a:solidFill>
                  <a:srgbClr val="1B1B1A"/>
                </a:solidFill>
              </a:rPr>
              <a:t>Clark RN, Roush TL. 1984. Reflectance spectroscopy: quantitative analysis techniques for remote sensing applications. Journal of Geophysical Research 89(B7):6329–6340.</a:t>
            </a:r>
            <a:endParaRPr lang="en-US" sz="1100" dirty="0"/>
          </a:p>
          <a:p>
            <a:pPr marL="342900" indent="-342900">
              <a:spcAft>
                <a:spcPts val="600"/>
              </a:spcAft>
              <a:buSzPct val="100000"/>
              <a:buChar char="•"/>
            </a:pPr>
            <a:r>
              <a:rPr lang="en-US" sz="1100" dirty="0">
                <a:solidFill>
                  <a:srgbClr val="1B1B1A"/>
                </a:solidFill>
              </a:rPr>
              <a:t>Cohen J. 1960. A coefficient of agreement for nominal scales. Educational and Psychological Measurement 20:37–46.</a:t>
            </a:r>
            <a:endParaRPr lang="en-US" sz="1100" dirty="0"/>
          </a:p>
          <a:p>
            <a:pPr marL="342900" indent="-342900">
              <a:spcAft>
                <a:spcPts val="600"/>
              </a:spcAft>
              <a:buSzPct val="100000"/>
              <a:buChar char="•"/>
            </a:pPr>
            <a:r>
              <a:rPr lang="en-US" sz="1100" dirty="0">
                <a:solidFill>
                  <a:srgbClr val="1B1B1A"/>
                </a:solidFill>
              </a:rPr>
              <a:t>Congalton RG. 1991. A review of assessing the accuracy of classifications of remotely sensed data. Remote Sensing of Environment 37:35–46.</a:t>
            </a:r>
            <a:endParaRPr lang="en-US" sz="1100" dirty="0"/>
          </a:p>
          <a:p>
            <a:pPr marL="342900" indent="-342900">
              <a:spcAft>
                <a:spcPts val="600"/>
              </a:spcAft>
              <a:buSzPct val="100000"/>
              <a:buChar char="•"/>
            </a:pPr>
            <a:r>
              <a:rPr lang="en-US" sz="1100" dirty="0">
                <a:solidFill>
                  <a:srgbClr val="1B1B1A"/>
                </a:solidFill>
              </a:rPr>
              <a:t>Das B, Sahoo RN, Biswas A, Pargal S, Krishna G, Verma R, Chinnusamy V, Sehgal VK, Gupta VK. 2020. Discrimination of rice genotypes using field spectroradiometry. Geocarto International 35(1):64–77. doi:10.1080/10106049.2018.1506507</a:t>
            </a:r>
            <a:endParaRPr lang="en-US" sz="1100" dirty="0"/>
          </a:p>
          <a:p>
            <a:pPr marL="342900" indent="-342900">
              <a:spcAft>
                <a:spcPts val="600"/>
              </a:spcAft>
              <a:buSzPct val="100000"/>
              <a:buChar char="•"/>
            </a:pPr>
            <a:r>
              <a:rPr lang="en-US" sz="1100" dirty="0">
                <a:solidFill>
                  <a:srgbClr val="1B1B1A"/>
                </a:solidFill>
              </a:rPr>
              <a:t>Dawson TP, Curran PJ. 1998. A new technique for interpolating the reflectance red edge position. International Journal of Remote Sensing 19:2133–2139.</a:t>
            </a:r>
            <a:endParaRPr lang="en-US" sz="1100" dirty="0"/>
          </a:p>
          <a:p>
            <a:pPr marL="342900" indent="-342900">
              <a:spcAft>
                <a:spcPts val="600"/>
              </a:spcAft>
              <a:buSzPct val="100000"/>
              <a:buChar char="•"/>
            </a:pPr>
            <a:r>
              <a:rPr lang="en-US" sz="1100" dirty="0">
                <a:solidFill>
                  <a:srgbClr val="1B1B1A"/>
                </a:solidFill>
              </a:rPr>
              <a:t>Gong P, Pu R, Heald RC. 2002. Analysis of in situ hyperspectral data for nutrient estimation of giant sequoia. International Journal of Remote Sensing 23:1827–1850.</a:t>
            </a:r>
            <a:endParaRPr lang="en-US" sz="1100" dirty="0"/>
          </a:p>
          <a:p>
            <a:pPr marL="342900" indent="-342900">
              <a:spcAft>
                <a:spcPts val="600"/>
              </a:spcAft>
              <a:buSzPct val="100000"/>
              <a:buChar char="•"/>
            </a:pPr>
            <a:r>
              <a:rPr lang="en-US" sz="1100" dirty="0">
                <a:solidFill>
                  <a:srgbClr val="1B1B1A"/>
                </a:solidFill>
              </a:rPr>
              <a:t>Guyot G, Baret F. 1988. Utilisation de la haute résolution spectrale pour suivre l'état des couverts végétaux. Proceedings of the 4th International Colloquium on Spectral Signatures of Objects in Remote Sensing, ESA SP-287, 279–286.</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References (2/3)</a:t>
            </a:r>
            <a:endParaRPr lang="en-US" sz="26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100" dirty="0">
                <a:solidFill>
                  <a:srgbClr val="1B1B1A"/>
                </a:solidFill>
              </a:rPr>
              <a:t>Haboudane D, Miller JR, Pattey E, Zarco-Tejada PJ, Strachan IB. 2004. Hyperspectral vegetation indices and novel algorithms for predicting green LAI of crop canopies. Remote Sensing of Environment 90:337–352.</a:t>
            </a:r>
            <a:endParaRPr lang="en-US" sz="1100" dirty="0"/>
          </a:p>
          <a:p>
            <a:pPr marL="342900" indent="-342900">
              <a:spcAft>
                <a:spcPts val="600"/>
              </a:spcAft>
              <a:buSzPct val="100000"/>
              <a:buChar char="•"/>
            </a:pPr>
            <a:r>
              <a:rPr lang="en-US" sz="1100" dirty="0">
                <a:solidFill>
                  <a:srgbClr val="1B1B1A"/>
                </a:solidFill>
              </a:rPr>
              <a:t>Hanley JA, McNeil BJ. 1982. The meaning and use of the area under a receiver operating characteristic (ROC) curve. Radiology 143:29–36.</a:t>
            </a:r>
            <a:endParaRPr lang="en-US" sz="1100" dirty="0"/>
          </a:p>
          <a:p>
            <a:pPr marL="342900" indent="-342900">
              <a:spcAft>
                <a:spcPts val="600"/>
              </a:spcAft>
              <a:buSzPct val="100000"/>
              <a:buChar char="•"/>
            </a:pPr>
            <a:r>
              <a:rPr lang="en-US" sz="1100" dirty="0">
                <a:solidFill>
                  <a:srgbClr val="1B1B1A"/>
                </a:solidFill>
              </a:rPr>
              <a:t>Hastie T, Tibshirani R, Friedman J. 2009. The elements of statistical learning. 2nd ed. New York: Springer.</a:t>
            </a:r>
            <a:endParaRPr lang="en-US" sz="1100" dirty="0"/>
          </a:p>
          <a:p>
            <a:pPr marL="342900" indent="-342900">
              <a:spcAft>
                <a:spcPts val="600"/>
              </a:spcAft>
              <a:buSzPct val="100000"/>
              <a:buChar char="•"/>
            </a:pPr>
            <a:r>
              <a:rPr lang="en-US" sz="1100" dirty="0">
                <a:solidFill>
                  <a:srgbClr val="1B1B1A"/>
                </a:solidFill>
              </a:rPr>
              <a:t>Hedges LV. 1981. Distribution theory for Glass's estimator of effect size and related estimators. Journal of Educational Statistics 6:107–128.</a:t>
            </a:r>
            <a:endParaRPr lang="en-US" sz="1100" dirty="0"/>
          </a:p>
          <a:p>
            <a:pPr marL="342900" indent="-342900">
              <a:spcAft>
                <a:spcPts val="600"/>
              </a:spcAft>
              <a:buSzPct val="100000"/>
              <a:buChar char="•"/>
            </a:pPr>
            <a:r>
              <a:rPr lang="en-US" sz="1100" dirty="0">
                <a:solidFill>
                  <a:srgbClr val="1B1B1A"/>
                </a:solidFill>
              </a:rPr>
              <a:t>Horler DNH, Dockray M, Barber J. 1983. The red edge of plant leaf reflectance. International Journal of Remote Sensing 4:273–288.</a:t>
            </a:r>
            <a:endParaRPr lang="en-US" sz="1100" dirty="0"/>
          </a:p>
          <a:p>
            <a:pPr marL="342900" indent="-342900">
              <a:spcAft>
                <a:spcPts val="600"/>
              </a:spcAft>
              <a:buSzPct val="100000"/>
              <a:buChar char="•"/>
            </a:pPr>
            <a:r>
              <a:rPr lang="en-US" sz="1100" dirty="0">
                <a:solidFill>
                  <a:srgbClr val="1B1B1A"/>
                </a:solidFill>
              </a:rPr>
              <a:t>Hurlbert SH. 1984. Pseudoreplication and the design of ecological field experiments. Ecological Monographs 54:187–211.</a:t>
            </a:r>
            <a:endParaRPr lang="en-US" sz="1100" dirty="0"/>
          </a:p>
          <a:p>
            <a:pPr marL="342900" indent="-342900">
              <a:spcAft>
                <a:spcPts val="600"/>
              </a:spcAft>
              <a:buSzPct val="100000"/>
              <a:buChar char="•"/>
            </a:pPr>
            <a:r>
              <a:rPr lang="en-US" sz="1100" dirty="0">
                <a:solidFill>
                  <a:srgbClr val="1B1B1A"/>
                </a:solidFill>
              </a:rPr>
              <a:t>Kokaly RF, Clark RN. 1999. Spectroscopic determination of leaf biochemistry using band-depth analysis of absorption features and stepwise multiple linear regression. Remote Sensing of Environment 67:267–287.</a:t>
            </a:r>
            <a:endParaRPr lang="en-US" sz="1100" dirty="0"/>
          </a:p>
          <a:p>
            <a:pPr marL="342900" indent="-342900">
              <a:spcAft>
                <a:spcPts val="600"/>
              </a:spcAft>
              <a:buSzPct val="100000"/>
              <a:buChar char="•"/>
            </a:pPr>
            <a:r>
              <a:rPr lang="en-US" sz="1100" dirty="0">
                <a:solidFill>
                  <a:srgbClr val="1B1B1A"/>
                </a:solidFill>
              </a:rPr>
              <a:t>Kuncheva LI. 2007. A stability index for feature selection. Proceedings of the 25th IASTED International Multi-Conference: Artificial Intelligence and Applications, 390–395.</a:t>
            </a:r>
            <a:endParaRPr lang="en-US" sz="1100" dirty="0"/>
          </a:p>
          <a:p>
            <a:pPr marL="342900" indent="-342900">
              <a:spcAft>
                <a:spcPts val="600"/>
              </a:spcAft>
              <a:buSzPct val="100000"/>
              <a:buChar char="•"/>
            </a:pPr>
            <a:r>
              <a:rPr lang="en-US" sz="1100" dirty="0">
                <a:solidFill>
                  <a:srgbClr val="1B1B1A"/>
                </a:solidFill>
              </a:rPr>
              <a:t>Lemaître G, Nogueira F, Aridas CK. 2017. Imbalanced-learn: a Python toolbox to tackle the curse of imbalanced datasets in machine learning. Journal of Machine Learning Research 18(17):1–5.</a:t>
            </a:r>
            <a:endParaRPr lang="en-US" sz="1100" dirty="0"/>
          </a:p>
          <a:p>
            <a:pPr marL="342900" indent="-342900">
              <a:spcAft>
                <a:spcPts val="600"/>
              </a:spcAft>
              <a:buSzPct val="100000"/>
              <a:buChar char="•"/>
            </a:pPr>
            <a:r>
              <a:rPr lang="en-US" sz="1100" dirty="0">
                <a:solidFill>
                  <a:srgbClr val="1B1B1A"/>
                </a:solidFill>
              </a:rPr>
              <a:t>Levene H. 1960. Robust tests for equality of variances. In: Olkin I, editor. Contributions to probability and statistics. Stanford: Stanford University Press; p. 278–292.</a:t>
            </a:r>
            <a:endParaRPr lang="en-US" sz="1100" dirty="0"/>
          </a:p>
          <a:p>
            <a:pPr marL="342900" indent="-342900">
              <a:spcAft>
                <a:spcPts val="600"/>
              </a:spcAft>
              <a:buSzPct val="100000"/>
              <a:buChar char="•"/>
            </a:pPr>
            <a:r>
              <a:rPr lang="en-US" sz="1100" dirty="0">
                <a:solidFill>
                  <a:srgbClr val="1B1B1A"/>
                </a:solidFill>
              </a:rPr>
              <a:t>Liaw A, Wiener M. 2002. Classification and regression by randomForest. R News 2(3):18–22.</a:t>
            </a:r>
            <a:endParaRPr lang="en-US" sz="1100" dirty="0"/>
          </a:p>
          <a:p>
            <a:pPr marL="342900" indent="-342900">
              <a:spcAft>
                <a:spcPts val="600"/>
              </a:spcAft>
              <a:buSzPct val="100000"/>
              <a:buChar char="•"/>
            </a:pPr>
            <a:r>
              <a:rPr lang="en-US" sz="1100" dirty="0">
                <a:solidFill>
                  <a:srgbClr val="1B1B1A"/>
                </a:solidFill>
              </a:rPr>
              <a:t>Mahlein A-K. 2016. Plant disease detection by imaging sensors — parallels and specific demands for precision agriculture and plant phenotyping. Plant Disease 100:241–251.</a:t>
            </a:r>
            <a:endParaRPr lang="en-US" sz="1100" dirty="0"/>
          </a:p>
          <a:p>
            <a:pPr marL="342900" indent="-342900">
              <a:spcAft>
                <a:spcPts val="600"/>
              </a:spcAft>
              <a:buSzPct val="100000"/>
              <a:buChar char="•"/>
            </a:pPr>
            <a:r>
              <a:rPr lang="en-US" sz="1100" dirty="0">
                <a:solidFill>
                  <a:srgbClr val="1B1B1A"/>
                </a:solidFill>
              </a:rPr>
              <a:t>Mahlein A-K, Rumpf T, Welke P, Dehne H-W, Plümer L, Steiner U, Oerke E-C. 2013. Development of spectral indices for detecting and identifying plant diseases. Remote Sensing of Environment 128:21–30.</a:t>
            </a:r>
            <a:endParaRPr lang="en-US" sz="1100" dirty="0"/>
          </a:p>
          <a:p>
            <a:pPr marL="342900" indent="-342900">
              <a:spcAft>
                <a:spcPts val="600"/>
              </a:spcAft>
              <a:buSzPct val="100000"/>
              <a:buChar char="•"/>
            </a:pPr>
            <a:r>
              <a:rPr lang="en-US" sz="1100" dirty="0">
                <a:solidFill>
                  <a:srgbClr val="1B1B1A"/>
                </a:solidFill>
              </a:rPr>
              <a:t>Pedregosa F, Varoquaux G, Gramfort A, et al. 2011. Scikit-learn: machine learning in Python. Journal of Machine Learning Research 12:2825–2830.</a:t>
            </a:r>
            <a:endParaRPr lang="en-US" sz="1100" dirty="0"/>
          </a:p>
          <a:p>
            <a:pPr marL="342900" indent="-342900">
              <a:spcAft>
                <a:spcPts val="600"/>
              </a:spcAft>
              <a:buSzPct val="100000"/>
              <a:buChar char="•"/>
            </a:pPr>
            <a:r>
              <a:rPr lang="en-US" sz="1100" dirty="0">
                <a:solidFill>
                  <a:srgbClr val="1B1B1A"/>
                </a:solidFill>
              </a:rPr>
              <a:t>Pinheiro J, Bates D, R Core Team. 2023. nlme: linear and nonlinear mixed effects models. R package.</a:t>
            </a:r>
            <a:endParaRPr lang="en-US" sz="1100" dirty="0"/>
          </a:p>
          <a:p>
            <a:pPr marL="342900" indent="-342900">
              <a:spcAft>
                <a:spcPts val="600"/>
              </a:spcAft>
              <a:buSzPct val="100000"/>
              <a:buChar char="•"/>
            </a:pPr>
            <a:r>
              <a:rPr lang="en-US" sz="1100" dirty="0">
                <a:solidFill>
                  <a:srgbClr val="1B1B1A"/>
                </a:solidFill>
              </a:rPr>
              <a:t>R Core Team. 2024. R: a language and environment for statistical computing. Vienna: R Foundation for Statistical Computing.</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600" b="1" dirty="0">
                <a:solidFill>
                  <a:srgbClr val="1F3D2B"/>
                </a:solidFill>
                <a:latin typeface="Cambria" pitchFamily="34" charset="0"/>
                <a:ea typeface="Cambria" pitchFamily="34" charset="-122"/>
                <a:cs typeface="Cambria" pitchFamily="34" charset="-120"/>
              </a:rPr>
              <a:t>References (3/3)</a:t>
            </a:r>
            <a:endParaRPr lang="en-US" sz="26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100" dirty="0">
                <a:solidFill>
                  <a:srgbClr val="1B1B1A"/>
                </a:solidFill>
              </a:rPr>
              <a:t>Richards JA. 2013. Remote sensing digital image analysis. 5th ed. Berlin: Springer.</a:t>
            </a:r>
            <a:endParaRPr lang="en-US" sz="1100" dirty="0"/>
          </a:p>
          <a:p>
            <a:pPr marL="342900" indent="-342900">
              <a:spcAft>
                <a:spcPts val="600"/>
              </a:spcAft>
              <a:buSzPct val="100000"/>
              <a:buChar char="•"/>
            </a:pPr>
            <a:r>
              <a:rPr lang="en-US" sz="1100" dirty="0">
                <a:solidFill>
                  <a:srgbClr val="1B1B1A"/>
                </a:solidFill>
              </a:rPr>
              <a:t>Roberts DR, Bahn V, Ciuti S, et al. 2017. Cross-validation strategies for data with temporal, spatial, hierarchical, or phylogenetic structure. Ecography 40:913–929.</a:t>
            </a:r>
            <a:endParaRPr lang="en-US" sz="1100" dirty="0"/>
          </a:p>
          <a:p>
            <a:pPr marL="342900" indent="-342900">
              <a:spcAft>
                <a:spcPts val="600"/>
              </a:spcAft>
              <a:buSzPct val="100000"/>
              <a:buChar char="•"/>
            </a:pPr>
            <a:r>
              <a:rPr lang="en-US" sz="1100" dirty="0">
                <a:solidFill>
                  <a:srgbClr val="1B1B1A"/>
                </a:solidFill>
              </a:rPr>
              <a:t>Saharan GS, Verma PR, Meena PD, Kumar A. 2014. White rust of crucifers: biology, ecology and management. New Delhi: Springer India.</a:t>
            </a:r>
            <a:endParaRPr lang="en-US" sz="1100" dirty="0"/>
          </a:p>
          <a:p>
            <a:pPr marL="342900" indent="-342900">
              <a:spcAft>
                <a:spcPts val="600"/>
              </a:spcAft>
              <a:buSzPct val="100000"/>
              <a:buChar char="•"/>
            </a:pPr>
            <a:r>
              <a:rPr lang="en-US" sz="1100" dirty="0">
                <a:solidFill>
                  <a:srgbClr val="1B1B1A"/>
                </a:solidFill>
              </a:rPr>
              <a:t>Savitzky A, Golay MJE. 1964. Smoothing and differentiation of data by simplified least squares procedures. Analytical Chemistry 36:1627–1639.</a:t>
            </a:r>
            <a:endParaRPr lang="en-US" sz="1100" dirty="0"/>
          </a:p>
          <a:p>
            <a:pPr marL="342900" indent="-342900">
              <a:spcAft>
                <a:spcPts val="600"/>
              </a:spcAft>
              <a:buSzPct val="100000"/>
              <a:buChar char="•"/>
            </a:pPr>
            <a:r>
              <a:rPr lang="en-US" sz="1100" dirty="0">
                <a:solidFill>
                  <a:srgbClr val="1B1B1A"/>
                </a:solidFill>
              </a:rPr>
              <a:t>Seabold S, Perktold J. 2010. Statsmodels: econometric and statistical modeling with Python. Proceedings of the 9th Python in Science Conference, 92–96.</a:t>
            </a:r>
            <a:endParaRPr lang="en-US" sz="1100" dirty="0"/>
          </a:p>
          <a:p>
            <a:pPr marL="342900" indent="-342900">
              <a:spcAft>
                <a:spcPts val="600"/>
              </a:spcAft>
              <a:buSzPct val="100000"/>
              <a:buChar char="•"/>
            </a:pPr>
            <a:r>
              <a:rPr lang="en-US" sz="1100" dirty="0">
                <a:solidFill>
                  <a:srgbClr val="1B1B1A"/>
                </a:solidFill>
              </a:rPr>
              <a:t>Strobl C, Boulesteix A-L, Zeileis A, Hothorn T. 2007. Bias in random forest variable importance measures: illustrations, sources and a solution. BMC Bioinformatics 8:25.</a:t>
            </a:r>
            <a:endParaRPr lang="en-US" sz="1100" dirty="0"/>
          </a:p>
          <a:p>
            <a:pPr marL="342900" indent="-342900">
              <a:spcAft>
                <a:spcPts val="600"/>
              </a:spcAft>
              <a:buSzPct val="100000"/>
              <a:buChar char="•"/>
            </a:pPr>
            <a:r>
              <a:rPr lang="en-US" sz="1100" dirty="0">
                <a:solidFill>
                  <a:srgbClr val="1B1B1A"/>
                </a:solidFill>
              </a:rPr>
              <a:t>Swain PH, Davis SM. 1978. Remote sensing: the quantitative approach. New York: McGraw-Hill.</a:t>
            </a:r>
            <a:endParaRPr lang="en-US" sz="1100" dirty="0"/>
          </a:p>
          <a:p>
            <a:pPr marL="342900" indent="-342900">
              <a:spcAft>
                <a:spcPts val="600"/>
              </a:spcAft>
              <a:buSzPct val="100000"/>
              <a:buChar char="•"/>
            </a:pPr>
            <a:r>
              <a:rPr lang="en-US" sz="1100" dirty="0">
                <a:solidFill>
                  <a:srgbClr val="1B1B1A"/>
                </a:solidFill>
              </a:rPr>
              <a:t>Therneau T, Atkinson B. 2023. rpart: recursive partitioning and regression trees. R package version 4.1.23.</a:t>
            </a:r>
            <a:endParaRPr lang="en-US" sz="1100" dirty="0"/>
          </a:p>
          <a:p>
            <a:pPr marL="342900" indent="-342900">
              <a:spcAft>
                <a:spcPts val="600"/>
              </a:spcAft>
              <a:buSzPct val="100000"/>
              <a:buChar char="•"/>
            </a:pPr>
            <a:r>
              <a:rPr lang="en-US" sz="1100" dirty="0">
                <a:solidFill>
                  <a:srgbClr val="1B1B1A"/>
                </a:solidFill>
              </a:rPr>
              <a:t>Varma S, Simon R. 2006. Bias in error estimation when using cross-validation for model selection. BMC Bioinformatics 7:91.</a:t>
            </a:r>
            <a:endParaRPr lang="en-US" sz="1100" dirty="0"/>
          </a:p>
          <a:p>
            <a:pPr marL="342900" indent="-342900">
              <a:spcAft>
                <a:spcPts val="600"/>
              </a:spcAft>
              <a:buSzPct val="100000"/>
              <a:buChar char="•"/>
            </a:pPr>
            <a:r>
              <a:rPr lang="en-US" sz="1100" dirty="0">
                <a:solidFill>
                  <a:srgbClr val="1B1B1A"/>
                </a:solidFill>
              </a:rPr>
              <a:t>Venables WN, Ripley BD. 2002. Modern applied statistics with S. 4th ed. New York: Springer.</a:t>
            </a:r>
            <a:endParaRPr lang="en-US" sz="1100" dirty="0"/>
          </a:p>
          <a:p>
            <a:pPr marL="342900" indent="-342900">
              <a:spcAft>
                <a:spcPts val="600"/>
              </a:spcAft>
              <a:buSzPct val="100000"/>
              <a:buChar char="•"/>
            </a:pPr>
            <a:r>
              <a:rPr lang="en-US" sz="1100" dirty="0">
                <a:solidFill>
                  <a:srgbClr val="1B1B1A"/>
                </a:solidFill>
              </a:rPr>
              <a:t>Welch BL. 1947. The generalization of 'Student's' problem when several different population variances are involved. Biometrika 34:28–35.</a:t>
            </a:r>
            <a:endParaRPr lang="en-US" sz="1100" dirty="0"/>
          </a:p>
          <a:p>
            <a:pPr marL="342900" indent="-342900">
              <a:spcAft>
                <a:spcPts val="600"/>
              </a:spcAft>
              <a:buSzPct val="100000"/>
              <a:buChar char="•"/>
            </a:pPr>
            <a:r>
              <a:rPr lang="en-US" sz="1100" dirty="0">
                <a:solidFill>
                  <a:srgbClr val="1B1B1A"/>
                </a:solidFill>
              </a:rPr>
              <a:t>Wilcoxon F. 1945. Individual comparisons by ranking methods. Biometrics Bulletin 1:80–83.</a:t>
            </a:r>
            <a:endParaRPr lang="en-US" sz="1100" dirty="0"/>
          </a:p>
          <a:p>
            <a:pPr marL="342900" indent="-342900">
              <a:spcAft>
                <a:spcPts val="600"/>
              </a:spcAft>
              <a:buSzPct val="100000"/>
              <a:buChar char="•"/>
            </a:pPr>
            <a:r>
              <a:rPr lang="en-US" sz="1100" dirty="0">
                <a:solidFill>
                  <a:srgbClr val="1B1B1A"/>
                </a:solidFill>
              </a:rPr>
              <a:t>Youden WJ. 1950. Index for rating diagnostic tests. Cancer 3:32–35.</a:t>
            </a:r>
            <a:endParaRPr lang="en-US" sz="1100" dirty="0"/>
          </a:p>
          <a:p>
            <a:pPr marL="342900" indent="-342900">
              <a:spcAft>
                <a:spcPts val="600"/>
              </a:spcAft>
              <a:buSzPct val="100000"/>
              <a:buChar char="•"/>
            </a:pPr>
            <a:r>
              <a:rPr lang="en-US" sz="1100" dirty="0">
                <a:solidFill>
                  <a:srgbClr val="1B1B1A"/>
                </a:solidFill>
              </a:rPr>
              <a:t>Vegetation-index sources (formulas in workbook sheet 17): Jordan 1969; Gitelson &amp; Merzlyak 1996; Gamon et al. 1992; Chappelle et al. 1992; Blackburn 1998; Raun et al. 2001; Peñuelas et al. 1994, 1995, 1997; Barnes et al. 1992; Merzlyak et al. 1999; Haboudane et al. 2002; Gitelson et al. 2001, 2002; Merton 1998; Broge &amp; Leblanc 2001; Roujean &amp; Bréon 1995; Metternicht 2003; Bausch &amp; Duke 1996.</a:t>
            </a:r>
            <a:endParaRPr lang="en-US" sz="11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White rust spectral">
  <a:themeElements>
    <a:clrScheme name="White rust spectral">
      <a:dk1>
        <a:srgbClr val="1B1B1A"/>
      </a:dk1>
      <a:lt1>
        <a:srgbClr val="FFFFFF"/>
      </a:lt1>
      <a:dk2>
        <a:srgbClr val="1F3D2B"/>
      </a:dk2>
      <a:lt2>
        <a:srgbClr val="F0EFEC"/>
      </a:lt2>
      <a:accent1>
        <a:srgbClr val="1BAF7A"/>
      </a:accent1>
      <a:accent2>
        <a:srgbClr val="EB6834"/>
      </a:accent2>
      <a:accent3>
        <a:srgbClr val="2A78D6"/>
      </a:accent3>
      <a:accent4>
        <a:srgbClr val="EDA100"/>
      </a:accent4>
      <a:accent5>
        <a:srgbClr val="6250D6"/>
      </a:accent5>
      <a:accent6>
        <a:srgbClr val="52514E"/>
      </a:accent6>
      <a:hlink>
        <a:srgbClr val="2A78D6"/>
      </a:hlink>
      <a:folHlink>
        <a:srgbClr val="6250D6"/>
      </a:folHlink>
    </a:clrScheme>
    <a:fontScheme name="White rust spectr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rust in mustard: four-tier spectral analysis</dc:title>
  <dc:subject>PptxGenJS Presentation</dc:subject>
  <dc:creator>Animesh Panda</dc:creator>
  <cp:lastModifiedBy>Animesh Panda</cp:lastModifiedBy>
  <cp:revision>1</cp:revision>
  <dcterms:created xsi:type="dcterms:W3CDTF">2026-10-15T15:01:43Z</dcterms:created>
  <dcterms:modified xsi:type="dcterms:W3CDTF">2026-10-15T15:01:43Z</dcterms:modified>
</cp:coreProperties>
</file>