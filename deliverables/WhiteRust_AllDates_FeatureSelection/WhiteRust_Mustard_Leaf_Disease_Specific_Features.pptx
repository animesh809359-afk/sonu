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3fad92d-65b7-3c32-43ee-0c6ebe632aa4}">
          <p14:sldIdLst>
            <p14:sldId id="256"/>
            <p14:sldId id="257"/>
            <p14:sldId id="258"/>
          </p14:sldIdLst>
        </p14:section>
        <p14:section name="Where are the disease-specific features?" id="{222a8ebd-26bd-4267-2297-34b93d4db4f6}">
          <p14:sldIdLst>
            <p14:sldId id="259"/>
            <p14:sldId id="260"/>
            <p14:sldId id="261"/>
          </p14:sldIdLst>
        </p14:section>
        <p14:section name="Disease-specific features chosen by each method" id="{8f329012-8a64-7f62-60b5-e8ba87354801}">
          <p14:sldIdLst>
            <p14:sldId id="262"/>
            <p14:sldId id="263"/>
            <p14:sldId id="264"/>
            <p14:sldId id="265"/>
            <p14:sldId id="266"/>
          </p14:sldIdLst>
        </p14:section>
        <p14:section name="Features stable across most methods" id="{89e95915-74fa-4915-a10c-5f25e8be2b09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Using the stable features to discriminate healthy and diseased leaves" id="{9e62252d-0b63-ab7a-cfdb-2d10f5b28479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1127729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474720"/>
            <a:ext cx="11277295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F4E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566160"/>
            <a:ext cx="11277295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F4E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5D6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5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981"/>
                </a:solidFill>
              </a:rPr>
              <a:t>White rust · mustard leaves · disease-specific features across 23 feature-selection methods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5D6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1127729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Disease-specific spectral features of white rust in mustard leaves: what 23 feature-selection methods agree 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474720"/>
            <a:ext cx="112772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4EC"/>
                </a:solidFill>
              </a:rPr>
              <a:t>Features chosen by filter, wrapper and embedded methods · features stable across methods, dates, growth stages and varieties · a feature set to discriminate healthy and diseased leaves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5D6C3"/>
                </a:solidFill>
              </a:rPr>
              <a:t>2264 leaf spectra (378 healthy, 1886 diseased) · ASD contact probe, 1-nm · K1–K4 pool of 4150 features · 20 plot-grouped training sets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5D6C3"/>
                </a:solidFill>
              </a:rPr>
              <a:t>Animesh Panda · Division of Agricultural Physics, ICAR-IARI, New Delhi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messages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161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core water features chosen by 10–17 of the 21 methods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161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stable spectral regions (selected by ≥ 11 of 21 methods)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161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stable features keep the same direction on every date, stage and variety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143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2161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85.6 %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RF balanced accuracy on new plots with the 11-feature recommended set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97480"/>
            <a:ext cx="11277295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The most stable disease-specific signal is LEAF WATER: the width of the 970-nm water band (narrower in diseased leaves) and the position and symmetry of the 1940-nm water band (shifted and more asymmetric) — chosen by 17, 13 and 10 of 21 methods.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Derivative bands on the 1940-nm water-band wing (1915, 1934 nm) and across the NIR plateau (848–911 nm; leaf structure) are the next most stable features.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All seven stable features change in the same direction on all 4 dates, 3 growth stages and 3 varieties.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Stable features alone are not the most accurate: weak but complementary features (anthocyanin index ARI, C–H bands 1724 / 2223 / 2306 nm) raise QDA accuracy from 70.8 % to 80.2 % and RF to 85.6 %.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'disease-specific' and 'stable' were judged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6675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23 methods (11 filter, 6 wrapper, 6 embedded + Borda consensus) selected features from the same K1–K4 pool (4150 features) inside 20 plot-grouped training sets — never using the test plots.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For each method, the redundancy-controlled top-10 features (|r| &lt; 0.95 between chosen features) of each training set were recorded.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Selection frequency = share of the 20 training sets in which a feature (± 10 nm, same spectral series) was in the top-10.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STABLE across methods = selected in ≥ 50 % of training sets by many methods (core ≥ 10 of 21; supporting 5–9; complementary 3–4). Pearson r and Fisher score count once (identical to ANOVA F).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STABLE across conditions = same direction of change and useful AUC within every date, growth stage and variety.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INFORMATIVE = balanced accuracy on held-out plots, AUC and effect size (Hedges g).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Features within 10 nm of an ASD detector join (≈ 1000, 1800 nm) are flagged as possible artefacts.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06640" y="1188720"/>
            <a:ext cx="4297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188720"/>
            <a:ext cx="4297680" cy="438912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16368" y="1188720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Filter (11)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79792" y="1700784"/>
            <a:ext cx="415137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Pearson r · ANOVA F · Fisher · χ² · MI · ReliefF · J–M · mRMR · SPA · MC-UVE · CWT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2788920"/>
            <a:ext cx="42976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8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2788920"/>
            <a:ext cx="4297680" cy="438912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16368" y="2788920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Wrapper (6)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79792" y="3300984"/>
            <a:ext cx="415137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SVM-RFE · RF-RFE · CARS · SFFS (QDA) · SFFS (J–M) · GA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4251960"/>
            <a:ext cx="4297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89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4251960"/>
            <a:ext cx="4297680" cy="438912"/>
          </a:xfrm>
          <a:prstGeom prst="rect">
            <a:avLst/>
          </a:prstGeom>
          <a:solidFill>
            <a:srgbClr val="14895F"/>
          </a:solidFill>
          <a:ln w="12700">
            <a:solidFill>
              <a:srgbClr val="1489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16368" y="4251960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Embedded (6) + consensus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4764024"/>
            <a:ext cx="415137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RF · CART · Boruta · PLS-VIP · LASSO · gradient boosting · Borda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the disease-specific features?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56616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4EC"/>
                </a:solidFill>
              </a:rPr>
              <a:t>Spectral regions selected by the different feature-selection methods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5D6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spectral regions are selected by most methods</a:t>
            </a:r>
            <a:endParaRPr lang="en-US" sz="2500" dirty="0"/>
          </a:p>
        </p:txBody>
      </p:sp>
      <p:pic>
        <p:nvPicPr>
          <p:cNvPr id="3" name="Image 0" descr="FD01_regions_on_spectr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5192"/>
            <a:ext cx="7863840" cy="351033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46320"/>
          <a:ext cx="78638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10972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Spectral region / feature group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Methods ≥ 50 %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CR 970-nm water band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liquid water (O–H, 970 nm)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18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CR 1940-nm water band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liquid water (O–H, 1940 nm)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18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 NIR plateau 760–930 nm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mesophyll structure (NIR scattering)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16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 C–H band 1700–1792 nm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C–H: lignin, cellulose, waxes (1730 nm)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 1940-nm water band 1840–1990 nm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liquid water (1940 nm)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 1200-nm water band 1000–1300 nm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water (1200 nm)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503920" y="1097280"/>
            <a:ext cx="3200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Liquid water: continuum-removed 970-nm and 1940-nm water bands (18 of 21 methods each) and the 1940-nm band wing in the first derivative (11 methods).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Leaf structure: first-derivative slope across the NIR plateau 760–930 nm (16 methods).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Dry matter: C–H absorption near 1730 nm (12 methods) and 2200–2300 nm (6 methods) — complementary information.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Pigments (red edge, visible) are chosen by few methods: white rust changes water and structure more consistently than chlorophyll.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regions does each method select?</a:t>
            </a:r>
            <a:endParaRPr lang="en-US" sz="2500" dirty="0"/>
          </a:p>
        </p:txBody>
      </p:sp>
      <p:pic>
        <p:nvPicPr>
          <p:cNvPr id="3" name="Image 0" descr="FD02_region_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106" y="960120"/>
            <a:ext cx="6848348" cy="5349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32520" y="1097280"/>
            <a:ext cx="3017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Cells = share of the 20 training sets in which the method's top-10 contains ≥ 1 feature of the region; brackets = number of methods with ≥ 50 %.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Almost every method takes the 970-nm and 1940-nm water features and the NIR-plateau slope.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Linear and PLS-based selectors (SVM-RFE, CARS, LASSO, PLS-VIP) add the 1730 and 2300 nm C–H regions and the 970-nm shoulder.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SPA and SFFS (J–M) differ most: they favour uncorrelated or variance-based features (pigment CR bands, edge parameters).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Disease-specific features chosen by each method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56616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4EC"/>
                </a:solidFill>
              </a:rPr>
              <a:t>Top-10 features on all leaves (redundancy-controlled) and the regions they belong 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5D6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methods: features and regions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760720"/>
                <a:gridCol w="4023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Top-10 features (all leaves, redundancy-controlled)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Regions (number of features)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ANOVA F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D1_848, D1_884, CR3 water 970 width, D1_825, CR6 water 1940 position, D1_913, D1_920, D1_785, D1_1937, D1_772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 NIR plateau 760–930 nm (7); CR 970-nm water band (1); CR 1940-nm water band (1); D1 1940-nm water band 1840–1990 nm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Chi-square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CR3 water 970 width, D1_872, CR6 water 1940 symmetry, D1_1911, D1_1939, D1_832, CR6 water 1940 position, D1_899, D1_1933, D1_1922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 1940-nm water band 1840–1990 nm (4); D1 NIR plateau 760–930 nm (3); CR 1940-nm water band (2); CR 970-nm water band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Mutual information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D1_871, D1_1911, D1_1942, D1_901, D1_832, D1_1934, CR6 water 1940 symmetry, D1_1743, D1_799, CR3 water 970 width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 NIR plateau 760–930 nm (4); D1 1940-nm water band 1840–1990 nm (3); CR 1940-nm water band (1); D1 C–H band 1700–1792 nm (1); CR 970-nm water band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ReliefF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CR6 water 1940 position, CR3 water 970 width, CR6 water 1940 symmetry, D1_872, D1_981, D1_977, D1_899, D1_798, D1_973, D1_832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 NIR plateau 760–930 nm (4); D1 970-nm water shoulder 930–1000 nm (3); CR 1940-nm water band (2); CR 970-nm water band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J–M (univariate)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SDr/SDy, CR3 water 970 width, R1894, D1_1934, RVS2, D1_884, D1_848, D1_1941, D1_913, D1_1931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 1940-nm water band 1840–1990 nm (3); D1 NIR plateau 760–930 nm (3); K4 edge parameters (1); CR 970-nm water band (1); K1 reflectance SWIR (1); K3 vegetation indices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mRMR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D1_848, D1_1053, CR6 water 1940 position, CR3 water 970 width, D1_655, CR3 water 970 symmetry, CR6 water 1940 symmetry, D1_884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 NIR plateau 760–930 nm (2); CR 1940-nm water band (2); CR 970-nm water band (2); D1 1200-nm water band 1000–1300 nm (1); D1 visible 400–680 nm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SPA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D1_873, D1_2141, D1_674, SDr/SDb, D1_1052, SDr/SDy, D1_756, D1_1792, CR3 water 970 symmetry, CR1 blue symmetry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K4 edge parameters (2); D1 NIR plateau 760–930 nm (1); D1 2000–2150 nm (1); D1 visible 400–680 nm (1); D1 1200-nm water band 1000–1300 nm (1); D1 red edge 680–760 nm (1); D1 C–H band 1700–1792 nm (1); CR 970-nm water band (1); CR blue / red pigment bands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MC-UVE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D1_1744, D1_1725, D1_2305, D1_2304, D1_2306, D1_1724, D1_899, D1_1747, D1_2324, R1035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D1 C–H band 1700–1792 nm (4); D1 2300-nm C–H/N–H band 2260–2400 nm (4); D1 NIR plateau 760–930 nm (1); K1 reflectance VIS–NIR (1)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CWT scalogram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CWT s8 2385, CWT s8 2265, CWT s2 1920, CWT s32 2435, CWT s16 2360, CWT s4 655, CWT s2 2495, CWT s16 2275, CWT s2 680, CWT s8 2185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wavelet features: SWIR 2185–2495 nm, red 655–680 nm, 1920 nm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Wrapper methods: features and regions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76072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Top-10 features (all leaves, redundancy-controlled)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Regions (number of features)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SVM-RFE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CR3 water 970 width, CR6 water 1940 position, D1_454, D1_2329, D1_2305, D1_982, D1_1791, D1_1724, D1_2166, D1_2206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2300-nm C–H/N–H band 2260–2400 nm (2); D1 C–H band 1700–1792 nm (2); D1 2200-nm band 2150–2260 nm (2); CR 970-nm water band (1); CR 1940-nm water band (1); D1 visible 400–680 nm (1); D1 970-nm water shoulder 930–1000 nm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RF-RFE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D1_872, CR6 water 1940 symmetry, D1_1164, CR3 water 970 width, D1_1914, D1_2210, D1_1934, D1_2224, D1_1738, D1_1724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1940-nm water band 1840–1990 nm (2); D1 2200-nm band 2150–2260 nm (2); D1 C–H band 1700–1792 nm (2); D1 NIR plateau 760–930 nm (1); CR 1940-nm water band (1); D1 1200-nm water band 1000–1300 nm (1); CR 970-nm water band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CARS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D1_2205, ARI, D1_1723, D1_1749, D1_453, D1_982, D1_2305, D1_2168, CR6 water 1940 position, D1_1791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C–H band 1700–1792 nm (3); D1 2200-nm band 2150–2260 nm (2); K3 vegetation indices (1); D1 visible 400–680 nm (1); D1 970-nm water shoulder 930–1000 nm (1); D1 2300-nm C–H/N–H band 2260–2400 nm (1); CR 1940-nm water band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SFFS (QDA)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CR3 water 970 width, D1_938, CR6 water 1940 position, R1386, ARI, D1_884, D1_913, D1_745, D1_1353, D1_1365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NIR plateau 760–930 nm (2); D1 1450-nm water band 1300–1500 nm (2); CR 970-nm water band (1); D1 970-nm water shoulder 930–1000 nm (1); CR 1940-nm water band (1); K1 reflectance SWIR (1); K3 vegetation indices (1); D1 red edge 680–760 nm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SFFS (J–M)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RVS2, CR3 water 970 width, CR2 red area, RARSc, GNDVI, CR6 water 1940 position, D1_1921, CR5 water 1450 area, D1_1894, R1901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K3 vegetation indices (3); D1 1940-nm water band 1840–1990 nm (2); CR 970-nm water band (1); CR blue / red pigment bands (1); CR 1940-nm water band (1); CR 1450-nm water band (1); K1 reflectance SWIR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Genetic algorithm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CR6 water 1940 symmetry, D1_1353, CR1 blue depth, D1_2417, CR3 water 970 width, D1_926, D1_1083, D1_938, D1_970, D1_705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D1 970-nm water shoulder 930–1000 nm (2); CR 1940-nm water band (1); D1 1450-nm water band 1300–1500 nm (1); CR blue / red pigment bands (1); D1 2400–2500 nm (1); CR 970-nm water band (1); D1 NIR plateau 760–930 nm (1); D1 1200-nm water band 1000–1300 nm (1); D1 red edge 680–760 nm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methods and consensus: features and regions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76072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Top-10 features (all leaves, redundancy-controlled)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Regions (number of features)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RF importance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CR3 water 970 width, D1_861, D1_1915, D1_1934, CR6 water 1940 symmetry, D1_898, D1_2222, D1_1923, D1_1942, D1_2209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1940-nm water band 1840–1990 nm (4); D1 NIR plateau 760–930 nm (2); D1 2200-nm band 2150–2260 nm (2); CR 970-nm water band (1); CR 1940-nm water band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CART importance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D1_861, CR3 water 970 width, CR6 water 1940 symmetry, D1_1164, D1_1950, D1_900, D1_1736, D1_1931, R639, D1_2224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NIR plateau 760–930 nm (2); D1 1940-nm water band 1840–1990 nm (2); CR 970-nm water band (1); CR 1940-nm water band (1); D1 1200-nm water band 1000–1300 nm (1); D1 C–H band 1700–1792 nm (1); K1 reflectance VIS–NIR (1); D1 2200-nm band 2150–2260 nm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Boruta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CR3 water 970 width, D1_861, CR6 water 1940 symmetry, D1_1916, D1_1934, D1_2223, D1_2209, D1_899, D1_1946, D1_1724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1940-nm water band 1840–1990 nm (3); D1 NIR plateau 760–930 nm (2); D1 2200-nm band 2150–2260 nm (2); CR 970-nm water band (1); CR 1940-nm water band (1); D1 C–H band 1700–1792 nm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PLS-VIP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CR6 water 1940 position, D1_2305, CR6 water 1940 symmetry, D1_1070, CR1 blue width, D1_1792, D1_1724, D1_2306, D1_1073, D1_1060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1200-nm water band 1000–1300 nm (3); CR 1940-nm water band (2); D1 2300-nm C–H/N–H band 2260–2400 nm (2); D1 C–H band 1700–1792 nm (2); CR blue / red pigment bands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LASSO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CR6 water 1940 position, CR3 water 970 width, D1_848, D1_1724, D1_2330, D1_1792, D1_898, PPR, D1_981, D1_660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NIR plateau 760–930 nm (2); D1 C–H band 1700–1792 nm (2); CR 1940-nm water band (1); CR 970-nm water band (1); D1 2300-nm C–H/N–H band 2260–2400 nm (1); K3 vegetation indices (1); D1 970-nm water shoulder 930–1000 nm (1); D1 visible 400–680 nm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D1_849, D1_795, D1_2222, D1_1909, D1_888, CR6 water 1940 position, CR3 water 970 width, R1330, D1_2461, D1_1064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 NIR plateau 760–930 nm (3); D1 2200-nm band 2150–2260 nm (1); D1 1940-nm water band 1840–1990 nm (1); CR 1940-nm water band (1); CR 970-nm water band (1); K1 reflectance SWIR (1); D1 2400–2500 nm (1); D1 1200-nm water band 1000–1300 nm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Consensus (Borda)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CR3 water 970 width, CR6 water 1940 position, CR6 water 1940 symmetry, D1_1934, D1_848, D1_1724, D1_2305, D1_1792, ARI, D1_899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 1940-nm water band (2); D1 NIR plateau 760–930 nm (2); D1 C–H band 1700–1792 nm (2); CR 970-nm water band (1); D1 1940-nm water band 1840–1990 nm (1); D1 2300-nm C–H/N–H band 2260–2400 nm (1); K3 vegetation indices (1)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exact features do the methods agree on?</a:t>
            </a:r>
            <a:endParaRPr lang="en-US" sz="2500" dirty="0"/>
          </a:p>
        </p:txBody>
      </p:sp>
      <p:pic>
        <p:nvPicPr>
          <p:cNvPr id="3" name="Image 0" descr="FS08_selection_frequ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3352" y="960120"/>
            <a:ext cx="6424992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stable across most methods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56616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4EC"/>
                </a:solidFill>
              </a:rPr>
              <a:t>Agreement between methods, consistency across dates, stages and varieties, and difference between healthy and diseased leaves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5D6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methods agree on each feature?</a:t>
            </a:r>
            <a:endParaRPr lang="en-US" sz="2500" dirty="0"/>
          </a:p>
        </p:txBody>
      </p:sp>
      <p:pic>
        <p:nvPicPr>
          <p:cNvPr id="3" name="Image 0" descr="FD03_feature_agre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6203"/>
            <a:ext cx="6675120" cy="43370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0" y="1097280"/>
            <a:ext cx="43891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A"/>
                </a:solidFill>
              </a:rPr>
              <a:t>Core (≥ 10 of 21 methods): CR3 970-nm width (17), CR6 1940-nm position (13), CR6 1940-nm symmetry (10).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A"/>
                </a:solidFill>
              </a:rPr>
              <a:t>Supporting (5–9): D1_1934 (9), D1_898 (8), D1_1724 (8), D1_1915 (6), D1_848 (6), D1_2306 (5), D1_1792 (5, next to the 1800-nm join).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A"/>
                </a:solidFill>
              </a:rPr>
              <a:t>Complementary (3–4): D1_872, D1_911, D1_832, D1_861 (same NIR-slope region as D1_848/898), D1_1945, D1_2223, D1_2209, ARI, D1_1744, SDr/SDb, D1_981 (next to the 1000-nm join).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A"/>
                </a:solidFill>
              </a:rPr>
              <a:t>Neighbouring 1-nm bands are interchangeable: the NIR-slope REGION (832–911 nm) is stable even though the exact band varies between methods.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stable features: tier, AUC and change from healthy to diseased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097280"/>
                <a:gridCol w="731520"/>
                <a:gridCol w="420624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Methods ≥ 50 %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Healthy → diseased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CR3 water 970 width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0.77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64.2 → 60.9 (lower)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CR6 water 1940 position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0.69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1912.2 → 1916.6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CR6 water 1940 symmetry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0.67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0.238 → 0.250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D1_1934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Supporting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0.032 → 0.056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D1_898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Supporting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0.76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-0.037 → 0.017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D1_1915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Supporting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0.70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-0.045 → -0.123 (lower)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D1_1724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Supporting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0.52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-0.660 → -0.663 (lower)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weak alone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D1_848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Supporting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0.79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-0.031 → 0.031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D1_1792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Supporting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0.59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-0.133 → -0.124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near detector join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D1_2306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Supporting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0.56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-0.607 → -0.647 (lower)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weak alone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D1_872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Complementary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0.79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-0.045 → 0.009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D1_981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Complementary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0.62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0.188 → 0.225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near detector join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D1_911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Complementary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0.73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-0.050 → 0.005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ARI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Complementary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0.65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-1.003 → -0.593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D1_2223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Complementary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0.64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-0.019 → -0.000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D1_1945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Complementary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0.71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A"/>
                          </a:solidFill>
                        </a:rPr>
                        <a:t>0.052 → 0.104 (higher)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264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</a:rPr>
              <a:t>Derivative values ×10⁻³ nm⁻¹; CR width and position in nm. AUC is direction-free (0.5 = no discrimination).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methods select the core and supporting features?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Methods selecting it in ≥ 50 % of the training sets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CR3 water 970 width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ANOVA F, Chi-square, Mutual information, ReliefF, J–M (univariate), mRMR, SVM-RFE, RF-RFE, SFFS (QDA), SFFS (J–M), Genetic algorithm, RF importance, CART importance, Boruta, LASSO, Gradient boosting, Consensus (Borda)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CR6 water 1940 position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ANOVA F, Chi-square, ReliefF, mRMR, MC-UVE, SVM-RFE, CARS, SFFS (QDA), SFFS (J–M), Genetic algorithm, PLS-VIP, LASSO, Consensus (Borda)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CR6 water 1940 symmetry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Chi-square, Mutual information, ReliefF, mRMR, RF-RFE, RF importance, CART importance, Boruta, PLS-VIP, Consensus (Borda)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D1_1934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Chi-square, Mutual information, J–M (univariate), RF-RFE, RF importance, CART importance, Boruta, Gradient boosting, Consensus (Borda)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D1_898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Chi-square, ReliefF, MC-UVE, RF importance, Boruta, LASSO, Gradient boosting, Consensus (Borda)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D1_1915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Chi-square, Mutual information, RF-RFE, RF importance, Boruta, Gradient boosting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D1_1724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A"/>
                          </a:solidFill>
                        </a:rPr>
                        <a:t>MC-UVE, SVM-RFE, RF-RFE, CARS, Boruta, PLS-VIP, LASSO, Consensus (Borda)</a:t>
                      </a:r>
                      <a:endParaRPr lang="en-US" sz="9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16636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A"/>
                </a:solidFill>
              </a:rPr>
              <a:t>The water-band continuum features are chosen by all three families — filters, wrappers and embedded methods — which is why they are the most trustworthy disease markers.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A"/>
                </a:solidFill>
              </a:rPr>
              <a:t>Derivative features are chosen mainly by filters and tree-based methods; wrappers replace some of them by complementary features.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across dates, growth stages and varieties?</a:t>
            </a:r>
            <a:endParaRPr lang="en-US" sz="2500" dirty="0"/>
          </a:p>
        </p:txBody>
      </p:sp>
      <p:pic>
        <p:nvPicPr>
          <p:cNvPr id="3" name="Image 0" descr="FD04_consistency_str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62343"/>
            <a:ext cx="7680960" cy="51447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097280"/>
            <a:ext cx="33832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All seven stable features (3 water CR features, D1_1934, D1_1915, D1_848, D1_898) change in the SAME direction on all 4 dates, in all 3 growth stages and all 3 varieties.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Water-band position / symmetry and D1_1915 are strongest early in the season and at the vegetative stage (AUC 0.86–0.93), the 970-nm width at flowering and pod formation (0.79–0.87).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NIR-slope derivatives (D1_832–911) are the most even (AUC 0.69–0.90 in every stratum).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A"/>
                </a:solidFill>
              </a:rPr>
              <a:t>D1_1724 is NOT consistent on its own (direction differs on 2 of 4 dates) — it only helps in combination.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vs diseased leaves for the stable features</a:t>
            </a:r>
            <a:endParaRPr lang="en-US" sz="2500" dirty="0"/>
          </a:p>
        </p:txBody>
      </p:sp>
      <p:pic>
        <p:nvPicPr>
          <p:cNvPr id="3" name="Image 0" descr="FD05_class_distribu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470" y="960120"/>
            <a:ext cx="11168754" cy="5303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stable features mean physiologically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Change in diseased leaves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CR3 970-nm water band width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narrower (64.2 → 60.9 nm)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Lower / redistributed leaf water: pustules rupture the epidermis and increase water loss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CR6 1940-nm water band position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shifted to longer wavelength (1912 → 1917 nm)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Change in the water absorption shape (free vs bound water)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CR6 1940-nm water band symmetry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more asymmetric (0.238 → 0.250)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Same water signal, shape of the band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D1 1915 / 1934 nm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steeper wing of the 1940-nm band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Water-band depth and slope change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D1 832–911 nm (848, 898)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slope turns from negative to slightly positive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Altered mesophyll scattering (hyphae, pustules, cell damage) on the NIR plateau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ARI (anthocyanin index)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higher (−1.00 → −0.59)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Anthocyanin accumulation in stressed tissue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D1 1724, 2223, 2306 nm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small shifts (weak alone)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1A"/>
                          </a:solidFill>
                        </a:rPr>
                        <a:t>C–H / N–H absorption of cellulose, lignin, proteins — dry-matter changes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264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</a:rPr>
              <a:t>Absorption-feature assignments as summarised by Thomas et al. (2018) and Mahlein et al. (2013).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stable features to discriminate healthy and diseased leaves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566160"/>
            <a:ext cx="112772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5D6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 the stable features discriminate?</a:t>
            </a:r>
            <a:endParaRPr lang="en-US" sz="2500" dirty="0"/>
          </a:p>
        </p:txBody>
      </p:sp>
      <p:pic>
        <p:nvPicPr>
          <p:cNvPr id="3" name="Image 0" descr="FD06_perform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3670"/>
            <a:ext cx="6400800" cy="364490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097280"/>
          <a:ext cx="46634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20040"/>
                <a:gridCol w="594360"/>
                <a:gridCol w="594360"/>
                <a:gridCol w="594360"/>
                <a:gridCol w="502920"/>
                <a:gridCol w="457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Feature set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QDA BA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LDA BA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RF BA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J–M</a:t>
                      </a:r>
                      <a:endParaRPr lang="en-US" sz="85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Core water features (3)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71.7 %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69.8 %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74.8 %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0.811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0.65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Stable disease-specific set (7)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70.8 %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71.9 %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81.2 %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0.809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1.30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Stable + complementary set (11)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80.2 %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81.4 %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85.6 %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0.910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1.55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All consensus features (no join bands)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81.3 %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83.7 %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85.8 %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0.927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A"/>
                          </a:solidFill>
                        </a:rPr>
                        <a:t>1.78</a:t>
                      </a:r>
                      <a:endParaRPr lang="en-US" sz="8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040880" y="36576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A"/>
                </a:solidFill>
              </a:rPr>
              <a:t>Water features alone (3): RF 74.8 %. Adding the stable derivatives (7): RF 81.2 %.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A"/>
                </a:solidFill>
              </a:rPr>
              <a:t>Adding 4 complementary features (11): QDA 80.2 %, RF 85.6 %, AUC 0.910 — close to the four-tier RF-17 set (84.5 %).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A"/>
                </a:solidFill>
              </a:rPr>
              <a:t>A selector re-run on each training set (SVM-RFE) remains best (QDA 87.1 %, RF 87.2 %).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61264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</a:rPr>
              <a:t>Fixed sets were defined from selection frequencies over the same 20 training sets, so their accuracies are slightly optimistic; the Borda consensus re-selected inside each training set gives the honest consensus estimate.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disease-specific features for healthy vs diseased mustard leaves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3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657600" cy="438912"/>
          </a:xfrm>
          <a:prstGeom prst="rect">
            <a:avLst/>
          </a:prstGeom>
          <a:solidFill>
            <a:srgbClr val="0D366B"/>
          </a:solidFill>
          <a:ln w="12700">
            <a:solidFill>
              <a:srgbClr val="0D36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97280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· Core (always use)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609344"/>
            <a:ext cx="351129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CR3 970-nm water band WIDTH — narrower in diseased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CR6 1940-nm water band POSITION — shifted to longer 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CR6 1940-nm water band SYMMETRY — more asymmetric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chosen by 10–17 of 21 methods; same direction on every date, stage and variety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097280"/>
            <a:ext cx="36576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5C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097280"/>
            <a:ext cx="3657600" cy="438912"/>
          </a:xfrm>
          <a:prstGeom prst="rect">
            <a:avLst/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1688" y="1097280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· Stable supporting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25112" y="1609344"/>
            <a:ext cx="351129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D1 1934 nm — higher in diseased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D1 1915 nm — lower in diseased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D1 848 nm (NIR slope 832–872)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D1 898 nm (NIR slope 883–911)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chosen by 6–9 methods; consistent in all strata; any band within ±10 nm works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6576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8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097280"/>
            <a:ext cx="3657600" cy="438912"/>
          </a:xfrm>
          <a:prstGeom prst="rect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56448" y="1097280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· Complementary (in models)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1609344"/>
            <a:ext cx="351129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ARI — anthocyanin index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D1 2223 nm — 2200-nm dry-matter band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D1 1724 nm — C–H 1730 nm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D1 2306 nm — C–H/N–H 2300 nm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weak alone, but raise RF to 85.6 % and AUC to 0.91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A"/>
                </a:solidFill>
              </a:rPr>
              <a:t>flag: D1_981, D1_1792 (detector joins)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1264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</a:rPr>
              <a:t>Recommended discriminating set = 1 + 2 + 3 (11 features): QDA 80.2 %, LDA 81.4 %, RF 85.6 %, AUC 0.91 on new plots.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Cautions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7729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Stable ≠ maximally accurate: the most reproducible features describe one signal (water + structure); a wrapper (SVM-RFE, SFFS) that adds complementary features per training set is ≈ 2–7 points more accurate.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The exact 1-nm band within a stable region varies between methods (ASD data are interpolated from ≈ 3–10 nm resolution): report regions, or any band within ±10 nm.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D1_981 and D1_1792 lie within 10 nm of the ASD detector joins (1000, 1800 nm) — they may carry splice residuals and should not be used for a sensor without checking.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D1_1724 changes direction between dates; use it only inside a multivariate model.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B1A"/>
                </a:solidFill>
              </a:rPr>
              <a:t>Results come from pooled data (4 dates, 3 stages, 3 varieties); transfer to an unseen date was weaker in the main analysis — calibrate with all growth stages.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A"/>
                </a:solidFill>
              </a:rPr>
              <a:t>Across 21 distinct feature-selection methods, the white-rust signal in mustard leaves is dominated by LEAF WATER: the 970-nm water-band width and the 1940-nm water-band position and symmetry are selected by 10–17 methods and are the most stable disease-specific features.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A"/>
                </a:solidFill>
              </a:rPr>
              <a:t>First-derivative features on the 1940-nm water-band wing (1915, 1934 nm) and the NIR-plateau slope (832–911 nm) are stable across methods and across all dates, growth stages and varieties.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A"/>
                </a:solidFill>
              </a:rPr>
              <a:t>Dry-matter (C–H 1724, 2223, 2306 nm) and pigment-stress (ARI) features are complementary: weak alone, they add the information that turns the stable features into an accurate classifier.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A"/>
                </a:solidFill>
              </a:rPr>
              <a:t>Recommended set for discriminating healthy and diseased leaves: 3 core + 4 supporting + 4 complementary features (RF 85.6 %, AUC 0.910 on new plots); for maximum accuracy, re-select with SVM-RFE (87 %).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(1/2)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77295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Abdulridha J, Min A, Rouse MN, Kianian S, Isler V, Yang C. 2023. Evaluation of stem rust disease in wheat fields by drone hyperspectral imaging. Sensors 23(8):4154. doi:10.3390/s23084154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Ambroise C, McLachlan GJ. 2002. Selection bias in gene extraction on the basis of microarray gene-expression data. Proceedings of the National Academy of Sciences 99:6562–6566.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Araújo MCU, Saldanha TCB, Galvão RKH, Yoneyama T, Chame HC, Visani V. 2001. The successive projections algorithm for variable selection in spectroscopic multicomponent analysis. Chemometrics and Intelligent Laboratory Systems 57(2):65–73.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Breiman L. 2001. Random forests. Machine Learning 45:5–32.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Centner V, Massart D-L, de Noord OE, de Jong S, Vandeginste BM, Sterna C. 1996. Elimination of uninformative variables for multivariate calibration. Analytical Chemistry 68(21):3851–3858.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Cheng T, Rivard B, Sánchez-Azofeifa GA, Feng J, Calvo-Polanco M. 2010. Continuous wavelet analysis for the detection of green attack damage due to mountain pine beetle infestation. Remote Sensing of Environment 114(4):899–910. doi:10.1016/j.rse.2009.12.005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Das B, Sahoo RN, Biswas A, Pargal S, Krishna G, Verma R, Chinnusamy V, Sehgal VK, Gupta VK. 2020. Discrimination of rice genotypes using field spectroradiometry. Geocarto International 35(1):64–77. doi:10.1080/10106049.2018.1506507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Demšar J. 2006. Statistical comparisons of classifiers over multiple data sets. Journal of Machine Learning Research 7:1–30.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Guyon I, Weston J, Barnhill S, Vapnik V. 2002. Gene selection for cancer classification using support vector machines. Machine Learning 46:389–422.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Kononenko I. 1994. Estimating attributes: analysis and extensions of RELIEF. In: Machine Learning: ECML-94. Lecture Notes in Computer Science 784. Berlin: Springer, 171–182.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Kuncheva LI. 2007. A stability index for feature selection. Proceedings of the 25th IASTED International Multi-Conference: Artificial Intelligence and Applications, 390–395.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Kursa MB, Rudnicki WR. 2010. Feature selection with the Boruta package. Journal of Statistical Software 36(11):1–13.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Li H, Liang Y, Xu Q, Cao D. 2009. Key wavelengths screening using competitive adaptive reweighted sampling method for multivariate calibration. Analytica Chimica Acta 648(1):77–84.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(2/2)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77295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Liu et al. 2024. [Recursive feature elimination (RFE) for crop-disease spectral features — cited as given in the request; full bibliographic details could not be verified and must be completed by the author.]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Mahlein A-K, Rumpf T, Welke P, Dehne H-W, Plümer L, Steiner U, Oerke E-C. 2013. Development of spectral indices for detecting and identifying plant diseases. Remote Sensing of Environment 128:21–30.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Mustafa G, Zheng H, Khan IH, Tian L, Jia H, Li G, Cheng T, Tian Y, Cao W, Zhu Y, Yao X. 2022. Hyperspectral reflectance proxies to diagnose in-field fusarium head blight in wheat with machine learning. Remote Sensing 14(12):2784.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Mustafa G, Zheng H, et al. 2023. Fusarium head blight monitoring in wheat ears using machine learning and multimodal data from asymptomatic to symptomatic periods. Frontiers in Plant Science 13:1102341. doi:10.3389/fpls.2022.1102341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Nogueira S, Sechidis K, Brown G. 2018. On the stability of feature selection algorithms. Journal of Machine Learning Research 18(174):1–54.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Peng H, Long F, Ding C. 2005. Feature selection based on mutual information: criteria of max-dependency, max-relevance, and min-redundancy. IEEE Transactions on Pattern Analysis and Machine Intelligence 27(8):1226–1238.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Pudil P, Novovičová J, Kittler J. 1994. Floating search methods in feature selection. Pattern Recognition Letters 15(11):1119–1125.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Saeys Y, Abeel T, Van de Peer Y. 2008. Robust feature selection using ensemble feature selection techniques. In: Machine Learning and Knowledge Discovery in Databases (ECML PKDD 2008). Lecture Notes in Artificial Intelligence 5212. Berlin: Springer, 313–325.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Thomas S, Kuska MT, Bohnenkamp D, Brugger A, Alisaac E, Wahabzada M, Behmann J, Mahlein A-K. 2018. Benefits of hyperspectral imaging for plant disease detection and plant protection: a technical perspective. Journal of Plant Diseases and Protection 125:5–20.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Tibshirani R. 1996. Regression shrinkage and selection via the lasso. Journal of the Royal Statistical Society Series B 58(1):267–288.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Wei X, Johnson MA, Langston DB, Mehl HL, Li S. 2021. Identifying optimal wavelengths as disease signatures using hyperspectral sensor and machine learning. Remote Sensing 13(14):2833. doi:10.3390/rs13142833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Wold S, Sjöström M, Eriksson L. 2001. PLS-regression: a basic tool of chemometrics. Chemometrics and Intelligent Laboratory Systems 58(2):109–130.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1A"/>
                </a:solidFill>
              </a:rPr>
              <a:t>Zhu H, Chu B, Zhang C, Liu F, Jiang L, He Y. 2017. Hyperspectral imaging for presymptomatic detection of tobacco disease with successive projections algorithm and machine-learning classifiers. Scientific Reports 7:4125. doi:10.1038/s41598-017-04501-2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ase-specific features">
  <a:themeElements>
    <a:clrScheme name="Disease-specific features">
      <a:dk1>
        <a:srgbClr val="1B1B1A"/>
      </a:dk1>
      <a:lt1>
        <a:srgbClr val="FFFFFF"/>
      </a:lt1>
      <a:dk2>
        <a:srgbClr val="1F3D2B"/>
      </a:dk2>
      <a:lt2>
        <a:srgbClr val="F0EFEC"/>
      </a:lt2>
      <a:accent1>
        <a:srgbClr val="1C5CAB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52514E"/>
      </a:accent6>
      <a:hlink>
        <a:srgbClr val="2A78D6"/>
      </a:hlink>
      <a:folHlink>
        <a:srgbClr val="6250D6"/>
      </a:folHlink>
    </a:clrScheme>
    <a:fontScheme name="Disease-specific featur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Disease-specific spectral features of white rust in mustard leaves</dc:title>
  <dc:subject>PptxGenJS Presentation</dc:subject>
  <dc:creator>Animesh Panda</dc:creator>
  <cp:lastModifiedBy>Animesh Panda</cp:lastModifiedBy>
  <cp:revision>1</cp:revision>
  <dcterms:created xsi:type="dcterms:W3CDTF">2026-10-15T23:23:02Z</dcterms:created>
  <dcterms:modified xsi:type="dcterms:W3CDTF">2026-10-15T23:23:02Z</dcterms:modified>
</cp:coreProperties>
</file>