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4f11c37-9d24-a582-4e2d-de586c4c4244}">
          <p14:sldIdLst>
            <p14:sldId id="256"/>
            <p14:sldId id="257"/>
            <p14:sldId id="258"/>
            <p14:sldId id="259"/>
            <p14:sldId id="260"/>
          </p14:sldIdLst>
        </p14:section>
        <p14:section name="Filter methods" id="{d6b029e9-9418-b8cc-62f5-9253b4d26510}">
          <p14:sldIdLst>
            <p14:sldId id="261"/>
            <p14:sldId id="262"/>
            <p14:sldId id="263"/>
            <p14:sldId id="264"/>
          </p14:sldIdLst>
        </p14:section>
        <p14:section name="Wrapper methods" id="{a6cd2609-43c4-f58f-7133-d7a3f9ba4e47}">
          <p14:sldIdLst>
            <p14:sldId id="265"/>
            <p14:sldId id="266"/>
            <p14:sldId id="267"/>
          </p14:sldIdLst>
        </p14:section>
        <p14:section name="Embedded methods" id="{e012243a-c9b9-8102-dd4b-9b3755a72222}">
          <p14:sldIdLst>
            <p14:sldId id="268"/>
            <p14:sldId id="269"/>
            <p14:sldId id="270"/>
          </p14:sldIdLst>
        </p14:section>
        <p14:section name="Which method works best?" id="{35f3de9f-8217-65ca-55f7-88181beb024c}">
          <p14:sldIdLst>
            <p14:sldId id="271"/>
            <p14:sldId id="272"/>
            <p14:sldId id="273"/>
            <p14:sldId id="274"/>
            <p14:sldId id="275"/>
            <p14:sldId id="276"/>
            <p14:sldId id="277"/>
            <p14:sldId id="278"/>
            <p14:sldId id="279"/>
            <p14:sldId id="280"/>
            <p14:sldId id="281"/>
          </p14:sldIdLst>
        </p14:section>
        <p14:section name="Stable, informative, disease-specific features" id="{0d7fa396-3570-5af9-227b-3794f246acdb}">
          <p14:sldIdLst>
            <p14:sldId id="282"/>
            <p14:sldId id="283"/>
            <p14:sldId id="284"/>
            <p14:sldId id="285"/>
          </p14:sldIdLst>
        </p14:section>
        <p14:section name="Conclusions" id="{9f9300c7-d177-45d5-a348-01f461449e3c}">
          <p14:sldIdLst>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0"/>
            <a:ext cx="11277295" cy="1645920"/>
          </a:xfrm>
          <a:prstGeom prst="rect">
            <a:avLst/>
          </a:prstGeom>
          <a:noFill/>
          <a:ln/>
        </p:spPr>
        <p:txBody>
          <a:bodyPr wrap="square" rtlCol="0"/>
          <a:lstStyle>
            <a:lvl1pPr indent="0" marL="0">
              <a:buNone/>
              <a:defRPr lang="en-US" sz="3800" b="1" dirty="0">
                <a:solidFill>
                  <a:srgbClr val="FFFFFF"/>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457200" y="3474720"/>
            <a:ext cx="11277295" cy="2194560"/>
          </a:xfrm>
          <a:prstGeom prst="rect">
            <a:avLst/>
          </a:prstGeom>
          <a:noFill/>
          <a:ln/>
        </p:spPr>
        <p:txBody>
          <a:bodyPr wrap="square" rtlCol="0"/>
          <a:lstStyle>
            <a:lvl1pPr indent="0" marL="0">
              <a:buNone/>
              <a:defRPr lang="en-US" sz="1800" dirty="0">
                <a:solidFill>
                  <a:srgbClr val="E3F4E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lstStyle>
            <a:lvl1pPr indent="0" marL="0">
              <a:buNone/>
              <a:defRPr lang="en-US" sz="3600" b="1" dirty="0">
                <a:solidFill>
                  <a:srgbClr val="FFFFFF"/>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lstStyle>
            <a:lvl1pPr indent="0" marL="0">
              <a:buNone/>
              <a:defRPr lang="en-US" sz="1800" dirty="0">
                <a:solidFill>
                  <a:srgbClr val="E3F4EC"/>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lstStyle>
            <a:lvl1pPr indent="0" marL="0">
              <a:buNone/>
              <a:defRPr lang="en-US" sz="2500" b="1" dirty="0">
                <a:solidFill>
                  <a:srgbClr val="1F3D2B"/>
                </a:solidFill>
                <a:latin typeface="Cambria" pitchFamily="34" charset="0"/>
                <a:ea typeface="Cambria" pitchFamily="34" charset="-122"/>
                <a:cs typeface="Cambria" pitchFamily="34" charset="-120"/>
              </a:defRPr>
            </a:lvl1pPr>
          </a:lstStyle>
          <a:p>
            <a:pPr indent="0" marL="0">
              <a:buNone/>
            </a:pPr>
            <a:endParaRPr lang="en-US" sz="2500" dirty="0"/>
          </a:p>
        </p:txBody>
      </p:sp>
      <p:sp>
        <p:nvSpPr>
          <p:cNvPr id="3" name="Text 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8A8981"/>
                </a:solidFill>
              </a:rPr>
              <a:t>White rust · mustard leaves · K1–K4 feature pool · filter, wrapper and embedded feature selection</a:t>
            </a:r>
            <a:endParaRPr lang="en-US" sz="9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0"/>
            <a:ext cx="11277295" cy="1645920"/>
          </a:xfrm>
          <a:prstGeom prst="rect">
            <a:avLst/>
          </a:prstGeom>
          <a:noFill/>
          <a:ln/>
        </p:spPr>
        <p:txBody>
          <a:bodyPr wrap="square"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Which features detect white rust? Filter, wrapper and embedded feature selection on the K1–K4 spectral feature pool</a:t>
            </a:r>
            <a:endParaRPr lang="en-US" sz="3800" dirty="0"/>
          </a:p>
        </p:txBody>
      </p:sp>
      <p:sp>
        <p:nvSpPr>
          <p:cNvPr id="3" name="Text 0"/>
          <p:cNvSpPr/>
          <p:nvPr>
            <p:ph idx="101" type="body" hasCustomPrompt="1"/>
          </p:nvPr>
        </p:nvSpPr>
        <p:spPr>
          <a:xfrm>
            <a:off x="457200" y="3474720"/>
            <a:ext cx="11277295" cy="2194560"/>
          </a:xfrm>
          <a:prstGeom prst="rect">
            <a:avLst/>
          </a:prstGeom>
          <a:noFill/>
          <a:ln/>
        </p:spPr>
        <p:txBody>
          <a:bodyPr wrap="square" rtlCol="0" anchor="t"/>
          <a:lstStyle/>
          <a:p>
            <a:pPr indent="0" marL="0">
              <a:buNone/>
            </a:pPr>
            <a:r>
              <a:rPr lang="en-US" sz="1800" dirty="0">
                <a:solidFill>
                  <a:srgbClr val="E3F4EC"/>
                </a:solidFill>
              </a:rPr>
              <a:t>23 methods from crop-disease research compared under one honest protocol · stable and informative disease-specific features</a:t>
            </a:r>
            <a:endParaRPr lang="en-US" sz="1800" dirty="0"/>
          </a:p>
          <a:p>
            <a:pPr indent="0" marL="0">
              <a:buNone/>
            </a:pPr>
            <a:r>
              <a:rPr lang="en-US" sz="1400" dirty="0">
                <a:solidFill>
                  <a:srgbClr val="B5D6C3"/>
                </a:solidFill>
              </a:rPr>
              <a:t>2264 leaf spectra (378 healthy, 1886 white-rust diseased) · 4 dates · 3 growth stages · 3 varieties · 4150 features</a:t>
            </a:r>
            <a:endParaRPr lang="en-US" sz="1800" dirty="0"/>
          </a:p>
          <a:p>
            <a:pPr indent="0" marL="0">
              <a:buNone/>
            </a:pPr>
            <a:r>
              <a:rPr lang="en-US" sz="1400" dirty="0">
                <a:solidFill>
                  <a:srgbClr val="B5D6C3"/>
                </a:solidFill>
              </a:rPr>
              <a:t>Animesh Panda · Division of Agricultural Physics, ICAR-IARI, New Delhi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Key results at a glance</a:t>
            </a:r>
            <a:endParaRPr lang="en-US" sz="2500" dirty="0"/>
          </a:p>
        </p:txBody>
      </p:sp>
      <p:sp>
        <p:nvSpPr>
          <p:cNvPr id="3" name="Shape 1"/>
          <p:cNvSpPr/>
          <p:nvPr/>
        </p:nvSpPr>
        <p:spPr>
          <a:xfrm>
            <a:off x="457200" y="1143000"/>
            <a:ext cx="2743200" cy="1325880"/>
          </a:xfrm>
          <a:prstGeom prst="roundRect">
            <a:avLst>
              <a:gd name="adj" fmla="val 5517"/>
            </a:avLst>
          </a:prstGeom>
          <a:solidFill>
            <a:srgbClr val="F0EFEC"/>
          </a:solidFill>
          <a:ln w="12700">
            <a:solidFill>
              <a:srgbClr val="F0EFEC"/>
            </a:solidFill>
            <a:prstDash val="solid"/>
          </a:ln>
        </p:spPr>
      </p:sp>
      <p:sp>
        <p:nvSpPr>
          <p:cNvPr id="4" name="Text 2"/>
          <p:cNvSpPr txBox="1"/>
          <p:nvPr/>
        </p:nvSpPr>
        <p:spPr>
          <a:xfrm>
            <a:off x="594360" y="1216152"/>
            <a:ext cx="2468880" cy="685800"/>
          </a:xfrm>
          <a:prstGeom prst="rect">
            <a:avLst/>
          </a:prstGeom>
          <a:noFill/>
          <a:ln/>
        </p:spPr>
        <p:txBody>
          <a:bodyPr wrap="square" lIns="0" tIns="0" rIns="0" bIns="0" rtlCol="0" anchor="ctr"/>
          <a:lstStyle/>
          <a:p>
            <a:pPr indent="0" marL="0">
              <a:buNone/>
            </a:pPr>
            <a:r>
              <a:rPr lang="en-US" sz="3000" b="1" dirty="0">
                <a:solidFill>
                  <a:srgbClr val="1F3D2B"/>
                </a:solidFill>
                <a:latin typeface="Cambria" pitchFamily="34" charset="0"/>
                <a:ea typeface="Cambria" pitchFamily="34" charset="-122"/>
                <a:cs typeface="Cambria" pitchFamily="34" charset="-120"/>
              </a:rPr>
              <a:t>SVM-RFE</a:t>
            </a:r>
            <a:endParaRPr lang="en-US" sz="3000" dirty="0"/>
          </a:p>
        </p:txBody>
      </p:sp>
      <p:sp>
        <p:nvSpPr>
          <p:cNvPr id="5" name="Text 3"/>
          <p:cNvSpPr txBox="1"/>
          <p:nvPr/>
        </p:nvSpPr>
        <p:spPr>
          <a:xfrm>
            <a:off x="594360" y="1874520"/>
            <a:ext cx="2468880" cy="548640"/>
          </a:xfrm>
          <a:prstGeom prst="rect">
            <a:avLst/>
          </a:prstGeom>
          <a:noFill/>
          <a:ln/>
        </p:spPr>
        <p:txBody>
          <a:bodyPr wrap="square" lIns="0" tIns="0" rIns="0" bIns="0" rtlCol="0" anchor="t"/>
          <a:lstStyle/>
          <a:p>
            <a:pPr indent="0" marL="0">
              <a:buNone/>
            </a:pPr>
            <a:r>
              <a:rPr lang="en-US" sz="1200" dirty="0">
                <a:solidFill>
                  <a:srgbClr val="52514E"/>
                </a:solidFill>
              </a:rPr>
              <a:t>best method overall (composite ranking)</a:t>
            </a:r>
            <a:endParaRPr lang="en-US" sz="1200" dirty="0"/>
          </a:p>
        </p:txBody>
      </p:sp>
      <p:sp>
        <p:nvSpPr>
          <p:cNvPr id="6" name="Shape 4"/>
          <p:cNvSpPr/>
          <p:nvPr/>
        </p:nvSpPr>
        <p:spPr>
          <a:xfrm>
            <a:off x="3291840" y="1143000"/>
            <a:ext cx="2743200" cy="1325880"/>
          </a:xfrm>
          <a:prstGeom prst="roundRect">
            <a:avLst>
              <a:gd name="adj" fmla="val 5517"/>
            </a:avLst>
          </a:prstGeom>
          <a:solidFill>
            <a:srgbClr val="F0EFEC"/>
          </a:solidFill>
          <a:ln w="12700">
            <a:solidFill>
              <a:srgbClr val="F0EFEC"/>
            </a:solidFill>
            <a:prstDash val="solid"/>
          </a:ln>
        </p:spPr>
      </p:sp>
      <p:sp>
        <p:nvSpPr>
          <p:cNvPr id="7" name="Text 5"/>
          <p:cNvSpPr txBox="1"/>
          <p:nvPr/>
        </p:nvSpPr>
        <p:spPr>
          <a:xfrm>
            <a:off x="3429000" y="1216152"/>
            <a:ext cx="246888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87.1 %</a:t>
            </a:r>
            <a:endParaRPr lang="en-US" sz="3000" dirty="0"/>
          </a:p>
        </p:txBody>
      </p:sp>
      <p:sp>
        <p:nvSpPr>
          <p:cNvPr id="8" name="Text 6"/>
          <p:cNvSpPr txBox="1"/>
          <p:nvPr/>
        </p:nvSpPr>
        <p:spPr>
          <a:xfrm>
            <a:off x="3429000" y="1874520"/>
            <a:ext cx="2468880" cy="548640"/>
          </a:xfrm>
          <a:prstGeom prst="rect">
            <a:avLst/>
          </a:prstGeom>
          <a:noFill/>
          <a:ln/>
        </p:spPr>
        <p:txBody>
          <a:bodyPr wrap="square" lIns="0" tIns="0" rIns="0" bIns="0" rtlCol="0" anchor="t"/>
          <a:lstStyle/>
          <a:p>
            <a:pPr indent="0" marL="0">
              <a:buNone/>
            </a:pPr>
            <a:r>
              <a:rPr lang="en-US" sz="1200" dirty="0">
                <a:solidFill>
                  <a:srgbClr val="52514E"/>
                </a:solidFill>
              </a:rPr>
              <a:t>QDA balanced accuracy on new plots with its 10 features</a:t>
            </a:r>
            <a:endParaRPr lang="en-US" sz="1200" dirty="0"/>
          </a:p>
        </p:txBody>
      </p:sp>
      <p:sp>
        <p:nvSpPr>
          <p:cNvPr id="9" name="Shape 7"/>
          <p:cNvSpPr/>
          <p:nvPr/>
        </p:nvSpPr>
        <p:spPr>
          <a:xfrm>
            <a:off x="6126480" y="1143000"/>
            <a:ext cx="2743200" cy="1325880"/>
          </a:xfrm>
          <a:prstGeom prst="roundRect">
            <a:avLst>
              <a:gd name="adj" fmla="val 5517"/>
            </a:avLst>
          </a:prstGeom>
          <a:solidFill>
            <a:srgbClr val="F0EFEC"/>
          </a:solidFill>
          <a:ln w="12700">
            <a:solidFill>
              <a:srgbClr val="F0EFEC"/>
            </a:solidFill>
            <a:prstDash val="solid"/>
          </a:ln>
        </p:spPr>
      </p:sp>
      <p:sp>
        <p:nvSpPr>
          <p:cNvPr id="10" name="Text 8"/>
          <p:cNvSpPr txBox="1"/>
          <p:nvPr/>
        </p:nvSpPr>
        <p:spPr>
          <a:xfrm>
            <a:off x="6263640" y="1216152"/>
            <a:ext cx="2468880" cy="685800"/>
          </a:xfrm>
          <a:prstGeom prst="rect">
            <a:avLst/>
          </a:prstGeom>
          <a:noFill/>
          <a:ln/>
        </p:spPr>
        <p:txBody>
          <a:bodyPr wrap="square" lIns="0" tIns="0" rIns="0" bIns="0" rtlCol="0" anchor="ctr"/>
          <a:lstStyle/>
          <a:p>
            <a:pPr indent="0" marL="0">
              <a:buNone/>
            </a:pPr>
            <a:r>
              <a:rPr lang="en-US" sz="3000" b="1" dirty="0">
                <a:solidFill>
                  <a:srgbClr val="C98500"/>
                </a:solidFill>
                <a:latin typeface="Cambria" pitchFamily="34" charset="0"/>
                <a:ea typeface="Cambria" pitchFamily="34" charset="-122"/>
                <a:cs typeface="Cambria" pitchFamily="34" charset="-120"/>
              </a:rPr>
              <a:t>0.65</a:t>
            </a:r>
            <a:endParaRPr lang="en-US" sz="3000" dirty="0"/>
          </a:p>
        </p:txBody>
      </p:sp>
      <p:sp>
        <p:nvSpPr>
          <p:cNvPr id="11" name="Text 9"/>
          <p:cNvSpPr txBox="1"/>
          <p:nvPr/>
        </p:nvSpPr>
        <p:spPr>
          <a:xfrm>
            <a:off x="6263640" y="1874520"/>
            <a:ext cx="2468880" cy="548640"/>
          </a:xfrm>
          <a:prstGeom prst="rect">
            <a:avLst/>
          </a:prstGeom>
          <a:noFill/>
          <a:ln/>
        </p:spPr>
        <p:txBody>
          <a:bodyPr wrap="square" lIns="0" tIns="0" rIns="0" bIns="0" rtlCol="0" anchor="t"/>
          <a:lstStyle/>
          <a:p>
            <a:pPr indent="0" marL="0">
              <a:buNone/>
            </a:pPr>
            <a:r>
              <a:rPr lang="en-US" sz="1200" dirty="0">
                <a:solidFill>
                  <a:srgbClr val="52514E"/>
                </a:solidFill>
              </a:rPr>
              <a:t>stability: Jaccard of the 20 training-set selections (±10 nm)</a:t>
            </a:r>
            <a:endParaRPr lang="en-US" sz="1200" dirty="0"/>
          </a:p>
        </p:txBody>
      </p:sp>
      <p:sp>
        <p:nvSpPr>
          <p:cNvPr id="12" name="Shape 10"/>
          <p:cNvSpPr/>
          <p:nvPr/>
        </p:nvSpPr>
        <p:spPr>
          <a:xfrm>
            <a:off x="8961120" y="1143000"/>
            <a:ext cx="2743200" cy="1325880"/>
          </a:xfrm>
          <a:prstGeom prst="roundRect">
            <a:avLst>
              <a:gd name="adj" fmla="val 5517"/>
            </a:avLst>
          </a:prstGeom>
          <a:solidFill>
            <a:srgbClr val="F0EFEC"/>
          </a:solidFill>
          <a:ln w="12700">
            <a:solidFill>
              <a:srgbClr val="F0EFEC"/>
            </a:solidFill>
            <a:prstDash val="solid"/>
          </a:ln>
        </p:spPr>
      </p:sp>
      <p:sp>
        <p:nvSpPr>
          <p:cNvPr id="13" name="Text 11"/>
          <p:cNvSpPr txBox="1"/>
          <p:nvPr/>
        </p:nvSpPr>
        <p:spPr>
          <a:xfrm>
            <a:off x="9098280" y="1216152"/>
            <a:ext cx="2468880" cy="685800"/>
          </a:xfrm>
          <a:prstGeom prst="rect">
            <a:avLst/>
          </a:prstGeom>
          <a:noFill/>
          <a:ln/>
        </p:spPr>
        <p:txBody>
          <a:bodyPr wrap="square" lIns="0" tIns="0" rIns="0" bIns="0" rtlCol="0" anchor="ctr"/>
          <a:lstStyle/>
          <a:p>
            <a:pPr indent="0" marL="0">
              <a:buNone/>
            </a:pPr>
            <a:r>
              <a:rPr lang="en-US" sz="3000" b="1" dirty="0">
                <a:solidFill>
                  <a:srgbClr val="52514E"/>
                </a:solidFill>
                <a:latin typeface="Cambria" pitchFamily="34" charset="0"/>
                <a:ea typeface="Cambria" pitchFamily="34" charset="-122"/>
                <a:cs typeface="Cambria" pitchFamily="34" charset="-120"/>
              </a:rPr>
              <a:t>84.5 %</a:t>
            </a:r>
            <a:endParaRPr lang="en-US" sz="3000" dirty="0"/>
          </a:p>
        </p:txBody>
      </p:sp>
      <p:sp>
        <p:nvSpPr>
          <p:cNvPr id="14" name="Text 12"/>
          <p:cNvSpPr txBox="1"/>
          <p:nvPr/>
        </p:nvSpPr>
        <p:spPr>
          <a:xfrm>
            <a:off x="9098280" y="1874520"/>
            <a:ext cx="2468880" cy="548640"/>
          </a:xfrm>
          <a:prstGeom prst="rect">
            <a:avLst/>
          </a:prstGeom>
          <a:noFill/>
          <a:ln/>
        </p:spPr>
        <p:txBody>
          <a:bodyPr wrap="square" lIns="0" tIns="0" rIns="0" bIns="0" rtlCol="0" anchor="t"/>
          <a:lstStyle/>
          <a:p>
            <a:pPr indent="0" marL="0">
              <a:buNone/>
            </a:pPr>
            <a:r>
              <a:rPr lang="en-US" sz="1200" dirty="0">
                <a:solidFill>
                  <a:srgbClr val="52514E"/>
                </a:solidFill>
              </a:rPr>
              <a:t>four-tier RF-17 set of Part C on the same plots (reference)</a:t>
            </a:r>
            <a:endParaRPr lang="en-US" sz="1200" dirty="0"/>
          </a:p>
        </p:txBody>
      </p:sp>
      <p:sp>
        <p:nvSpPr>
          <p:cNvPr id="15" name="Text 13"/>
          <p:cNvSpPr txBox="1"/>
          <p:nvPr/>
        </p:nvSpPr>
        <p:spPr>
          <a:xfrm>
            <a:off x="457200" y="2697480"/>
            <a:ext cx="11277295" cy="347472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SFFS (QDA criterion), SVM-RFE and CARS give the most accurate 10-feature sets on new plots (86.8–87.9 % balanced accuracy), 2.3–3.4 points above the four-tier RF-17 set and 8.5–9.6 points above the four-tier CART-13 set.</a:t>
            </a:r>
            <a:endParaRPr lang="en-US" sz="1400" dirty="0"/>
          </a:p>
          <a:p>
            <a:pPr marL="342900" indent="-342900">
              <a:spcAft>
                <a:spcPts val="600"/>
              </a:spcAft>
              <a:buSzPct val="100000"/>
              <a:buChar char="•"/>
            </a:pPr>
            <a:r>
              <a:rPr lang="en-US" sz="1400" dirty="0">
                <a:solidFill>
                  <a:srgbClr val="1B1B1A"/>
                </a:solidFill>
              </a:rPr>
              <a:t>SVM-RFE is the best all-round method for this dataset (composite rank 1): accurate with QDA (87.1 %) and RF (87.2 %), moderately stable (Jaccard 0.65). ReliefF is the most stable (0.84) and still accurate (84.9 %).</a:t>
            </a:r>
            <a:endParaRPr lang="en-US" sz="1400" dirty="0"/>
          </a:p>
          <a:p>
            <a:pPr marL="342900" indent="-342900">
              <a:spcAft>
                <a:spcPts val="600"/>
              </a:spcAft>
              <a:buSzPct val="100000"/>
              <a:buChar char="•"/>
            </a:pPr>
            <a:r>
              <a:rPr lang="en-US" sz="1400" dirty="0">
                <a:solidFill>
                  <a:srgbClr val="1B1B1A"/>
                </a:solidFill>
              </a:rPr>
              <a:t>Univariate filters (r = ANOVA F = Fisher score, χ², MI) need redundancy control: skipping near-duplicate bands raises their accuracy by 3.6–6.1 points.</a:t>
            </a:r>
            <a:endParaRPr lang="en-US" sz="1400" dirty="0"/>
          </a:p>
          <a:p>
            <a:pPr marL="342900" indent="-342900">
              <a:spcAft>
                <a:spcPts val="600"/>
              </a:spcAft>
              <a:buSzPct val="100000"/>
              <a:buChar char="•"/>
            </a:pPr>
            <a:r>
              <a:rPr lang="en-US" sz="1400" dirty="0">
                <a:solidFill>
                  <a:srgbClr val="1B1B1A"/>
                </a:solidFill>
              </a:rPr>
              <a:t>J–M is a poor criterion for choosing features here: the J–M-optimised sets have the highest J–M (1.75–1.80) but only 70–73 % accuracy on new plots.</a:t>
            </a:r>
            <a:endParaRPr lang="en-US" sz="1400" dirty="0"/>
          </a:p>
          <a:p>
            <a:pPr marL="342900" indent="-342900">
              <a:spcAft>
                <a:spcPts val="600"/>
              </a:spcAft>
              <a:buSzPct val="100000"/>
              <a:buChar char="•"/>
            </a:pPr>
            <a:r>
              <a:rPr lang="en-US" sz="1400" dirty="0">
                <a:solidFill>
                  <a:srgbClr val="1B1B1A"/>
                </a:solidFill>
              </a:rPr>
              <a:t>Water features dominate the disease signature: 970-nm band width and 1940-nm band position/symmetry, plus derivative bands at 1915–1934 nm and 848–911 nm. CARS, LASSO and SVM-RFE partly rely on bands next to the detector joins, which needs caution.</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Why feature selection? 4150 correlated features, 2264 leaves</a:t>
            </a:r>
            <a:endParaRPr lang="en-US" sz="2500" dirty="0"/>
          </a:p>
        </p:txBody>
      </p:sp>
      <p:sp>
        <p:nvSpPr>
          <p:cNvPr id="3" name="Text 1"/>
          <p:cNvSpPr txBox="1"/>
          <p:nvPr/>
        </p:nvSpPr>
        <p:spPr>
          <a:xfrm>
            <a:off x="457200" y="1143000"/>
            <a:ext cx="6766560" cy="4937760"/>
          </a:xfrm>
          <a:prstGeom prst="rect">
            <a:avLst/>
          </a:prstGeom>
          <a:noFill/>
          <a:ln/>
        </p:spPr>
        <p:txBody>
          <a:bodyPr wrap="square" rtlCol="0" anchor="t"/>
          <a:lstStyle/>
          <a:p>
            <a:pPr marL="342900" indent="-342900">
              <a:spcAft>
                <a:spcPts val="600"/>
              </a:spcAft>
              <a:buSzPct val="100000"/>
              <a:buChar char="•"/>
            </a:pPr>
            <a:r>
              <a:rPr lang="en-US" sz="1500" dirty="0">
                <a:solidFill>
                  <a:srgbClr val="1B1B1A"/>
                </a:solidFill>
              </a:rPr>
              <a:t>Hyperspectral data are high-dimensional and strongly collinear: neighbouring bands carry almost the same information (Thomas et al. 2018).</a:t>
            </a:r>
            <a:endParaRPr lang="en-US" sz="1500" dirty="0"/>
          </a:p>
          <a:p>
            <a:pPr marL="342900" indent="-342900">
              <a:spcAft>
                <a:spcPts val="600"/>
              </a:spcAft>
              <a:buSzPct val="100000"/>
              <a:buChar char="•"/>
            </a:pPr>
            <a:r>
              <a:rPr lang="en-US" sz="1500" dirty="0">
                <a:solidFill>
                  <a:srgbClr val="1B1B1A"/>
                </a:solidFill>
              </a:rPr>
              <a:t>Too many features → over-fitting, unstable covariance matrices (QDA needs fewer features than leaves per class), costly sensors.</a:t>
            </a:r>
            <a:endParaRPr lang="en-US" sz="1500" dirty="0"/>
          </a:p>
          <a:p>
            <a:pPr marL="342900" indent="-342900">
              <a:spcAft>
                <a:spcPts val="600"/>
              </a:spcAft>
              <a:buSzPct val="100000"/>
              <a:buChar char="•"/>
            </a:pPr>
            <a:r>
              <a:rPr lang="en-US" sz="1500" dirty="0">
                <a:solidFill>
                  <a:srgbClr val="1B1B1A"/>
                </a:solidFill>
              </a:rPr>
              <a:t>Feature selection keeps a few original, interpretable features — unlike PCA, the selected wavelengths can guide a multispectral disease sensor (Wei et al. 2021).</a:t>
            </a:r>
            <a:endParaRPr lang="en-US" sz="1500" dirty="0"/>
          </a:p>
          <a:p>
            <a:pPr marL="342900" indent="-342900">
              <a:spcAft>
                <a:spcPts val="600"/>
              </a:spcAft>
              <a:buSzPct val="100000"/>
              <a:buChar char="•"/>
            </a:pPr>
            <a:r>
              <a:rPr lang="en-US" sz="1500" dirty="0">
                <a:solidFill>
                  <a:srgbClr val="1B1B1A"/>
                </a:solidFill>
              </a:rPr>
              <a:t>Different selectors answer different questions: which feature is individually discriminating (filter), which subset classifies best (wrapper), which features a model relies on (embedded).</a:t>
            </a:r>
            <a:endParaRPr lang="en-US" sz="1500" dirty="0"/>
          </a:p>
          <a:p>
            <a:pPr marL="342900" indent="-342900">
              <a:spcAft>
                <a:spcPts val="600"/>
              </a:spcAft>
              <a:buSzPct val="100000"/>
              <a:buChar char="•"/>
            </a:pPr>
            <a:r>
              <a:rPr lang="en-US" sz="1500" dirty="0">
                <a:solidFill>
                  <a:srgbClr val="1B1B1A"/>
                </a:solidFill>
              </a:rPr>
              <a:t>Goal here: features that are (1) informative — separate healthy and diseased leaves on new plots, (2) stable — chosen again when the data change, (3) disease-specific — physiologically interpretable.</a:t>
            </a:r>
            <a:endParaRPr lang="en-US" sz="1500" dirty="0"/>
          </a:p>
        </p:txBody>
      </p:sp>
      <p:sp>
        <p:nvSpPr>
          <p:cNvPr id="4" name="Shape 2"/>
          <p:cNvSpPr/>
          <p:nvPr/>
        </p:nvSpPr>
        <p:spPr>
          <a:xfrm>
            <a:off x="7498080" y="1188720"/>
            <a:ext cx="4206240" cy="1508760"/>
          </a:xfrm>
          <a:prstGeom prst="rect">
            <a:avLst/>
          </a:prstGeom>
          <a:solidFill>
            <a:srgbClr val="FFFFFF"/>
          </a:solidFill>
          <a:ln w="19050">
            <a:solidFill>
              <a:srgbClr val="2A78D6"/>
            </a:solidFill>
            <a:prstDash val="solid"/>
          </a:ln>
        </p:spPr>
      </p:sp>
      <p:sp>
        <p:nvSpPr>
          <p:cNvPr id="5" name="Shape 3"/>
          <p:cNvSpPr/>
          <p:nvPr/>
        </p:nvSpPr>
        <p:spPr>
          <a:xfrm>
            <a:off x="7498080" y="1188720"/>
            <a:ext cx="4206240" cy="457200"/>
          </a:xfrm>
          <a:prstGeom prst="rect">
            <a:avLst/>
          </a:prstGeom>
          <a:solidFill>
            <a:srgbClr val="2A78D6"/>
          </a:solidFill>
          <a:ln w="12700">
            <a:solidFill>
              <a:srgbClr val="2A78D6"/>
            </a:solidFill>
            <a:prstDash val="solid"/>
          </a:ln>
        </p:spPr>
      </p:sp>
      <p:sp>
        <p:nvSpPr>
          <p:cNvPr id="6" name="Text 4"/>
          <p:cNvSpPr txBox="1"/>
          <p:nvPr/>
        </p:nvSpPr>
        <p:spPr>
          <a:xfrm>
            <a:off x="7607808" y="1188720"/>
            <a:ext cx="3986784" cy="457200"/>
          </a:xfrm>
          <a:prstGeom prst="rect">
            <a:avLst/>
          </a:prstGeom>
          <a:noFill/>
          <a:ln/>
        </p:spPr>
        <p:txBody>
          <a:bodyPr wrap="square" lIns="0" tIns="0" rIns="0" bIns="0" rtlCol="0" anchor="ctr"/>
          <a:lstStyle/>
          <a:p>
            <a:pPr indent="0" marL="0">
              <a:buNone/>
            </a:pPr>
            <a:r>
              <a:rPr lang="en-US" sz="1500" b="1" dirty="0">
                <a:solidFill>
                  <a:srgbClr val="FFFFFF"/>
                </a:solidFill>
              </a:rPr>
              <a:t>Filter</a:t>
            </a:r>
            <a:endParaRPr lang="en-US" sz="1500" dirty="0"/>
          </a:p>
        </p:txBody>
      </p:sp>
      <p:sp>
        <p:nvSpPr>
          <p:cNvPr id="7" name="Text 5"/>
          <p:cNvSpPr txBox="1"/>
          <p:nvPr/>
        </p:nvSpPr>
        <p:spPr>
          <a:xfrm>
            <a:off x="7571232" y="1737360"/>
            <a:ext cx="4059936" cy="868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score each feature by a statistic, independent of a classifier</a:t>
            </a:r>
            <a:endParaRPr lang="en-US" sz="1200" dirty="0"/>
          </a:p>
          <a:p>
            <a:pPr marL="342900" indent="-342900">
              <a:spcAft>
                <a:spcPts val="600"/>
              </a:spcAft>
              <a:buSzPct val="100000"/>
              <a:buChar char="•"/>
            </a:pPr>
            <a:r>
              <a:rPr lang="en-US" sz="1200" dirty="0">
                <a:solidFill>
                  <a:srgbClr val="1B1B1A"/>
                </a:solidFill>
              </a:rPr>
              <a:t>fast; ignores interactions; redundant top lists</a:t>
            </a:r>
            <a:endParaRPr lang="en-US" sz="1200" dirty="0"/>
          </a:p>
        </p:txBody>
      </p:sp>
      <p:sp>
        <p:nvSpPr>
          <p:cNvPr id="8" name="Shape 6"/>
          <p:cNvSpPr/>
          <p:nvPr/>
        </p:nvSpPr>
        <p:spPr>
          <a:xfrm>
            <a:off x="7498080" y="2834640"/>
            <a:ext cx="4206240" cy="1508760"/>
          </a:xfrm>
          <a:prstGeom prst="rect">
            <a:avLst/>
          </a:prstGeom>
          <a:solidFill>
            <a:srgbClr val="FFFFFF"/>
          </a:solidFill>
          <a:ln w="19050">
            <a:solidFill>
              <a:srgbClr val="C98500"/>
            </a:solidFill>
            <a:prstDash val="solid"/>
          </a:ln>
        </p:spPr>
      </p:sp>
      <p:sp>
        <p:nvSpPr>
          <p:cNvPr id="9" name="Shape 7"/>
          <p:cNvSpPr/>
          <p:nvPr/>
        </p:nvSpPr>
        <p:spPr>
          <a:xfrm>
            <a:off x="7498080" y="2834640"/>
            <a:ext cx="4206240" cy="457200"/>
          </a:xfrm>
          <a:prstGeom prst="rect">
            <a:avLst/>
          </a:prstGeom>
          <a:solidFill>
            <a:srgbClr val="C98500"/>
          </a:solidFill>
          <a:ln w="12700">
            <a:solidFill>
              <a:srgbClr val="C98500"/>
            </a:solidFill>
            <a:prstDash val="solid"/>
          </a:ln>
        </p:spPr>
      </p:sp>
      <p:sp>
        <p:nvSpPr>
          <p:cNvPr id="10" name="Text 8"/>
          <p:cNvSpPr txBox="1"/>
          <p:nvPr/>
        </p:nvSpPr>
        <p:spPr>
          <a:xfrm>
            <a:off x="7607808" y="2834640"/>
            <a:ext cx="3986784" cy="457200"/>
          </a:xfrm>
          <a:prstGeom prst="rect">
            <a:avLst/>
          </a:prstGeom>
          <a:noFill/>
          <a:ln/>
        </p:spPr>
        <p:txBody>
          <a:bodyPr wrap="square" lIns="0" tIns="0" rIns="0" bIns="0" rtlCol="0" anchor="ctr"/>
          <a:lstStyle/>
          <a:p>
            <a:pPr indent="0" marL="0">
              <a:buNone/>
            </a:pPr>
            <a:r>
              <a:rPr lang="en-US" sz="1500" b="1" dirty="0">
                <a:solidFill>
                  <a:srgbClr val="FFFFFF"/>
                </a:solidFill>
              </a:rPr>
              <a:t>Wrapper</a:t>
            </a:r>
            <a:endParaRPr lang="en-US" sz="1500" dirty="0"/>
          </a:p>
        </p:txBody>
      </p:sp>
      <p:sp>
        <p:nvSpPr>
          <p:cNvPr id="11" name="Text 9"/>
          <p:cNvSpPr txBox="1"/>
          <p:nvPr/>
        </p:nvSpPr>
        <p:spPr>
          <a:xfrm>
            <a:off x="7571232" y="3383280"/>
            <a:ext cx="4059936" cy="868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search subsets, scored by a classifier or a separability criterion</a:t>
            </a:r>
            <a:endParaRPr lang="en-US" sz="1200" dirty="0"/>
          </a:p>
          <a:p>
            <a:pPr marL="342900" indent="-342900">
              <a:spcAft>
                <a:spcPts val="600"/>
              </a:spcAft>
              <a:buSzPct val="100000"/>
              <a:buChar char="•"/>
            </a:pPr>
            <a:r>
              <a:rPr lang="en-US" sz="1200" dirty="0">
                <a:solidFill>
                  <a:srgbClr val="1B1B1A"/>
                </a:solidFill>
              </a:rPr>
              <a:t>finds complementary features; slow; can over-fit</a:t>
            </a:r>
            <a:endParaRPr lang="en-US" sz="1200" dirty="0"/>
          </a:p>
        </p:txBody>
      </p:sp>
      <p:sp>
        <p:nvSpPr>
          <p:cNvPr id="12" name="Shape 10"/>
          <p:cNvSpPr/>
          <p:nvPr/>
        </p:nvSpPr>
        <p:spPr>
          <a:xfrm>
            <a:off x="7498080" y="4480560"/>
            <a:ext cx="4206240" cy="1508760"/>
          </a:xfrm>
          <a:prstGeom prst="rect">
            <a:avLst/>
          </a:prstGeom>
          <a:solidFill>
            <a:srgbClr val="FFFFFF"/>
          </a:solidFill>
          <a:ln w="19050">
            <a:solidFill>
              <a:srgbClr val="14895F"/>
            </a:solidFill>
            <a:prstDash val="solid"/>
          </a:ln>
        </p:spPr>
      </p:sp>
      <p:sp>
        <p:nvSpPr>
          <p:cNvPr id="13" name="Shape 11"/>
          <p:cNvSpPr/>
          <p:nvPr/>
        </p:nvSpPr>
        <p:spPr>
          <a:xfrm>
            <a:off x="7498080" y="4480560"/>
            <a:ext cx="4206240" cy="457200"/>
          </a:xfrm>
          <a:prstGeom prst="rect">
            <a:avLst/>
          </a:prstGeom>
          <a:solidFill>
            <a:srgbClr val="14895F"/>
          </a:solidFill>
          <a:ln w="12700">
            <a:solidFill>
              <a:srgbClr val="14895F"/>
            </a:solidFill>
            <a:prstDash val="solid"/>
          </a:ln>
        </p:spPr>
      </p:sp>
      <p:sp>
        <p:nvSpPr>
          <p:cNvPr id="14" name="Text 12"/>
          <p:cNvSpPr txBox="1"/>
          <p:nvPr/>
        </p:nvSpPr>
        <p:spPr>
          <a:xfrm>
            <a:off x="7607808" y="4480560"/>
            <a:ext cx="3986784" cy="457200"/>
          </a:xfrm>
          <a:prstGeom prst="rect">
            <a:avLst/>
          </a:prstGeom>
          <a:noFill/>
          <a:ln/>
        </p:spPr>
        <p:txBody>
          <a:bodyPr wrap="square" lIns="0" tIns="0" rIns="0" bIns="0" rtlCol="0" anchor="ctr"/>
          <a:lstStyle/>
          <a:p>
            <a:pPr indent="0" marL="0">
              <a:buNone/>
            </a:pPr>
            <a:r>
              <a:rPr lang="en-US" sz="1500" b="1" dirty="0">
                <a:solidFill>
                  <a:srgbClr val="FFFFFF"/>
                </a:solidFill>
              </a:rPr>
              <a:t>Embedded</a:t>
            </a:r>
            <a:endParaRPr lang="en-US" sz="1500" dirty="0"/>
          </a:p>
        </p:txBody>
      </p:sp>
      <p:sp>
        <p:nvSpPr>
          <p:cNvPr id="15" name="Text 13"/>
          <p:cNvSpPr txBox="1"/>
          <p:nvPr/>
        </p:nvSpPr>
        <p:spPr>
          <a:xfrm>
            <a:off x="7571232" y="5029200"/>
            <a:ext cx="4059936" cy="868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selection is part of model fitting (trees, penalties, PLS)</a:t>
            </a:r>
            <a:endParaRPr lang="en-US" sz="1200" dirty="0"/>
          </a:p>
          <a:p>
            <a:pPr marL="342900" indent="-342900">
              <a:spcAft>
                <a:spcPts val="600"/>
              </a:spcAft>
              <a:buSzPct val="100000"/>
              <a:buChar char="•"/>
            </a:pPr>
            <a:r>
              <a:rPr lang="en-US" sz="1200" dirty="0">
                <a:solidFill>
                  <a:srgbClr val="1B1B1A"/>
                </a:solidFill>
              </a:rPr>
              <a:t>middle ground in cost; model-specific</a:t>
            </a:r>
            <a:endParaRPr lang="en-US" sz="1200" dirty="0"/>
          </a:p>
        </p:txBody>
      </p:sp>
      <p:sp>
        <p:nvSpPr>
          <p:cNvPr id="16" name="Text 14"/>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Guyon &amp; Elisseeff 2003; Saeys et al. 2007; Kohavi &amp; John 1997; Thomas et al. 2018; Wei et al. 2021</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The 23 methods compared (as used in crop-disease studies)</a:t>
            </a:r>
            <a:endParaRPr lang="en-US" sz="2500" dirty="0"/>
          </a:p>
        </p:txBody>
      </p:sp>
      <p:sp>
        <p:nvSpPr>
          <p:cNvPr id="3" name="Shape 1"/>
          <p:cNvSpPr/>
          <p:nvPr/>
        </p:nvSpPr>
        <p:spPr>
          <a:xfrm>
            <a:off x="457200" y="1097280"/>
            <a:ext cx="3657600" cy="4937760"/>
          </a:xfrm>
          <a:prstGeom prst="rect">
            <a:avLst/>
          </a:prstGeom>
          <a:solidFill>
            <a:srgbClr val="FFFFFF"/>
          </a:solidFill>
          <a:ln w="19050">
            <a:solidFill>
              <a:srgbClr val="2A78D6"/>
            </a:solidFill>
            <a:prstDash val="solid"/>
          </a:ln>
        </p:spPr>
      </p:sp>
      <p:sp>
        <p:nvSpPr>
          <p:cNvPr id="4" name="Shape 2"/>
          <p:cNvSpPr/>
          <p:nvPr/>
        </p:nvSpPr>
        <p:spPr>
          <a:xfrm>
            <a:off x="457200" y="1097280"/>
            <a:ext cx="3657600" cy="457200"/>
          </a:xfrm>
          <a:prstGeom prst="rect">
            <a:avLst/>
          </a:prstGeom>
          <a:solidFill>
            <a:srgbClr val="2A78D6"/>
          </a:solidFill>
          <a:ln w="12700">
            <a:solidFill>
              <a:srgbClr val="2A78D6"/>
            </a:solidFill>
            <a:prstDash val="solid"/>
          </a:ln>
        </p:spPr>
      </p:sp>
      <p:sp>
        <p:nvSpPr>
          <p:cNvPr id="5" name="Text 3"/>
          <p:cNvSpPr txBox="1"/>
          <p:nvPr/>
        </p:nvSpPr>
        <p:spPr>
          <a:xfrm>
            <a:off x="566928" y="1097280"/>
            <a:ext cx="3438144" cy="457200"/>
          </a:xfrm>
          <a:prstGeom prst="rect">
            <a:avLst/>
          </a:prstGeom>
          <a:noFill/>
          <a:ln/>
        </p:spPr>
        <p:txBody>
          <a:bodyPr wrap="square" lIns="0" tIns="0" rIns="0" bIns="0" rtlCol="0" anchor="ctr"/>
          <a:lstStyle/>
          <a:p>
            <a:pPr indent="0" marL="0">
              <a:buNone/>
            </a:pPr>
            <a:r>
              <a:rPr lang="en-US" sz="1500" b="1" dirty="0">
                <a:solidFill>
                  <a:srgbClr val="FFFFFF"/>
                </a:solidFill>
              </a:rPr>
              <a:t>Filter (11)</a:t>
            </a:r>
            <a:endParaRPr lang="en-US" sz="1500" dirty="0"/>
          </a:p>
        </p:txBody>
      </p:sp>
      <p:sp>
        <p:nvSpPr>
          <p:cNvPr id="6" name="Text 4"/>
          <p:cNvSpPr txBox="1"/>
          <p:nvPr/>
        </p:nvSpPr>
        <p:spPr>
          <a:xfrm>
            <a:off x="530352" y="1645920"/>
            <a:ext cx="3511296" cy="4297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Pearson r — Pearson</a:t>
            </a:r>
            <a:endParaRPr lang="en-US" sz="1200" dirty="0"/>
          </a:p>
          <a:p>
            <a:pPr marL="342900" indent="-342900">
              <a:spcAft>
                <a:spcPts val="600"/>
              </a:spcAft>
              <a:buSzPct val="100000"/>
              <a:buChar char="•"/>
            </a:pPr>
            <a:r>
              <a:rPr lang="en-US" sz="1200" dirty="0">
                <a:solidFill>
                  <a:srgbClr val="1B1B1A"/>
                </a:solidFill>
              </a:rPr>
              <a:t>ANOVA F — Abdulridha 2023</a:t>
            </a:r>
            <a:endParaRPr lang="en-US" sz="1200" dirty="0"/>
          </a:p>
          <a:p>
            <a:pPr marL="342900" indent="-342900">
              <a:spcAft>
                <a:spcPts val="600"/>
              </a:spcAft>
              <a:buSzPct val="100000"/>
              <a:buChar char="•"/>
            </a:pPr>
            <a:r>
              <a:rPr lang="en-US" sz="1200" dirty="0">
                <a:solidFill>
                  <a:srgbClr val="1B1B1A"/>
                </a:solidFill>
              </a:rPr>
              <a:t>Fisher score — Duda 2001</a:t>
            </a:r>
            <a:endParaRPr lang="en-US" sz="1200" dirty="0"/>
          </a:p>
          <a:p>
            <a:pPr marL="342900" indent="-342900">
              <a:spcAft>
                <a:spcPts val="600"/>
              </a:spcAft>
              <a:buSzPct val="100000"/>
              <a:buChar char="•"/>
            </a:pPr>
            <a:r>
              <a:rPr lang="en-US" sz="1200" dirty="0">
                <a:solidFill>
                  <a:srgbClr val="1B1B1A"/>
                </a:solidFill>
              </a:rPr>
              <a:t>Chi-square — Abdulridha 2023</a:t>
            </a:r>
            <a:endParaRPr lang="en-US" sz="1200" dirty="0"/>
          </a:p>
          <a:p>
            <a:pPr marL="342900" indent="-342900">
              <a:spcAft>
                <a:spcPts val="600"/>
              </a:spcAft>
              <a:buSzPct val="100000"/>
              <a:buChar char="•"/>
            </a:pPr>
            <a:r>
              <a:rPr lang="en-US" sz="1200" dirty="0">
                <a:solidFill>
                  <a:srgbClr val="1B1B1A"/>
                </a:solidFill>
              </a:rPr>
              <a:t>Mutual information — Kraskov 2004</a:t>
            </a:r>
            <a:endParaRPr lang="en-US" sz="1200" dirty="0"/>
          </a:p>
          <a:p>
            <a:pPr marL="342900" indent="-342900">
              <a:spcAft>
                <a:spcPts val="600"/>
              </a:spcAft>
              <a:buSzPct val="100000"/>
              <a:buChar char="•"/>
            </a:pPr>
            <a:r>
              <a:rPr lang="en-US" sz="1200" dirty="0">
                <a:solidFill>
                  <a:srgbClr val="1B1B1A"/>
                </a:solidFill>
              </a:rPr>
              <a:t>ReliefF — Kononenko 1994; Mahlein 2013</a:t>
            </a:r>
            <a:endParaRPr lang="en-US" sz="1200" dirty="0"/>
          </a:p>
          <a:p>
            <a:pPr marL="342900" indent="-342900">
              <a:spcAft>
                <a:spcPts val="600"/>
              </a:spcAft>
              <a:buSzPct val="100000"/>
              <a:buChar char="•"/>
            </a:pPr>
            <a:r>
              <a:rPr lang="en-US" sz="1200" dirty="0">
                <a:solidFill>
                  <a:srgbClr val="1B1B1A"/>
                </a:solidFill>
              </a:rPr>
              <a:t>J–M (univariate) — Das 2020</a:t>
            </a:r>
            <a:endParaRPr lang="en-US" sz="1200" dirty="0"/>
          </a:p>
          <a:p>
            <a:pPr marL="342900" indent="-342900">
              <a:spcAft>
                <a:spcPts val="600"/>
              </a:spcAft>
              <a:buSzPct val="100000"/>
              <a:buChar char="•"/>
            </a:pPr>
            <a:r>
              <a:rPr lang="en-US" sz="1200" dirty="0">
                <a:solidFill>
                  <a:srgbClr val="1B1B1A"/>
                </a:solidFill>
              </a:rPr>
              <a:t>mRMR — Peng 2005</a:t>
            </a:r>
            <a:endParaRPr lang="en-US" sz="1200" dirty="0"/>
          </a:p>
          <a:p>
            <a:pPr marL="342900" indent="-342900">
              <a:spcAft>
                <a:spcPts val="600"/>
              </a:spcAft>
              <a:buSzPct val="100000"/>
              <a:buChar char="•"/>
            </a:pPr>
            <a:r>
              <a:rPr lang="en-US" sz="1200" dirty="0">
                <a:solidFill>
                  <a:srgbClr val="1B1B1A"/>
                </a:solidFill>
              </a:rPr>
              <a:t>SPA — Araújo 2001; Zhu 2017</a:t>
            </a:r>
            <a:endParaRPr lang="en-US" sz="1200" dirty="0"/>
          </a:p>
          <a:p>
            <a:pPr marL="342900" indent="-342900">
              <a:spcAft>
                <a:spcPts val="600"/>
              </a:spcAft>
              <a:buSzPct val="100000"/>
              <a:buChar char="•"/>
            </a:pPr>
            <a:r>
              <a:rPr lang="en-US" sz="1200" dirty="0">
                <a:solidFill>
                  <a:srgbClr val="1B1B1A"/>
                </a:solidFill>
              </a:rPr>
              <a:t>MC-UVE — Centner 1996; Cai 2008</a:t>
            </a:r>
            <a:endParaRPr lang="en-US" sz="1200" dirty="0"/>
          </a:p>
          <a:p>
            <a:pPr marL="342900" indent="-342900">
              <a:spcAft>
                <a:spcPts val="600"/>
              </a:spcAft>
              <a:buSzPct val="100000"/>
              <a:buChar char="•"/>
            </a:pPr>
            <a:r>
              <a:rPr lang="en-US" sz="1200" dirty="0">
                <a:solidFill>
                  <a:srgbClr val="1B1B1A"/>
                </a:solidFill>
              </a:rPr>
              <a:t>CWT scalogram — Cheng 2010</a:t>
            </a:r>
            <a:endParaRPr lang="en-US" sz="1200" dirty="0"/>
          </a:p>
        </p:txBody>
      </p:sp>
      <p:sp>
        <p:nvSpPr>
          <p:cNvPr id="7" name="Shape 5"/>
          <p:cNvSpPr/>
          <p:nvPr/>
        </p:nvSpPr>
        <p:spPr>
          <a:xfrm>
            <a:off x="4251960" y="1097280"/>
            <a:ext cx="3657600" cy="4937760"/>
          </a:xfrm>
          <a:prstGeom prst="rect">
            <a:avLst/>
          </a:prstGeom>
          <a:solidFill>
            <a:srgbClr val="FFFFFF"/>
          </a:solidFill>
          <a:ln w="19050">
            <a:solidFill>
              <a:srgbClr val="C98500"/>
            </a:solidFill>
            <a:prstDash val="solid"/>
          </a:ln>
        </p:spPr>
      </p:sp>
      <p:sp>
        <p:nvSpPr>
          <p:cNvPr id="8" name="Shape 6"/>
          <p:cNvSpPr/>
          <p:nvPr/>
        </p:nvSpPr>
        <p:spPr>
          <a:xfrm>
            <a:off x="4251960" y="1097280"/>
            <a:ext cx="3657600" cy="457200"/>
          </a:xfrm>
          <a:prstGeom prst="rect">
            <a:avLst/>
          </a:prstGeom>
          <a:solidFill>
            <a:srgbClr val="C98500"/>
          </a:solidFill>
          <a:ln w="12700">
            <a:solidFill>
              <a:srgbClr val="C98500"/>
            </a:solidFill>
            <a:prstDash val="solid"/>
          </a:ln>
        </p:spPr>
      </p:sp>
      <p:sp>
        <p:nvSpPr>
          <p:cNvPr id="9" name="Text 7"/>
          <p:cNvSpPr txBox="1"/>
          <p:nvPr/>
        </p:nvSpPr>
        <p:spPr>
          <a:xfrm>
            <a:off x="4361688" y="1097280"/>
            <a:ext cx="3438144" cy="457200"/>
          </a:xfrm>
          <a:prstGeom prst="rect">
            <a:avLst/>
          </a:prstGeom>
          <a:noFill/>
          <a:ln/>
        </p:spPr>
        <p:txBody>
          <a:bodyPr wrap="square" lIns="0" tIns="0" rIns="0" bIns="0" rtlCol="0" anchor="ctr"/>
          <a:lstStyle/>
          <a:p>
            <a:pPr indent="0" marL="0">
              <a:buNone/>
            </a:pPr>
            <a:r>
              <a:rPr lang="en-US" sz="1500" b="1" dirty="0">
                <a:solidFill>
                  <a:srgbClr val="FFFFFF"/>
                </a:solidFill>
              </a:rPr>
              <a:t>Wrapper (6)</a:t>
            </a:r>
            <a:endParaRPr lang="en-US" sz="1500" dirty="0"/>
          </a:p>
        </p:txBody>
      </p:sp>
      <p:sp>
        <p:nvSpPr>
          <p:cNvPr id="10" name="Text 8"/>
          <p:cNvSpPr txBox="1"/>
          <p:nvPr/>
        </p:nvSpPr>
        <p:spPr>
          <a:xfrm>
            <a:off x="4325112" y="1645920"/>
            <a:ext cx="3511296" cy="4297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SVM-RFE — Guyon 2002; Wei 2021; Liu 2024</a:t>
            </a:r>
            <a:endParaRPr lang="en-US" sz="1200" dirty="0"/>
          </a:p>
          <a:p>
            <a:pPr marL="342900" indent="-342900">
              <a:spcAft>
                <a:spcPts val="600"/>
              </a:spcAft>
              <a:buSzPct val="100000"/>
              <a:buChar char="•"/>
            </a:pPr>
            <a:r>
              <a:rPr lang="en-US" sz="1200" dirty="0">
                <a:solidFill>
                  <a:srgbClr val="1B1B1A"/>
                </a:solidFill>
              </a:rPr>
              <a:t>RF-RFE — Wei 2021; Liu 2024</a:t>
            </a:r>
            <a:endParaRPr lang="en-US" sz="1200" dirty="0"/>
          </a:p>
          <a:p>
            <a:pPr marL="342900" indent="-342900">
              <a:spcAft>
                <a:spcPts val="600"/>
              </a:spcAft>
              <a:buSzPct val="100000"/>
              <a:buChar char="•"/>
            </a:pPr>
            <a:r>
              <a:rPr lang="en-US" sz="1200" dirty="0">
                <a:solidFill>
                  <a:srgbClr val="1B1B1A"/>
                </a:solidFill>
              </a:rPr>
              <a:t>CARS — Li 2009; Zhu 2017</a:t>
            </a:r>
            <a:endParaRPr lang="en-US" sz="1200" dirty="0"/>
          </a:p>
          <a:p>
            <a:pPr marL="342900" indent="-342900">
              <a:spcAft>
                <a:spcPts val="600"/>
              </a:spcAft>
              <a:buSzPct val="100000"/>
              <a:buChar char="•"/>
            </a:pPr>
            <a:r>
              <a:rPr lang="en-US" sz="1200" dirty="0">
                <a:solidFill>
                  <a:srgbClr val="1B1B1A"/>
                </a:solidFill>
              </a:rPr>
              <a:t>SFFS (QDA) — Pudil 1994; Mustafa 2023</a:t>
            </a:r>
            <a:endParaRPr lang="en-US" sz="1200" dirty="0"/>
          </a:p>
          <a:p>
            <a:pPr marL="342900" indent="-342900">
              <a:spcAft>
                <a:spcPts val="600"/>
              </a:spcAft>
              <a:buSzPct val="100000"/>
              <a:buChar char="•"/>
            </a:pPr>
            <a:r>
              <a:rPr lang="en-US" sz="1200" dirty="0">
                <a:solidFill>
                  <a:srgbClr val="1B1B1A"/>
                </a:solidFill>
              </a:rPr>
              <a:t>SFFS (J–M) — Pudil 1994; Das 2020</a:t>
            </a:r>
            <a:endParaRPr lang="en-US" sz="1200" dirty="0"/>
          </a:p>
          <a:p>
            <a:pPr marL="342900" indent="-342900">
              <a:spcAft>
                <a:spcPts val="600"/>
              </a:spcAft>
              <a:buSzPct val="100000"/>
              <a:buChar char="•"/>
            </a:pPr>
            <a:r>
              <a:rPr lang="en-US" sz="1200" dirty="0">
                <a:solidFill>
                  <a:srgbClr val="1B1B1A"/>
                </a:solidFill>
              </a:rPr>
              <a:t>Genetic algorithm — Leardi 1992; Nagasubramanian 2018</a:t>
            </a:r>
            <a:endParaRPr lang="en-US" sz="1200" dirty="0"/>
          </a:p>
        </p:txBody>
      </p:sp>
      <p:sp>
        <p:nvSpPr>
          <p:cNvPr id="11" name="Shape 9"/>
          <p:cNvSpPr/>
          <p:nvPr/>
        </p:nvSpPr>
        <p:spPr>
          <a:xfrm>
            <a:off x="8046720" y="1097280"/>
            <a:ext cx="3657600" cy="4937760"/>
          </a:xfrm>
          <a:prstGeom prst="rect">
            <a:avLst/>
          </a:prstGeom>
          <a:solidFill>
            <a:srgbClr val="FFFFFF"/>
          </a:solidFill>
          <a:ln w="19050">
            <a:solidFill>
              <a:srgbClr val="14895F"/>
            </a:solidFill>
            <a:prstDash val="solid"/>
          </a:ln>
        </p:spPr>
      </p:sp>
      <p:sp>
        <p:nvSpPr>
          <p:cNvPr id="12" name="Shape 10"/>
          <p:cNvSpPr/>
          <p:nvPr/>
        </p:nvSpPr>
        <p:spPr>
          <a:xfrm>
            <a:off x="8046720" y="1097280"/>
            <a:ext cx="3657600" cy="457200"/>
          </a:xfrm>
          <a:prstGeom prst="rect">
            <a:avLst/>
          </a:prstGeom>
          <a:solidFill>
            <a:srgbClr val="14895F"/>
          </a:solidFill>
          <a:ln w="12700">
            <a:solidFill>
              <a:srgbClr val="14895F"/>
            </a:solidFill>
            <a:prstDash val="solid"/>
          </a:ln>
        </p:spPr>
      </p:sp>
      <p:sp>
        <p:nvSpPr>
          <p:cNvPr id="13" name="Text 11"/>
          <p:cNvSpPr txBox="1"/>
          <p:nvPr/>
        </p:nvSpPr>
        <p:spPr>
          <a:xfrm>
            <a:off x="8156448" y="1097280"/>
            <a:ext cx="3438144" cy="457200"/>
          </a:xfrm>
          <a:prstGeom prst="rect">
            <a:avLst/>
          </a:prstGeom>
          <a:noFill/>
          <a:ln/>
        </p:spPr>
        <p:txBody>
          <a:bodyPr wrap="square" lIns="0" tIns="0" rIns="0" bIns="0" rtlCol="0" anchor="ctr"/>
          <a:lstStyle/>
          <a:p>
            <a:pPr indent="0" marL="0">
              <a:buNone/>
            </a:pPr>
            <a:r>
              <a:rPr lang="en-US" sz="1500" b="1" dirty="0">
                <a:solidFill>
                  <a:srgbClr val="FFFFFF"/>
                </a:solidFill>
              </a:rPr>
              <a:t>Embedded (7)</a:t>
            </a:r>
            <a:endParaRPr lang="en-US" sz="1500" dirty="0"/>
          </a:p>
        </p:txBody>
      </p:sp>
      <p:sp>
        <p:nvSpPr>
          <p:cNvPr id="14" name="Text 12"/>
          <p:cNvSpPr txBox="1"/>
          <p:nvPr/>
        </p:nvSpPr>
        <p:spPr>
          <a:xfrm>
            <a:off x="8119872" y="1645920"/>
            <a:ext cx="3511296" cy="42976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RF importance — Breiman 2001; Chen 2004</a:t>
            </a:r>
            <a:endParaRPr lang="en-US" sz="1200" dirty="0"/>
          </a:p>
          <a:p>
            <a:pPr marL="342900" indent="-342900">
              <a:spcAft>
                <a:spcPts val="600"/>
              </a:spcAft>
              <a:buSzPct val="100000"/>
              <a:buChar char="•"/>
            </a:pPr>
            <a:r>
              <a:rPr lang="en-US" sz="1200" dirty="0">
                <a:solidFill>
                  <a:srgbClr val="1B1B1A"/>
                </a:solidFill>
              </a:rPr>
              <a:t>CART importance — Breiman 1984; Das 2020</a:t>
            </a:r>
            <a:endParaRPr lang="en-US" sz="1200" dirty="0"/>
          </a:p>
          <a:p>
            <a:pPr marL="342900" indent="-342900">
              <a:spcAft>
                <a:spcPts val="600"/>
              </a:spcAft>
              <a:buSzPct val="100000"/>
              <a:buChar char="•"/>
            </a:pPr>
            <a:r>
              <a:rPr lang="en-US" sz="1200" dirty="0">
                <a:solidFill>
                  <a:srgbClr val="1B1B1A"/>
                </a:solidFill>
              </a:rPr>
              <a:t>Boruta — Kursa 2010; Mustafa 2023</a:t>
            </a:r>
            <a:endParaRPr lang="en-US" sz="1200" dirty="0"/>
          </a:p>
          <a:p>
            <a:pPr marL="342900" indent="-342900">
              <a:spcAft>
                <a:spcPts val="600"/>
              </a:spcAft>
              <a:buSzPct val="100000"/>
              <a:buChar char="•"/>
            </a:pPr>
            <a:r>
              <a:rPr lang="en-US" sz="1200" dirty="0">
                <a:solidFill>
                  <a:srgbClr val="1B1B1A"/>
                </a:solidFill>
              </a:rPr>
              <a:t>PLS-VIP — Wold 2001; Chong 2005</a:t>
            </a:r>
            <a:endParaRPr lang="en-US" sz="1200" dirty="0"/>
          </a:p>
          <a:p>
            <a:pPr marL="342900" indent="-342900">
              <a:spcAft>
                <a:spcPts val="600"/>
              </a:spcAft>
              <a:buSzPct val="100000"/>
              <a:buChar char="•"/>
            </a:pPr>
            <a:r>
              <a:rPr lang="en-US" sz="1200" dirty="0">
                <a:solidFill>
                  <a:srgbClr val="1B1B1A"/>
                </a:solidFill>
              </a:rPr>
              <a:t>LASSO — Tibshirani 1996</a:t>
            </a:r>
            <a:endParaRPr lang="en-US" sz="1200" dirty="0"/>
          </a:p>
          <a:p>
            <a:pPr marL="342900" indent="-342900">
              <a:spcAft>
                <a:spcPts val="600"/>
              </a:spcAft>
              <a:buSzPct val="100000"/>
              <a:buChar char="•"/>
            </a:pPr>
            <a:r>
              <a:rPr lang="en-US" sz="1200" dirty="0">
                <a:solidFill>
                  <a:srgbClr val="1B1B1A"/>
                </a:solidFill>
              </a:rPr>
              <a:t>Gradient boosting — Friedman 2001; Chen 2016</a:t>
            </a:r>
            <a:endParaRPr lang="en-US" sz="1200" dirty="0"/>
          </a:p>
          <a:p>
            <a:pPr marL="342900" indent="-342900">
              <a:spcAft>
                <a:spcPts val="600"/>
              </a:spcAft>
              <a:buSzPct val="100000"/>
              <a:buChar char="•"/>
            </a:pPr>
            <a:r>
              <a:rPr lang="en-US" sz="1200" dirty="0">
                <a:solidFill>
                  <a:srgbClr val="1B1B1A"/>
                </a:solidFill>
              </a:rPr>
              <a:t>Consensus (Borda) — Saeys 2008</a:t>
            </a:r>
            <a:endParaRPr lang="en-US" sz="12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Study design: one protocol for every method</a:t>
            </a:r>
            <a:endParaRPr lang="en-US" sz="2500" dirty="0"/>
          </a:p>
        </p:txBody>
      </p:sp>
      <p:pic>
        <p:nvPicPr>
          <p:cNvPr id="3" name="Image 0" descr="FS01_workflow">    </p:cNvPr>
          <p:cNvPicPr>
            <a:picLocks noChangeAspect="1"/>
          </p:cNvPicPr>
          <p:nvPr/>
        </p:nvPicPr>
        <p:blipFill>
          <a:blip r:embed="rId1"/>
          <a:stretch>
            <a:fillRect/>
          </a:stretch>
        </p:blipFill>
        <p:spPr>
          <a:xfrm>
            <a:off x="789041" y="1005840"/>
            <a:ext cx="10613613" cy="4023360"/>
          </a:xfrm>
          <a:prstGeom prst="rect">
            <a:avLst/>
          </a:prstGeom>
        </p:spPr>
      </p:pic>
      <p:sp>
        <p:nvSpPr>
          <p:cNvPr id="4" name="Text 1"/>
          <p:cNvSpPr txBox="1"/>
          <p:nvPr/>
        </p:nvSpPr>
        <p:spPr>
          <a:xfrm>
            <a:off x="457200" y="4983480"/>
            <a:ext cx="11277295" cy="1280160"/>
          </a:xfrm>
          <a:prstGeom prst="rect">
            <a:avLst/>
          </a:prstGeom>
          <a:noFill/>
          <a:ln/>
        </p:spPr>
        <p:txBody>
          <a:bodyPr wrap="square" rtlCol="0" anchor="t"/>
          <a:lstStyle/>
          <a:p>
            <a:pPr marL="342900" indent="-342900">
              <a:spcAft>
                <a:spcPts val="600"/>
              </a:spcAft>
              <a:buSzPct val="100000"/>
              <a:buChar char="•"/>
            </a:pPr>
            <a:r>
              <a:rPr lang="en-US" sz="1250" dirty="0">
                <a:solidFill>
                  <a:srgbClr val="1B1B1A"/>
                </a:solidFill>
              </a:rPr>
              <a:t>Selection runs only inside the training leaves of each of 20 units (10 plot-grouped folds + 10 hold-outs of 30 % of plots) — no selection bias (Ambroise &amp; McLachlan 2002).</a:t>
            </a:r>
            <a:endParaRPr lang="en-US" sz="1250" dirty="0"/>
          </a:p>
          <a:p>
            <a:pPr marL="342900" indent="-342900">
              <a:spcAft>
                <a:spcPts val="600"/>
              </a:spcAft>
              <a:buSzPct val="100000"/>
              <a:buChar char="•"/>
            </a:pPr>
            <a:r>
              <a:rPr lang="en-US" sz="1250" dirty="0">
                <a:solidFill>
                  <a:srgbClr val="1B1B1A"/>
                </a:solidFill>
              </a:rPr>
              <a:t>Same leaves, same pool, same units, same classifiers (QDA equal priors = Tier 4 of Das et al. 2020; LDA; Balanced RF) → differences come from the selector only.</a:t>
            </a:r>
            <a:endParaRPr lang="en-US" sz="1250" dirty="0"/>
          </a:p>
          <a:p>
            <a:pPr marL="342900" indent="-342900">
              <a:spcAft>
                <a:spcPts val="600"/>
              </a:spcAft>
              <a:buSzPct val="100000"/>
              <a:buChar char="•"/>
            </a:pPr>
            <a:r>
              <a:rPr lang="en-US" sz="1250" dirty="0">
                <a:solidFill>
                  <a:srgbClr val="1B1B1A"/>
                </a:solidFill>
              </a:rPr>
              <a:t>Top-k with k = 5–20; 'redundancy-controlled' = skip a feature correlated |r| ≥ 0.95 with one already chosen (cf. Wei et al. 2021, 20-nm minimum distance).</a:t>
            </a:r>
            <a:endParaRPr lang="en-US" sz="12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Filter methods</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r>
              <a:rPr lang="en-US" sz="1800" dirty="0">
                <a:solidFill>
                  <a:srgbClr val="E3F4EC"/>
                </a:solidFill>
              </a:rPr>
              <a:t>Pearson r · ANOVA F · Fisher score · chi-square · mutual information · ReliefF · univariate J–M · mRMR · SPA · MC-UVE · CWT separability scalogram</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Univariate filters: where does each statistic find information?</a:t>
            </a:r>
            <a:endParaRPr lang="en-US" sz="2500" dirty="0"/>
          </a:p>
        </p:txBody>
      </p:sp>
      <p:pic>
        <p:nvPicPr>
          <p:cNvPr id="3" name="Image 0" descr="FS02_score_spectra">    </p:cNvPr>
          <p:cNvPicPr>
            <a:picLocks noChangeAspect="1"/>
          </p:cNvPicPr>
          <p:nvPr/>
        </p:nvPicPr>
        <p:blipFill>
          <a:blip r:embed="rId1"/>
          <a:stretch>
            <a:fillRect/>
          </a:stretch>
        </p:blipFill>
        <p:spPr>
          <a:xfrm>
            <a:off x="1127413" y="960120"/>
            <a:ext cx="6249094" cy="5257800"/>
          </a:xfrm>
          <a:prstGeom prst="rect">
            <a:avLst/>
          </a:prstGeom>
        </p:spPr>
      </p:pic>
      <p:sp>
        <p:nvSpPr>
          <p:cNvPr id="4" name="Text 1"/>
          <p:cNvSpPr txBox="1"/>
          <p:nvPr/>
        </p:nvSpPr>
        <p:spPr>
          <a:xfrm>
            <a:off x="8229600" y="1097280"/>
            <a:ext cx="3474720" cy="4937760"/>
          </a:xfrm>
          <a:prstGeom prst="rect">
            <a:avLst/>
          </a:prstGeom>
          <a:noFill/>
          <a:ln/>
        </p:spPr>
        <p:txBody>
          <a:bodyPr wrap="square" rtlCol="0" anchor="t"/>
          <a:lstStyle/>
          <a:p>
            <a:pPr marL="342900" indent="-342900">
              <a:spcAft>
                <a:spcPts val="600"/>
              </a:spcAft>
              <a:buSzPct val="100000"/>
              <a:buChar char="•"/>
            </a:pPr>
            <a:r>
              <a:rPr lang="en-US" sz="1250" dirty="0">
                <a:solidFill>
                  <a:srgbClr val="1B1B1A"/>
                </a:solidFill>
              </a:rPr>
              <a:t>Pearson r, ANOVA F and Fisher score are algebraically equivalent for two classes (r² = F/(F + n − 2)) → identical rankings (verified: Spearman ρ = 1).</a:t>
            </a:r>
            <a:endParaRPr lang="en-US" sz="1250" dirty="0"/>
          </a:p>
          <a:p>
            <a:pPr marL="342900" indent="-342900">
              <a:spcAft>
                <a:spcPts val="600"/>
              </a:spcAft>
              <a:buSzPct val="100000"/>
              <a:buChar char="•"/>
            </a:pPr>
            <a:r>
              <a:rPr lang="en-US" sz="1250" dirty="0">
                <a:solidFill>
                  <a:srgbClr val="1B1B1A"/>
                </a:solidFill>
              </a:rPr>
              <a:t>Chi-square (Abdulridha et al. 2023) bins each feature into quantiles; mutual information (Kraskov et al. 2004) also captures non-linear dependence.</a:t>
            </a:r>
            <a:endParaRPr lang="en-US" sz="1250" dirty="0"/>
          </a:p>
          <a:p>
            <a:pPr marL="342900" indent="-342900">
              <a:spcAft>
                <a:spcPts val="600"/>
              </a:spcAft>
              <a:buSzPct val="100000"/>
              <a:buChar char="•"/>
            </a:pPr>
            <a:r>
              <a:rPr lang="en-US" sz="1250" dirty="0">
                <a:solidFill>
                  <a:srgbClr val="1B1B1A"/>
                </a:solidFill>
              </a:rPr>
              <a:t>All univariate filters peak on the same few regions — first-derivative bands near 850–875 nm and 1910–1950 nm and the continuum-removed water features — so their top-10 lists are made of neighbouring bands.</a:t>
            </a:r>
            <a:endParaRPr lang="en-US" sz="125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Pearson 1895; Duda et al. 2001; Abdulridha et al. 2023; Kraskov et al. 2004; Das et al. 2020</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Multivariate filters: ReliefF, mRMR, SPA and MC-UVE</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1280160"/>
                <a:gridCol w="4572000"/>
                <a:gridCol w="5394960"/>
              </a:tblGrid>
              <a:tr h="502920">
                <a:tc>
                  <a:txBody>
                    <a:bodyPr/>
                    <a:lstStyle/>
                    <a:p>
                      <a:pPr indent="0" marL="0">
                        <a:buNone/>
                      </a:pPr>
                      <a:r>
                        <a:rPr lang="en-US" sz="1100" b="1" dirty="0">
                          <a:solidFill>
                            <a:srgbClr val="FFFFFF"/>
                          </a:solidFill>
                        </a:rPr>
                        <a:t>Method</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Principle</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Top-5 (all leaves)</a:t>
                      </a:r>
                      <a:endParaRPr lang="en-US" sz="11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502920">
                <a:tc>
                  <a:txBody>
                    <a:bodyPr/>
                    <a:lstStyle/>
                    <a:p>
                      <a:pPr indent="0" marL="0">
                        <a:buNone/>
                      </a:pPr>
                      <a:r>
                        <a:rPr lang="en-US" sz="1100" dirty="0">
                          <a:solidFill>
                            <a:srgbClr val="1B1B1A"/>
                          </a:solidFill>
                        </a:rPr>
                        <a:t>ReliefF</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nearest hit / nearest miss differences (k = 10, L1)</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CR6 water 1940 position, CR3 water 970 width, CR6 water 1940 symmetry, D1_872, D1_873</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B1A"/>
                          </a:solidFill>
                        </a:rPr>
                        <a:t>mRMR</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max relevance (F) / min redundancy (|r|) quotient</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D1_848, D1_1053, D1_847, CR6 water 1940 position, CR3 water 970 width</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502920">
                <a:tc>
                  <a:txBody>
                    <a:bodyPr/>
                    <a:lstStyle/>
                    <a:p>
                      <a:pPr indent="0" marL="0">
                        <a:buNone/>
                      </a:pPr>
                      <a:r>
                        <a:rPr lang="en-US" sz="1100" dirty="0">
                          <a:solidFill>
                            <a:srgbClr val="1B1B1A"/>
                          </a:solidFill>
                        </a:rPr>
                        <a:t>SPA</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successive projections: least collinear chain; length by inner CV</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D1_873, D1_2141, D1_674, SDr/SDb, D1_1052</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B1A"/>
                          </a:solidFill>
                        </a:rPr>
                        <a:t>MC-UVE</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stability of PLS coefficients vs artificial noise variables</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100" dirty="0">
                          <a:solidFill>
                            <a:srgbClr val="1B1B1A"/>
                          </a:solidFill>
                        </a:rPr>
                        <a:t>D1_1744, D1_1743, D1_1745, D1_1742, D1_1726</a:t>
                      </a:r>
                      <a:endParaRPr lang="en-US" sz="11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Text 1"/>
          <p:cNvSpPr txBox="1"/>
          <p:nvPr/>
        </p:nvSpPr>
        <p:spPr>
          <a:xfrm>
            <a:off x="457200" y="3794760"/>
            <a:ext cx="11277295" cy="228600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ReliefF (Kononenko 1994; used by Mahlein et al. 2013 to build disease indices): nearest hit / nearest miss differences; class-balanced instances.</a:t>
            </a:r>
            <a:endParaRPr lang="en-US" sz="1300" dirty="0"/>
          </a:p>
          <a:p>
            <a:pPr marL="342900" indent="-342900">
              <a:spcAft>
                <a:spcPts val="600"/>
              </a:spcAft>
              <a:buSzPct val="100000"/>
              <a:buChar char="•"/>
            </a:pPr>
            <a:r>
              <a:rPr lang="en-US" sz="1300" dirty="0">
                <a:solidFill>
                  <a:srgbClr val="1B1B1A"/>
                </a:solidFill>
              </a:rPr>
              <a:t>SPA (Araújo et al. 2001; Zhu et al. 2017): picks the least collinear chain; 20 variables chosen by inner CV — minimal collinearity, but not necessarily the most discriminating features.</a:t>
            </a:r>
            <a:endParaRPr lang="en-US" sz="1300" dirty="0"/>
          </a:p>
          <a:p>
            <a:pPr marL="342900" indent="-342900">
              <a:spcAft>
                <a:spcPts val="600"/>
              </a:spcAft>
              <a:buSzPct val="100000"/>
              <a:buChar char="•"/>
            </a:pPr>
            <a:r>
              <a:rPr lang="en-US" sz="1300" dirty="0">
                <a:solidFill>
                  <a:srgbClr val="1B1B1A"/>
                </a:solidFill>
              </a:rPr>
              <a:t>MC-UVE (Centner et al. 1996): 1760 of 4150 features have PLS coefficients more stable than every artificial noise variable — UVE removes noise, it does not pick a short list.</a:t>
            </a:r>
            <a:endParaRPr lang="en-US" sz="1300" dirty="0"/>
          </a:p>
          <a:p>
            <a:pPr marL="342900" indent="-342900">
              <a:spcAft>
                <a:spcPts val="600"/>
              </a:spcAft>
              <a:buSzPct val="100000"/>
              <a:buChar char="•"/>
            </a:pPr>
            <a:r>
              <a:rPr lang="en-US" sz="1300" dirty="0">
                <a:solidFill>
                  <a:srgbClr val="1B1B1A"/>
                </a:solidFill>
              </a:rPr>
              <a:t>mRMR (Peng et al. 2005): relevance (F) divided by redundancy (mean |r|) — built-in redundancy control.</a:t>
            </a:r>
            <a:endParaRPr lang="en-US" sz="130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Kira &amp; Rendell 1992; Kononenko 1994; Mahlein et al. 2013; Peng et al. 2005; Araújo et al. 2001; Zhu et al. 2017; Centner et al. 1996; Cai et al. 2008</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Continuous wavelet analysis: separability scalogram (Cheng et al. 2010)</a:t>
            </a:r>
            <a:endParaRPr lang="en-US" sz="2500" dirty="0"/>
          </a:p>
        </p:txBody>
      </p:sp>
      <p:pic>
        <p:nvPicPr>
          <p:cNvPr id="3" name="Image 0" descr="FS03_cwt_scalogram">    </p:cNvPr>
          <p:cNvPicPr>
            <a:picLocks noChangeAspect="1"/>
          </p:cNvPicPr>
          <p:nvPr/>
        </p:nvPicPr>
        <p:blipFill>
          <a:blip r:embed="rId1"/>
          <a:stretch>
            <a:fillRect/>
          </a:stretch>
        </p:blipFill>
        <p:spPr>
          <a:xfrm>
            <a:off x="1391112" y="1005840"/>
            <a:ext cx="9409471" cy="3200400"/>
          </a:xfrm>
          <a:prstGeom prst="rect">
            <a:avLst/>
          </a:prstGeom>
        </p:spPr>
      </p:pic>
      <p:sp>
        <p:nvSpPr>
          <p:cNvPr id="4" name="Text 1"/>
          <p:cNvSpPr txBox="1"/>
          <p:nvPr/>
        </p:nvSpPr>
        <p:spPr>
          <a:xfrm>
            <a:off x="457200" y="4297680"/>
            <a:ext cx="11277295" cy="173736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Each spectrum is decomposed with the Mexican-hat wavelet at 8 dyadic scales (2–256 nm): 3368 wavelet features; the J–M of every coefficient forms the scalogram.</a:t>
            </a:r>
            <a:endParaRPr lang="en-US" sz="1300" dirty="0"/>
          </a:p>
          <a:p>
            <a:pPr marL="342900" indent="-342900">
              <a:spcAft>
                <a:spcPts val="600"/>
              </a:spcAft>
              <a:buSzPct val="100000"/>
              <a:buChar char="•"/>
            </a:pPr>
            <a:r>
              <a:rPr lang="en-US" sz="1300" dirty="0">
                <a:solidFill>
                  <a:srgbClr val="1B1B1A"/>
                </a:solidFill>
              </a:rPr>
              <a:t>Top features (all leaves): CWT s8 2385, CWT s8 2265, CWT s2 1920, CWT s32 2435, CWT s16 2360, CWT s4 655.</a:t>
            </a:r>
            <a:endParaRPr lang="en-US" sz="1300" dirty="0"/>
          </a:p>
          <a:p>
            <a:pPr marL="342900" indent="-342900">
              <a:spcAft>
                <a:spcPts val="600"/>
              </a:spcAft>
              <a:buSzPct val="100000"/>
              <a:buChar char="•"/>
            </a:pPr>
            <a:r>
              <a:rPr lang="en-US" sz="1300" dirty="0">
                <a:solidFill>
                  <a:srgbClr val="1B1B1A"/>
                </a:solidFill>
              </a:rPr>
              <a:t>Small scales behave like derivatives (absorption-feature shape), large scales like continuum-removed band depths — wavelet features combine K2 and K4 information.</a:t>
            </a:r>
            <a:endParaRPr lang="en-US" sz="130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Cheng et al. 2010; Das et al. 2020 (J–M)</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Wrapper methods</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r>
              <a:rPr lang="en-US" sz="1800" dirty="0">
                <a:solidFill>
                  <a:srgbClr val="E3F4EC"/>
                </a:solidFill>
              </a:rPr>
              <a:t>SVM-RFE · RF-RFE · CARS · SFFS (QDA criterion) · SFFS (J–M criterion) · genetic algorithm</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Recursive feature elimination and CARS</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7315200" cy="914400"/>
        </p:xfrm>
        <a:graphic>
          <a:graphicData uri="http://schemas.openxmlformats.org/drawingml/2006/table">
            <a:tbl>
              <a:tblPr/>
              <a:tblGrid>
                <a:gridCol w="1097280"/>
                <a:gridCol w="2743200"/>
                <a:gridCol w="3474720"/>
              </a:tblGrid>
              <a:tr h="548640">
                <a:tc>
                  <a:txBody>
                    <a:bodyPr/>
                    <a:lstStyle/>
                    <a:p>
                      <a:pPr indent="0" marL="0">
                        <a:buNone/>
                      </a:pPr>
                      <a:r>
                        <a:rPr lang="en-US" sz="1050" b="1" dirty="0">
                          <a:solidFill>
                            <a:srgbClr val="FFFFFF"/>
                          </a:solidFill>
                        </a:rPr>
                        <a:t>Method</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Principle</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Top-6 (all leaves)</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548640">
                <a:tc>
                  <a:txBody>
                    <a:bodyPr/>
                    <a:lstStyle/>
                    <a:p>
                      <a:pPr indent="0" marL="0">
                        <a:buNone/>
                      </a:pPr>
                      <a:r>
                        <a:rPr lang="en-US" sz="1050" dirty="0">
                          <a:solidFill>
                            <a:srgbClr val="1B1B1A"/>
                          </a:solidFill>
                        </a:rPr>
                        <a:t>SVM-RFE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recursive elimination by |w| of a linear SVM</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CR3 water 970 width, CR6 water 1940 position, D1_454, D1_2329, D1_2305, D1_982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B1B1A"/>
                          </a:solidFill>
                        </a:rPr>
                        <a:t>RF-RFE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recursive elimination by Balanced-RF importance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D1_872, CR6 water 1940 symmetry, D1_1164, CR3 water 970 width, D1_862, D1_1914</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548640">
                <a:tc>
                  <a:txBody>
                    <a:bodyPr/>
                    <a:lstStyle/>
                    <a:p>
                      <a:pPr indent="0" marL="0">
                        <a:buNone/>
                      </a:pPr>
                      <a:r>
                        <a:rPr lang="en-US" sz="1050" dirty="0">
                          <a:solidFill>
                            <a:srgbClr val="1B1B1A"/>
                          </a:solidFill>
                        </a:rPr>
                        <a:t>CARS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Monte-Carlo PLS, exponential decay + adaptive reweighted sampling</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D1_2205, ARI, D1_1723, D1_1749, D1_453, D1_982</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pic>
        <p:nvPicPr>
          <p:cNvPr id="4" name="Image 0" descr="FS13_cars">    </p:cNvPr>
          <p:cNvPicPr>
            <a:picLocks noChangeAspect="1"/>
          </p:cNvPicPr>
          <p:nvPr/>
        </p:nvPicPr>
        <p:blipFill>
          <a:blip r:embed="rId1"/>
          <a:stretch>
            <a:fillRect/>
          </a:stretch>
        </p:blipFill>
        <p:spPr>
          <a:xfrm>
            <a:off x="8077397" y="1005840"/>
            <a:ext cx="3504807" cy="2377440"/>
          </a:xfrm>
          <a:prstGeom prst="rect">
            <a:avLst/>
          </a:prstGeom>
        </p:spPr>
      </p:pic>
      <p:sp>
        <p:nvSpPr>
          <p:cNvPr id="5" name="Text 1"/>
          <p:cNvSpPr txBox="1"/>
          <p:nvPr/>
        </p:nvSpPr>
        <p:spPr>
          <a:xfrm>
            <a:off x="457200" y="3657600"/>
            <a:ext cx="11277295" cy="219456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RFE removes the least important features step by step and re-fits the model each time (Guyon et al. 2002); Wei et al. (2021) found RFE better than chi-square for peanut stem rot.</a:t>
            </a:r>
            <a:endParaRPr lang="en-US" sz="1300" dirty="0"/>
          </a:p>
          <a:p>
            <a:pPr marL="342900" indent="-342900">
              <a:spcAft>
                <a:spcPts val="600"/>
              </a:spcAft>
              <a:buSzPct val="100000"/>
              <a:buChar char="•"/>
            </a:pPr>
            <a:r>
              <a:rPr lang="en-US" sz="1300" dirty="0">
                <a:solidFill>
                  <a:srgbClr val="1B1B1A"/>
                </a:solidFill>
              </a:rPr>
              <a:t>CARS (Li et al. 2009) keeps an exponentially shrinking set by PLS-coefficient weights and adaptive reweighted sampling: best run 25 with 31 variables.</a:t>
            </a:r>
            <a:endParaRPr lang="en-US" sz="1300" dirty="0"/>
          </a:p>
        </p:txBody>
      </p:sp>
      <p:sp>
        <p:nvSpPr>
          <p:cNvPr id="6"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Guyon et al. 2002; Wei et al. 2021; Liu et al. 2024 (as cited); Li et al. 2009; Zhu et al. 2017</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Sequential floating forward selection and the genetic algorithm</a:t>
            </a:r>
            <a:endParaRPr lang="en-US" sz="2500" dirty="0"/>
          </a:p>
        </p:txBody>
      </p:sp>
      <p:pic>
        <p:nvPicPr>
          <p:cNvPr id="3" name="Image 0" descr="FS12_wrapper_search">    </p:cNvPr>
          <p:cNvPicPr>
            <a:picLocks noChangeAspect="1"/>
          </p:cNvPicPr>
          <p:nvPr/>
        </p:nvPicPr>
        <p:blipFill>
          <a:blip r:embed="rId1"/>
          <a:stretch>
            <a:fillRect/>
          </a:stretch>
        </p:blipFill>
        <p:spPr>
          <a:xfrm>
            <a:off x="1490769" y="960120"/>
            <a:ext cx="9210157" cy="3017520"/>
          </a:xfrm>
          <a:prstGeom prst="rect">
            <a:avLst/>
          </a:prstGeom>
        </p:spPr>
      </p:pic>
      <p:sp>
        <p:nvSpPr>
          <p:cNvPr id="4" name="Text 1"/>
          <p:cNvSpPr txBox="1"/>
          <p:nvPr/>
        </p:nvSpPr>
        <p:spPr>
          <a:xfrm>
            <a:off x="457200" y="4069080"/>
            <a:ext cx="11277295" cy="2103120"/>
          </a:xfrm>
          <a:prstGeom prst="rect">
            <a:avLst/>
          </a:prstGeom>
          <a:noFill/>
          <a:ln/>
        </p:spPr>
        <p:txBody>
          <a:bodyPr wrap="square" rtlCol="0" anchor="t"/>
          <a:lstStyle/>
          <a:p>
            <a:pPr marL="342900" indent="-342900">
              <a:spcAft>
                <a:spcPts val="600"/>
              </a:spcAft>
              <a:buSzPct val="100000"/>
              <a:buChar char="•"/>
            </a:pPr>
            <a:r>
              <a:rPr lang="en-US" sz="1250" dirty="0">
                <a:solidFill>
                  <a:srgbClr val="1B1B1A"/>
                </a:solidFill>
              </a:rPr>
              <a:t>SFFS (Pudil et al. 1994; used by Mustafa et al. 2023): add the best feature, drop features while that helps. Criterion = inner-CV QDA balanced accuracy (ML-based) or J–M (Das Tier 3).</a:t>
            </a:r>
            <a:endParaRPr lang="en-US" sz="1250" dirty="0"/>
          </a:p>
          <a:p>
            <a:pPr marL="342900" indent="-342900">
              <a:spcAft>
                <a:spcPts val="600"/>
              </a:spcAft>
              <a:buSzPct val="100000"/>
              <a:buChar char="•"/>
            </a:pPr>
            <a:r>
              <a:rPr lang="en-US" sz="1250" dirty="0">
                <a:solidFill>
                  <a:srgbClr val="1B1B1A"/>
                </a:solidFill>
              </a:rPr>
              <a:t>SFFS (QDA), 10 features: CR3 water 970 width, D1_938, CR6 water 1940 position, R1386, ARI, D1_913, D1_745, D1_1353, D1_1365, D1_1057.</a:t>
            </a:r>
            <a:endParaRPr lang="en-US" sz="1250" dirty="0"/>
          </a:p>
          <a:p>
            <a:pPr marL="342900" indent="-342900">
              <a:spcAft>
                <a:spcPts val="600"/>
              </a:spcAft>
              <a:buSzPct val="100000"/>
              <a:buChar char="•"/>
            </a:pPr>
            <a:r>
              <a:rPr lang="en-US" sz="1250" dirty="0">
                <a:solidFill>
                  <a:srgbClr val="1B1B1A"/>
                </a:solidFill>
              </a:rPr>
              <a:t>GA (Leardi et al. 1992; Nagasubramanian et al. 2018 for charcoal rot): 50 chromosomes × 40 generations, fitness = QDA BA − size penalty; best chromosome 14 features.</a:t>
            </a:r>
            <a:endParaRPr lang="en-US" sz="1250" dirty="0"/>
          </a:p>
          <a:p>
            <a:pPr marL="342900" indent="-342900">
              <a:spcAft>
                <a:spcPts val="600"/>
              </a:spcAft>
              <a:buSzPct val="100000"/>
              <a:buChar char="•"/>
            </a:pPr>
            <a:r>
              <a:rPr lang="en-US" sz="1250" dirty="0">
                <a:solidFill>
                  <a:srgbClr val="1B1B1A"/>
                </a:solidFill>
              </a:rPr>
              <a:t>Candidates for SFFS/GA: the 100 most significant, mutually non-redundant (|r| &lt; 0.95) features of each training set.</a:t>
            </a:r>
            <a:endParaRPr lang="en-US" sz="125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Pudil et al. 1994; Mustafa et al. 2023; Leardi et al. 1992; Nagasubramanian et al. 2018; Das et al. 2020</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Embedded methods</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r>
              <a:rPr lang="en-US" sz="1800" dirty="0">
                <a:solidFill>
                  <a:srgbClr val="E3F4EC"/>
                </a:solidFill>
              </a:rPr>
              <a:t>Random Forest importance · CART importance · Boruta · PLS-VIP · LASSO · gradient boosting · consensus (Borda)</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Tree-based importance, PLS-VIP and LASSO</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1463040"/>
                <a:gridCol w="4206240"/>
                <a:gridCol w="5577840"/>
              </a:tblGrid>
              <a:tr h="457200">
                <a:tc>
                  <a:txBody>
                    <a:bodyPr/>
                    <a:lstStyle/>
                    <a:p>
                      <a:pPr indent="0" marL="0">
                        <a:buNone/>
                      </a:pPr>
                      <a:r>
                        <a:rPr lang="en-US" sz="1050" b="1" dirty="0">
                          <a:solidFill>
                            <a:srgbClr val="FFFFFF"/>
                          </a:solidFill>
                        </a:rPr>
                        <a:t>Method</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Principle</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50" b="1" dirty="0">
                          <a:solidFill>
                            <a:srgbClr val="FFFFFF"/>
                          </a:solidFill>
                        </a:rPr>
                        <a:t>Top-5 (all leaves)</a:t>
                      </a:r>
                      <a:endParaRPr lang="en-US" sz="10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457200">
                <a:tc>
                  <a:txBody>
                    <a:bodyPr/>
                    <a:lstStyle/>
                    <a:p>
                      <a:pPr indent="0" marL="0">
                        <a:buNone/>
                      </a:pPr>
                      <a:r>
                        <a:rPr lang="en-US" sz="1050" dirty="0">
                          <a:solidFill>
                            <a:srgbClr val="1B1B1A"/>
                          </a:solidFill>
                        </a:rPr>
                        <a:t>RF importance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Balanced Random Forest mean decrease in Gini</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CR3 water 970 width, D1_861, D1_873, D1_1915, D1_857</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B1B1A"/>
                          </a:solidFill>
                        </a:rPr>
                        <a:t>CART importance</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Gini importance of a pruned CART tree (equal priors)</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D1_861, CR3 water 970 width, CR6 water 1940 symmetry, D1_1164, D1_1163</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457200">
                <a:tc>
                  <a:txBody>
                    <a:bodyPr/>
                    <a:lstStyle/>
                    <a:p>
                      <a:pPr indent="0" marL="0">
                        <a:buNone/>
                      </a:pPr>
                      <a:r>
                        <a:rPr lang="en-US" sz="1050" dirty="0">
                          <a:solidFill>
                            <a:srgbClr val="1B1B1A"/>
                          </a:solidFill>
                        </a:rPr>
                        <a:t>Gradient boosting</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gradient-boosted trees split-gain importance (XGBoost family)</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D1_849, D1_865, D1_795, D1_2222, D1_840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B1B1A"/>
                          </a:solidFill>
                        </a:rPr>
                        <a:t>PLS-VIP</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variable importance in projection of PLS-DA</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50" dirty="0">
                          <a:solidFill>
                            <a:srgbClr val="1B1B1A"/>
                          </a:solidFill>
                        </a:rPr>
                        <a:t>CR6 water 1940 position, D1_2305, CR6 water 1940 symmetry, D1_1070, D1_1071</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457200">
                <a:tc>
                  <a:txBody>
                    <a:bodyPr/>
                    <a:lstStyle/>
                    <a:p>
                      <a:pPr indent="0" marL="0">
                        <a:buNone/>
                      </a:pPr>
                      <a:r>
                        <a:rPr lang="en-US" sz="1050" dirty="0">
                          <a:solidFill>
                            <a:srgbClr val="1B1B1A"/>
                          </a:solidFill>
                        </a:rPr>
                        <a:t>LASSO</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L1-penalised logistic regression (order of entry)</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B1B1A"/>
                          </a:solidFill>
                        </a:rPr>
                        <a:t>CR6 water 1940 position, CR3 water 970 width, D1_848, D1_1724, D1_2330</a:t>
                      </a:r>
                      <a:endParaRPr lang="en-US" sz="10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069080"/>
            <a:ext cx="11277295" cy="182880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PLS-VIP: 15 components; 1349 features with VIP &gt; 1 (Wold et al. 2001; Chong &amp; Jun 2005).</a:t>
            </a:r>
            <a:endParaRPr lang="en-US" sz="1300" dirty="0"/>
          </a:p>
          <a:p>
            <a:pPr marL="342900" indent="-342900">
              <a:spcAft>
                <a:spcPts val="600"/>
              </a:spcAft>
              <a:buSzPct val="100000"/>
              <a:buChar char="•"/>
            </a:pPr>
            <a:r>
              <a:rPr lang="en-US" sz="1300" dirty="0">
                <a:solidFill>
                  <a:srgbClr val="1B1B1A"/>
                </a:solidFill>
              </a:rPr>
              <a:t>LASSO: 127 non-zero coefficients at the cross-validated penalty (Tibshirani 1996).</a:t>
            </a:r>
            <a:endParaRPr lang="en-US" sz="1300" dirty="0"/>
          </a:p>
          <a:p>
            <a:pPr marL="342900" indent="-342900">
              <a:spcAft>
                <a:spcPts val="600"/>
              </a:spcAft>
              <a:buSzPct val="100000"/>
              <a:buChar char="•"/>
            </a:pPr>
            <a:r>
              <a:rPr lang="en-US" sz="1300" dirty="0">
                <a:solidFill>
                  <a:srgbClr val="1B1B1A"/>
                </a:solidFill>
              </a:rPr>
              <a:t>CART uses only 11 features in its pruned tree — the same mechanism as Tier 2 of Das et al. (2020).</a:t>
            </a:r>
            <a:endParaRPr lang="en-US" sz="130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Breiman 2001; Breiman et al. 1984; Friedman 2001; Chen &amp; Guestrin 2016; Wold et al. 2001; Chong &amp; Jun 2005; Tibshirani 1996</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Boruta: all-relevant selection with shadow features</a:t>
            </a:r>
            <a:endParaRPr lang="en-US" sz="2500" dirty="0"/>
          </a:p>
        </p:txBody>
      </p:sp>
      <p:sp>
        <p:nvSpPr>
          <p:cNvPr id="3" name="Shape 1"/>
          <p:cNvSpPr/>
          <p:nvPr/>
        </p:nvSpPr>
        <p:spPr>
          <a:xfrm>
            <a:off x="457200" y="1143000"/>
            <a:ext cx="2651760" cy="1325880"/>
          </a:xfrm>
          <a:prstGeom prst="roundRect">
            <a:avLst>
              <a:gd name="adj" fmla="val 5517"/>
            </a:avLst>
          </a:prstGeom>
          <a:solidFill>
            <a:srgbClr val="F0EFEC"/>
          </a:solidFill>
          <a:ln w="12700">
            <a:solidFill>
              <a:srgbClr val="F0EFEC"/>
            </a:solidFill>
            <a:prstDash val="solid"/>
          </a:ln>
        </p:spPr>
      </p:sp>
      <p:sp>
        <p:nvSpPr>
          <p:cNvPr id="4" name="Text 2"/>
          <p:cNvSpPr txBox="1"/>
          <p:nvPr/>
        </p:nvSpPr>
        <p:spPr>
          <a:xfrm>
            <a:off x="594360" y="1216152"/>
            <a:ext cx="2377440" cy="685800"/>
          </a:xfrm>
          <a:prstGeom prst="rect">
            <a:avLst/>
          </a:prstGeom>
          <a:noFill/>
          <a:ln/>
        </p:spPr>
        <p:txBody>
          <a:bodyPr wrap="square" lIns="0" tIns="0" rIns="0" bIns="0" rtlCol="0" anchor="ctr"/>
          <a:lstStyle/>
          <a:p>
            <a:pPr indent="0" marL="0">
              <a:buNone/>
            </a:pPr>
            <a:r>
              <a:rPr lang="en-US" sz="3000" b="1" dirty="0">
                <a:solidFill>
                  <a:srgbClr val="14895F"/>
                </a:solidFill>
                <a:latin typeface="Cambria" pitchFamily="34" charset="0"/>
                <a:ea typeface="Cambria" pitchFamily="34" charset="-122"/>
                <a:cs typeface="Cambria" pitchFamily="34" charset="-120"/>
              </a:rPr>
              <a:t>192</a:t>
            </a:r>
            <a:endParaRPr lang="en-US" sz="3000" dirty="0"/>
          </a:p>
        </p:txBody>
      </p:sp>
      <p:sp>
        <p:nvSpPr>
          <p:cNvPr id="5" name="Text 3"/>
          <p:cNvSpPr txBox="1"/>
          <p:nvPr/>
        </p:nvSpPr>
        <p:spPr>
          <a:xfrm>
            <a:off x="594360" y="1874520"/>
            <a:ext cx="2377440" cy="548640"/>
          </a:xfrm>
          <a:prstGeom prst="rect">
            <a:avLst/>
          </a:prstGeom>
          <a:noFill/>
          <a:ln/>
        </p:spPr>
        <p:txBody>
          <a:bodyPr wrap="square" lIns="0" tIns="0" rIns="0" bIns="0" rtlCol="0" anchor="t"/>
          <a:lstStyle/>
          <a:p>
            <a:pPr indent="0" marL="0">
              <a:buNone/>
            </a:pPr>
            <a:r>
              <a:rPr lang="en-US" sz="1200" dirty="0">
                <a:solidFill>
                  <a:srgbClr val="52514E"/>
                </a:solidFill>
              </a:rPr>
              <a:t>features confirmed (all leaves)</a:t>
            </a:r>
            <a:endParaRPr lang="en-US" sz="1200" dirty="0"/>
          </a:p>
        </p:txBody>
      </p:sp>
      <p:sp>
        <p:nvSpPr>
          <p:cNvPr id="6" name="Shape 4"/>
          <p:cNvSpPr/>
          <p:nvPr/>
        </p:nvSpPr>
        <p:spPr>
          <a:xfrm>
            <a:off x="3246120" y="1143000"/>
            <a:ext cx="2651760" cy="1325880"/>
          </a:xfrm>
          <a:prstGeom prst="roundRect">
            <a:avLst>
              <a:gd name="adj" fmla="val 5517"/>
            </a:avLst>
          </a:prstGeom>
          <a:solidFill>
            <a:srgbClr val="F0EFEC"/>
          </a:solidFill>
          <a:ln w="12700">
            <a:solidFill>
              <a:srgbClr val="F0EFEC"/>
            </a:solidFill>
            <a:prstDash val="solid"/>
          </a:ln>
        </p:spPr>
      </p:sp>
      <p:sp>
        <p:nvSpPr>
          <p:cNvPr id="7" name="Text 5"/>
          <p:cNvSpPr txBox="1"/>
          <p:nvPr/>
        </p:nvSpPr>
        <p:spPr>
          <a:xfrm>
            <a:off x="3383280" y="1216152"/>
            <a:ext cx="2377440" cy="685800"/>
          </a:xfrm>
          <a:prstGeom prst="rect">
            <a:avLst/>
          </a:prstGeom>
          <a:noFill/>
          <a:ln/>
        </p:spPr>
        <p:txBody>
          <a:bodyPr wrap="square" lIns="0" tIns="0" rIns="0" bIns="0" rtlCol="0" anchor="ctr"/>
          <a:lstStyle/>
          <a:p>
            <a:pPr indent="0" marL="0">
              <a:buNone/>
            </a:pPr>
            <a:r>
              <a:rPr lang="en-US" sz="3000" b="1" dirty="0">
                <a:solidFill>
                  <a:srgbClr val="C98500"/>
                </a:solidFill>
                <a:latin typeface="Cambria" pitchFamily="34" charset="0"/>
                <a:ea typeface="Cambria" pitchFamily="34" charset="-122"/>
                <a:cs typeface="Cambria" pitchFamily="34" charset="-120"/>
              </a:rPr>
              <a:t>201</a:t>
            </a:r>
            <a:endParaRPr lang="en-US" sz="3000" dirty="0"/>
          </a:p>
        </p:txBody>
      </p:sp>
      <p:sp>
        <p:nvSpPr>
          <p:cNvPr id="8" name="Text 6"/>
          <p:cNvSpPr txBox="1"/>
          <p:nvPr/>
        </p:nvSpPr>
        <p:spPr>
          <a:xfrm>
            <a:off x="3383280" y="1874520"/>
            <a:ext cx="2377440" cy="548640"/>
          </a:xfrm>
          <a:prstGeom prst="rect">
            <a:avLst/>
          </a:prstGeom>
          <a:noFill/>
          <a:ln/>
        </p:spPr>
        <p:txBody>
          <a:bodyPr wrap="square" lIns="0" tIns="0" rIns="0" bIns="0" rtlCol="0" anchor="t"/>
          <a:lstStyle/>
          <a:p>
            <a:pPr indent="0" marL="0">
              <a:buNone/>
            </a:pPr>
            <a:r>
              <a:rPr lang="en-US" sz="1200" dirty="0">
                <a:solidFill>
                  <a:srgbClr val="52514E"/>
                </a:solidFill>
              </a:rPr>
              <a:t>tentative</a:t>
            </a:r>
            <a:endParaRPr lang="en-US" sz="1200" dirty="0"/>
          </a:p>
        </p:txBody>
      </p:sp>
      <p:sp>
        <p:nvSpPr>
          <p:cNvPr id="9" name="Shape 7"/>
          <p:cNvSpPr/>
          <p:nvPr/>
        </p:nvSpPr>
        <p:spPr>
          <a:xfrm>
            <a:off x="6035040" y="1143000"/>
            <a:ext cx="2651760" cy="1325880"/>
          </a:xfrm>
          <a:prstGeom prst="roundRect">
            <a:avLst>
              <a:gd name="adj" fmla="val 5517"/>
            </a:avLst>
          </a:prstGeom>
          <a:solidFill>
            <a:srgbClr val="F0EFEC"/>
          </a:solidFill>
          <a:ln w="12700">
            <a:solidFill>
              <a:srgbClr val="F0EFEC"/>
            </a:solidFill>
            <a:prstDash val="solid"/>
          </a:ln>
        </p:spPr>
      </p:sp>
      <p:sp>
        <p:nvSpPr>
          <p:cNvPr id="10" name="Text 8"/>
          <p:cNvSpPr txBox="1"/>
          <p:nvPr/>
        </p:nvSpPr>
        <p:spPr>
          <a:xfrm>
            <a:off x="6172200" y="1216152"/>
            <a:ext cx="2377440" cy="685800"/>
          </a:xfrm>
          <a:prstGeom prst="rect">
            <a:avLst/>
          </a:prstGeom>
          <a:noFill/>
          <a:ln/>
        </p:spPr>
        <p:txBody>
          <a:bodyPr wrap="square" lIns="0" tIns="0" rIns="0" bIns="0" rtlCol="0" anchor="ctr"/>
          <a:lstStyle/>
          <a:p>
            <a:pPr indent="0" marL="0">
              <a:buNone/>
            </a:pPr>
            <a:r>
              <a:rPr lang="en-US" sz="3000" b="1" dirty="0">
                <a:solidFill>
                  <a:srgbClr val="52514E"/>
                </a:solidFill>
                <a:latin typeface="Cambria" pitchFamily="34" charset="0"/>
                <a:ea typeface="Cambria" pitchFamily="34" charset="-122"/>
                <a:cs typeface="Cambria" pitchFamily="34" charset="-120"/>
              </a:rPr>
              <a:t>3757</a:t>
            </a:r>
            <a:endParaRPr lang="en-US" sz="3000" dirty="0"/>
          </a:p>
        </p:txBody>
      </p:sp>
      <p:sp>
        <p:nvSpPr>
          <p:cNvPr id="11" name="Text 9"/>
          <p:cNvSpPr txBox="1"/>
          <p:nvPr/>
        </p:nvSpPr>
        <p:spPr>
          <a:xfrm>
            <a:off x="6172200" y="1874520"/>
            <a:ext cx="2377440" cy="548640"/>
          </a:xfrm>
          <a:prstGeom prst="rect">
            <a:avLst/>
          </a:prstGeom>
          <a:noFill/>
          <a:ln/>
        </p:spPr>
        <p:txBody>
          <a:bodyPr wrap="square" lIns="0" tIns="0" rIns="0" bIns="0" rtlCol="0" anchor="t"/>
          <a:lstStyle/>
          <a:p>
            <a:pPr indent="0" marL="0">
              <a:buNone/>
            </a:pPr>
            <a:r>
              <a:rPr lang="en-US" sz="1200" dirty="0">
                <a:solidFill>
                  <a:srgbClr val="52514E"/>
                </a:solidFill>
              </a:rPr>
              <a:t>rejected</a:t>
            </a:r>
            <a:endParaRPr lang="en-US" sz="1200" dirty="0"/>
          </a:p>
        </p:txBody>
      </p:sp>
      <p:sp>
        <p:nvSpPr>
          <p:cNvPr id="12" name="Text 10"/>
          <p:cNvSpPr txBox="1"/>
          <p:nvPr/>
        </p:nvSpPr>
        <p:spPr>
          <a:xfrm>
            <a:off x="457200" y="2651760"/>
            <a:ext cx="11277295" cy="338328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Every real feature competes with a shuffled copy of itself (a 'shadow'); a feature that beats the best shadow significantly often (binomial test, Bonferroni) is confirmed (Kursa &amp; Rudnicki 2010).</a:t>
            </a:r>
            <a:endParaRPr lang="en-US" sz="1400" dirty="0"/>
          </a:p>
          <a:p>
            <a:pPr marL="342900" indent="-342900">
              <a:spcAft>
                <a:spcPts val="600"/>
              </a:spcAft>
              <a:buSzPct val="100000"/>
              <a:buChar char="•"/>
            </a:pPr>
            <a:r>
              <a:rPr lang="en-US" sz="1400" dirty="0">
                <a:solidFill>
                  <a:srgbClr val="1B1B1A"/>
                </a:solidFill>
              </a:rPr>
              <a:t>Boruta finds ALL features carrying disease information (all-relevant), so its confirmed set is large: it is a screening tool, not a minimal set; for top-k the ranking by mean importance is used.</a:t>
            </a:r>
            <a:endParaRPr lang="en-US" sz="1400" dirty="0"/>
          </a:p>
          <a:p>
            <a:pPr marL="342900" indent="-342900">
              <a:spcAft>
                <a:spcPts val="600"/>
              </a:spcAft>
              <a:buSzPct val="100000"/>
              <a:buChar char="•"/>
            </a:pPr>
            <a:r>
              <a:rPr lang="en-US" sz="1400" dirty="0">
                <a:solidFill>
                  <a:srgbClr val="1B1B1A"/>
                </a:solidFill>
              </a:rPr>
              <a:t>Top features by mean importance: CR3 water 970 width, D1_861, D1_872, D1_873, CR6 water 1940 symmetry, D1_862, D1_863, D1_848.</a:t>
            </a:r>
            <a:endParaRPr lang="en-US" sz="1400" dirty="0"/>
          </a:p>
          <a:p>
            <a:pPr marL="342900" indent="-342900">
              <a:spcAft>
                <a:spcPts val="600"/>
              </a:spcAft>
              <a:buSzPct val="100000"/>
              <a:buChar char="•"/>
            </a:pPr>
            <a:r>
              <a:rPr lang="en-US" sz="1400" dirty="0">
                <a:solidFill>
                  <a:srgbClr val="1B1B1A"/>
                </a:solidFill>
              </a:rPr>
              <a:t>Mustafa et al. (2022, 2023) used Boruta to pick fusarium-head-blight-sensitive features before a final SFFS step — the same two-stage idea as Boruta → SFFS here.</a:t>
            </a:r>
            <a:endParaRPr lang="en-US" sz="1400" dirty="0"/>
          </a:p>
        </p:txBody>
      </p:sp>
      <p:sp>
        <p:nvSpPr>
          <p:cNvPr id="13" name="Text 11"/>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Kursa &amp; Rudnicki 2010; Mustafa et al. 2022, 2023</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Which method works best?</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r>
              <a:rPr lang="en-US" sz="1800" dirty="0">
                <a:solidFill>
                  <a:srgbClr val="E3F4EC"/>
                </a:solidFill>
              </a:rPr>
              <a:t>Accuracy on new plots · redundancy · stability · statistical tests · composite ranking</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What each method picks (10 features, all leaves, redundancy-controlled)</a:t>
            </a:r>
            <a:endParaRPr lang="en-US" sz="2500" dirty="0"/>
          </a:p>
        </p:txBody>
      </p:sp>
      <p:pic>
        <p:nvPicPr>
          <p:cNvPr id="3" name="Image 0" descr="FS14_selected_positions">    </p:cNvPr>
          <p:cNvPicPr>
            <a:picLocks noChangeAspect="1"/>
          </p:cNvPicPr>
          <p:nvPr/>
        </p:nvPicPr>
        <p:blipFill>
          <a:blip r:embed="rId1"/>
          <a:stretch>
            <a:fillRect/>
          </a:stretch>
        </p:blipFill>
        <p:spPr>
          <a:xfrm>
            <a:off x="793465" y="960120"/>
            <a:ext cx="10604765" cy="5349240"/>
          </a:xfrm>
          <a:prstGeom prst="rect">
            <a:avLst/>
          </a:prstGeom>
        </p:spPr>
      </p:pic>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Accuracy of 10 selected features on leaves of new plots</a:t>
            </a:r>
            <a:endParaRPr lang="en-US" sz="2500" dirty="0"/>
          </a:p>
        </p:txBody>
      </p:sp>
      <p:pic>
        <p:nvPicPr>
          <p:cNvPr id="3" name="Image 0" descr="FS05_accuracy_k10">    </p:cNvPr>
          <p:cNvPicPr>
            <a:picLocks noChangeAspect="1"/>
          </p:cNvPicPr>
          <p:nvPr/>
        </p:nvPicPr>
        <p:blipFill>
          <a:blip r:embed="rId1"/>
          <a:stretch>
            <a:fillRect/>
          </a:stretch>
        </p:blipFill>
        <p:spPr>
          <a:xfrm>
            <a:off x="523977" y="960120"/>
            <a:ext cx="5901485" cy="5303520"/>
          </a:xfrm>
          <a:prstGeom prst="rect">
            <a:avLst/>
          </a:prstGeom>
        </p:spPr>
      </p:pic>
      <p:sp>
        <p:nvSpPr>
          <p:cNvPr id="4" name="Text 1"/>
          <p:cNvSpPr txBox="1"/>
          <p:nvPr/>
        </p:nvSpPr>
        <p:spPr>
          <a:xfrm>
            <a:off x="6675120" y="1097280"/>
            <a:ext cx="5029200" cy="493776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With 10 features, SFFS (QDA) reaches 87.9 %, SVM-RFE 87.1 %, CARS 86.8 %, LASSO 85.4 %, ReliefF 84.9 % and the genetic algorithm 84.1 % (QDA balanced accuracy, mean of 20 held-out sets).</a:t>
            </a:r>
            <a:endParaRPr lang="en-US" sz="1300" dirty="0"/>
          </a:p>
          <a:p>
            <a:pPr marL="342900" indent="-342900">
              <a:spcAft>
                <a:spcPts val="600"/>
              </a:spcAft>
              <a:buSzPct val="100000"/>
              <a:buChar char="•"/>
            </a:pPr>
            <a:r>
              <a:rPr lang="en-US" sz="1300" dirty="0">
                <a:solidFill>
                  <a:srgbClr val="1B1B1A"/>
                </a:solidFill>
              </a:rPr>
              <a:t>Univariate filters stay at 78–81 % (ANOVA F 81.2 %, χ² 79.6 %, MI 77.8 %), as do the tree importances (RF 78.0 %, CART 77.8 %, gradient boosting 77.4 %) and Boruta (78.5 %). PLS-VIP, univariate J–M, SPA and the CWT scalogram fall to 67–72 %.</a:t>
            </a:r>
            <a:endParaRPr lang="en-US" sz="1300" dirty="0"/>
          </a:p>
          <a:p>
            <a:pPr marL="342900" indent="-342900">
              <a:spcAft>
                <a:spcPts val="600"/>
              </a:spcAft>
              <a:buSzPct val="100000"/>
              <a:buChar char="•"/>
            </a:pPr>
            <a:r>
              <a:rPr lang="en-US" sz="1300" dirty="0">
                <a:solidFill>
                  <a:srgbClr val="1B1B1A"/>
                </a:solidFill>
              </a:rPr>
              <a:t>With a Random Forest instead of QDA the differences shrink (75–87 %). The best RF results are on the SVM-RFE (87.2 %), RF-RFE (86.4 %) and LASSO (85.5 %) features.</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How many features are needed?</a:t>
            </a:r>
            <a:endParaRPr lang="en-US" sz="2500" dirty="0"/>
          </a:p>
        </p:txBody>
      </p:sp>
      <p:pic>
        <p:nvPicPr>
          <p:cNvPr id="3" name="Image 0" descr="FS04_ba_vs_k">    </p:cNvPr>
          <p:cNvPicPr>
            <a:picLocks noChangeAspect="1"/>
          </p:cNvPicPr>
          <p:nvPr/>
        </p:nvPicPr>
        <p:blipFill>
          <a:blip r:embed="rId1"/>
          <a:stretch>
            <a:fillRect/>
          </a:stretch>
        </p:blipFill>
        <p:spPr>
          <a:xfrm>
            <a:off x="1178526" y="960120"/>
            <a:ext cx="9834642" cy="3931920"/>
          </a:xfrm>
          <a:prstGeom prst="rect">
            <a:avLst/>
          </a:prstGeom>
        </p:spPr>
      </p:pic>
      <p:sp>
        <p:nvSpPr>
          <p:cNvPr id="4" name="Text 1"/>
          <p:cNvSpPr txBox="1"/>
          <p:nvPr/>
        </p:nvSpPr>
        <p:spPr>
          <a:xfrm>
            <a:off x="457200" y="4983480"/>
            <a:ext cx="11277295" cy="118872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Accuracy rises from 5 to 15 features and then levels off (SFFS 85.0 → 87.9 → 88.3 → 88.3 %; CARS 77.3 → 86.8 → 88.3 → 88.9 %). SFFS and SVM-RFE already exceed 84 % with five features; 10–15 features are enough.</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Redundancy control: skip near-duplicate features</a:t>
            </a:r>
            <a:endParaRPr lang="en-US" sz="2500" dirty="0"/>
          </a:p>
        </p:txBody>
      </p:sp>
      <p:pic>
        <p:nvPicPr>
          <p:cNvPr id="3" name="Image 0" descr="FS15_redundancy_control">    </p:cNvPr>
          <p:cNvPicPr>
            <a:picLocks noChangeAspect="1"/>
          </p:cNvPicPr>
          <p:nvPr/>
        </p:nvPicPr>
        <p:blipFill>
          <a:blip r:embed="rId1"/>
          <a:stretch>
            <a:fillRect/>
          </a:stretch>
        </p:blipFill>
        <p:spPr>
          <a:xfrm>
            <a:off x="457200" y="1508505"/>
            <a:ext cx="5486400" cy="4023870"/>
          </a:xfrm>
          <a:prstGeom prst="rect">
            <a:avLst/>
          </a:prstGeom>
        </p:spPr>
      </p:pic>
      <p:sp>
        <p:nvSpPr>
          <p:cNvPr id="4" name="Text 1"/>
          <p:cNvSpPr txBox="1"/>
          <p:nvPr/>
        </p:nvSpPr>
        <p:spPr>
          <a:xfrm>
            <a:off x="6217920" y="1097280"/>
            <a:ext cx="5486400" cy="493776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Top-ranked features of a univariate ranking are neighbouring bands of the same region (e.g. D1_848–D1_920) and carry almost the same information.</a:t>
            </a:r>
            <a:endParaRPr lang="en-US" sz="1300" dirty="0"/>
          </a:p>
          <a:p>
            <a:pPr marL="342900" indent="-342900">
              <a:spcAft>
                <a:spcPts val="600"/>
              </a:spcAft>
              <a:buSzPct val="100000"/>
              <a:buChar char="•"/>
            </a:pPr>
            <a:r>
              <a:rPr lang="en-US" sz="1300" dirty="0">
                <a:solidFill>
                  <a:srgbClr val="1B1B1A"/>
                </a:solidFill>
              </a:rPr>
              <a:t>Skipping a feature correlated |r| ≥ 0.95 with one already chosen raised accuracy for χ² (+6.1 points), ReliefF (+5.2), MC-UVE (+4.5), ANOVA F (+3.7), mutual information (+3.6) and RF importance (+2.9).</a:t>
            </a:r>
            <a:endParaRPr lang="en-US" sz="1300" dirty="0"/>
          </a:p>
          <a:p>
            <a:pPr marL="342900" indent="-342900">
              <a:spcAft>
                <a:spcPts val="600"/>
              </a:spcAft>
              <a:buSzPct val="100000"/>
              <a:buChar char="•"/>
            </a:pPr>
            <a:r>
              <a:rPr lang="en-US" sz="1300" dirty="0">
                <a:solidFill>
                  <a:srgbClr val="1B1B1A"/>
                </a:solidFill>
              </a:rPr>
              <a:t>Methods that already handle redundancy (SFFS, GA, SPA, CARS, LASSO) gain nothing. This agrees with Wei et al. (2021), where a minimum distance between selected wavelengths improved disease classification.</a:t>
            </a:r>
            <a:endParaRPr lang="en-US" sz="130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Wei et al. 2021 (minimum distance between selected wavelengths)</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Detector-join check: do selectors exploit bands next to the ASD joins?</a:t>
            </a:r>
            <a:endParaRPr lang="en-US" sz="2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583680" cy="914400"/>
        </p:xfrm>
        <a:graphic>
          <a:graphicData uri="http://schemas.openxmlformats.org/drawingml/2006/table">
            <a:tbl>
              <a:tblPr/>
              <a:tblGrid>
                <a:gridCol w="1828800"/>
                <a:gridCol w="1097280"/>
                <a:gridCol w="914400"/>
                <a:gridCol w="1097280"/>
                <a:gridCol w="822960"/>
                <a:gridCol w="822960"/>
              </a:tblGrid>
              <a:tr h="274320">
                <a:tc>
                  <a:txBody>
                    <a:bodyPr/>
                    <a:lstStyle/>
                    <a:p>
                      <a:pPr indent="0" marL="0">
                        <a:buNone/>
                      </a:pPr>
                      <a:r>
                        <a:rPr lang="en-US" sz="1000" b="1" dirty="0">
                          <a:solidFill>
                            <a:srgbClr val="FFFFFF"/>
                          </a:solidFill>
                        </a:rPr>
                        <a:t>Method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Near-join share</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QDA BA</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Join bands excluded</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Δ</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p</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SVM-RFE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18.0 %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87.1 %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85.6 %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LASSO</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15.0 %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85.4 %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82.2 %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CARS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86.8 %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82.2 %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-4.6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0.000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ReliefF</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11.0 %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84.9 %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83.9 %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-0.9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0.027</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PLS-VIP</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71.6 %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71.0 %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0.679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Consensus (Borda)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82.7 %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80.2 %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-2.5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0.002</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RF-RFE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78.9 %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78.4 %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-0.5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0.208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SPA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4.5 %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67.1 %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67.0 %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-0.2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0.441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MC-UVE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80.5 %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80.8 %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0.063</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 importance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77.8 %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77.6 %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0.310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1000" dirty="0">
                          <a:solidFill>
                            <a:srgbClr val="1B1B1A"/>
                          </a:solidFill>
                        </a:rPr>
                        <a:t>SFFS (QDA)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87.9 %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86.9 %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-1.1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0.121</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Boruta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3.0 %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78.5 %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77.7 %</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-0.8 pts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0.028</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Text 1"/>
          <p:cNvSpPr txBox="1"/>
          <p:nvPr/>
        </p:nvSpPr>
        <p:spPr>
          <a:xfrm>
            <a:off x="7223760" y="1097280"/>
            <a:ext cx="4480560" cy="4937760"/>
          </a:xfrm>
          <a:prstGeom prst="rect">
            <a:avLst/>
          </a:prstGeom>
          <a:noFill/>
          <a:ln/>
        </p:spPr>
        <p:txBody>
          <a:bodyPr wrap="square" rtlCol="0" anchor="t"/>
          <a:lstStyle/>
          <a:p>
            <a:pPr marL="342900" indent="-342900">
              <a:spcAft>
                <a:spcPts val="600"/>
              </a:spcAft>
              <a:buSzPct val="100000"/>
              <a:buChar char="•"/>
            </a:pPr>
            <a:r>
              <a:rPr lang="en-US" sz="1250" dirty="0">
                <a:solidFill>
                  <a:srgbClr val="1B1B1A"/>
                </a:solidFill>
              </a:rPr>
              <a:t>Linear-model selectors pick bands next to the ASD detector joins (≈ 1000 and 1800 nm) more often: SVM-RFE 18 % of its top-10 selections within 10 nm of a join, LASSO 15 %, CARS 13.5 %, ReliefF 11 % (univariate filters 0 %).</a:t>
            </a:r>
            <a:endParaRPr lang="en-US" sz="1250" dirty="0"/>
          </a:p>
          <a:p>
            <a:pPr marL="342900" indent="-342900">
              <a:spcAft>
                <a:spcPts val="600"/>
              </a:spcAft>
              <a:buSzPct val="100000"/>
              <a:buChar char="•"/>
            </a:pPr>
            <a:r>
              <a:rPr lang="en-US" sz="1250" dirty="0">
                <a:solidFill>
                  <a:srgbClr val="1B1B1A"/>
                </a:solidFill>
              </a:rPr>
              <a:t>Excluding such bands lowers CARS by 4.6 points (to 82.2 %), LASSO by 3.2 (to 82.2 %), the consensus by 2.5 and SVM-RFE by 1.5 (to 85.6 %). SFFS (QDA) loses only 1.1 points (not significant; 86.9 %).</a:t>
            </a:r>
            <a:endParaRPr lang="en-US" sz="1250" dirty="0"/>
          </a:p>
          <a:p>
            <a:pPr marL="342900" indent="-342900">
              <a:spcAft>
                <a:spcPts val="600"/>
              </a:spcAft>
              <a:buSzPct val="100000"/>
              <a:buChar char="•"/>
            </a:pPr>
            <a:r>
              <a:rPr lang="en-US" sz="1250" dirty="0">
                <a:solidFill>
                  <a:srgbClr val="1B1B1A"/>
                </a:solidFill>
              </a:rPr>
              <a:t>Part of the advantage of CARS and LASSO may therefore come from residual splice effects (or from the 970-nm water-band shoulder at 981 nm). SFFS (QDA) and SVM-RFE remain the best methods after this correction.</a:t>
            </a:r>
            <a:endParaRPr lang="en-US" sz="1250" dirty="0"/>
          </a:p>
        </p:txBody>
      </p:sp>
      <p:sp>
        <p:nvSpPr>
          <p:cNvPr id="5"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Guard zones 988–1012 and 1793–1837 nm (first derivative); see Part K of the main analysis</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Stable and informative: stability against accuracy</a:t>
            </a:r>
            <a:endParaRPr lang="en-US" sz="2500" dirty="0"/>
          </a:p>
        </p:txBody>
      </p:sp>
      <p:pic>
        <p:nvPicPr>
          <p:cNvPr id="3" name="Image 0" descr="FS06_stability_vs_accuracy">    </p:cNvPr>
          <p:cNvPicPr>
            <a:picLocks noChangeAspect="1"/>
          </p:cNvPicPr>
          <p:nvPr/>
        </p:nvPicPr>
        <p:blipFill>
          <a:blip r:embed="rId1"/>
          <a:stretch>
            <a:fillRect/>
          </a:stretch>
        </p:blipFill>
        <p:spPr>
          <a:xfrm>
            <a:off x="457200" y="971433"/>
            <a:ext cx="6766560" cy="4549373"/>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406640" y="1097280"/>
          <a:ext cx="4297680" cy="914400"/>
        </p:xfrm>
        <a:graphic>
          <a:graphicData uri="http://schemas.openxmlformats.org/drawingml/2006/table">
            <a:tbl>
              <a:tblPr/>
              <a:tblGrid>
                <a:gridCol w="1737360"/>
                <a:gridCol w="822960"/>
                <a:gridCol w="868680"/>
                <a:gridCol w="868680"/>
              </a:tblGrid>
              <a:tr h="246888">
                <a:tc>
                  <a:txBody>
                    <a:bodyPr/>
                    <a:lstStyle/>
                    <a:p>
                      <a:pPr indent="0" marL="0">
                        <a:buNone/>
                      </a:pPr>
                      <a:r>
                        <a:rPr lang="en-US" sz="950" b="1" dirty="0">
                          <a:solidFill>
                            <a:srgbClr val="FFFFFF"/>
                          </a:solidFill>
                        </a:rPr>
                        <a:t>Method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Kuncheva</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Jaccard exact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Jaccard ±10 nm</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46888">
                <a:tc>
                  <a:txBody>
                    <a:bodyPr/>
                    <a:lstStyle/>
                    <a:p>
                      <a:pPr indent="0" marL="0">
                        <a:buNone/>
                      </a:pPr>
                      <a:r>
                        <a:rPr lang="en-US" sz="950" dirty="0">
                          <a:solidFill>
                            <a:srgbClr val="1B1B1A"/>
                          </a:solidFill>
                        </a:rPr>
                        <a:t>ReliefF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0.84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J–M (univariate)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0.44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PLS-VIP</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RF importance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LASSO</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0.58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Chi-square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0.48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ANOVA 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0.41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0.27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SVM-RFE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0.41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Boruta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0.47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0.32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CWT scalogram</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Mutual information</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0.33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0.21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MC-UVE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0.47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5" name="Text 1"/>
          <p:cNvSpPr txBox="1"/>
          <p:nvPr/>
        </p:nvSpPr>
        <p:spPr>
          <a:xfrm>
            <a:off x="457200" y="5532120"/>
            <a:ext cx="11277295" cy="64008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Accuracy and stability trade off. Filters and penalised or importance-based methods are stable (ReliefF 0.84, univariate J–M 0.76, RF importance 0.73, LASSO 0.70, χ² 0.69, SVM-RFE 0.65); search-based wrappers are not (CARS 0.34, SFFS 0.24, GA 0.22) because many equally good feature combinations exist in collinear spectra.</a:t>
            </a:r>
            <a:endParaRPr lang="en-US" sz="1200" dirty="0"/>
          </a:p>
        </p:txBody>
      </p:sp>
      <p:sp>
        <p:nvSpPr>
          <p:cNvPr id="6"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Kuncheva 2007; Nogueira et al. 2018</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Are the differences between methods significant?</a:t>
            </a:r>
            <a:endParaRPr lang="en-US" sz="2500" dirty="0"/>
          </a:p>
        </p:txBody>
      </p:sp>
      <p:pic>
        <p:nvPicPr>
          <p:cNvPr id="3" name="Image 0" descr="FS07_cd_diagram">    </p:cNvPr>
          <p:cNvPicPr>
            <a:picLocks noChangeAspect="1"/>
          </p:cNvPicPr>
          <p:nvPr/>
        </p:nvPicPr>
        <p:blipFill>
          <a:blip r:embed="rId1"/>
          <a:stretch>
            <a:fillRect/>
          </a:stretch>
        </p:blipFill>
        <p:spPr>
          <a:xfrm>
            <a:off x="2518091" y="960120"/>
            <a:ext cx="7155514" cy="329184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6949440" cy="914400"/>
        </p:xfrm>
        <a:graphic>
          <a:graphicData uri="http://schemas.openxmlformats.org/drawingml/2006/table">
            <a:tbl>
              <a:tblPr/>
              <a:tblGrid>
                <a:gridCol w="2194560"/>
                <a:gridCol w="1463040"/>
                <a:gridCol w="1097280"/>
                <a:gridCol w="1188720"/>
                <a:gridCol w="731520"/>
              </a:tblGrid>
              <a:tr h="173736">
                <a:tc>
                  <a:txBody>
                    <a:bodyPr/>
                    <a:lstStyle/>
                    <a:p>
                      <a:pPr indent="0" marL="0">
                        <a:buNone/>
                      </a:pPr>
                      <a:r>
                        <a:rPr lang="en-US" sz="850" b="1" dirty="0">
                          <a:solidFill>
                            <a:srgbClr val="FFFFFF"/>
                          </a:solidFill>
                        </a:rPr>
                        <a:t>Other method</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Δ BA (best − other)</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Best better</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Holm p</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850" b="1" dirty="0">
                          <a:solidFill>
                            <a:srgbClr val="FFFFFF"/>
                          </a:solidFill>
                        </a:rPr>
                        <a:t>Sig.</a:t>
                      </a:r>
                      <a:endParaRPr lang="en-US" sz="8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173736">
                <a:tc>
                  <a:txBody>
                    <a:bodyPr/>
                    <a:lstStyle/>
                    <a:p>
                      <a:pPr indent="0" marL="0">
                        <a:buNone/>
                      </a:pPr>
                      <a:r>
                        <a:rPr lang="en-US" sz="850" dirty="0">
                          <a:solidFill>
                            <a:srgbClr val="1B1B1A"/>
                          </a:solidFill>
                        </a:rPr>
                        <a:t>Chi-square</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+8.3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73736">
                <a:tc>
                  <a:txBody>
                    <a:bodyPr/>
                    <a:lstStyle/>
                    <a:p>
                      <a:pPr indent="0" marL="0">
                        <a:buNone/>
                      </a:pPr>
                      <a:r>
                        <a:rPr lang="en-US" sz="850" dirty="0">
                          <a:solidFill>
                            <a:srgbClr val="1B1B1A"/>
                          </a:solidFill>
                        </a:rPr>
                        <a:t>Mutual information</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+10.2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73736">
                <a:tc>
                  <a:txBody>
                    <a:bodyPr/>
                    <a:lstStyle/>
                    <a:p>
                      <a:pPr indent="0" marL="0">
                        <a:buNone/>
                      </a:pPr>
                      <a:r>
                        <a:rPr lang="en-US" sz="850" dirty="0">
                          <a:solidFill>
                            <a:srgbClr val="1B1B1A"/>
                          </a:solidFill>
                        </a:rPr>
                        <a:t>mRMR</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+12.4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73736">
                <a:tc>
                  <a:txBody>
                    <a:bodyPr/>
                    <a:lstStyle/>
                    <a:p>
                      <a:pPr indent="0" marL="0">
                        <a:buNone/>
                      </a:pPr>
                      <a:r>
                        <a:rPr lang="en-US" sz="850" dirty="0">
                          <a:solidFill>
                            <a:srgbClr val="1B1B1A"/>
                          </a:solidFill>
                        </a:rPr>
                        <a:t>J–M (univariate)</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+18.2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73736">
                <a:tc>
                  <a:txBody>
                    <a:bodyPr/>
                    <a:lstStyle/>
                    <a:p>
                      <a:pPr indent="0" marL="0">
                        <a:buNone/>
                      </a:pPr>
                      <a:r>
                        <a:rPr lang="en-US" sz="850" dirty="0">
                          <a:solidFill>
                            <a:srgbClr val="1B1B1A"/>
                          </a:solidFill>
                        </a:rPr>
                        <a:t>SPA</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+20.8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173736">
                <a:tc>
                  <a:txBody>
                    <a:bodyPr/>
                    <a:lstStyle/>
                    <a:p>
                      <a:pPr indent="0" marL="0">
                        <a:buNone/>
                      </a:pPr>
                      <a:r>
                        <a:rPr lang="en-US" sz="850" dirty="0">
                          <a:solidFill>
                            <a:srgbClr val="1B1B1A"/>
                          </a:solidFill>
                        </a:rPr>
                        <a:t>RF importance</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+9.9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173736">
                <a:tc>
                  <a:txBody>
                    <a:bodyPr/>
                    <a:lstStyle/>
                    <a:p>
                      <a:pPr indent="0" marL="0">
                        <a:buNone/>
                      </a:pPr>
                      <a:r>
                        <a:rPr lang="en-US" sz="850" dirty="0">
                          <a:solidFill>
                            <a:srgbClr val="1B1B1A"/>
                          </a:solidFill>
                        </a:rPr>
                        <a:t>RF-RFE</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+9.1 pts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20/20</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4.0e-05</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850" dirty="0">
                          <a:solidFill>
                            <a:srgbClr val="1B1B1A"/>
                          </a:solidFill>
                        </a:rPr>
                        <a:t>yes</a:t>
                      </a:r>
                      <a:endParaRPr lang="en-US" sz="8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589520" y="4343400"/>
            <a:ext cx="4114800" cy="182880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Friedman test across the 22 distinct methods and 20 units: χ² = 333.4, p = 4.7 × 10⁻⁵⁸; Nemenyi critical difference 7.4 ranks.</a:t>
            </a:r>
            <a:endParaRPr lang="en-US" sz="1200" dirty="0"/>
          </a:p>
          <a:p>
            <a:pPr marL="342900" indent="-342900">
              <a:spcAft>
                <a:spcPts val="600"/>
              </a:spcAft>
              <a:buSzPct val="100000"/>
              <a:buChar char="•"/>
            </a:pPr>
            <a:r>
              <a:rPr lang="en-US" sz="1200" dirty="0">
                <a:solidFill>
                  <a:srgbClr val="1B1B1A"/>
                </a:solidFill>
              </a:rPr>
              <a:t>SFFS (QDA), SVM-RFE and CARS are not significantly different (Holm p = 0.55). Every other method is significantly less accurate than SFFS (Holm p ≤ 0.003).</a:t>
            </a:r>
            <a:endParaRPr lang="en-US" sz="1200" dirty="0"/>
          </a:p>
        </p:txBody>
      </p:sp>
      <p:sp>
        <p:nvSpPr>
          <p:cNvPr id="6" name="Text 2"/>
          <p:cNvSpPr txBox="1"/>
          <p:nvPr/>
        </p:nvSpPr>
        <p:spPr>
          <a:xfrm>
            <a:off x="457200" y="6126480"/>
            <a:ext cx="11277295" cy="320040"/>
          </a:xfrm>
          <a:prstGeom prst="rect">
            <a:avLst/>
          </a:prstGeom>
          <a:noFill/>
          <a:ln/>
        </p:spPr>
        <p:txBody>
          <a:bodyPr wrap="square" lIns="0" tIns="0" rIns="0" bIns="0" rtlCol="0" anchor="ctr"/>
          <a:lstStyle/>
          <a:p>
            <a:pPr indent="0" marL="0">
              <a:buNone/>
            </a:pPr>
            <a:r>
              <a:rPr lang="en-US" sz="1000" i="1" dirty="0">
                <a:solidFill>
                  <a:srgbClr val="52514E"/>
                </a:solidFill>
              </a:rPr>
              <a:t>References: Friedman 1937 via Demšar 2006 (Friedman–Nemenyi); Holm-corrected Wilcoxon tests</a:t>
            </a:r>
            <a:endParaRPr lang="en-US" sz="10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Composite ranking: accuracy, stability and separability together</a:t>
            </a:r>
            <a:endParaRPr lang="en-US" sz="2500" dirty="0"/>
          </a:p>
        </p:txBody>
      </p:sp>
      <p:pic>
        <p:nvPicPr>
          <p:cNvPr id="3" name="Image 0" descr="FS10_composite_ranking">    </p:cNvPr>
          <p:cNvPicPr>
            <a:picLocks noChangeAspect="1"/>
          </p:cNvPicPr>
          <p:nvPr/>
        </p:nvPicPr>
        <p:blipFill>
          <a:blip r:embed="rId1"/>
          <a:stretch>
            <a:fillRect/>
          </a:stretch>
        </p:blipFill>
        <p:spPr>
          <a:xfrm>
            <a:off x="457200" y="1707881"/>
            <a:ext cx="5120640" cy="3807997"/>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60720" y="1097280"/>
          <a:ext cx="5943600" cy="914400"/>
        </p:xfrm>
        <a:graphic>
          <a:graphicData uri="http://schemas.openxmlformats.org/drawingml/2006/table">
            <a:tbl>
              <a:tblPr/>
              <a:tblGrid>
                <a:gridCol w="320040"/>
                <a:gridCol w="1645920"/>
                <a:gridCol w="777240"/>
                <a:gridCol w="685800"/>
                <a:gridCol w="685800"/>
                <a:gridCol w="640080"/>
                <a:gridCol w="548640"/>
                <a:gridCol w="640080"/>
              </a:tblGrid>
              <a:tr h="274320">
                <a:tc>
                  <a:txBody>
                    <a:bodyPr/>
                    <a:lstStyle/>
                    <a:p>
                      <a:pPr indent="0" marL="0">
                        <a:buNone/>
                      </a:pPr>
                      <a:r>
                        <a:rPr lang="en-US" sz="950" b="1" dirty="0">
                          <a:solidFill>
                            <a:srgbClr val="FFFFFF"/>
                          </a:solidFill>
                        </a:rPr>
                        <a:t>#</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Method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Family</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QDA BA</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RF BA</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Stability</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J–M</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Mean rank</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B1B1A"/>
                          </a:solidFill>
                        </a:rPr>
                        <a:t>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SVM-RFE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Wrapper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87.1 %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87.2 %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0.65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1.56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4.0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r>
              <a:tr h="274320">
                <a:tc>
                  <a:txBody>
                    <a:bodyPr/>
                    <a:lstStyle/>
                    <a:p>
                      <a:pPr indent="0" marL="0">
                        <a:buNone/>
                      </a:pPr>
                      <a:r>
                        <a:rPr lang="en-US" sz="950" dirty="0">
                          <a:solidFill>
                            <a:srgbClr val="1B1B1A"/>
                          </a:solidFill>
                        </a:rPr>
                        <a:t>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LASSO</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Embedded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85.4 %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85.5 %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0.69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1.38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6.8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r>
              <a:tr h="274320">
                <a:tc>
                  <a:txBody>
                    <a:bodyPr/>
                    <a:lstStyle/>
                    <a:p>
                      <a:pPr indent="0" marL="0">
                        <a:buNone/>
                      </a:pPr>
                      <a:r>
                        <a:rPr lang="en-US" sz="950" dirty="0">
                          <a:solidFill>
                            <a:srgbClr val="1B1B1A"/>
                          </a:solidFill>
                        </a:rPr>
                        <a:t>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CARS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Wrapper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86.8 %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0.34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1.58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c>
                  <a:txBody>
                    <a:bodyPr/>
                    <a:lstStyle/>
                    <a:p>
                      <a:pPr indent="0" marL="0">
                        <a:buNone/>
                      </a:pPr>
                      <a:r>
                        <a:rPr lang="en-US" sz="950" dirty="0">
                          <a:solidFill>
                            <a:srgbClr val="1B1B1A"/>
                          </a:solidFill>
                        </a:rPr>
                        <a:t>8.0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E3F4EC"/>
                    </a:solidFill>
                  </a:tcPr>
                </a:tc>
              </a:tr>
              <a:tr h="274320">
                <a:tc>
                  <a:txBody>
                    <a:bodyPr/>
                    <a:lstStyle/>
                    <a:p>
                      <a:pPr indent="0" marL="0">
                        <a:buNone/>
                      </a:pPr>
                      <a:r>
                        <a:rPr lang="en-US" sz="950" dirty="0">
                          <a:solidFill>
                            <a:srgbClr val="1B1B1A"/>
                          </a:solidFill>
                        </a:rPr>
                        <a:t>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Consensus (Borda)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Ensemble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85.1 %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1.49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ReliefF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Filter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84.9 %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83.6 %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0.84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1.21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Boruta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Embedded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78.5 %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83.7 %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RF-RFE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Wrapper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86.4 %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0.52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1.50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Chi-square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Filter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79.6 %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1.45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9.8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RF importance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Embedded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78.0 %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82.6 %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1.43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10.5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10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J–M (univariate)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Filter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69.7 %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79.6 %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1.75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10.8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11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SFFS (QDA)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Wrapper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87.9 %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83.2 %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0.24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1.43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11.0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12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MC-UVE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Filter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80.5 %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82.6 %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1.28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Best selectors vs the four-tier sets (Das et al. 2020 approach, Part C)</a:t>
            </a:r>
            <a:endParaRPr lang="en-US" sz="2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7589520" cy="914400"/>
        </p:xfrm>
        <a:graphic>
          <a:graphicData uri="http://schemas.openxmlformats.org/drawingml/2006/table">
            <a:tbl>
              <a:tblPr/>
              <a:tblGrid>
                <a:gridCol w="1554480"/>
                <a:gridCol w="1463040"/>
                <a:gridCol w="914400"/>
                <a:gridCol w="1005840"/>
                <a:gridCol w="914400"/>
                <a:gridCol w="822960"/>
                <a:gridCol w="914400"/>
              </a:tblGrid>
              <a:tr h="246888">
                <a:tc>
                  <a:txBody>
                    <a:bodyPr/>
                    <a:lstStyle/>
                    <a:p>
                      <a:pPr indent="0" marL="0">
                        <a:buNone/>
                      </a:pPr>
                      <a:r>
                        <a:rPr lang="en-US" sz="950" b="1" dirty="0">
                          <a:solidFill>
                            <a:srgbClr val="FFFFFF"/>
                          </a:solidFill>
                        </a:rPr>
                        <a:t>Method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vs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Method BA</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Four-tier BA</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Δ</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Wins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p</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46888">
                <a:tc>
                  <a:txBody>
                    <a:bodyPr/>
                    <a:lstStyle/>
                    <a:p>
                      <a:pPr indent="0" marL="0">
                        <a:buNone/>
                      </a:pPr>
                      <a:r>
                        <a:rPr lang="en-US" sz="950" dirty="0">
                          <a:solidFill>
                            <a:srgbClr val="1B1B1A"/>
                          </a:solidFill>
                        </a:rPr>
                        <a:t>SFFS (QDA)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87.9 %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+9.6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19/20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SFFS (QDA)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87.9 %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+3.4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0.001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SVM-RFE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87.1 %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+8.9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20/20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SVM-RFE</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87.1 %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+2.6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0.004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CARS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86.8 %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20/20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CARS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86.8 %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+2.3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15/20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0.019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LASSO</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85.4 %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+7.1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19/20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LASSO</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85.4 %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+0.9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13/20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0.165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Consensus (Borda)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82.7 %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+4.4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16/20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Consensus (Borda)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82.7 %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-1.8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0.105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ReliefF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84.9 %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+6.6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18/20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ReliefF</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84.9 %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0.956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46888">
                <a:tc>
                  <a:txBody>
                    <a:bodyPr/>
                    <a:lstStyle/>
                    <a:p>
                      <a:pPr indent="0" marL="0">
                        <a:buNone/>
                      </a:pPr>
                      <a:r>
                        <a:rPr lang="en-US" sz="950" dirty="0">
                          <a:solidFill>
                            <a:srgbClr val="1B1B1A"/>
                          </a:solidFill>
                        </a:rPr>
                        <a:t>Boruta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Four-tier CART-13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78.3 %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+0.2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12/20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0.701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B1B1A"/>
                          </a:solidFill>
                        </a:rPr>
                        <a:t>Boruta</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Four-tier RF-17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78.5 %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84.5 %</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-6.0 pts</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0/20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0.000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4" name="Text 1"/>
          <p:cNvSpPr txBox="1"/>
          <p:nvPr/>
        </p:nvSpPr>
        <p:spPr>
          <a:xfrm>
            <a:off x="8229600" y="1097280"/>
            <a:ext cx="3474720" cy="4937760"/>
          </a:xfrm>
          <a:prstGeom prst="rect">
            <a:avLst/>
          </a:prstGeom>
          <a:noFill/>
          <a:ln/>
        </p:spPr>
        <p:txBody>
          <a:bodyPr wrap="square" rtlCol="0" anchor="t"/>
          <a:lstStyle/>
          <a:p>
            <a:pPr marL="342900" indent="-342900">
              <a:spcAft>
                <a:spcPts val="600"/>
              </a:spcAft>
              <a:buSzPct val="100000"/>
              <a:buChar char="•"/>
            </a:pPr>
            <a:r>
              <a:rPr lang="en-US" sz="1250" dirty="0">
                <a:solidFill>
                  <a:srgbClr val="1B1B1A"/>
                </a:solidFill>
              </a:rPr>
              <a:t>The four-tier analysis of Part C (CART-13: 78.3 %; RF-17: 84.5 % on the same 20 held-out sets) is beaten by SFFS (QDA) (+3.4 points vs RF-17, 15/20 sets, p = 0.001), SVM-RFE (+2.6, p = 0.004) and CARS (+2.3, p = 0.019).</a:t>
            </a:r>
            <a:endParaRPr lang="en-US" sz="1250" dirty="0"/>
          </a:p>
          <a:p>
            <a:pPr marL="342900" indent="-342900">
              <a:spcAft>
                <a:spcPts val="600"/>
              </a:spcAft>
              <a:buSzPct val="100000"/>
              <a:buChar char="•"/>
            </a:pPr>
            <a:r>
              <a:rPr lang="en-US" sz="1250" dirty="0">
                <a:solidFill>
                  <a:srgbClr val="1B1B1A"/>
                </a:solidFill>
              </a:rPr>
              <a:t>LASSO and ReliefF are equivalent to RF-17 (p = 0.17 and 0.96); Boruta's top-10 is 6.0 points worse (0/20, p &lt; 0.001). Against CART-13 every method in this table except Boruta gains 4–10 points.</a:t>
            </a:r>
            <a:endParaRPr lang="en-US" sz="12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Computing cost</a:t>
            </a:r>
            <a:endParaRPr lang="en-US" sz="2500" dirty="0"/>
          </a:p>
        </p:txBody>
      </p:sp>
      <p:pic>
        <p:nvPicPr>
          <p:cNvPr id="3" name="Image 0" descr="FS11_runtime">    </p:cNvPr>
          <p:cNvPicPr>
            <a:picLocks noChangeAspect="1"/>
          </p:cNvPicPr>
          <p:nvPr/>
        </p:nvPicPr>
        <p:blipFill>
          <a:blip r:embed="rId1"/>
          <a:stretch>
            <a:fillRect/>
          </a:stretch>
        </p:blipFill>
        <p:spPr>
          <a:xfrm>
            <a:off x="457200" y="1526684"/>
            <a:ext cx="6035040" cy="3987511"/>
          </a:xfrm>
          <a:prstGeom prst="rect">
            <a:avLst/>
          </a:prstGeom>
        </p:spPr>
      </p:pic>
      <p:sp>
        <p:nvSpPr>
          <p:cNvPr id="4" name="Text 1"/>
          <p:cNvSpPr txBox="1"/>
          <p:nvPr/>
        </p:nvSpPr>
        <p:spPr>
          <a:xfrm>
            <a:off x="6766560" y="1097280"/>
            <a:ext cx="4937760" cy="4572000"/>
          </a:xfrm>
          <a:prstGeom prst="rect">
            <a:avLst/>
          </a:prstGeom>
          <a:noFill/>
          <a:ln/>
        </p:spPr>
        <p:txBody>
          <a:bodyPr wrap="square" rtlCol="0" anchor="t"/>
          <a:lstStyle/>
          <a:p>
            <a:pPr marL="342900" indent="-342900">
              <a:spcAft>
                <a:spcPts val="600"/>
              </a:spcAft>
              <a:buSzPct val="100000"/>
              <a:buChar char="•"/>
            </a:pPr>
            <a:r>
              <a:rPr lang="en-US" sz="1300" dirty="0">
                <a:solidFill>
                  <a:srgbClr val="1B1B1A"/>
                </a:solidFill>
              </a:rPr>
              <a:t>Per training set (≈ 2000 leaves × 4150 features, one CPU core): univariate filters, χ², mRMR and the CWT scalogram ≤ 1 s; ReliefF 3 s; gradient boosting 4 s; GA 5 s; CARS 6 s; SFFS 10 s; RF importance 14 s; LASSO 17 s; SPA 17 s; MC-UVE 23 s; SVM-RFE 26 s; mutual information 28 s; PLS-VIP 30 s; RF-RFE 67 s; CART (with pruning by inner CV) 112 s; Boruta 304 s.</a:t>
            </a:r>
            <a:endParaRPr lang="en-US" sz="1300" dirty="0"/>
          </a:p>
          <a:p>
            <a:pPr marL="342900" indent="-342900">
              <a:spcAft>
                <a:spcPts val="600"/>
              </a:spcAft>
              <a:buSzPct val="100000"/>
              <a:buChar char="•"/>
            </a:pPr>
            <a:r>
              <a:rPr lang="en-US" sz="1300" dirty="0">
                <a:solidFill>
                  <a:srgbClr val="1B1B1A"/>
                </a:solidFill>
              </a:rPr>
              <a:t>SFFS and the GA are fast here only because they search a pre-filtered pool of 100 non-redundant candidates.</a:t>
            </a:r>
            <a:endParaRPr lang="en-US" sz="13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Stable, informative, disease-specific features</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r>
              <a:rPr lang="en-US" sz="1800" dirty="0">
                <a:solidFill>
                  <a:srgbClr val="E3F4EC"/>
                </a:solidFill>
              </a:rPr>
              <a:t>Features chosen by many methods in many training sets</a:t>
            </a: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Where the methods agree</a:t>
            </a:r>
            <a:endParaRPr lang="en-US" sz="2500" dirty="0"/>
          </a:p>
        </p:txBody>
      </p:sp>
      <p:pic>
        <p:nvPicPr>
          <p:cNvPr id="3" name="Image 0" descr="FS08_selection_frequency">    </p:cNvPr>
          <p:cNvPicPr>
            <a:picLocks noChangeAspect="1"/>
          </p:cNvPicPr>
          <p:nvPr/>
        </p:nvPicPr>
        <p:blipFill>
          <a:blip r:embed="rId1"/>
          <a:stretch>
            <a:fillRect/>
          </a:stretch>
        </p:blipFill>
        <p:spPr>
          <a:xfrm>
            <a:off x="2910809" y="960120"/>
            <a:ext cx="6370077" cy="5303520"/>
          </a:xfrm>
          <a:prstGeom prst="rect">
            <a:avLst/>
          </a:prstGeom>
        </p:spPr>
      </p:pic>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Consensus disease-specific features</a:t>
            </a:r>
            <a:endParaRPr lang="en-US" sz="2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949440" cy="914400"/>
        </p:xfrm>
        <a:graphic>
          <a:graphicData uri="http://schemas.openxmlformats.org/drawingml/2006/table">
            <a:tbl>
              <a:tblPr/>
              <a:tblGrid>
                <a:gridCol w="1828800"/>
                <a:gridCol w="1097280"/>
                <a:gridCol w="822960"/>
                <a:gridCol w="914400"/>
                <a:gridCol w="640080"/>
                <a:gridCol w="731520"/>
                <a:gridCol w="914400"/>
              </a:tblGrid>
              <a:tr h="274320">
                <a:tc>
                  <a:txBody>
                    <a:bodyPr/>
                    <a:lstStyle/>
                    <a:p>
                      <a:pPr indent="0" marL="0">
                        <a:buNone/>
                      </a:pPr>
                      <a:r>
                        <a:rPr lang="en-US" sz="950" b="1" dirty="0">
                          <a:solidFill>
                            <a:srgbClr val="FFFFFF"/>
                          </a:solidFill>
                        </a:rPr>
                        <a:t>Feature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Type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Consensus</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Methods ≥ 50 %</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AUC</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Diseased</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950" b="1" dirty="0">
                          <a:solidFill>
                            <a:srgbClr val="FFFFFF"/>
                          </a:solidFill>
                        </a:rPr>
                        <a:t>Note</a:t>
                      </a:r>
                      <a:endParaRPr lang="en-US" sz="95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B1B1A"/>
                          </a:solidFill>
                        </a:rPr>
                        <a:t>CR3 water 970 width</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K2 CR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0.765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lower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CR6 water 1940 position</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K2 CR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13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0.686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CR6 water 1940 symmetry</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K2 CR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0.48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10</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0.669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D1_1934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0.754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D1_898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0.36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0.758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D1_1915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0.32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0.701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lower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D1_1724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0.31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0.516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lower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complementary</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D1_848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0.25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0.785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D1_1792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0.25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0.591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next to join; complementary</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D1_2306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0.22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5</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0.563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lower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complementary</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D1_872</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0.19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0.786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D1_981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0.19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0.618</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next to join</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D1_911</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0.17</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0.733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A"/>
                          </a:solidFill>
                        </a:rPr>
                        <a:t>ARI</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K3 vegetation index</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0.16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0.646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274320">
                <a:tc>
                  <a:txBody>
                    <a:bodyPr/>
                    <a:lstStyle/>
                    <a:p>
                      <a:pPr indent="0" marL="0">
                        <a:buNone/>
                      </a:pPr>
                      <a:r>
                        <a:rPr lang="en-US" sz="950" dirty="0">
                          <a:solidFill>
                            <a:srgbClr val="1B1B1A"/>
                          </a:solidFill>
                        </a:rPr>
                        <a:t>D1_2223</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K4 D1 band</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0.16</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4</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0.639</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B1B1A"/>
                          </a:solidFill>
                        </a:rPr>
                        <a:t>higher</a:t>
                      </a: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95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589520" y="1097280"/>
            <a:ext cx="4114800" cy="5029200"/>
          </a:xfrm>
          <a:prstGeom prst="rect">
            <a:avLst/>
          </a:prstGeom>
          <a:noFill/>
          <a:ln/>
        </p:spPr>
        <p:txBody>
          <a:bodyPr wrap="square" rtlCol="0" anchor="t"/>
          <a:lstStyle/>
          <a:p>
            <a:pPr marL="342900" indent="-342900">
              <a:spcAft>
                <a:spcPts val="600"/>
              </a:spcAft>
              <a:buSzPct val="100000"/>
              <a:buChar char="•"/>
            </a:pPr>
            <a:r>
              <a:rPr lang="en-US" sz="1150" dirty="0">
                <a:solidFill>
                  <a:srgbClr val="1B1B1A"/>
                </a:solidFill>
              </a:rPr>
              <a:t>The width of the 970-nm water feature (CR3) is the most universal disease feature: 17 of 21 methods choose it in at least half of the training sets (consensus 0.78; AUC 0.77; narrower in diseased leaves). Next come the 1940-nm water feature position (0.59; 13 methods; shifted to longer wavelengths in diseased leaves) and symmetry (0.48; 10 methods).</a:t>
            </a:r>
            <a:endParaRPr lang="en-US" sz="1150" dirty="0"/>
          </a:p>
          <a:p>
            <a:pPr marL="342900" indent="-342900">
              <a:spcAft>
                <a:spcPts val="600"/>
              </a:spcAft>
              <a:buSzPct val="100000"/>
              <a:buChar char="•"/>
            </a:pPr>
            <a:r>
              <a:rPr lang="en-US" sz="1150" dirty="0">
                <a:solidFill>
                  <a:srgbClr val="1B1B1A"/>
                </a:solidFill>
              </a:rPr>
              <a:t>Derivative bands follow: D1_1934 (0.37) and D1_1915 (0.32) on the 1940-nm water band wing, and D1_898 (0.36), D1_848 (0.25), D1_872 and D1_911 across the NIR plateau.</a:t>
            </a:r>
            <a:endParaRPr lang="en-US" sz="1150" dirty="0"/>
          </a:p>
          <a:p>
            <a:pPr marL="342900" indent="-342900">
              <a:spcAft>
                <a:spcPts val="600"/>
              </a:spcAft>
              <a:buSzPct val="100000"/>
              <a:buChar char="•"/>
            </a:pPr>
            <a:r>
              <a:rPr lang="en-US" sz="1150" dirty="0">
                <a:solidFill>
                  <a:srgbClr val="1B1B1A"/>
                </a:solidFill>
              </a:rPr>
              <a:t>D1_1724, D1_2306 and D1_1792 are weak on their own (AUC &lt; 0.60) but complementary in multivariate sets. D1_1792 and D1_981 lie within 10 nm of a detector join and need caution.</a:t>
            </a:r>
            <a:endParaRPr lang="en-US" sz="1150" dirty="0"/>
          </a:p>
          <a:p>
            <a:pPr marL="342900" indent="-342900">
              <a:spcAft>
                <a:spcPts val="600"/>
              </a:spcAft>
              <a:buSzPct val="100000"/>
              <a:buChar char="•"/>
            </a:pPr>
            <a:r>
              <a:rPr lang="en-US" sz="1150" dirty="0">
                <a:solidFill>
                  <a:srgbClr val="1B1B1A"/>
                </a:solidFill>
              </a:rPr>
              <a:t>A 10-feature consensus set gives J–M 1.60 and 82.2 % (Das protocol). The honest in-fold Borda consensus reaches 82.7 % on new plots — a consensus is stable and interpretable, but not more accurate than the best single method.</a:t>
            </a:r>
            <a:endParaRPr lang="en-US" sz="11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Consensus features on the healthy and diseased spectra</a:t>
            </a:r>
            <a:endParaRPr lang="en-US" sz="2500" dirty="0"/>
          </a:p>
        </p:txBody>
      </p:sp>
      <p:pic>
        <p:nvPicPr>
          <p:cNvPr id="3" name="Image 0" descr="FS09_consensus_on_spectrum">    </p:cNvPr>
          <p:cNvPicPr>
            <a:picLocks noChangeAspect="1"/>
          </p:cNvPicPr>
          <p:nvPr/>
        </p:nvPicPr>
        <p:blipFill>
          <a:blip r:embed="rId1"/>
          <a:stretch>
            <a:fillRect/>
          </a:stretch>
        </p:blipFill>
        <p:spPr>
          <a:xfrm>
            <a:off x="457200" y="1788805"/>
            <a:ext cx="7680960" cy="3554709"/>
          </a:xfrm>
          <a:prstGeom prst="rect">
            <a:avLst/>
          </a:prstGeom>
        </p:spPr>
      </p:pic>
      <p:sp>
        <p:nvSpPr>
          <p:cNvPr id="4" name="Text 1"/>
          <p:cNvSpPr txBox="1"/>
          <p:nvPr/>
        </p:nvSpPr>
        <p:spPr>
          <a:xfrm>
            <a:off x="8321040" y="1097280"/>
            <a:ext cx="3383280" cy="5029200"/>
          </a:xfrm>
          <a:prstGeom prst="rect">
            <a:avLst/>
          </a:prstGeom>
          <a:noFill/>
          <a:ln/>
        </p:spPr>
        <p:txBody>
          <a:bodyPr wrap="square" rtlCol="0" anchor="t"/>
          <a:lstStyle/>
          <a:p>
            <a:pPr marL="342900" indent="-342900">
              <a:spcAft>
                <a:spcPts val="600"/>
              </a:spcAft>
              <a:buSzPct val="100000"/>
              <a:buChar char="•"/>
            </a:pPr>
            <a:r>
              <a:rPr lang="en-US" sz="1200" dirty="0">
                <a:solidFill>
                  <a:srgbClr val="1B1B1A"/>
                </a:solidFill>
              </a:rPr>
              <a:t>970 and 1940 nm: liquid-water absorption. White rust pustules rupture the epidermis and disturb leaf water status, changing the depth, width and shape of the water bands.</a:t>
            </a:r>
            <a:endParaRPr lang="en-US" sz="1200" dirty="0"/>
          </a:p>
          <a:p>
            <a:pPr marL="342900" indent="-342900">
              <a:spcAft>
                <a:spcPts val="600"/>
              </a:spcAft>
              <a:buSzPct val="100000"/>
              <a:buChar char="•"/>
            </a:pPr>
            <a:r>
              <a:rPr lang="en-US" sz="1200" dirty="0">
                <a:solidFill>
                  <a:srgbClr val="1B1B1A"/>
                </a:solidFill>
              </a:rPr>
              <a:t>848–911 nm (first derivative): slope of the NIR plateau, set by mesophyll scattering. Hyphae and pustules alter the internal leaf structure.</a:t>
            </a:r>
            <a:endParaRPr lang="en-US" sz="1200" dirty="0"/>
          </a:p>
          <a:p>
            <a:pPr marL="342900" indent="-342900">
              <a:spcAft>
                <a:spcPts val="600"/>
              </a:spcAft>
              <a:buSzPct val="100000"/>
              <a:buChar char="•"/>
            </a:pPr>
            <a:r>
              <a:rPr lang="en-US" sz="1200" dirty="0">
                <a:solidFill>
                  <a:srgbClr val="1B1B1A"/>
                </a:solidFill>
              </a:rPr>
              <a:t>1724 and 2223–2306 nm: C–H, lignin, cellulose and protein (dry-matter) absorption. These are complementary rather than strong on their own.</a:t>
            </a:r>
            <a:endParaRPr lang="en-US" sz="1200" dirty="0"/>
          </a:p>
          <a:p>
            <a:pPr marL="342900" indent="-342900">
              <a:spcAft>
                <a:spcPts val="600"/>
              </a:spcAft>
              <a:buSzPct val="100000"/>
              <a:buChar char="•"/>
            </a:pPr>
            <a:r>
              <a:rPr lang="en-US" sz="1200" dirty="0">
                <a:solidFill>
                  <a:srgbClr val="1B1B1A"/>
                </a:solidFill>
              </a:rPr>
              <a:t>ARI: anthocyanins accumulate in stressed, infected leaves.</a:t>
            </a:r>
            <a:endParaRPr lang="en-US" sz="12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77295"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3" name="Text 0"/>
          <p:cNvSpPr/>
          <p:nvPr>
            <p:ph idx="101" type="body" hasCustomPrompt="1"/>
          </p:nvPr>
        </p:nvSpPr>
        <p:spPr>
          <a:xfrm>
            <a:off x="457200" y="3566160"/>
            <a:ext cx="11277295" cy="164592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68735"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B5D6C3"/>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Conclusions</a:t>
            </a:r>
            <a:endParaRPr lang="en-US" sz="2500" dirty="0"/>
          </a:p>
        </p:txBody>
      </p:sp>
      <p:sp>
        <p:nvSpPr>
          <p:cNvPr id="3" name="Text 1"/>
          <p:cNvSpPr txBox="1"/>
          <p:nvPr/>
        </p:nvSpPr>
        <p:spPr>
          <a:xfrm>
            <a:off x="457200" y="1097280"/>
            <a:ext cx="11277295" cy="512064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For discriminating healthy and white-rust leaves from the K1–K4 feature pool, wrapper methods that search for complementary features — SFFS with a QDA criterion, SVM-RFE and CARS — give the most accurate compact feature sets (≈ 87–88 % with 10 features on new plots), significantly better than univariate filters (78–81 %) and tree importances (77–79 %).</a:t>
            </a:r>
            <a:endParaRPr lang="en-US" sz="1400" dirty="0"/>
          </a:p>
          <a:p>
            <a:pPr marL="342900" indent="-342900">
              <a:spcAft>
                <a:spcPts val="600"/>
              </a:spcAft>
              <a:buSzPct val="100000"/>
              <a:buChar char="•"/>
            </a:pPr>
            <a:r>
              <a:rPr lang="en-US" sz="1400" dirty="0">
                <a:solidFill>
                  <a:srgbClr val="1B1B1A"/>
                </a:solidFill>
              </a:rPr>
              <a:t>SVM-RFE is the best all-round method (composite rank 1): it is as accurate as SFFS, accurate with both QDA and RF, more stable than the other wrappers, and robust to the detector-join check (85.6 % after excluding join-adjacent bands).</a:t>
            </a:r>
            <a:endParaRPr lang="en-US" sz="1400" dirty="0"/>
          </a:p>
          <a:p>
            <a:pPr marL="342900" indent="-342900">
              <a:spcAft>
                <a:spcPts val="600"/>
              </a:spcAft>
              <a:buSzPct val="100000"/>
              <a:buChar char="•"/>
            </a:pPr>
            <a:r>
              <a:rPr lang="en-US" sz="1400" dirty="0">
                <a:solidFill>
                  <a:srgbClr val="1B1B1A"/>
                </a:solidFill>
              </a:rPr>
              <a:t>ReliefF, LASSO and RF importance are the most stable selectors; ReliefF combines high stability (0.84) with good accuracy (84.9 %) and is the best filter.</a:t>
            </a:r>
            <a:endParaRPr lang="en-US" sz="1400" dirty="0"/>
          </a:p>
          <a:p>
            <a:pPr marL="342900" indent="-342900">
              <a:spcAft>
                <a:spcPts val="600"/>
              </a:spcAft>
              <a:buSzPct val="100000"/>
              <a:buChar char="•"/>
            </a:pPr>
            <a:r>
              <a:rPr lang="en-US" sz="1400" dirty="0">
                <a:solidFill>
                  <a:srgbClr val="1B1B1A"/>
                </a:solidFill>
              </a:rPr>
              <a:t>Univariate rankings (Pearson r = ANOVA F = Fisher score for two classes, χ², MI) must be combined with redundancy control; J–M-driven selection, SPA, PLS-VIP top-k and the CWT scalogram are not suitable for this dataset.</a:t>
            </a:r>
            <a:endParaRPr lang="en-US" sz="1400" dirty="0"/>
          </a:p>
          <a:p>
            <a:pPr marL="342900" indent="-342900">
              <a:spcAft>
                <a:spcPts val="600"/>
              </a:spcAft>
              <a:buSzPct val="100000"/>
              <a:buChar char="•"/>
            </a:pPr>
            <a:r>
              <a:rPr lang="en-US" sz="1400" dirty="0">
                <a:solidFill>
                  <a:srgbClr val="1B1B1A"/>
                </a:solidFill>
              </a:rPr>
              <a:t>Boruta, MC-UVE and PLS-VIP (VIP &gt; 1) are screening tools: they keep about 120 (Boruta) to 1300–1400 (PLS-VIP, MC-UVE) relevant features rather than a compact set.</a:t>
            </a:r>
            <a:endParaRPr lang="en-US" sz="1400" dirty="0"/>
          </a:p>
          <a:p>
            <a:pPr marL="342900" indent="-342900">
              <a:spcAft>
                <a:spcPts val="600"/>
              </a:spcAft>
              <a:buSzPct val="100000"/>
              <a:buChar char="•"/>
            </a:pPr>
            <a:r>
              <a:rPr lang="en-US" sz="1400" dirty="0">
                <a:solidFill>
                  <a:srgbClr val="1B1B1A"/>
                </a:solidFill>
              </a:rPr>
              <a:t>The stable disease-specific signature of white rust is the leaf-water signal — 970-nm band width and 1940-nm band position and symmetry, with derivative bands at 1915–1934 nm — together with the NIR-plateau slope at 848–911 nm. Dry-matter bands (1724, 2223–2306 nm) and ARI add complementary information.</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Recommendations: which method to use</a:t>
            </a:r>
            <a:endParaRPr lang="en-US" sz="2500" dirty="0"/>
          </a:p>
        </p:txBody>
      </p:sp>
      <p:sp>
        <p:nvSpPr>
          <p:cNvPr id="3" name="Text 1"/>
          <p:cNvSpPr txBox="1"/>
          <p:nvPr/>
        </p:nvSpPr>
        <p:spPr>
          <a:xfrm>
            <a:off x="457200" y="1097280"/>
            <a:ext cx="11277295" cy="5120640"/>
          </a:xfrm>
          <a:prstGeom prst="rect">
            <a:avLst/>
          </a:prstGeom>
          <a:noFill/>
          <a:ln/>
        </p:spPr>
        <p:txBody>
          <a:bodyPr wrap="square" rtlCol="0" anchor="t"/>
          <a:lstStyle/>
          <a:p>
            <a:pPr marL="342900" indent="-342900">
              <a:spcAft>
                <a:spcPts val="600"/>
              </a:spcAft>
              <a:buSzPct val="100000"/>
              <a:buChar char="•"/>
            </a:pPr>
            <a:r>
              <a:rPr lang="en-US" sz="1400" dirty="0">
                <a:solidFill>
                  <a:srgbClr val="1B1B1A"/>
                </a:solidFill>
              </a:rPr>
              <a:t>Use SVM-RFE (linear SVM, balanced weights) with redundancy control as the main selector for this dataset. Report SFFS (QDA) and CARS as equally accurate alternatives, and give their selection frequencies because their exact feature sets are unstable.</a:t>
            </a:r>
            <a:endParaRPr lang="en-US" sz="1400" dirty="0"/>
          </a:p>
          <a:p>
            <a:pPr marL="342900" indent="-342900">
              <a:spcAft>
                <a:spcPts val="600"/>
              </a:spcAft>
              <a:buSzPct val="100000"/>
              <a:buChar char="•"/>
            </a:pPr>
            <a:r>
              <a:rPr lang="en-US" sz="1400" dirty="0">
                <a:solidFill>
                  <a:srgbClr val="1B1B1A"/>
                </a:solidFill>
              </a:rPr>
              <a:t>For interpretation and sensor design, use the consensus features (CR3 970-nm width, CR6 1940-nm position and symmetry, D1 1915–1934 nm, D1 848–911 nm) or ReliefF, which are reproducible across training sets.</a:t>
            </a:r>
            <a:endParaRPr lang="en-US" sz="1400" dirty="0"/>
          </a:p>
          <a:p>
            <a:pPr marL="342900" indent="-342900">
              <a:spcAft>
                <a:spcPts val="600"/>
              </a:spcAft>
              <a:buSzPct val="100000"/>
              <a:buChar char="•"/>
            </a:pPr>
            <a:r>
              <a:rPr lang="en-US" sz="1400" dirty="0">
                <a:solidFill>
                  <a:srgbClr val="1B1B1A"/>
                </a:solidFill>
              </a:rPr>
              <a:t>Always select features inside the training data only, evaluate on new plots, and report accuracy together with stability (Jaccard or Kuncheva) and a Friedman–Nemenyi comparison.</a:t>
            </a:r>
            <a:endParaRPr lang="en-US" sz="1400" dirty="0"/>
          </a:p>
          <a:p>
            <a:pPr marL="342900" indent="-342900">
              <a:spcAft>
                <a:spcPts val="600"/>
              </a:spcAft>
              <a:buSzPct val="100000"/>
              <a:buChar char="•"/>
            </a:pPr>
            <a:r>
              <a:rPr lang="en-US" sz="1400" dirty="0">
                <a:solidFill>
                  <a:srgbClr val="1B1B1A"/>
                </a:solidFill>
              </a:rPr>
              <a:t>Apply a redundancy rule (|r| &lt; 0.95, or a minimum spectral distance) to any ranking-based method, and exclude or flag bands within 10 nm of the detector joins.</a:t>
            </a:r>
            <a:endParaRPr lang="en-US" sz="1400" dirty="0"/>
          </a:p>
          <a:p>
            <a:pPr marL="342900" indent="-342900">
              <a:spcAft>
                <a:spcPts val="600"/>
              </a:spcAft>
              <a:buSzPct val="100000"/>
              <a:buChar char="•"/>
            </a:pPr>
            <a:r>
              <a:rPr lang="en-US" sz="1400" dirty="0">
                <a:solidFill>
                  <a:srgbClr val="1B1B1A"/>
                </a:solidFill>
              </a:rPr>
              <a:t>Use Boruta or MC-UVE as a first screening step and a wrapper (SFFS or RFE) for the final compact set, as Mustafa et al. (2023) did with Boruta followed by SFFS.</a:t>
            </a:r>
            <a:endParaRPr lang="en-US" sz="140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Quality control: implementation checks</a:t>
            </a:r>
            <a:endParaRPr lang="en-US" sz="25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7295" cy="914400"/>
        </p:xfrm>
        <a:graphic>
          <a:graphicData uri="http://schemas.openxmlformats.org/drawingml/2006/table">
            <a:tbl>
              <a:tblPr/>
              <a:tblGrid>
                <a:gridCol w="6400800"/>
                <a:gridCol w="4023360"/>
                <a:gridCol w="822960"/>
              </a:tblGrid>
              <a:tr h="329184">
                <a:tc>
                  <a:txBody>
                    <a:bodyPr/>
                    <a:lstStyle/>
                    <a:p>
                      <a:pPr indent="0" marL="0">
                        <a:buNone/>
                      </a:pPr>
                      <a:r>
                        <a:rPr lang="en-US" sz="1000" b="1" dirty="0">
                          <a:solidFill>
                            <a:srgbClr val="FFFFFF"/>
                          </a:solidFill>
                        </a:rPr>
                        <a:t>Check</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Result</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Status</a:t>
                      </a:r>
                      <a:endParaRPr lang="en-US" sz="1000" dirty="0"/>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D2B"/>
                    </a:solidFill>
                  </a:tcPr>
                </a:tc>
              </a:tr>
              <a:tr h="329184">
                <a:tc>
                  <a:txBody>
                    <a:bodyPr/>
                    <a:lstStyle/>
                    <a:p>
                      <a:pPr indent="0" marL="0">
                        <a:buNone/>
                      </a:pPr>
                      <a:r>
                        <a:rPr lang="en-US" sz="1000" dirty="0">
                          <a:solidFill>
                            <a:srgbClr val="1B1B1A"/>
                          </a:solidFill>
                        </a:rPr>
                        <a:t>Pearson |r|, ANOVA F and Fisher score rank features identically (two classes: r² = F/(F+n−2), F</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min ρ = 1.000000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ANOVA F implementation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max relative Δ = 5.5e-07 (floating-point level)</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Chi-square implementation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361.3849 vs 361.3849</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J–M used by SFFS (J–M) and the evaluation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|Δ| = 3.5e-14</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Fast QDA used inside SFFS / GA</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100.00 % identical predictions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PLS-VIP normalisation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1.000000</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SPA chain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identical</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No plot in both training and test leaves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0 shared plots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r h="329184">
                <a:tc>
                  <a:txBody>
                    <a:bodyPr/>
                    <a:lstStyle/>
                    <a:p>
                      <a:pPr indent="0" marL="0">
                        <a:buNone/>
                      </a:pPr>
                      <a:r>
                        <a:rPr lang="en-US" sz="1000" dirty="0">
                          <a:solidFill>
                            <a:srgbClr val="1B1B1A"/>
                          </a:solidFill>
                        </a:rPr>
                        <a:t>CWT implementation</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best scale 16 nm</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B1B1A"/>
                          </a:solidFill>
                        </a:rPr>
                        <a:t>Boruta convergence</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192 / 201 / 3757 after 100 runs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c>
                  <a:txBody>
                    <a:bodyPr/>
                    <a:lstStyle/>
                    <a:p>
                      <a:pPr indent="0" marL="0">
                        <a:buNone/>
                      </a:pPr>
                      <a:r>
                        <a:rPr lang="en-US" sz="1000" dirty="0">
                          <a:solidFill>
                            <a:srgbClr val="1B1B1A"/>
                          </a:solidFill>
                        </a:rPr>
                        <a:t>PASS</a:t>
                      </a:r>
                      <a:endParaRPr lang="en-US" sz="1000" dirty="0"/>
                    </a:p>
                  </a:txBody>
                  <a:tcPr marL="36576" marR="36576" marT="36576" marB="36576">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References (1/4)</a:t>
            </a:r>
            <a:endParaRPr lang="en-US" sz="25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050" dirty="0">
                <a:solidFill>
                  <a:srgbClr val="1B1B1A"/>
                </a:solidFill>
              </a:rPr>
              <a:t>Abdulridha J, Min A, Rouse MN, Kianian S, Isler V, Yang C. 2023. Evaluation of stem rust disease in wheat fields by drone hyperspectral imaging. Sensors 23(8):4154. doi:10.3390/s23084154</a:t>
            </a:r>
            <a:endParaRPr lang="en-US" sz="1050" dirty="0"/>
          </a:p>
          <a:p>
            <a:pPr marL="342900" indent="-342900">
              <a:spcAft>
                <a:spcPts val="600"/>
              </a:spcAft>
              <a:buSzPct val="100000"/>
              <a:buChar char="•"/>
            </a:pPr>
            <a:r>
              <a:rPr lang="en-US" sz="1050" dirty="0">
                <a:solidFill>
                  <a:srgbClr val="1B1B1A"/>
                </a:solidFill>
              </a:rPr>
              <a:t>Ambroise C, McLachlan GJ. 2002. Selection bias in gene extraction on the basis of microarray gene-expression data. Proceedings of the National Academy of Sciences 99:6562–6566.</a:t>
            </a:r>
            <a:endParaRPr lang="en-US" sz="1050" dirty="0"/>
          </a:p>
          <a:p>
            <a:pPr marL="342900" indent="-342900">
              <a:spcAft>
                <a:spcPts val="600"/>
              </a:spcAft>
              <a:buSzPct val="100000"/>
              <a:buChar char="•"/>
            </a:pPr>
            <a:r>
              <a:rPr lang="en-US" sz="1050" dirty="0">
                <a:solidFill>
                  <a:srgbClr val="1B1B1A"/>
                </a:solidFill>
              </a:rPr>
              <a:t>Araújo MCU, Saldanha TCB, Galvão RKH, Yoneyama T, Chame HC, Visani V. 2001. The successive projections algorithm for variable selection in spectroscopic multicomponent analysis. Chemometrics and Intelligent Laboratory Systems 57(2):65–73.</a:t>
            </a:r>
            <a:endParaRPr lang="en-US" sz="1050" dirty="0"/>
          </a:p>
          <a:p>
            <a:pPr marL="342900" indent="-342900">
              <a:spcAft>
                <a:spcPts val="600"/>
              </a:spcAft>
              <a:buSzPct val="100000"/>
              <a:buChar char="•"/>
            </a:pPr>
            <a:r>
              <a:rPr lang="en-US" sz="1050" dirty="0">
                <a:solidFill>
                  <a:srgbClr val="1B1B1A"/>
                </a:solidFill>
              </a:rPr>
              <a:t>Breiman L, Friedman JH, Olshen RA, Stone CJ. 1984. Classification and regression trees. Belmont (CA): Wadsworth.</a:t>
            </a:r>
            <a:endParaRPr lang="en-US" sz="1050" dirty="0"/>
          </a:p>
          <a:p>
            <a:pPr marL="342900" indent="-342900">
              <a:spcAft>
                <a:spcPts val="600"/>
              </a:spcAft>
              <a:buSzPct val="100000"/>
              <a:buChar char="•"/>
            </a:pPr>
            <a:r>
              <a:rPr lang="en-US" sz="1050" dirty="0">
                <a:solidFill>
                  <a:srgbClr val="1B1B1A"/>
                </a:solidFill>
              </a:rPr>
              <a:t>Breiman L. 2001. Random forests. Machine Learning 45:5–32.</a:t>
            </a:r>
            <a:endParaRPr lang="en-US" sz="1050" dirty="0"/>
          </a:p>
          <a:p>
            <a:pPr marL="342900" indent="-342900">
              <a:spcAft>
                <a:spcPts val="600"/>
              </a:spcAft>
              <a:buSzPct val="100000"/>
              <a:buChar char="•"/>
            </a:pPr>
            <a:r>
              <a:rPr lang="en-US" sz="1050" dirty="0">
                <a:solidFill>
                  <a:srgbClr val="1B1B1A"/>
                </a:solidFill>
              </a:rPr>
              <a:t>Cai W, Li Y, Shao X. 2008. A variable selection method based on uninformative variable elimination for multivariate calibration of near-infrared spectra. Chemometrics and Intelligent Laboratory Systems 90(2):188–194.</a:t>
            </a:r>
            <a:endParaRPr lang="en-US" sz="1050" dirty="0"/>
          </a:p>
          <a:p>
            <a:pPr marL="342900" indent="-342900">
              <a:spcAft>
                <a:spcPts val="600"/>
              </a:spcAft>
              <a:buSzPct val="100000"/>
              <a:buChar char="•"/>
            </a:pPr>
            <a:r>
              <a:rPr lang="en-US" sz="1050" dirty="0">
                <a:solidFill>
                  <a:srgbClr val="1B1B1A"/>
                </a:solidFill>
              </a:rPr>
              <a:t>Centner V, Massart D-L, de Noord OE, de Jong S, Vandeginste BM, Sterna C. 1996. Elimination of uninformative variables for multivariate calibration. Analytical Chemistry 68(21):3851–3858.</a:t>
            </a:r>
            <a:endParaRPr lang="en-US" sz="1050" dirty="0"/>
          </a:p>
          <a:p>
            <a:pPr marL="342900" indent="-342900">
              <a:spcAft>
                <a:spcPts val="600"/>
              </a:spcAft>
              <a:buSzPct val="100000"/>
              <a:buChar char="•"/>
            </a:pPr>
            <a:r>
              <a:rPr lang="en-US" sz="1050" dirty="0">
                <a:solidFill>
                  <a:srgbClr val="1B1B1A"/>
                </a:solidFill>
              </a:rPr>
              <a:t>Chen C, Liaw A, Breiman L. 2004. Using random forest to learn imbalanced data. Technical Report 666, Department of Statistics, University of California, Berkeley.</a:t>
            </a:r>
            <a:endParaRPr lang="en-US" sz="1050" dirty="0"/>
          </a:p>
          <a:p>
            <a:pPr marL="342900" indent="-342900">
              <a:spcAft>
                <a:spcPts val="600"/>
              </a:spcAft>
              <a:buSzPct val="100000"/>
              <a:buChar char="•"/>
            </a:pPr>
            <a:r>
              <a:rPr lang="en-US" sz="1050" dirty="0">
                <a:solidFill>
                  <a:srgbClr val="1B1B1A"/>
                </a:solidFill>
              </a:rPr>
              <a:t>Chen T, Guestrin C. 2016. XGBoost: a scalable tree boosting system. Proceedings of the 22nd ACM SIGKDD International Conference on Knowledge Discovery and Data Mining, 785–794.</a:t>
            </a:r>
            <a:endParaRPr lang="en-US" sz="1050" dirty="0"/>
          </a:p>
          <a:p>
            <a:pPr marL="342900" indent="-342900">
              <a:spcAft>
                <a:spcPts val="600"/>
              </a:spcAft>
              <a:buSzPct val="100000"/>
              <a:buChar char="•"/>
            </a:pPr>
            <a:r>
              <a:rPr lang="en-US" sz="1050" dirty="0">
                <a:solidFill>
                  <a:srgbClr val="1B1B1A"/>
                </a:solidFill>
              </a:rPr>
              <a:t>Cheng T, Rivard B, Sánchez-Azofeifa GA, Feng J, Calvo-Polanco M. 2010. Continuous wavelet analysis for the detection of green attack damage due to mountain pine beetle infestation. Remote Sensing of Environment 114(4):899–910. doi:10.1016/j.rse.2009.12.005</a:t>
            </a:r>
            <a:endParaRPr lang="en-US" sz="1050" dirty="0"/>
          </a:p>
          <a:p>
            <a:pPr marL="342900" indent="-342900">
              <a:spcAft>
                <a:spcPts val="600"/>
              </a:spcAft>
              <a:buSzPct val="100000"/>
              <a:buChar char="•"/>
            </a:pPr>
            <a:r>
              <a:rPr lang="en-US" sz="1050" dirty="0">
                <a:solidFill>
                  <a:srgbClr val="1B1B1A"/>
                </a:solidFill>
              </a:rPr>
              <a:t>Chong I-G, Jun C-H. 2005. Performance of some variable selection methods when multicollinearity is present. Chemometrics and Intelligent Laboratory Systems 78(1–2):103–112.</a:t>
            </a:r>
            <a:endParaRPr lang="en-US" sz="10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References (2/4)</a:t>
            </a:r>
            <a:endParaRPr lang="en-US" sz="25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050" dirty="0">
                <a:solidFill>
                  <a:srgbClr val="1B1B1A"/>
                </a:solidFill>
              </a:rPr>
              <a:t>Das B, Sahoo RN, Biswas A, Pargal S, Krishna G, Verma R, Chinnusamy V, Sehgal VK, Gupta VK. 2020. Discrimination of rice genotypes using field spectroradiometry. Geocarto International 35(1):64–77. doi:10.1080/10106049.2018.1506507</a:t>
            </a:r>
            <a:endParaRPr lang="en-US" sz="1050" dirty="0"/>
          </a:p>
          <a:p>
            <a:pPr marL="342900" indent="-342900">
              <a:spcAft>
                <a:spcPts val="600"/>
              </a:spcAft>
              <a:buSzPct val="100000"/>
              <a:buChar char="•"/>
            </a:pPr>
            <a:r>
              <a:rPr lang="en-US" sz="1050" dirty="0">
                <a:solidFill>
                  <a:srgbClr val="1B1B1A"/>
                </a:solidFill>
              </a:rPr>
              <a:t>Demšar J. 2006. Statistical comparisons of classifiers over multiple data sets. Journal of Machine Learning Research 7:1–30.</a:t>
            </a:r>
            <a:endParaRPr lang="en-US" sz="1050" dirty="0"/>
          </a:p>
          <a:p>
            <a:pPr marL="342900" indent="-342900">
              <a:spcAft>
                <a:spcPts val="600"/>
              </a:spcAft>
              <a:buSzPct val="100000"/>
              <a:buChar char="•"/>
            </a:pPr>
            <a:r>
              <a:rPr lang="en-US" sz="1050" dirty="0">
                <a:solidFill>
                  <a:srgbClr val="1B1B1A"/>
                </a:solidFill>
              </a:rPr>
              <a:t>Duda RO, Hart PE, Stork DG. 2001. Pattern classification, 2nd edn. New York: Wiley.</a:t>
            </a:r>
            <a:endParaRPr lang="en-US" sz="1050" dirty="0"/>
          </a:p>
          <a:p>
            <a:pPr marL="342900" indent="-342900">
              <a:spcAft>
                <a:spcPts val="600"/>
              </a:spcAft>
              <a:buSzPct val="100000"/>
              <a:buChar char="•"/>
            </a:pPr>
            <a:r>
              <a:rPr lang="en-US" sz="1050" dirty="0">
                <a:solidFill>
                  <a:srgbClr val="1B1B1A"/>
                </a:solidFill>
              </a:rPr>
              <a:t>Friedman JH. 2001. Greedy function approximation: a gradient boosting machine. Annals of Statistics 29(5):1189–1232.</a:t>
            </a:r>
            <a:endParaRPr lang="en-US" sz="1050" dirty="0"/>
          </a:p>
          <a:p>
            <a:pPr marL="342900" indent="-342900">
              <a:spcAft>
                <a:spcPts val="600"/>
              </a:spcAft>
              <a:buSzPct val="100000"/>
              <a:buChar char="•"/>
            </a:pPr>
            <a:r>
              <a:rPr lang="en-US" sz="1050" dirty="0">
                <a:solidFill>
                  <a:srgbClr val="1B1B1A"/>
                </a:solidFill>
              </a:rPr>
              <a:t>Guyon I, Elisseeff A. 2003. An introduction to variable and feature selection. Journal of Machine Learning Research 3:1157–1182.</a:t>
            </a:r>
            <a:endParaRPr lang="en-US" sz="1050" dirty="0"/>
          </a:p>
          <a:p>
            <a:pPr marL="342900" indent="-342900">
              <a:spcAft>
                <a:spcPts val="600"/>
              </a:spcAft>
              <a:buSzPct val="100000"/>
              <a:buChar char="•"/>
            </a:pPr>
            <a:r>
              <a:rPr lang="en-US" sz="1050" dirty="0">
                <a:solidFill>
                  <a:srgbClr val="1B1B1A"/>
                </a:solidFill>
              </a:rPr>
              <a:t>Guyon I, Weston J, Barnhill S, Vapnik V. 2002. Gene selection for cancer classification using support vector machines. Machine Learning 46:389–422.</a:t>
            </a:r>
            <a:endParaRPr lang="en-US" sz="1050" dirty="0"/>
          </a:p>
          <a:p>
            <a:pPr marL="342900" indent="-342900">
              <a:spcAft>
                <a:spcPts val="600"/>
              </a:spcAft>
              <a:buSzPct val="100000"/>
              <a:buChar char="•"/>
            </a:pPr>
            <a:r>
              <a:rPr lang="en-US" sz="1050" dirty="0">
                <a:solidFill>
                  <a:srgbClr val="1B1B1A"/>
                </a:solidFill>
              </a:rPr>
              <a:t>Kira K, Rendell LA. 1992. A practical approach to feature selection. Proceedings of the 9th International Workshop on Machine Learning, 249–256.</a:t>
            </a:r>
            <a:endParaRPr lang="en-US" sz="1050" dirty="0"/>
          </a:p>
          <a:p>
            <a:pPr marL="342900" indent="-342900">
              <a:spcAft>
                <a:spcPts val="600"/>
              </a:spcAft>
              <a:buSzPct val="100000"/>
              <a:buChar char="•"/>
            </a:pPr>
            <a:r>
              <a:rPr lang="en-US" sz="1050" dirty="0">
                <a:solidFill>
                  <a:srgbClr val="1B1B1A"/>
                </a:solidFill>
              </a:rPr>
              <a:t>Kohavi R, John GH. 1997. Wrappers for feature subset selection. Artificial Intelligence 97:273–324.</a:t>
            </a:r>
            <a:endParaRPr lang="en-US" sz="1050" dirty="0"/>
          </a:p>
          <a:p>
            <a:pPr marL="342900" indent="-342900">
              <a:spcAft>
                <a:spcPts val="600"/>
              </a:spcAft>
              <a:buSzPct val="100000"/>
              <a:buChar char="•"/>
            </a:pPr>
            <a:r>
              <a:rPr lang="en-US" sz="1050" dirty="0">
                <a:solidFill>
                  <a:srgbClr val="1B1B1A"/>
                </a:solidFill>
              </a:rPr>
              <a:t>Kononenko I. 1994. Estimating attributes: analysis and extensions of RELIEF. In: Machine Learning: ECML-94. Lecture Notes in Computer Science 784. Berlin: Springer, 171–182.</a:t>
            </a:r>
            <a:endParaRPr lang="en-US" sz="1050" dirty="0"/>
          </a:p>
          <a:p>
            <a:pPr marL="342900" indent="-342900">
              <a:spcAft>
                <a:spcPts val="600"/>
              </a:spcAft>
              <a:buSzPct val="100000"/>
              <a:buChar char="•"/>
            </a:pPr>
            <a:r>
              <a:rPr lang="en-US" sz="1050" dirty="0">
                <a:solidFill>
                  <a:srgbClr val="1B1B1A"/>
                </a:solidFill>
              </a:rPr>
              <a:t>Kraskov A, Stögbauer H, Grassberger P. 2004. Estimating mutual information. Physical Review E 69:066138.</a:t>
            </a:r>
            <a:endParaRPr lang="en-US" sz="1050" dirty="0"/>
          </a:p>
          <a:p>
            <a:pPr marL="342900" indent="-342900">
              <a:spcAft>
                <a:spcPts val="600"/>
              </a:spcAft>
              <a:buSzPct val="100000"/>
              <a:buChar char="•"/>
            </a:pPr>
            <a:r>
              <a:rPr lang="en-US" sz="1050" dirty="0">
                <a:solidFill>
                  <a:srgbClr val="1B1B1A"/>
                </a:solidFill>
              </a:rPr>
              <a:t>Kuncheva LI. 2007. A stability index for feature selection. Proceedings of the 25th IASTED International Multi-Conference: Artificial Intelligence and Applications, 390–395.</a:t>
            </a:r>
            <a:endParaRPr lang="en-US" sz="10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References (3/4)</a:t>
            </a:r>
            <a:endParaRPr lang="en-US" sz="25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050" dirty="0">
                <a:solidFill>
                  <a:srgbClr val="1B1B1A"/>
                </a:solidFill>
              </a:rPr>
              <a:t>Kursa MB, Rudnicki WR. 2010. Feature selection with the Boruta package. Journal of Statistical Software 36(11):1–13.</a:t>
            </a:r>
            <a:endParaRPr lang="en-US" sz="1050" dirty="0"/>
          </a:p>
          <a:p>
            <a:pPr marL="342900" indent="-342900">
              <a:spcAft>
                <a:spcPts val="600"/>
              </a:spcAft>
              <a:buSzPct val="100000"/>
              <a:buChar char="•"/>
            </a:pPr>
            <a:r>
              <a:rPr lang="en-US" sz="1050" dirty="0">
                <a:solidFill>
                  <a:srgbClr val="1B1B1A"/>
                </a:solidFill>
              </a:rPr>
              <a:t>Leardi R, Boggia R, Terrile M. 1992. Genetic algorithms as a strategy for feature selection. Journal of Chemometrics 6(5):267–281.</a:t>
            </a:r>
            <a:endParaRPr lang="en-US" sz="1050" dirty="0"/>
          </a:p>
          <a:p>
            <a:pPr marL="342900" indent="-342900">
              <a:spcAft>
                <a:spcPts val="600"/>
              </a:spcAft>
              <a:buSzPct val="100000"/>
              <a:buChar char="•"/>
            </a:pPr>
            <a:r>
              <a:rPr lang="en-US" sz="1050" dirty="0">
                <a:solidFill>
                  <a:srgbClr val="1B1B1A"/>
                </a:solidFill>
              </a:rPr>
              <a:t>Lemaître G, Nogueira F, Aridas CK. 2017. Imbalanced-learn: a Python toolbox to tackle the curse of imbalanced datasets in machine learning. Journal of Machine Learning Research 18(17):1–5.</a:t>
            </a:r>
            <a:endParaRPr lang="en-US" sz="1050" dirty="0"/>
          </a:p>
          <a:p>
            <a:pPr marL="342900" indent="-342900">
              <a:spcAft>
                <a:spcPts val="600"/>
              </a:spcAft>
              <a:buSzPct val="100000"/>
              <a:buChar char="•"/>
            </a:pPr>
            <a:r>
              <a:rPr lang="en-US" sz="1050" dirty="0">
                <a:solidFill>
                  <a:srgbClr val="1B1B1A"/>
                </a:solidFill>
              </a:rPr>
              <a:t>Li H, Liang Y, Xu Q, Cao D. 2009. Key wavelengths screening using competitive adaptive reweighted sampling method for multivariate calibration. Analytica Chimica Acta 648(1):77–84.</a:t>
            </a:r>
            <a:endParaRPr lang="en-US" sz="1050" dirty="0"/>
          </a:p>
          <a:p>
            <a:pPr marL="342900" indent="-342900">
              <a:spcAft>
                <a:spcPts val="600"/>
              </a:spcAft>
              <a:buSzPct val="100000"/>
              <a:buChar char="•"/>
            </a:pPr>
            <a:r>
              <a:rPr lang="en-US" sz="1050" dirty="0">
                <a:solidFill>
                  <a:srgbClr val="1B1B1A"/>
                </a:solidFill>
              </a:rPr>
              <a:t>Liu et al. 2024. [Recursive feature elimination (RFE) for crop-disease spectral features — cited as given in the request; full bibliographic details could not be verified and must be completed by the author.]</a:t>
            </a:r>
            <a:endParaRPr lang="en-US" sz="1050" dirty="0"/>
          </a:p>
          <a:p>
            <a:pPr marL="342900" indent="-342900">
              <a:spcAft>
                <a:spcPts val="600"/>
              </a:spcAft>
              <a:buSzPct val="100000"/>
              <a:buChar char="•"/>
            </a:pPr>
            <a:r>
              <a:rPr lang="en-US" sz="1050" dirty="0">
                <a:solidFill>
                  <a:srgbClr val="1B1B1A"/>
                </a:solidFill>
              </a:rPr>
              <a:t>Mahlein A-K, Rumpf T, Welke P, Dehne H-W, Plümer L, Steiner U, Oerke E-C. 2013. Development of spectral indices for detecting and identifying plant diseases. Remote Sensing of Environment 128:21–30.</a:t>
            </a:r>
            <a:endParaRPr lang="en-US" sz="1050" dirty="0"/>
          </a:p>
          <a:p>
            <a:pPr marL="342900" indent="-342900">
              <a:spcAft>
                <a:spcPts val="600"/>
              </a:spcAft>
              <a:buSzPct val="100000"/>
              <a:buChar char="•"/>
            </a:pPr>
            <a:r>
              <a:rPr lang="en-US" sz="1050" dirty="0">
                <a:solidFill>
                  <a:srgbClr val="1B1B1A"/>
                </a:solidFill>
              </a:rPr>
              <a:t>Mustafa G, Zheng H, et al. 2023. Fusarium head blight monitoring in wheat ears using machine learning and multimodal data from asymptomatic to symptomatic periods. Frontiers in Plant Science 13:1102341. doi:10.3389/fpls.2022.1102341</a:t>
            </a:r>
            <a:endParaRPr lang="en-US" sz="1050" dirty="0"/>
          </a:p>
          <a:p>
            <a:pPr marL="342900" indent="-342900">
              <a:spcAft>
                <a:spcPts val="600"/>
              </a:spcAft>
              <a:buSzPct val="100000"/>
              <a:buChar char="•"/>
            </a:pPr>
            <a:r>
              <a:rPr lang="en-US" sz="1050" dirty="0">
                <a:solidFill>
                  <a:srgbClr val="1B1B1A"/>
                </a:solidFill>
              </a:rPr>
              <a:t>Mustafa G, Zheng H, Khan IH, Tian L, Jia H, Li G, Cheng T, Tian Y, Cao W, Zhu Y, Yao X. 2022. Hyperspectral reflectance proxies to diagnose in-field fusarium head blight in wheat with machine learning. Remote Sensing 14(12):2784.</a:t>
            </a:r>
            <a:endParaRPr lang="en-US" sz="1050" dirty="0"/>
          </a:p>
          <a:p>
            <a:pPr marL="342900" indent="-342900">
              <a:spcAft>
                <a:spcPts val="600"/>
              </a:spcAft>
              <a:buSzPct val="100000"/>
              <a:buChar char="•"/>
            </a:pPr>
            <a:r>
              <a:rPr lang="en-US" sz="1050" dirty="0">
                <a:solidFill>
                  <a:srgbClr val="1B1B1A"/>
                </a:solidFill>
              </a:rPr>
              <a:t>Nagasubramanian K, Jones S, Sarkar S, Singh AK, Singh A, Ganapathysubramanian B. 2018. Hyperspectral band selection using genetic algorithm and support vector machines for early identification of charcoal rot disease in soybean stems. Plant Methods 14:86.</a:t>
            </a:r>
            <a:endParaRPr lang="en-US" sz="1050" dirty="0"/>
          </a:p>
          <a:p>
            <a:pPr marL="342900" indent="-342900">
              <a:spcAft>
                <a:spcPts val="600"/>
              </a:spcAft>
              <a:buSzPct val="100000"/>
              <a:buChar char="•"/>
            </a:pPr>
            <a:r>
              <a:rPr lang="en-US" sz="1050" dirty="0">
                <a:solidFill>
                  <a:srgbClr val="1B1B1A"/>
                </a:solidFill>
              </a:rPr>
              <a:t>Nogueira S, Sechidis K, Brown G. 2018. On the stability of feature selection algorithms. Journal of Machine Learning Research 18(174):1–54.</a:t>
            </a:r>
            <a:endParaRPr lang="en-US" sz="1050" dirty="0"/>
          </a:p>
          <a:p>
            <a:pPr marL="342900" indent="-342900">
              <a:spcAft>
                <a:spcPts val="600"/>
              </a:spcAft>
              <a:buSzPct val="100000"/>
              <a:buChar char="•"/>
            </a:pPr>
            <a:r>
              <a:rPr lang="en-US" sz="1050" dirty="0">
                <a:solidFill>
                  <a:srgbClr val="1B1B1A"/>
                </a:solidFill>
              </a:rPr>
              <a:t>Pearson K. 1895. Note on regression and inheritance in the case of two parents. Proceedings of the Royal Society of London 58:240–242.</a:t>
            </a:r>
            <a:endParaRPr lang="en-US" sz="10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7295" cy="731520"/>
          </a:xfrm>
          <a:prstGeom prst="rect">
            <a:avLst/>
          </a:prstGeom>
          <a:noFill/>
          <a:ln/>
        </p:spPr>
        <p:txBody>
          <a:bodyPr wrap="square" rtlCol="0" anchor="ctr"/>
          <a:lstStyle/>
          <a:p>
            <a:pPr indent="0" marL="0">
              <a:buNone/>
            </a:pPr>
            <a:r>
              <a:rPr lang="en-US" sz="2500" b="1" dirty="0">
                <a:solidFill>
                  <a:srgbClr val="1F3D2B"/>
                </a:solidFill>
                <a:latin typeface="Cambria" pitchFamily="34" charset="0"/>
                <a:ea typeface="Cambria" pitchFamily="34" charset="-122"/>
                <a:cs typeface="Cambria" pitchFamily="34" charset="-120"/>
              </a:rPr>
              <a:t>References (4/4)</a:t>
            </a:r>
            <a:endParaRPr lang="en-US" sz="2500" dirty="0"/>
          </a:p>
        </p:txBody>
      </p:sp>
      <p:sp>
        <p:nvSpPr>
          <p:cNvPr id="3" name="Text 1"/>
          <p:cNvSpPr txBox="1"/>
          <p:nvPr/>
        </p:nvSpPr>
        <p:spPr>
          <a:xfrm>
            <a:off x="457200" y="1005840"/>
            <a:ext cx="11277295" cy="5394960"/>
          </a:xfrm>
          <a:prstGeom prst="rect">
            <a:avLst/>
          </a:prstGeom>
          <a:noFill/>
          <a:ln/>
        </p:spPr>
        <p:txBody>
          <a:bodyPr wrap="square" rtlCol="0" anchor="t"/>
          <a:lstStyle/>
          <a:p>
            <a:pPr marL="342900" indent="-342900">
              <a:spcAft>
                <a:spcPts val="600"/>
              </a:spcAft>
              <a:buSzPct val="100000"/>
              <a:buChar char="•"/>
            </a:pPr>
            <a:r>
              <a:rPr lang="en-US" sz="1050" dirty="0">
                <a:solidFill>
                  <a:srgbClr val="1B1B1A"/>
                </a:solidFill>
              </a:rPr>
              <a:t>Pedregosa F, Varoquaux G, Gramfort A, et al. 2011. Scikit-learn: machine learning in Python. Journal of Machine Learning Research 12:2825–2830.</a:t>
            </a:r>
            <a:endParaRPr lang="en-US" sz="1050" dirty="0"/>
          </a:p>
          <a:p>
            <a:pPr marL="342900" indent="-342900">
              <a:spcAft>
                <a:spcPts val="600"/>
              </a:spcAft>
              <a:buSzPct val="100000"/>
              <a:buChar char="•"/>
            </a:pPr>
            <a:r>
              <a:rPr lang="en-US" sz="1050" dirty="0">
                <a:solidFill>
                  <a:srgbClr val="1B1B1A"/>
                </a:solidFill>
              </a:rPr>
              <a:t>Peng H, Long F, Ding C. 2005. Feature selection based on mutual information: criteria of max-dependency, max-relevance, and min-redundancy. IEEE Transactions on Pattern Analysis and Machine Intelligence 27(8):1226–1238.</a:t>
            </a:r>
            <a:endParaRPr lang="en-US" sz="1050" dirty="0"/>
          </a:p>
          <a:p>
            <a:pPr marL="342900" indent="-342900">
              <a:spcAft>
                <a:spcPts val="600"/>
              </a:spcAft>
              <a:buSzPct val="100000"/>
              <a:buChar char="•"/>
            </a:pPr>
            <a:r>
              <a:rPr lang="en-US" sz="1050" dirty="0">
                <a:solidFill>
                  <a:srgbClr val="1B1B1A"/>
                </a:solidFill>
              </a:rPr>
              <a:t>Pudil P, Novovičová J, Kittler J. 1994. Floating search methods in feature selection. Pattern Recognition Letters 15(11):1119–1125.</a:t>
            </a:r>
            <a:endParaRPr lang="en-US" sz="1050" dirty="0"/>
          </a:p>
          <a:p>
            <a:pPr marL="342900" indent="-342900">
              <a:spcAft>
                <a:spcPts val="600"/>
              </a:spcAft>
              <a:buSzPct val="100000"/>
              <a:buChar char="•"/>
            </a:pPr>
            <a:r>
              <a:rPr lang="en-US" sz="1050" dirty="0">
                <a:solidFill>
                  <a:srgbClr val="1B1B1A"/>
                </a:solidFill>
              </a:rPr>
              <a:t>Rumpf T, Mahlein A-K, Steiner U, Oerke E-C, Dehne H-W, Plümer L. 2010. Early detection and classification of plant diseases with support vector machines based on hyperspectral reflectance. Computers and Electronics in Agriculture 74(1):91–99.</a:t>
            </a:r>
            <a:endParaRPr lang="en-US" sz="1050" dirty="0"/>
          </a:p>
          <a:p>
            <a:pPr marL="342900" indent="-342900">
              <a:spcAft>
                <a:spcPts val="600"/>
              </a:spcAft>
              <a:buSzPct val="100000"/>
              <a:buChar char="•"/>
            </a:pPr>
            <a:r>
              <a:rPr lang="en-US" sz="1050" dirty="0">
                <a:solidFill>
                  <a:srgbClr val="1B1B1A"/>
                </a:solidFill>
              </a:rPr>
              <a:t>Saeys Y, Abeel T, Van de Peer Y. 2008. Robust feature selection using ensemble feature selection techniques. In: Machine Learning and Knowledge Discovery in Databases (ECML PKDD 2008). Lecture Notes in Artificial Intelligence 5212. Berlin: Springer, 313–325.</a:t>
            </a:r>
            <a:endParaRPr lang="en-US" sz="1050" dirty="0"/>
          </a:p>
          <a:p>
            <a:pPr marL="342900" indent="-342900">
              <a:spcAft>
                <a:spcPts val="600"/>
              </a:spcAft>
              <a:buSzPct val="100000"/>
              <a:buChar char="•"/>
            </a:pPr>
            <a:r>
              <a:rPr lang="en-US" sz="1050" dirty="0">
                <a:solidFill>
                  <a:srgbClr val="1B1B1A"/>
                </a:solidFill>
              </a:rPr>
              <a:t>Saeys Y, Inza I, Larrañaga P. 2007. A review of feature selection techniques in bioinformatics. Bioinformatics 23(19):2507–2517.</a:t>
            </a:r>
            <a:endParaRPr lang="en-US" sz="1050" dirty="0"/>
          </a:p>
          <a:p>
            <a:pPr marL="342900" indent="-342900">
              <a:spcAft>
                <a:spcPts val="600"/>
              </a:spcAft>
              <a:buSzPct val="100000"/>
              <a:buChar char="•"/>
            </a:pPr>
            <a:r>
              <a:rPr lang="en-US" sz="1050" dirty="0">
                <a:solidFill>
                  <a:srgbClr val="1B1B1A"/>
                </a:solidFill>
              </a:rPr>
              <a:t>Thomas S, Kuska MT, Bohnenkamp D, Brugger A, Alisaac E, Wahabzada M, Behmann J, Mahlein A-K. 2018. Benefits of hyperspectral imaging for plant disease detection and plant protection: a technical perspective. Journal of Plant Diseases and Protection 125:5–20.</a:t>
            </a:r>
            <a:endParaRPr lang="en-US" sz="1050" dirty="0"/>
          </a:p>
          <a:p>
            <a:pPr marL="342900" indent="-342900">
              <a:spcAft>
                <a:spcPts val="600"/>
              </a:spcAft>
              <a:buSzPct val="100000"/>
              <a:buChar char="•"/>
            </a:pPr>
            <a:r>
              <a:rPr lang="en-US" sz="1050" dirty="0">
                <a:solidFill>
                  <a:srgbClr val="1B1B1A"/>
                </a:solidFill>
              </a:rPr>
              <a:t>Tibshirani R. 1996. Regression shrinkage and selection via the lasso. Journal of the Royal Statistical Society Series B 58(1):267–288.</a:t>
            </a:r>
            <a:endParaRPr lang="en-US" sz="1050" dirty="0"/>
          </a:p>
          <a:p>
            <a:pPr marL="342900" indent="-342900">
              <a:spcAft>
                <a:spcPts val="600"/>
              </a:spcAft>
              <a:buSzPct val="100000"/>
              <a:buChar char="•"/>
            </a:pPr>
            <a:r>
              <a:rPr lang="en-US" sz="1050" dirty="0">
                <a:solidFill>
                  <a:srgbClr val="1B1B1A"/>
                </a:solidFill>
              </a:rPr>
              <a:t>Wei X, Johnson MA, Langston DB, Mehl HL, Li S. 2021. Identifying optimal wavelengths as disease signatures using hyperspectral sensor and machine learning. Remote Sensing 13(14):2833. doi:10.3390/rs13142833</a:t>
            </a:r>
            <a:endParaRPr lang="en-US" sz="1050" dirty="0"/>
          </a:p>
          <a:p>
            <a:pPr marL="342900" indent="-342900">
              <a:spcAft>
                <a:spcPts val="600"/>
              </a:spcAft>
              <a:buSzPct val="100000"/>
              <a:buChar char="•"/>
            </a:pPr>
            <a:r>
              <a:rPr lang="en-US" sz="1050" dirty="0">
                <a:solidFill>
                  <a:srgbClr val="1B1B1A"/>
                </a:solidFill>
              </a:rPr>
              <a:t>Wold S, Sjöström M, Eriksson L. 2001. PLS-regression: a basic tool of chemometrics. Chemometrics and Intelligent Laboratory Systems 58(2):109–130.</a:t>
            </a:r>
            <a:endParaRPr lang="en-US" sz="1050" dirty="0"/>
          </a:p>
          <a:p>
            <a:pPr marL="342900" indent="-342900">
              <a:spcAft>
                <a:spcPts val="600"/>
              </a:spcAft>
              <a:buSzPct val="100000"/>
              <a:buChar char="•"/>
            </a:pPr>
            <a:r>
              <a:rPr lang="en-US" sz="1050" dirty="0">
                <a:solidFill>
                  <a:srgbClr val="1B1B1A"/>
                </a:solidFill>
              </a:rPr>
              <a:t>Zhu H, Chu B, Zhang C, Liu F, Jiang L, He Y. 2017. Hyperspectral imaging for presymptomatic detection of tobacco disease with successive projections algorithm and machine-learning classifiers. Scientific Reports 7:4125. doi:10.1038/s41598-017-04501-2</a:t>
            </a:r>
            <a:endParaRPr lang="en-US" sz="1050" dirty="0"/>
          </a:p>
        </p:txBody>
      </p:sp>
      <p:sp>
        <p:nvSpPr>
          <p:cNvPr id="25" name="Slide Number Placeholder 0"/>
          <p:cNvSpPr>
            <a:spLocks noGrp="1"/>
          </p:cNvSpPr>
          <p:nvPr>
            <p:ph type="sldNum" sz="quarter" idx="4294967295"/>
          </p:nvPr>
        </p:nvSpPr>
        <p:spPr>
          <a:xfrm>
            <a:off x="11368735"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981"/>
                </a:solidFill>
              </a:defRPr>
            </a:lvl1pPr>
          </a:lstStyle>
          <a:p>
            <a:pPr algn="l"/>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Feature selection">
  <a:themeElements>
    <a:clrScheme name="Feature selection">
      <a:dk1>
        <a:srgbClr val="1B1B1A"/>
      </a:dk1>
      <a:lt1>
        <a:srgbClr val="FFFFFF"/>
      </a:lt1>
      <a:dk2>
        <a:srgbClr val="1F3D2B"/>
      </a:dk2>
      <a:lt2>
        <a:srgbClr val="F0EFEC"/>
      </a:lt2>
      <a:accent1>
        <a:srgbClr val="2A78D6"/>
      </a:accent1>
      <a:accent2>
        <a:srgbClr val="EDA100"/>
      </a:accent2>
      <a:accent3>
        <a:srgbClr val="1BAF7A"/>
      </a:accent3>
      <a:accent4>
        <a:srgbClr val="6250D6"/>
      </a:accent4>
      <a:accent5>
        <a:srgbClr val="EB6834"/>
      </a:accent5>
      <a:accent6>
        <a:srgbClr val="52514E"/>
      </a:accent6>
      <a:hlink>
        <a:srgbClr val="2A78D6"/>
      </a:hlink>
      <a:folHlink>
        <a:srgbClr val="6250D6"/>
      </a:folHlink>
    </a:clrScheme>
    <a:fontScheme name="Feature sele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 for white-rust detection in mustard leaves</dc:title>
  <dc:subject>PptxGenJS Presentation</dc:subject>
  <dc:creator>Animesh Panda</dc:creator>
  <cp:lastModifiedBy>Animesh Panda</cp:lastModifiedBy>
  <cp:revision>1</cp:revision>
  <dcterms:created xsi:type="dcterms:W3CDTF">2026-10-15T20:19:20Z</dcterms:created>
  <dcterms:modified xsi:type="dcterms:W3CDTF">2026-10-15T20:19:20Z</dcterms:modified>
</cp:coreProperties>
</file>