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1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2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3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019d36d-6513-77f0-ba35-98487beb2567}">
          <p14:sldIdLst>
            <p14:sldId id="256"/>
            <p14:sldId id="257"/>
          </p14:sldIdLst>
        </p14:section>
        <p14:section name="A. Before the analysis" id="{c395b9c6-4ab3-3461-4778-2850ff856955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B. Four-tier analysis" id="{cee35cfa-3be5-79b5-bc91-58125725c7be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C. Random Forest comparison" id="{14eab61a-161a-868b-4864-2f8e8d159268}">
          <p14:sldIdLst>
            <p14:sldId id="277"/>
            <p14:sldId id="278"/>
            <p14:sldId id="279"/>
            <p14:sldId id="280"/>
            <p14:sldId id="281"/>
          </p14:sldIdLst>
        </p14:section>
        <p14:section name="D. Cross-checks and validation" id="{2cead10a-113f-6699-d054-04f097f5ddb1}">
          <p14:sldIdLst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Discussion and conclusion" id="{f454c4f9-e106-5ed6-b059-2f1f1e7a55e4}">
          <p14:sldIdLst>
            <p14:sldId id="288"/>
            <p14:sldId id="289"/>
            <p14:sldId id="290"/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1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F1D"/>
                </a:solidFill>
                <a:latin typeface="+mn-lt"/>
              </a:rPr>
              <a:t>Overall accuracy, 10-fold CV (same folds)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 accuracy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1F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DA1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DA1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DA1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QDA · CART bands</c:v>
                  </c:pt>
                  <c:pt idx="1">
                    <c:v>RF · CART bands</c:v>
                  </c:pt>
                  <c:pt idx="2">
                    <c:v>RF · significant bands</c:v>
                  </c:pt>
                  <c:pt idx="3">
                    <c:v>RF · all bands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0.7816666666666666</c:v>
                </c:pt>
                <c:pt idx="1">
                  <c:v>0.7483333333333333</c:v>
                </c:pt>
                <c:pt idx="2">
                  <c:v>0.7316666666666667</c:v>
                </c:pt>
                <c:pt idx="3">
                  <c:v>0.7616666666666667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300" u="none">
                  <a:solidFill>
                    <a:srgbClr val="1B1F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1F1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1F1D"/>
                </a:solidFill>
                <a:latin typeface="+mn-lt"/>
              </a:rPr>
              <a:t>Tier-4 QDA accuracy by Tier-2 method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CART bands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Paper-style</c:v>
                  </c:pt>
                  <c:pt idx="1">
                    <c:v>Nested</c:v>
                  </c:pt>
                  <c:pt idx="2">
                    <c:v>Spatial blocks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0.7816666666666666</c:v>
                </c:pt>
                <c:pt idx="1">
                  <c:v>0.7316666666666667</c:v>
                </c:pt>
                <c:pt idx="2">
                  <c:v>0.6866666666666666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RF-A bands</c:v>
                </c:pt>
              </c:strCache>
            </c:strRef>
          </c:tx>
          <c:spPr>
            <a:solidFill>
              <a:srgbClr val="6250D6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Paper-style</c:v>
                  </c:pt>
                  <c:pt idx="1">
                    <c:v>Nested</c:v>
                  </c:pt>
                  <c:pt idx="2">
                    <c:v>Spatial blocks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0.6616666666666666</c:v>
                </c:pt>
                <c:pt idx="1">
                  <c:v>0.6616666666666666</c:v>
                </c:pt>
                <c:pt idx="2">
                  <c:v>0.6533333333333333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RF-B bands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Paper-style</c:v>
                  </c:pt>
                  <c:pt idx="1">
                    <c:v>Nested</c:v>
                  </c:pt>
                  <c:pt idx="2">
                    <c:v>Spatial blocks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0.7666666666666667</c:v>
                </c:pt>
                <c:pt idx="1">
                  <c:v>0.7466666666666667</c:v>
                </c:pt>
                <c:pt idx="2">
                  <c:v>0.7016666666666667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1B1F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B1F1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1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F1D"/>
                </a:solidFill>
                <a:latin typeface="+mn-lt"/>
              </a:rPr>
              <a:t>Overall accuracy by validation scheme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QDA · CART bands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Paper-style 10-fold</c:v>
                  </c:pt>
                  <c:pt idx="1">
                    <c:v>Nested 10-fold</c:v>
                  </c:pt>
                  <c:pt idx="2">
                    <c:v>Spatial blocks (nested)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0.7816666666666666</c:v>
                </c:pt>
                <c:pt idx="1">
                  <c:v>0.7316666666666667</c:v>
                </c:pt>
                <c:pt idx="2">
                  <c:v>0.6866666666666666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RF · CART bands</c:v>
                </c:pt>
              </c:strCache>
            </c:strRef>
          </c:tx>
          <c:spPr>
            <a:solidFill>
              <a:srgbClr val="EDA100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Paper-style 10-fold</c:v>
                  </c:pt>
                  <c:pt idx="1">
                    <c:v>Nested 10-fold</c:v>
                  </c:pt>
                  <c:pt idx="2">
                    <c:v>Spatial blocks (nested)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0.7483333333333333</c:v>
                </c:pt>
                <c:pt idx="1">
                  <c:v>0.7266666666666667</c:v>
                </c:pt>
                <c:pt idx="2">
                  <c:v>0.6833333333333333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RF · all bands</c:v>
                </c:pt>
              </c:strCache>
            </c:strRef>
          </c:tx>
          <c:spPr>
            <a:solidFill>
              <a:srgbClr val="6250D6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Paper-style 10-fold</c:v>
                  </c:pt>
                  <c:pt idx="1">
                    <c:v>Nested 10-fold</c:v>
                  </c:pt>
                  <c:pt idx="2">
                    <c:v>Spatial blocks (nested)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0.7616666666666667</c:v>
                </c:pt>
                <c:pt idx="1">
                  <c:v>0.7616666666666667</c:v>
                </c:pt>
                <c:pt idx="2">
                  <c:v>0.72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100" u="none">
                  <a:solidFill>
                    <a:srgbClr val="1B1F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1F1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A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A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DD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DD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vs diseased · four-tier analysis + Random Forest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DD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Discriminating healthy and diseased canopy from SMACC endmembers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Four-tier hierarchical analysis (ANOVA → CART → J–M distance → QDA) after Das et al. (2020), with Random Forest comparison and cross-validation checks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subset_200526 · 24 Feb 2026 · 300 + 300 SMACC endmembers · reflectance only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at a glance</a:t>
            </a:r>
            <a:endParaRPr lang="en-US" sz="3000" dirty="0"/>
          </a:p>
        </p:txBody>
      </p:sp>
      <p:sp>
        <p:nvSpPr>
          <p:cNvPr id="3" name="stage A"/>
          <p:cNvSpPr/>
          <p:nvPr/>
        </p:nvSpPr>
        <p:spPr>
          <a:xfrm>
            <a:off x="548640" y="1417320"/>
            <a:ext cx="2606040" cy="3657600"/>
          </a:xfrm>
          <a:prstGeom prst="roundRect">
            <a:avLst>
              <a:gd name="adj" fmla="val 280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4" name="stage badge A"/>
          <p:cNvSpPr/>
          <p:nvPr/>
        </p:nvSpPr>
        <p:spPr>
          <a:xfrm>
            <a:off x="731520" y="1618488"/>
            <a:ext cx="566928" cy="566928"/>
          </a:xfrm>
          <a:prstGeom prst="ellipse">
            <a:avLst/>
          </a:prstGeom>
          <a:solidFill>
            <a:srgbClr val="52514E"/>
          </a:solidFill>
          <a:ln w="12700">
            <a:solidFill>
              <a:srgbClr val="52514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18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1848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the analysis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2286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Hyperspectral image (483 bands)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ROIs: healthy &amp; diseased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Pixel extraction + NDVI filter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SMACC: 300 endmembers / class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Data check (no spectra removed)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136392" y="2971800"/>
            <a:ext cx="258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52514E"/>
                </a:solidFill>
              </a:rPr>
              <a:t>›</a:t>
            </a:r>
            <a:endParaRPr lang="en-US" sz="3000" dirty="0"/>
          </a:p>
        </p:txBody>
      </p:sp>
      <p:sp>
        <p:nvSpPr>
          <p:cNvPr id="9" name="stage B"/>
          <p:cNvSpPr/>
          <p:nvPr/>
        </p:nvSpPr>
        <p:spPr>
          <a:xfrm>
            <a:off x="3376879" y="1417320"/>
            <a:ext cx="2606040" cy="3657600"/>
          </a:xfrm>
          <a:prstGeom prst="roundRect">
            <a:avLst>
              <a:gd name="adj" fmla="val 280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0" name="stage badge B"/>
          <p:cNvSpPr/>
          <p:nvPr/>
        </p:nvSpPr>
        <p:spPr>
          <a:xfrm>
            <a:off x="3559759" y="1618488"/>
            <a:ext cx="566928" cy="566928"/>
          </a:xfrm>
          <a:prstGeom prst="ellipse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59759" y="1618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245559" y="161848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Four-tier analysis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559759" y="2423160"/>
            <a:ext cx="2286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Tier 1: one-way ANOVA per band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Tier 2: CART band selection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Tier 3: J–M distance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Tier 4: QDA, 10-fold CV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964631" y="2971800"/>
            <a:ext cx="258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52514E"/>
                </a:solidFill>
              </a:rPr>
              <a:t>›</a:t>
            </a:r>
            <a:endParaRPr lang="en-US" sz="3000" dirty="0"/>
          </a:p>
        </p:txBody>
      </p:sp>
      <p:sp>
        <p:nvSpPr>
          <p:cNvPr id="15" name="stage C"/>
          <p:cNvSpPr/>
          <p:nvPr/>
        </p:nvSpPr>
        <p:spPr>
          <a:xfrm>
            <a:off x="6205118" y="1417320"/>
            <a:ext cx="2606040" cy="3657600"/>
          </a:xfrm>
          <a:prstGeom prst="roundRect">
            <a:avLst>
              <a:gd name="adj" fmla="val 280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6" name="stage badge C"/>
          <p:cNvSpPr/>
          <p:nvPr/>
        </p:nvSpPr>
        <p:spPr>
          <a:xfrm>
            <a:off x="6387998" y="1618488"/>
            <a:ext cx="566928" cy="566928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87998" y="1618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073798" y="161848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387998" y="2423160"/>
            <a:ext cx="2286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RF instead of CART (Tier 2)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RF instead of QDA (Tier 4)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Same folds as QDA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Band importance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792870" y="2971800"/>
            <a:ext cx="258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52514E"/>
                </a:solidFill>
              </a:rPr>
              <a:t>›</a:t>
            </a:r>
            <a:endParaRPr lang="en-US" sz="3000" dirty="0"/>
          </a:p>
        </p:txBody>
      </p:sp>
      <p:sp>
        <p:nvSpPr>
          <p:cNvPr id="21" name="stage D"/>
          <p:cNvSpPr/>
          <p:nvPr/>
        </p:nvSpPr>
        <p:spPr>
          <a:xfrm>
            <a:off x="9033358" y="1417320"/>
            <a:ext cx="2606040" cy="3657600"/>
          </a:xfrm>
          <a:prstGeom prst="roundRect">
            <a:avLst>
              <a:gd name="adj" fmla="val 280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2" name="stage badge D"/>
          <p:cNvSpPr/>
          <p:nvPr/>
        </p:nvSpPr>
        <p:spPr>
          <a:xfrm>
            <a:off x="9216238" y="1618488"/>
            <a:ext cx="566928" cy="5669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16238" y="1618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9902038" y="161848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Cross-checks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9216238" y="2423160"/>
            <a:ext cx="2286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Nested &amp; spatial-block CV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Permutation test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Location-only control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Sensitivity analyses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Excel ↔ Python checks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349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Input: 600 SMACC endmembers (300 healthy, 300 diseased) × 483 bands → 600 spectra × 463 bands analysed. Reflectance values only; seed 42 for every random step.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· Steps before the analysis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hyperspectral image to 300 healthy and 300 diseased SMACC endmembers, and a check of those spectra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DD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hyperspectral image</a:t>
            </a:r>
            <a:endParaRPr lang="en-US" sz="30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2237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846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(from the ENVI header)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subset_200526 (+ .hdr), acquired 24-02-2026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ENVI, band-interleaved-by-line, 32-bit float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2,355 columns × 2,142 rows × 483 bands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Spectral range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399.4–2,397.6 nm (≈1.76 nm VNIR, ≈6 nm SWIR)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Bands already absent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≈899–916, 1,330–1,460, 1,780–1,970 nm (water vapour)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Geographic WGS-84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Pixel 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≈2.25 × 2.22 cm on the ground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Pre-processing in header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 applied (masked pixels = 0); smoothed spectra (band names '…_rd_smt')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321040" y="14173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483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20756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spectral bands in the image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743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2.2 cm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340156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ground pixel size: single leaves, soil gaps and shadow are resolved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4069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400–2400 nm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472744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VNIR + SWIR coverage, water bands removed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Regions of interest and endmember positions</a:t>
            </a:r>
            <a:endParaRPr lang="en-US" sz="30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5760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417320"/>
                <a:gridCol w="1463040"/>
                <a:gridCol w="13258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 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Polygons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Pixels inside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healthy.xml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(7 vertices)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601,000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300 m²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diseased.xml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(5 vertices)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1,940,000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966 m²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2880360"/>
            <a:ext cx="5760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ROIs digitised in ENVI over a healthy area and a diseased area, irrespective of plot, and exported as XML in WGS-84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two polygons share one boundary: healthy and diseased samples come from two neighbouring blocks of the field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 endmember keeps its pixel row/column and lon/lat, which allows spatial checks later (Part D)</a:t>
            </a:r>
            <a:endParaRPr lang="en-US" sz="1500" dirty="0"/>
          </a:p>
        </p:txBody>
      </p:sp>
      <p:pic>
        <p:nvPicPr>
          <p:cNvPr id="5" name="Map of endmember positions" descr="Map of endmember posi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594485"/>
            <a:ext cx="5029200" cy="440055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300 endmembers per class were extracted</a:t>
            </a:r>
            <a:endParaRPr lang="en-US" sz="3000" dirty="0"/>
          </a:p>
        </p:txBody>
      </p:sp>
      <p:sp>
        <p:nvSpPr>
          <p:cNvPr id="3" name="extraction step 1"/>
          <p:cNvSpPr/>
          <p:nvPr/>
        </p:nvSpPr>
        <p:spPr>
          <a:xfrm>
            <a:off x="548640" y="13716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72768"/>
            <a:ext cx="502920" cy="502920"/>
          </a:xfrm>
          <a:prstGeom prst="ellipse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53619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ROI → pixels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3852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Polygon vertices converted from lon/lat to image pixels; a pixel belongs to the ROI if its centre lies inside</a:t>
            </a:r>
            <a:endParaRPr lang="en-US" sz="1350" dirty="0"/>
          </a:p>
        </p:txBody>
      </p:sp>
      <p:sp>
        <p:nvSpPr>
          <p:cNvPr id="8" name="extraction step 2"/>
          <p:cNvSpPr/>
          <p:nvPr/>
        </p:nvSpPr>
        <p:spPr>
          <a:xfrm>
            <a:off x="6153912" y="13716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36792" y="1572768"/>
            <a:ext cx="502920" cy="502920"/>
          </a:xfrm>
          <a:prstGeom prst="ellipse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36792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022592" y="153619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no-data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022592" y="193852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All-zero (masked) and NaN spectra discarded</a:t>
            </a:r>
            <a:endParaRPr lang="en-US" sz="1350" dirty="0"/>
          </a:p>
        </p:txBody>
      </p:sp>
      <p:sp>
        <p:nvSpPr>
          <p:cNvPr id="13" name="extraction step 3"/>
          <p:cNvSpPr/>
          <p:nvPr/>
        </p:nvSpPr>
        <p:spPr>
          <a:xfrm>
            <a:off x="548640" y="29718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172968"/>
            <a:ext cx="502920" cy="502920"/>
          </a:xfrm>
          <a:prstGeom prst="ellipse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172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13639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Vegetation filter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53872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NDVI = (R800 − R670)/(R800 + R670) ≥ 0.30 removes soil, water and shadow (minimum NDVI in the file: 0.31)</a:t>
            </a:r>
            <a:endParaRPr lang="en-US" sz="1350" dirty="0"/>
          </a:p>
        </p:txBody>
      </p:sp>
      <p:sp>
        <p:nvSpPr>
          <p:cNvPr id="18" name="extraction step 4"/>
          <p:cNvSpPr/>
          <p:nvPr/>
        </p:nvSpPr>
        <p:spPr>
          <a:xfrm>
            <a:off x="6153912" y="29718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36792" y="3172968"/>
            <a:ext cx="502920" cy="502920"/>
          </a:xfrm>
          <a:prstGeom prst="ellipse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36792" y="3172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022592" y="313639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subset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022592" y="353872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Up to 100,000 pixels per class drawn at random (memory; neighbouring 2 cm pixels are near-identical)</a:t>
            </a:r>
            <a:endParaRPr lang="en-US" sz="1350" dirty="0"/>
          </a:p>
        </p:txBody>
      </p:sp>
      <p:sp>
        <p:nvSpPr>
          <p:cNvPr id="23" name="extraction step 5"/>
          <p:cNvSpPr/>
          <p:nvPr/>
        </p:nvSpPr>
        <p:spPr>
          <a:xfrm>
            <a:off x="548640" y="45720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773168"/>
            <a:ext cx="502920" cy="502920"/>
          </a:xfrm>
          <a:prstGeom prst="ellipse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4773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473659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SMACC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513892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Run separately per class on 463 bands (420–2,350 nm), positivity + convex-cone constraints, 300 iterations</a:t>
            </a:r>
            <a:endParaRPr lang="en-US" sz="1350" dirty="0"/>
          </a:p>
        </p:txBody>
      </p:sp>
      <p:sp>
        <p:nvSpPr>
          <p:cNvPr id="28" name="extraction step 6"/>
          <p:cNvSpPr/>
          <p:nvPr/>
        </p:nvSpPr>
        <p:spPr>
          <a:xfrm>
            <a:off x="6153912" y="45720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36792" y="4773168"/>
            <a:ext cx="502920" cy="502920"/>
          </a:xfrm>
          <a:prstGeom prst="ellipse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36792" y="4773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022592" y="473659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022592" y="513892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All 483 bands of each selected pixel + row/col + lon/lat → CSV and ENVI spectral libraries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514E"/>
                </a:solidFill>
              </a:rPr>
              <a:t>Settings as in smacc_endmember_extraction.ipynb (defaults). The NDVI filter is confirmed by the data: no endmember has NDVI &lt; 0.30 at 670/800 nm.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SMACC — sequential maximum angle convex cone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6766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Start: residual R = all pixel spectra H (N pixels × 463 bands)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Pick the pixel with the largest residual norm ‖rᵢ‖; store its original spectrum as the next endmember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Project every residual on that pixel's residual w: Oᵢ = (rᵢ·w)/(w·w)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Positivity: coefficients ≤ 0 set to 0. Convex cone: limit αᵢ so no earlier abundance turns negative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Update residuals rᵢ ← rᵢ − αᵢw and abundances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Repeat until 300 endmembers per class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80960" y="1417320"/>
            <a:ext cx="3959352" cy="1828800"/>
          </a:xfrm>
          <a:prstGeom prst="roundRect">
            <a:avLst>
              <a:gd name="adj" fmla="val 400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0" y="1554480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Model</a:t>
            </a:r>
            <a:endParaRPr lang="en-US" sz="1600" dirty="0"/>
          </a:p>
          <a:p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 = Σ fₖ·sₖ + r,   fₖ ≥ 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80960" y="3474720"/>
            <a:ext cx="3959352" cy="2377440"/>
          </a:xfrm>
          <a:prstGeom prst="roundRect">
            <a:avLst>
              <a:gd name="adj" fmla="val 3077"/>
            </a:avLst>
          </a:prstGeom>
          <a:solidFill>
            <a:srgbClr val="FDEBE3"/>
          </a:solidFill>
          <a:ln w="12700">
            <a:solidFill>
              <a:srgbClr val="FDEB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0" y="3611880"/>
            <a:ext cx="3611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Key property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SMACC returns the most extreme (purest, most distinct) spectra of each ROI, not typical ones. This matters when they are used as samples for statistics (see Discussion).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897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514E"/>
                </a:solidFill>
              </a:rPr>
              <a:t>Gruninger, Ratkowski &amp; Hoke (2004), Proc. SPIE 5425.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600 extracted endmember spectra</a:t>
            </a:r>
            <a:endParaRPr lang="en-US" sz="3000" dirty="0"/>
          </a:p>
        </p:txBody>
      </p:sp>
      <p:pic>
        <p:nvPicPr>
          <p:cNvPr id="3" name="All endmember spectra by class" descr="All endmember spectra by cla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49304"/>
            <a:ext cx="11094415" cy="40679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6692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514E"/>
                </a:solidFill>
              </a:rPr>
              <a:t>Thin lines: individual endmembers (n = 300 per class); black: class mean. Gaps are the water-vapour bands removed before extraction.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check: all 600 spectra are analysed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299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spectra analysed — none removed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371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463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20299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of 483 bands used (420–2,350 nm)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5669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spectrum is removed: every SMACC endmember (300 healthy, 300 diseased) enters the analysis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Only the noisy detector edges (&lt; 420 nm and &gt; 2,350 nm, 20 bands) are excluded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Negative (physically impossible) reflectance occurs in 142 diseased and 11 healthy spectra, almost all in SWIR-2 (1,970–2,400 nm) — a radiometric-quality warning for that region, tested in the sensitivity analysis</a:t>
            </a:r>
            <a:endParaRPr lang="en-US" sz="1500" dirty="0"/>
          </a:p>
        </p:txBody>
      </p:sp>
      <p:pic>
        <p:nvPicPr>
          <p:cNvPr id="8" name="Negative reflectance by band" descr="Negative reflectance by ba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524762"/>
            <a:ext cx="5239512" cy="26197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583680" y="4572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142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52303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diseased spectra with values &lt; 0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144000" y="4572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9144000" y="52303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healthy spectra with values &lt; 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data set: reflectance only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299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endmember spectra analysed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337560" y="1371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/ 300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3337560" y="20299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healthy / diseased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371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463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20299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reflectance bands (420–2,350 nm)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915400" y="13716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02996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transformations (no indices, derivatives or normalisation)</a:t>
            </a:r>
            <a:endParaRPr lang="en-US" sz="1200" dirty="0"/>
          </a:p>
        </p:txBody>
      </p:sp>
      <p:pic>
        <p:nvPicPr>
          <p:cNvPr id="11" name="Class mean spectra with SD" descr="Class mean spectra with S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4617" y="2697480"/>
            <a:ext cx="7762461" cy="324612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514E"/>
                </a:solidFill>
              </a:rPr>
              <a:t>Mean ± SD. Diseased is lower in VIS, SWIR-1 and SWIR-2; slightly higher around 950–1,100 nm.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· Four-tier hierarchical analysis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ANOVA → Tier 2 CART → Tier 3 Jeffries–Matusita distance → Tier 4 QDA, as in Das et al. (2020)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DD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tiers, adapted from 14 genotypes to 2 classes</a:t>
            </a:r>
            <a:endParaRPr lang="en-US" sz="3000" dirty="0"/>
          </a:p>
        </p:txBody>
      </p:sp>
      <p:graphicFrame>
        <p:nvGraphicFramePr>
          <p:cNvPr id="1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480560"/>
                <a:gridCol w="514807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 et al. (2020)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study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 field spectra, 14 rice genotypes (91 pairs)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 image endmembers, 2 classes (1 pair)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ANOVA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One-way ANOVA per band, p &lt; 0.05; Tukey HSD; count of significant pairs per band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One-way ANOVA per band, p &lt; 0.05; Tukey HSD (same as ANOVA with 1 pair); FDR, Bonferroni and Cohen's d added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CART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rpart on reflectance → 17 bands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rpart-equivalent tree on the significant bands (Gini, minsplit 20, minbucket 7, cp 0.01)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J–M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J–M per genotype pair on CART bands; threshold 1.94 (of 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J–M healthy vs diseased on CART bands; threshold 1.94 (0–2 scale)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QDA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QDA, 10-fold CV; confusion matrix, OA, PA, UA → 98%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QDA, 10-fold CV (+ 10× repeated); plus nested and spatial-block CV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692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514E"/>
                </a:solidFill>
              </a:rPr>
              <a:t>J–M is reported on the 0–2 scale, JM = 2(1 − e^(−B)); the paper prints the √ form but uses the 0–2 threshold. Tier 2 is also repeated with Random Forest instead of CART (Part C).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1 · 309 of 463 bands differ significantly</a:t>
            </a:r>
            <a:endParaRPr lang="en-US" sz="3000" dirty="0"/>
          </a:p>
        </p:txBody>
      </p:sp>
      <p:pic>
        <p:nvPicPr>
          <p:cNvPr id="3" name="Tier 1 ANOVA results" descr="Tier 1 ANOVA resul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676" y="1234440"/>
            <a:ext cx="6746488" cy="5029200"/>
          </a:xfrm>
          <a:prstGeom prst="rect">
            <a:avLst/>
          </a:prstGeom>
        </p:spPr>
      </p:pic>
      <p:sp>
        <p:nvSpPr>
          <p:cNvPr id="4" name="card What the test shows"/>
          <p:cNvSpPr/>
          <p:nvPr/>
        </p:nvSpPr>
        <p:spPr>
          <a:xfrm>
            <a:off x="7543800" y="1371600"/>
            <a:ext cx="4096512" cy="4754880"/>
          </a:xfrm>
          <a:prstGeom prst="roundRect">
            <a:avLst>
              <a:gd name="adj" fmla="val 1786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26680" y="1481328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test shows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726680" y="1920240"/>
            <a:ext cx="3730752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309 bands significant at p &lt; 0.05 (298 after FDR, 242 after Bonferroni)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All VIS, SWIR-1 and SWIR-2 bands significant; most NIR bands not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Strongest band 2349.5 nm (F = 118.6), at the noisy end of SWIR-2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Effects are small to moderate: largest |d| = 0.89; only 6 bands reach |d| ≥ 0.8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1 by spectral region</a:t>
            </a:r>
            <a:endParaRPr lang="en-US" sz="3000" dirty="0"/>
          </a:p>
        </p:txBody>
      </p:sp>
      <p:graphicFrame>
        <p:nvGraphicFramePr>
          <p:cNvPr id="1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914400"/>
                <a:gridCol w="1051560"/>
                <a:gridCol w="1325880"/>
                <a:gridCol w="1234440"/>
                <a:gridCol w="1600200"/>
                <a:gridCol w="1097280"/>
                <a:gridCol w="167335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&lt; 0.05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FDR q &lt; 0.05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Bonferroni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Max-F band (nm)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 (420-700)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497.8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&lt;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Red-edge (700-750)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701.7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&lt;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NIR (750-1330)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898.6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&lt;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SWIR-1 (1460-1780)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1779.5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&lt;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SWIR-2 (1970-2350)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2349.5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&lt;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57200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With two classes Tukey HSD tests one pair, so it gives exactly the same decision as the ANOVA at every band (checked)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Diseased is lower in VIS, red-edge, SWIR-1 and SWIR-2; only a NIR shoulder (≈1,040–1,110 nm) is slightly higher. A darker visible signal is opposite to the usual chlorosis response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Many tests (463): the FDR column is the safer list of differing bands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2 · CART settings and tree size</a:t>
            </a:r>
            <a:endParaRPr lang="en-US" sz="3000" dirty="0"/>
          </a:p>
        </p:txBody>
      </p:sp>
      <p:sp>
        <p:nvSpPr>
          <p:cNvPr id="3" name="card Settings (R rpart defaults)"/>
          <p:cNvSpPr/>
          <p:nvPr/>
        </p:nvSpPr>
        <p:spPr>
          <a:xfrm>
            <a:off x="548640" y="1371600"/>
            <a:ext cx="4572000" cy="4754880"/>
          </a:xfrm>
          <a:prstGeom prst="roundRect">
            <a:avLst>
              <a:gd name="adj" fmla="val 160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813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Settings (R rpart defaults)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4206240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Input: 309 ANOVA-significant bands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Gini splitting; minsplit 20; minbucket 7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Cost-complexity pruning on misclassification, cp = 0.01 (as rpart)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10-fold cross-validation of every subtree (printcp)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cp = 0.01 tree: 14 splits, 14 bands, resubstitution accuracy 85.2%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1-SE tree: 6 splits, 6 bands (586, 675, 1065, 1623, 2062, 2350 nm)</a:t>
            </a:r>
            <a:endParaRPr lang="en-US" sz="1400" dirty="0"/>
          </a:p>
        </p:txBody>
      </p:sp>
      <p:pic>
        <p:nvPicPr>
          <p:cNvPr id="6" name="CART complexity plot" descr="CART complexity pl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516904"/>
            <a:ext cx="6245352" cy="40985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394960" y="5852160"/>
            <a:ext cx="6245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514E"/>
                </a:solidFill>
              </a:rPr>
              <a:t>CV error is lowest at about 8 splits; the cp = 0.01 tree used by the paper (14 splits) lies just above the 1-SE line, i.e. slightly over-fitted.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2 · The CART tree</a:t>
            </a:r>
            <a:endParaRPr lang="en-US" sz="3000" dirty="0"/>
          </a:p>
        </p:txBody>
      </p:sp>
      <p:pic>
        <p:nvPicPr>
          <p:cNvPr id="3" name="CART tree diagram" descr="CART tree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04909"/>
            <a:ext cx="11094415" cy="490538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05332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514E"/>
                </a:solidFill>
              </a:rPr>
              <a:t>First split R2349.5 ≤ 0.0145 sends 149 spectra (138 diseased) left; CV accuracy of the tree itself as a classifier: 71.0%.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2 · 14 bands selected by CART</a:t>
            </a:r>
            <a:endParaRPr lang="en-US" sz="3000" dirty="0"/>
          </a:p>
        </p:txBody>
      </p:sp>
      <p:pic>
        <p:nvPicPr>
          <p:cNvPr id="3" name="Selected bands on the mean spectra" descr="Selected bands on the mean spect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36192"/>
            <a:ext cx="6949440" cy="2779776"/>
          </a:xfrm>
          <a:prstGeom prst="rect">
            <a:avLst/>
          </a:prstGeom>
        </p:spPr>
      </p:pic>
      <p:graphicFrame>
        <p:nvGraphicFramePr>
          <p:cNvPr id="1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325880"/>
          <a:ext cx="386791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947672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 (nm)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2349.5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675.4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1065.4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1623.5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2115.5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585.7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2061.5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1719.5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2145.5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2037.5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2127.5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2073.5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2271.5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75488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9 of 14 bands lie in SWIR-2; 2349.5 nm alone carries 46% of the tree's importance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Outside SWIR-2: 586 (VIS), 675 (VIS), 1065 (NIR), 1623 (SWIR-1), 1719 (SWIR-1)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2 alternative · Random Forest selects the bands</a:t>
            </a:r>
            <a:endParaRPr lang="en-US" sz="3000" dirty="0"/>
          </a:p>
        </p:txBody>
      </p:sp>
      <p:pic>
        <p:nvPicPr>
          <p:cNvPr id="3" name="Random Forest band ranking" descr="Random Forest band rank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98448"/>
            <a:ext cx="7223760" cy="2889504"/>
          </a:xfrm>
          <a:prstGeom prst="rect">
            <a:avLst/>
          </a:prstGeom>
        </p:spPr>
      </p:pic>
      <p:sp>
        <p:nvSpPr>
          <p:cNvPr id="4" name="card How RF replaces CART"/>
          <p:cNvSpPr/>
          <p:nvPr/>
        </p:nvSpPr>
        <p:spPr>
          <a:xfrm>
            <a:off x="8001000" y="1325880"/>
            <a:ext cx="3639312" cy="4800600"/>
          </a:xfrm>
          <a:prstGeom prst="roundRect">
            <a:avLst>
              <a:gd name="adj" fmla="val 201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83880" y="1435608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RF replaces CART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183880" y="1874520"/>
            <a:ext cx="3273552" cy="414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Input: the same 309 ANOVA-significant bands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Random Forest, 500 trees, mtry = √p, seed 42; bands ranked by mean decrease in Gini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Keep 14 bands — as many as CART — for a fair comparison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RF-A: the top bands by importance only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RF-B: the same ranking, but a band is skipped if |r| ≥ 0.95 with a band already kept</a:t>
            </a:r>
            <a:endParaRPr lang="en-US" sz="1350" dirty="0"/>
          </a:p>
        </p:txBody>
      </p:sp>
      <p:graphicFrame>
        <p:nvGraphicFramePr>
          <p:cNvPr id="1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43400"/>
          <a:ext cx="72237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63093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Bands (nm)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586, 675, 1065, 1623, 1719, 2014, 2038, 2062, 2074, 2116, 2128, 2146, 2272, 2350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1984, 1990, 1996, 2008, 2014, 2026, 2296, 2314, 2320, 2326, 2332, 2338, 2344, 2350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420, 450, 498, 507, 660, 709, 725, 899, 1077, 1479, 1996, 2152, 2254, 2350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3 · J–M distance 1.239: below the 1.94 threshold</a:t>
            </a:r>
            <a:endParaRPr lang="en-US" sz="3000" dirty="0"/>
          </a:p>
        </p:txBody>
      </p:sp>
      <p:graphicFrame>
        <p:nvGraphicFramePr>
          <p:cNvPr id="2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1206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554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 (14 CART bands)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Mahalanobis term ⅛ dᵀC⁻¹d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Covariance term ½ ln(|C| / √|CH||CD|)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Bhattacharyya distance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JM = 2(1 − e^(−B)), 0–2 scale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 form (0–1.414)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Separable (≥ 1.94)?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25196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With all 309 significant bands the covariance matrix has rank 299 (&lt; 309), so J–M cannot be computed — the reason the paper uses CART bands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Most of the distance comes from different covariance, not different means</a:t>
            </a:r>
            <a:endParaRPr lang="en-US" sz="1400" dirty="0"/>
          </a:p>
        </p:txBody>
      </p:sp>
      <p:pic>
        <p:nvPicPr>
          <p:cNvPr id="5" name="J-M distance plots" descr="J-M distance plo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2319" y="1280160"/>
            <a:ext cx="5213555" cy="46177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897880" y="5943600"/>
            <a:ext cx="5742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514E"/>
                </a:solidFill>
              </a:rPr>
              <a:t>Best single band: 2349.5 nm (JM 0.194). Separability rises with each band but stays far below 1.94.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J–M distance of every band selected by CART or RF</a:t>
            </a:r>
            <a:endParaRPr lang="en-US" sz="3000" dirty="0"/>
          </a:p>
        </p:txBody>
      </p:sp>
      <p:pic>
        <p:nvPicPr>
          <p:cNvPr id="3" name="Single-band J-M of selected bands" descr="Single-band J-M of selected ban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5563"/>
            <a:ext cx="7223760" cy="2823833"/>
          </a:xfrm>
          <a:prstGeom prst="rect">
            <a:avLst/>
          </a:prstGeom>
        </p:spPr>
      </p:pic>
      <p:graphicFrame>
        <p:nvGraphicFramePr>
          <p:cNvPr id="2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97680"/>
          <a:ext cx="72237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731520"/>
                <a:gridCol w="1234440"/>
                <a:gridCol w="777240"/>
                <a:gridCol w="914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 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Multi-band JM (0–2)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√JM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1.94?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 (cp = 0.01)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top-14 (importance only)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top-14, redundancy filter |r| &lt; 0.95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ard What it shows"/>
          <p:cNvSpPr/>
          <p:nvPr/>
        </p:nvSpPr>
        <p:spPr>
          <a:xfrm>
            <a:off x="8001000" y="1325880"/>
            <a:ext cx="3639312" cy="4800600"/>
          </a:xfrm>
          <a:prstGeom prst="roundRect">
            <a:avLst>
              <a:gd name="adj" fmla="val 201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183880" y="1435608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shows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8183880" y="1874520"/>
            <a:ext cx="3273552" cy="414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38 different bands were selected by CART, RF-A or RF-B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Single-band JM ranges from 0.007 (725 nm) to 0.194 (2350 nm) — every band is far below 1.94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No single band separates the classes; separability only grows when bands are combined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Even combined, the best set (CART, JM 1.24) stays below the threshold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Full per-band list: sheet 6b_JM_Selected_Bands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4 · QDA, 10-fold cross-validation: 78.2%</a:t>
            </a:r>
            <a:endParaRPr lang="en-US" sz="3000" dirty="0"/>
          </a:p>
        </p:txBody>
      </p:sp>
      <p:graphicFrame>
        <p:nvGraphicFramePr>
          <p:cNvPr id="2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97280"/>
                <a:gridCol w="1097280"/>
                <a:gridCol w="91440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↓ / Predicted →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Producer's acc.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User's acc.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023360"/>
            <a:ext cx="6583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Bands: the 14 CART bands; equal priors; stratified folds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Diseased spectra are often called healthy (97 of 300); healthy are recognised better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Paper-style validation: bands were chosen on all data before CV (see Part D)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7680960" y="14173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78.2%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20756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overall accuracy (10-fold CV)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27432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0.56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340156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Cohen's kappa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40690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77.1% ± 0.7%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472744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mean ± SD over 10 repeated 10-fold CVs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· Random Forest comparison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in place of QDA (Tier 4) and in place of CART (Tier 2); same data, same 10 folds, 500 trees, mtry = √(number of bands)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DD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as the Tier-4 classifier</a:t>
            </a:r>
            <a:endParaRPr lang="en-US" sz="3000" dirty="0"/>
          </a:p>
        </p:txBody>
      </p:sp>
      <p:graphicFrame>
        <p:nvGraphicFramePr>
          <p:cNvPr id="2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914400"/>
                <a:gridCol w="1143000"/>
                <a:gridCol w="1005840"/>
                <a:gridCol w="1188720"/>
                <a:gridCol w="1600200"/>
                <a:gridCol w="16733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/ bands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OA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Kappa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OOB OA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 healthy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 diseased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QDA · CART bands (four-tier)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· CART bands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· all ANOVA-significant bands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· all 463 bands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sp>
        <p:nvSpPr>
          <p:cNvPr id="4" name="card Settings"/>
          <p:cNvSpPr/>
          <p:nvPr/>
        </p:nvSpPr>
        <p:spPr>
          <a:xfrm>
            <a:off x="548640" y="397764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4087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526280"/>
            <a:ext cx="502920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500 trees, Gini, bootstrap samples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mtry = √p (3, 17 or 21 bands per split)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Same stratified folds as QDA; seed 42</a:t>
            </a:r>
            <a:endParaRPr lang="en-US" sz="1400" dirty="0"/>
          </a:p>
        </p:txBody>
      </p:sp>
      <p:sp>
        <p:nvSpPr>
          <p:cNvPr id="7" name="card Reading the table"/>
          <p:cNvSpPr/>
          <p:nvPr/>
        </p:nvSpPr>
        <p:spPr>
          <a:xfrm>
            <a:off x="6245352" y="397764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28232" y="4087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table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28232" y="4526280"/>
            <a:ext cx="502920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 the same 14 bands QDA (78.2%) is ahead of RF (74.8%) in paper-style CV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RF on all bands: 76.2%, with no band selection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OOB agrees with CV within 1.5 points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Random Forest finds the information</a:t>
            </a:r>
            <a:endParaRPr lang="en-US" sz="3000" dirty="0"/>
          </a:p>
        </p:txBody>
      </p:sp>
      <p:pic>
        <p:nvPicPr>
          <p:cNvPr id="3" name="Random Forest importance" descr="Random Forest import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419" y="1280160"/>
            <a:ext cx="10776857" cy="4114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4406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Top RF bands: 2344, 2338, 2350, 1990, 2326 nm — the same SWIR-2 region that dominates CART and ANOVA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Two independent methods agree on where the difference is; whether that difference is physiological or radiometric is discussed in Part 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QDA vs Random Forest (paper-style validation)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4008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371600"/>
          <a:ext cx="44622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7706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QDA · CART bands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four-tier pipeline of the paper: 14 CART bands → QDA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· CART bands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replaces QDA in Tier 4, same bands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· significant bands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on all 309 Tier-1 bands (no CART)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· all bands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on all 463 bands (no Tier 1, no Tier 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sp>
        <p:nvSpPr>
          <p:cNvPr id="5" name="card What the figure tells"/>
          <p:cNvSpPr/>
          <p:nvPr/>
        </p:nvSpPr>
        <p:spPr>
          <a:xfrm>
            <a:off x="7178040" y="3840480"/>
            <a:ext cx="4462272" cy="2286000"/>
          </a:xfrm>
          <a:prstGeom prst="roundRect">
            <a:avLst>
              <a:gd name="adj" fmla="val 320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360920" y="3950208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figure tells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7360920" y="4389120"/>
            <a:ext cx="409651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All four lie between 73% and 78%: about one spectrum in four or five is misclassified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classifier matters less than the information in the bands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These are paper-style (optimistic) numbers; Part D shows stricter validation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2 comparison · CART vs Random Forest band selection</a:t>
            </a:r>
            <a:endParaRPr lang="en-US" sz="3000" dirty="0"/>
          </a:p>
        </p:txBody>
      </p:sp>
      <p:graphicFrame>
        <p:nvGraphicFramePr>
          <p:cNvPr id="2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097280"/>
                <a:gridCol w="1463040"/>
                <a:gridCol w="1371600"/>
                <a:gridCol w="1280160"/>
                <a:gridCol w="1325880"/>
                <a:gridCol w="14447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selection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JM (0–2)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QDA paper-style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QDA 10× mean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QDA nested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QDA spatial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classifier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 (as in the paper)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RF-A: top by importance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RF-B: importance + |r| &lt; 0.95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548640" y="3337560"/>
          <a:ext cx="65836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 Result"/>
          <p:cNvSpPr/>
          <p:nvPr/>
        </p:nvSpPr>
        <p:spPr>
          <a:xfrm>
            <a:off x="7360920" y="3383280"/>
            <a:ext cx="4279392" cy="2743200"/>
          </a:xfrm>
          <a:prstGeom prst="roundRect">
            <a:avLst>
              <a:gd name="adj" fmla="val 266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543800" y="3493008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7543800" y="3931920"/>
            <a:ext cx="391363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CART gives the highest JM (1.24) and paper-style accuracy (78.2%)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RF-B holds up better when selection is validated: nested 74.7% vs 73.2%, spatial 70.2% vs 68.7%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RF-A picks near-identical SWIR-2 neighbours (r ≈ 0.999) and is worst (66.2%)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· Cross-checks and validation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accuracy real, and does it come from disease? Nested CV, spatial blocks, permutation test, location control, sensitivity and step-by-step checks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DD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under stricter validation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722376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What changes"/>
          <p:cNvSpPr/>
          <p:nvPr/>
        </p:nvSpPr>
        <p:spPr>
          <a:xfrm>
            <a:off x="8001000" y="1371600"/>
            <a:ext cx="3639312" cy="4709160"/>
          </a:xfrm>
          <a:prstGeom prst="roundRect">
            <a:avLst>
              <a:gd name="adj" fmla="val 201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83880" y="1481328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183880" y="1920240"/>
            <a:ext cx="3273552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Nested: ANOVA + CART redone inside each training fold — no information from test spectra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Spatial: whole spatial blocks held out (next slide)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QDA falls from 78.2% to 73.2% (nested) and 68.7% (spatial)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RF on all bands holds best: 72.0% spatial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Spatial-block cross-validation</a:t>
            </a:r>
            <a:endParaRPr lang="en-US" sz="3000" dirty="0"/>
          </a:p>
        </p:txBody>
      </p:sp>
      <p:pic>
        <p:nvPicPr>
          <p:cNvPr id="3" name="Spatial blocks map" descr="Spatial blocks 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69577"/>
            <a:ext cx="4846320" cy="3667485"/>
          </a:xfrm>
          <a:prstGeom prst="rect">
            <a:avLst/>
          </a:prstGeom>
        </p:spPr>
      </p:pic>
      <p:graphicFrame>
        <p:nvGraphicFramePr>
          <p:cNvPr id="3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371600"/>
          <a:ext cx="597103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280160"/>
                <a:gridCol w="1234440"/>
                <a:gridCol w="1280160"/>
                <a:gridCol w="13533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spectra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(CART)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(all)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669280" y="4251960"/>
            <a:ext cx="59710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Five k-means blocks per class on pixel position; each fold holds out one healthy and one diseased block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Band selection (ANOVA + CART) repeated inside every fold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Accuracy varies by block: the signal is not uniform across the field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Permutation test and location-only control</a:t>
            </a:r>
            <a:endParaRPr lang="en-US" sz="3000" dirty="0"/>
          </a:p>
        </p:txBody>
      </p:sp>
      <p:pic>
        <p:nvPicPr>
          <p:cNvPr id="3" name="Permutation test histogram" descr="Permutation test hist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046" y="1280160"/>
            <a:ext cx="5390147" cy="3200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61772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200 label shuffles through the full nested pipeline: null mean 50.0%, maximum 54.8%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Observed 73.2%: p = 0.005 (the smallest possible with 200 shuffles) — the signal is real</a:t>
            </a:r>
            <a:endParaRPr lang="en-US" sz="1400" dirty="0"/>
          </a:p>
        </p:txBody>
      </p:sp>
      <p:graphicFrame>
        <p:nvGraphicFramePr>
          <p:cNvPr id="3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371600"/>
          <a:ext cx="542239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960120"/>
                <a:gridCol w="1005840"/>
                <a:gridCol w="9418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Control: two halves of the same 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QDA paper-style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QDA nested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healthy: half A vs half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153 vs 147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diseased: half A vs half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 vs 129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sp>
        <p:nvSpPr>
          <p:cNvPr id="6" name="card Interpretation"/>
          <p:cNvSpPr/>
          <p:nvPr/>
        </p:nvSpPr>
        <p:spPr>
          <a:xfrm>
            <a:off x="6217920" y="3063240"/>
            <a:ext cx="5422392" cy="3017520"/>
          </a:xfrm>
          <a:prstGeom prst="roundRect">
            <a:avLst>
              <a:gd name="adj" fmla="val 2424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400800" y="3172968"/>
            <a:ext cx="5056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400800" y="3611880"/>
            <a:ext cx="5056632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Two halves of the healthy region separate at ≈ 63% although both are healthy: part of the spectral difference is position in the field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The diseased halves are near chance (47%–55%)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Healthy vs diseased (73%–78%) exceeds the healthy-halves control, so disease adds signal, but location effects are not small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Sensitivity analyses</a:t>
            </a:r>
            <a:endParaRPr lang="en-US" sz="3000" dirty="0"/>
          </a:p>
        </p:txBody>
      </p:sp>
      <p:graphicFrame>
        <p:nvGraphicFramePr>
          <p:cNvPr id="3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1325880"/>
                <a:gridCol w="1097280"/>
                <a:gridCol w="1051560"/>
                <a:gridCol w="1234440"/>
                <a:gridCol w="15361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 bands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 bands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JM (0–2)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QDA OA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OA (all bands)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analysis: 600 spectra, 420-2350 nm (463 bands)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SWIR-2 excluded (420-1780 nm, 399 bands)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VNIR only (420-1000 nm)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483 bands incl. noisy edges (399-2398 nm)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931920"/>
            <a:ext cx="1109441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Removing SWIR-2 lowers JM to 0.50, QDA to 63.2% and RF to 70.5%; VNIR alone gives 58%–62%. The discrimination leans on the noisiest region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Keeping the noisy edge bands changes little (QDA 75.7%, RF 75.5%)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selected CART bands change with every data variant, so individual bands should not be over-interpreted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step was cross-checked</a:t>
            </a:r>
            <a:endParaRPr lang="en-US" sz="3000" dirty="0"/>
          </a:p>
        </p:txBody>
      </p:sp>
      <p:graphicFrame>
        <p:nvGraphicFramePr>
          <p:cNvPr id="3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7068312"/>
                <a:gridCol w="10972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 × 489, 300/300, no missing values, no duplicate pixels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8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check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 spectra × 463 bands, no spectra removed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8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F = scipy; t² = F; Tukey = ANOVA at all bands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8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pruning reproduces sklearn tree; rel error = 1 − 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8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log-det = direct det; 1-D closed form; covariance full rank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8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hand-coded QDA = sklearn; OA and N consistent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8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 reproducibility; OOB ≈ CV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8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permutation null centred at 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8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(RF)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bands ⊂ significant set; |r| filter; reproducible ranking; full-rank covariance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8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↔ Python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F, p, JM, B, OA, kappa (CART and RF bands) recomputed by live Excel formulas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8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978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514E"/>
                </a:solidFill>
              </a:rPr>
              <a:t>31 Python checks + 15 live Excel checks, all PASS. Details: sheet 11_Cross_Checks of Four_Tier_Analysis.xlsx.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3000" dirty="0"/>
          </a:p>
        </p:txBody>
      </p:sp>
      <p:sp>
        <p:nvSpPr>
          <p:cNvPr id="3" name="discussion 1"/>
          <p:cNvSpPr/>
          <p:nvPr/>
        </p:nvSpPr>
        <p:spPr>
          <a:xfrm>
            <a:off x="548640" y="132588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3560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Moderate, not near-perfect, separation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50749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JM 1.24 (threshold 1.94) and 68%–78% accuracy vs 98% in Das et al. Their samples were 50-scan field spectra of uniform plots; here they are 2 cm image pixels with mixed leaves, lesions and shadow.</a:t>
            </a:r>
            <a:endParaRPr lang="en-US" sz="1250" dirty="0"/>
          </a:p>
        </p:txBody>
      </p:sp>
      <p:sp>
        <p:nvSpPr>
          <p:cNvPr id="6" name="discussion 2"/>
          <p:cNvSpPr/>
          <p:nvPr/>
        </p:nvSpPr>
        <p:spPr>
          <a:xfrm>
            <a:off x="6153912" y="132588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36792" y="143560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SWIR-2 drives the result — with a caveat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336792" y="1828800"/>
            <a:ext cx="50749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strongest bands (≈2,300–2,350 nm) sit in the noisiest region; 142 diseased spectra have negative reflectance there. Without SWIR-2, QDA falls to 63% and RF to 71%.</a:t>
            </a:r>
            <a:endParaRPr lang="en-US" sz="1250" dirty="0"/>
          </a:p>
        </p:txBody>
      </p:sp>
      <p:sp>
        <p:nvSpPr>
          <p:cNvPr id="9" name="discussion 3"/>
          <p:cNvSpPr/>
          <p:nvPr/>
        </p:nvSpPr>
        <p:spPr>
          <a:xfrm>
            <a:off x="548640" y="297180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08152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Unexpected visible signal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474720"/>
            <a:ext cx="50749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Diseased canopy is darker in the visible, not brighter as chlorosis would cause; canopy structure, illumination or region effects are plausible and should be checked in the field.</a:t>
            </a:r>
            <a:endParaRPr lang="en-US" sz="1250" dirty="0"/>
          </a:p>
        </p:txBody>
      </p:sp>
      <p:sp>
        <p:nvSpPr>
          <p:cNvPr id="12" name="discussion 4"/>
          <p:cNvSpPr/>
          <p:nvPr/>
        </p:nvSpPr>
        <p:spPr>
          <a:xfrm>
            <a:off x="6153912" y="297180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36792" y="308152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 and validation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336792" y="3474720"/>
            <a:ext cx="50749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Halves of the healthy region separate at ≈ 63%; spatial-block CV lowers QDA to 69%. Paper-style CV overstates accuracy by 5–10 points.</a:t>
            </a:r>
            <a:endParaRPr lang="en-US" sz="1250" dirty="0"/>
          </a:p>
        </p:txBody>
      </p:sp>
      <p:sp>
        <p:nvSpPr>
          <p:cNvPr id="15" name="discussion 5"/>
          <p:cNvSpPr/>
          <p:nvPr/>
        </p:nvSpPr>
        <p:spPr>
          <a:xfrm>
            <a:off x="548640" y="461772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7274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 vs RF in Tier 2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120640"/>
            <a:ext cx="50749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CART bands give the best JM and paper-style accuracy; redundancy-filtered RF bands generalise better (spatial 70% vs 69%). Raw RF importance picks redundant neighbours.</a:t>
            </a:r>
            <a:endParaRPr lang="en-US" sz="1250" dirty="0"/>
          </a:p>
        </p:txBody>
      </p:sp>
      <p:sp>
        <p:nvSpPr>
          <p:cNvPr id="18" name="discussion 6"/>
          <p:cNvSpPr/>
          <p:nvPr/>
        </p:nvSpPr>
        <p:spPr>
          <a:xfrm>
            <a:off x="6153912" y="461772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36792" y="47274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QDA vs RF in Tier 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36792" y="5120640"/>
            <a:ext cx="50749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QDA wins in paper-style CV (78% vs 76%), but RF on all bands is best under nested (76%) and spatial (72%) validation.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000" dirty="0"/>
          </a:p>
        </p:txBody>
      </p:sp>
      <p:sp>
        <p:nvSpPr>
          <p:cNvPr id="3" name="summary 1"/>
          <p:cNvSpPr/>
          <p:nvPr/>
        </p:nvSpPr>
        <p:spPr>
          <a:xfrm>
            <a:off x="548640" y="141732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688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endmembers analysed (300 H / 300 D), none removed, on 463 reflectance bands</a:t>
            </a:r>
            <a:endParaRPr lang="en-US" sz="1400" dirty="0"/>
          </a:p>
        </p:txBody>
      </p:sp>
      <p:sp>
        <p:nvSpPr>
          <p:cNvPr id="6" name="summary 2"/>
          <p:cNvSpPr/>
          <p:nvPr/>
        </p:nvSpPr>
        <p:spPr>
          <a:xfrm>
            <a:off x="4297680" y="141732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6002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309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4688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bands differ significantly (Tier 1); all VIS, SWIR-1 and SWIR-2</a:t>
            </a:r>
            <a:endParaRPr lang="en-US" sz="1400" dirty="0"/>
          </a:p>
        </p:txBody>
      </p:sp>
      <p:sp>
        <p:nvSpPr>
          <p:cNvPr id="9" name="summary 3"/>
          <p:cNvSpPr/>
          <p:nvPr/>
        </p:nvSpPr>
        <p:spPr>
          <a:xfrm>
            <a:off x="8046720" y="141732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6002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4688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bands kept by CART (Tier 2); 9 in SWIR-2, 2349.5 nm most important</a:t>
            </a:r>
            <a:endParaRPr lang="en-US" sz="1400" dirty="0"/>
          </a:p>
        </p:txBody>
      </p:sp>
      <p:sp>
        <p:nvSpPr>
          <p:cNvPr id="12" name="summary 4"/>
          <p:cNvSpPr/>
          <p:nvPr/>
        </p:nvSpPr>
        <p:spPr>
          <a:xfrm>
            <a:off x="548640" y="379476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977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1.24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8463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J–M distance (Tier 3), below 1.94; no single band exceeds 0.19</a:t>
            </a:r>
            <a:endParaRPr lang="en-US" sz="1400" dirty="0"/>
          </a:p>
        </p:txBody>
      </p:sp>
      <p:sp>
        <p:nvSpPr>
          <p:cNvPr id="15" name="summary 5"/>
          <p:cNvSpPr/>
          <p:nvPr/>
        </p:nvSpPr>
        <p:spPr>
          <a:xfrm>
            <a:off x="4297680" y="379476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6280" y="3977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78.2%</a:t>
            </a:r>
            <a:endParaRPr lang="en-US" sz="38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48463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QDA accuracy (Tier 4), kappa 0.56; 73.2% nested, 68.7% spatial</a:t>
            </a:r>
            <a:endParaRPr lang="en-US" sz="1400" dirty="0"/>
          </a:p>
        </p:txBody>
      </p:sp>
      <p:sp>
        <p:nvSpPr>
          <p:cNvPr id="18" name="summary 6"/>
          <p:cNvSpPr/>
          <p:nvPr/>
        </p:nvSpPr>
        <p:spPr>
          <a:xfrm>
            <a:off x="8046720" y="379476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75320" y="3977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72.0%</a:t>
            </a:r>
            <a:endParaRPr lang="en-US" sz="38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48463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best spatial-block accuracy: RF on all bands (RF-B bands + QDA: 70.2%)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The four-tier method of Das et al. (2020) was applied to all 600 SMACC endmembers, with Random Forest tested both in place of CART (Tier 2) and of QDA (Tier 4); every step was cross-checked.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Healthy and diseased spectra differ significantly (permutation p = 0.005), but separation is moderate: JM 1.24 &lt; 1.94 and realistic accuracy 68%–76%.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CART + QDA scores highest only under the paper's optimistic validation; RF band selection (with a redundancy filter) and RF classification on all bands are more robust.</a:t>
            </a:r>
            <a:endParaRPr lang="en-US" sz="1900" dirty="0"/>
          </a:p>
          <a:p>
            <a:pPr marL="342900" indent="-342900"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Before relying on the SWIR-2 bands: verify radiometric calibration, sample random pixels or plot means instead of SMACC extremes, add plot-level ground truth and an independent date.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DD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Das B, Sahoo RN, Biswas A, Pargal S, Krishna G, Verma R, Chinnusamy V, Sehgal VK, Gupta VK (2020) Discrimination of rice genotypes using field spectroradiometry. Geocarto International 35(1):64–77. doi:10.1080/10106049.2018.1506507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Gruninger JH, Ratkowski AJ, Hoke ML (2004) The sequential maximum angle convex cone (SMACC) endmember model. Proc. SPIE 5425. doi:10.1117/12.543794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Breiman L, Friedman JH, Olshen RA, Stone CJ (1984) Classification and Regression Trees. Wadsworth, Belmont, CA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Breiman L (2001) Random forests. Machine Learning 45:5–32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Richards JA (2013) Remote Sensing Digital Image Analysis, 5th ed. Springer, Berlin (Jeffries–Matusita distance)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Benjamini Y, Hochberg Y (1995) Controlling the false discovery rate. Journal of the Royal Statistical Society B 57:289–300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Roberts DR et al. (2017) Cross-validation strategies for data with temporal, spatial, hierarchical, or phylogenetic structure. Ecography 40:913–929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nopy">
  <a:themeElements>
    <a:clrScheme name="Canopy">
      <a:dk1>
        <a:srgbClr val="1B1F1D"/>
      </a:dk1>
      <a:lt1>
        <a:srgbClr val="FFFFFF"/>
      </a:lt1>
      <a:dk2>
        <a:srgbClr val="1F3A2E"/>
      </a:dk2>
      <a:lt2>
        <a:srgbClr val="EEF3EF"/>
      </a:lt2>
      <a:accent1>
        <a:srgbClr val="1BAF7A"/>
      </a:accent1>
      <a:accent2>
        <a:srgbClr val="EB6834"/>
      </a:accent2>
      <a:accent3>
        <a:srgbClr val="2A78D6"/>
      </a:accent3>
      <a:accent4>
        <a:srgbClr val="EDA100"/>
      </a:accent4>
      <a:accent5>
        <a:srgbClr val="6250D6"/>
      </a:accent5>
      <a:accent6>
        <a:srgbClr val="52514E"/>
      </a:accent6>
      <a:hlink>
        <a:srgbClr val="2A78D6"/>
      </a:hlink>
      <a:folHlink>
        <a:srgbClr val="6250D6"/>
      </a:folHlink>
    </a:clrScheme>
    <a:fontScheme name="Canop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Four-tier analysis of SMACC endmembers</dc:title>
  <dc:subject>PptxGenJS Presentation</dc:subject>
  <dc:creator>PptxGenJS</dc:creator>
  <cp:lastModifiedBy>PptxGenJS</cp:lastModifiedBy>
  <cp:revision>1</cp:revision>
  <dcterms:created xsi:type="dcterms:W3CDTF">2026-10-17T14:22:56Z</dcterms:created>
  <dcterms:modified xsi:type="dcterms:W3CDTF">2026-10-17T14:22:56Z</dcterms:modified>
</cp:coreProperties>
</file>