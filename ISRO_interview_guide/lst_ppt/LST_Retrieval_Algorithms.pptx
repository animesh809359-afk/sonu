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87884d-27a1-cf61-cb54-eb4ae120ac4d}">
          <p14:sldIdLst>
            <p14:sldId id="256"/>
            <p14:sldId id="257"/>
            <p14:sldId id="258"/>
            <p14:sldId id="259"/>
            <p14:sldId id="260"/>
            <p14:sldId id="261"/>
          </p14:sldIdLst>
        </p14:section>
        <p14:section name="Known emissivity" id="{9c1da73d-5e59-735e-85ec-64cbdb160da2}">
          <p14:sldIdLst>
            <p14:sldId id="262"/>
            <p14:sldId id="263"/>
            <p14:sldId id="264"/>
            <p14:sldId id="265"/>
            <p14:sldId id="266"/>
          </p14:sldIdLst>
        </p14:section>
        <p14:section name="Unknown emissivity" id="{c437686f-d3aa-0c40-656a-90f6ce0c7622}">
          <p14:sldIdLst>
            <p14:sldId id="267"/>
            <p14:sldId id="268"/>
            <p14:sldId id="269"/>
            <p14:sldId id="270"/>
            <p14:sldId id="271"/>
            <p14:sldId id="272"/>
            <p14:sldId id="273"/>
            <p14:sldId id="274"/>
            <p14:sldId id="275"/>
            <p14:sldId id="276"/>
            <p14:sldId id="277"/>
          </p14:sldIdLst>
        </p14:section>
        <p14:section name="Validation and outlook" id="{22907c6c-1e10-65d1-13dd-f0bd692086f1}">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land surface temperature (LST) is retrieved from satellite thermal infrared data, following the review by Zhao-Liang Li and co-authors in Remote Sensing of Environment (2013). We go from the physics (Planck's law and the radiative transfer equation), through why the problem is ill-posed, to every family of algorithms: single-channel, split-window, multi-angle, emissivity methods (classification-based, NDVI-based, TISI), simultaneous temperature–emissivity separation (TTM, day/night, gray body, TES, ISSTES, LECTES), and full simultaneous retrieval with the atmosphere (ANN, two-step physical). We finish with validation and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LST? It controls the exchange of long-wave radiation and turbulent (sensible and latent) heat between land and atmosphere. It is used in evapotranspiration models such as SEBAL, METRIC and ALEXI, in drought indices, climate studies and urban heat islands. To estimate ET with better than 10 % accuracy, LST must be retrieved to about 1 K or better (Kustas &amp; Norman 1996; Wan &amp; Dozier 1996). LST can change by more than 10 K over a few centimetres and by more than 1 K within a minute, so ground point measurements cannot represent large areas. Satellites are the only way to get spatially averaged values globally.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 above absolute zero emits radiation, described by Planck's law. Wien's law tells us where emission peaks: for land surfaces between 250 and 330 K the peak is between 11.6 and 8.8 µm, which conveniently sits in the 8–13 µm atmospheric window. Natural surfaces are not black bodies, so we multiply Planck radiance by emissivity. If the atmosphere had no effect, we could just invert Planck's law. In practice we must correct for the atmosphere and the emissivity, and those two corrections are what all LST algorithms 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LST retrieval. The radiance measured at the top of the atmosphere in channel i equals the radiance leaving the surface, attenuated by atmospheric transmittance τ, plus the upward atmospheric emission, plus scattered sunlight. The radiance leaving the surface itself is surface emission (emissivity times Planck at LST) plus reflection of the downward atmospheric radiance (1 minus emissivity times R-down), plus reflected sunlight. In the thermal window 8–14 µm the solar terms can be ignored, so the simplified equation is: I = [ε B(Ts) + (1−ε) R↓] τ + R↑. Radiances are usually expressed as brightness temperatures, the temperature a black body would need to give that radiance.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 et al. list seven difficulties. The most fundamental is that the problem is underdetermined: with N channels you have N emissivities plus LST, so N plus 1 unknowns. Every algorithm must add information: either assume emissivity is known, add equations (more times, more angles) or add constraints on the shape of the emissivity spectrum. Second, thermal channels are highly correlated, which makes solutions unstable. Third, emissivity couples surface emission and reflected sky radiance. Fourth, atmospheric correction needs profiles of temperature and humidity. Fifth, MIR channels carry reflected sunlight by day. Sixth, the retrieved temperature is a radiometric skin temperature; over heterogeneous pixels its meaning is debated (Becker and Li 1995 definition recommended). Seventh, validation is hard because LST varies so quickly in space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organises algorithms by what is known about emissivity. If emissivity is known a priori, three families exist: single-channel, multi-channel (the split-window family) and multi-angle. If emissivity is unknown, there are three routes. Stepwise methods first estimate emissivity (from land-cover classes, NDVI or the TISI method) and then apply a known-emissivity algorithm. Simultaneous methods solve LST and emissivity together from atmospherically corrected radiance, using time (TTM, day/night) or spectral shape constraints (gray body, TES, ISSTES, LECTES). Finally, the most ambitious methods also retrieve the atmospheric profiles at the same time (neural networks, two-step physical retrieval), mostly from hyperspectral sounders.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covers methods that assume land surface emissivity is known for each pixel. They differ in how they deal with the atmosphere: by explicit radiative transfer (single-channel) or by exploiting differential absorption between channels (split-window) or between view angles (multi-angle).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single-channel method takes the radiance from one thermal channel and removes the atmosphere explicitly. You need an atmospheric profile at overpass time and a radiative transfer code such as MODTRAN to compute transmittance, upwelling and downwelling radiance. With a known emissivity you invert the equation to get the surface-emitted Planck radiance and then invert Planck's law. Accuracy depends on three things: the RTM (0.4–1.5 K), the profile (radiosondes are rarely coincident; NWP reanalysis is a practical alternative with under 0.5 K error from humidity), and emissivity (1 % error gives 0.3–0.7 K). For Landsat's single thermal band, Qin et al. 2001 and the Jiménez-Muñoz–Sobrino generalized single-channel algorithm replace profiles with water vapour and air temperature, but they degrade in very humid atmospheres, which matters for India in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split-window idea: at 11 and 12 µm the atmosphere, mainly water vapour, absorbs differently. The stronger the absorption, the bigger the difference between the two brightness temperatures. So the brightness temperature difference itself tells you how much correction is needed. LST = a0 + a1 Ti + a2 (Ti − Tj). The coefficients are not universal; they depend on the sensor's spectral response, the two emissivities, the water vapour and the view angle. They are found by simulating a large database with MODTRAN and regressing, which is easier than collecting pixel-scale in situ LST. Coefficients can be parameterised in terms of emissivity only (valid for dry atmospheres, WV below 2.5 g/cm²), emissivity plus water vapour, or emissivity, water vapour and view angle (important beyond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MODIS generalized split-window of Wan and Dozier (1996) writes LST as a function of the mean and the difference of the two band emissivities, with seven coefficients. Rather than one set of coefficients, it uses look-up tables by view angle, water vapour sub-range, emissivity class and air temperature (or LST) sub-range, and retrieves in two steps: first approximate, then refined in the correct sub-range. Validation shows better than 1 K accuracy for several land covers in clear skies. The non-linear split-window adds a squared brightness-temperature-difference term to handle hot and humid atmospheres, where the linear approximation of transmittance with water vapour breaks down. Comparisons find most split-window formulations perform similarly; including emissivity difference can make results too sensitive to emissivity errors, so mean-emissivity forms are recommended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more than two channels exist, LST can be a linear or non-linear combination of three or four brightness temperatures. Adding the 3.9 µm MIR channel helps atmospheric correction at night because it is less sensitive to water vapour, but by day it contains reflected sunlight which must be corrected. Multi-angle methods use the same idea as split-window, but instead of two wavelengths they use two view angles: the forward view travels through more atmosphere. ATSR and AATSR provided nadir and forward views. In theory dual-angle beats split-window, but the angular behaviour of emissivity and of temperature itself (sunlit versus shaded parts, 3-D structure), different footprints and co-registration errors limit it to homogeneous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emissivity differs from unity and varies with vegetation, soil moisture, roughness and view angle, so laboratory values cannot simply be used at pixel scale. Typically a 1 % emissivity uncertainty gives about 0.5 K LST error. To reach 1 K, emissivity itself must be estimated from space. Three routes: stepwise, simultaneous with known atmosphere, simultaneous with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Stepwise methods first get emissivity, then use any known-emissivity algorithm. The classification-based method assigns emissivity from land cover using a look-up table. Snyder and colleagues showed about 70 % of land covers can be assigned within 0.01. It fails where emissivity varies within a class, with moisture or snow, and for geology because visible classification is not related to thermal emissivity physics. The NDVI threshold method (widely used with Landsat) treats a pixel as a mixture of soil and vegetation: for bare soil emissivity comes from red reflectance, for full vegetation it is about 0.99, and in between it is a weighted mix by vegetation fraction from scaled NDVI, plus a cavity term. Note: the exact mixed-pixel formula shown is the standard Sobrino NDVI-THM formulation; the review describes the method and its assumptions. The weakest point is soil emissivity, and it is only valid around 10–12 µm.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TISI is a ratio of channel radiances arranged so that temperature cancels out, leaving an emissivity-related quantity. At night the MIR channel contains only emission; by day it also contains reflected sunlight. Assuming the TISI from emission is the same day and night, the day–night difference gives the MIR reflectivity. With a BRDF model you get hemispherical reflectivity, so MIR emissivity is one minus that, and the TISI ratios then give the thermal-band emissivities. Finally a split-window algorithm gives LST. It is physical and needs no land-cover knowledge, but requires approximate atmospheric correction, day/night co-registration and similar viewing angles.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Multi-temporal methods add equations by observing the same pixel at two times while assuming emissivity does not change. In the two-temperature method, N channels at two times give 2N equations for N emissivities and two temperatures. It is elegant but unstable because thermal channels are correlated. The MODIS day/night algorithm (MOD11B) improves on it: it uses seven bands in MIR and TIR, day and night, and also solves for air temperature, water vapour and an angular form factor, giving N plus 7 unknowns, so it needs N of at least 7. Reflected sunlight in MIR by day breaks the correlation and stabilises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 solves the N plus 1 problem by adding one empirical equation: the minimum emissivity in the spectrum is related to the spectral contrast (max minus min). It combines three modules. NEM assumes a maximum emissivity to get a first temperature and normalized emissivities. The spectral ratio module divides each emissivity by the mean, giving the spectrum's shape which is insensitive to the temperature guess. MMD measures contrast, the empirical law gives minimum emissivity, which scales the spectrum to absolute values, and temperature is recomputed. It reaches about 1.5 K and 0.015 emissivity, but struggles where contrast is low (water, vegetation) because noise and atmospheric errors look like spectral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constrain the shape of the emissivity spectrum instead of using time. Gray-body assumes at least two channels share the same emissivity; easier to find in hyperspectral data. ISSTES uses the observation that real emissivity spectra are smooth: if the assumed temperature is wrong, the retrieved emissivity spectrum picks up the sharp atmospheric lines as saw-teeth, so you iterate temperature until the spectrum is smoothest. LECTES approximates emissivity as piecewise linear segments of about 10 wavenumbers, so unknowns are 2M plus 1, solvable when the number of hyperspectral channels exceeds that; it is more noise-resistant than ISSTES.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ultimate solution is to retrieve the surface and the atmosphere together, which hyperspectral sounders such as AIRS and IASI make possible. ANNs map radiances directly to LST, emissivity and profiles. Wang et al. reported about 1.6 K for LST. They are fast but opaque. The two-step physical method linearises the radiative transfer equation around a first guess, reduces unknowns with principal components (five temperature and three humidity eigenvectors capture 40 levels) and stabilises the inversion with Tikhonov regularisation, then iterates with Newton's method. It needs a good first guess, which an ANN can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summarises Table 1 of the review. There is no universal best method: each relies on different assumptions. The practical choice depends on the sensor (number of channels, angles, revisit), whether emissivity and atmospheric profiles are available, required accuracy and computing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of the first page of Table 1 from Li et al. (2013), comparing the methods with known emissivity and the stepwise and two-temperature methods: assumptions, advantages, limitations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page of Table 1: the day/night physical method, gray body, TES, ISSTES, LECTES, ANN and two-step physical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decision path built from the review's conclusion that the optimal method depends on the sensor's characteristics, availability of emissivity and atmospheric information, and method complexity. Hyperspectral sounders allow spectral-smoothness methods and simultaneous atmospheric retrieval. Multispectral instruments with three or more TIR bands (ASTER) use TES. Two-band sensors (MODIS, AVHRR, INSAT-3D) use split-window with emissivity from NDVI or classification. Single-band sensors (Landsat 5–7 and often Landsat 8 band 10 alone) use single-channel algorithms with NWP water vapour.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validation no product can be trusted. Then we look at where the field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Temperature-based validation compares satellite LST with radiometer measurements on the ground at overpass time. It is direct but only works over thermally homogeneous sites, often at night, because daytime LST can vary 10 K over a few metres. Radiance-based validation avoids ground LST: with an in situ atmospheric profile and known emissivity, you simulate the top-of-atmosphere radiance and tune LST until it matches the measured radiance; the difference from the product LST is the error. Cross-validation compares against a trusted product such as MODIS, carefully matching location, time and view angle. The three are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authors argue that multispectral methods have matured; real progress needs new data. Hyperspectral thermal sensors offer thousands of channels to retrieve the atmosphere and emissivity spectrum together. Geostationary satellites give hourly data at fixed angles, ideal for multi-temporal separation. Aerosols (thermal transmittance around 0.95–0.98) and cirrus need explicit handling. Component temperatures of soil and canopy matter for two-source energy balance models like TSEB and ALEXI. Microwave LST can fill cloudy gaps. And because polar-orbiter LST is taken at different local times and view angles, angular and temporal normalization is needed for consistent long-term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review to Indian programmes. INSAT-3D series imagers carry split-window thermal channels, so LST is retrieved with a split-window approach every half hour, which suits multi-temporal methods and ALEXI-style energy balance. TRISHNA, a joint ISRO–CNES thermal mission, will provide high-resolution multi-band thermal data for field-scale evapotranspiration, where temperature–emissivity separation methods apply. Landsat thermal data with NDVI-based emissivity drive SEBAL and METRIC. LST feeds crop water stress indices, the temperature condition index used in drought monitoring, and interpretation of fluorescence from FLEX together with Sentinel-3 SLSTR land surface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Interview one-liner: LST retrieval from thermal infrared is ill-posed because each channel adds an unknown emissivity, and the atmosphere must be corrected too. With known emissivity we use single-channel (with an atmospheric profile and RTM), split-window (differential absorption at 11 and 12 µm, as in MODIS GSW) or dual-angle methods. With unknown emissivity we estimate it stepwise from land cover, NDVI or TISI, or solve it simultaneously using time (two-temperature, MODIS day/night) or spectral constraints (TES for ASTER, ISSTES and LECTES for hyperspectral), or retrieve the atmosphere too with ANN or two-step physical methods. Products are validated by temperature-based, radiance-based and cross-validation, aiming at about 1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18872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5C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6446520"/>
            <a:ext cx="7315200" cy="274320"/>
          </a:xfrm>
          <a:prstGeom prst="rect">
            <a:avLst/>
          </a:prstGeom>
          <a:noFill/>
          <a:ln/>
        </p:spPr>
        <p:txBody>
          <a:bodyPr wrap="square" rtlCol="0" anchor="ctr"/>
          <a:lstStyle/>
          <a:p>
            <a:pPr indent="0" marL="0">
              <a:buNone/>
            </a:pPr>
            <a:r>
              <a:rPr lang="en-US" sz="1000" dirty="0">
                <a:solidFill>
                  <a:srgbClr val="8A93A3"/>
                </a:solidFill>
              </a:rPr>
              <a:t>Based on Li et al. (2013), Remote Sensing of Environment 131: 14–37</a:t>
            </a:r>
            <a:endParaRPr lang="en-US" sz="1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5C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Land Surface Temperature from Space</a:t>
            </a:r>
            <a:endParaRPr lang="en-US" sz="4400" dirty="0"/>
          </a:p>
        </p:txBody>
      </p:sp>
      <p:sp>
        <p:nvSpPr>
          <p:cNvPr id="3" name="Text 0"/>
          <p:cNvSpPr/>
          <p:nvPr>
            <p:ph idx="101" type="body" hasCustomPrompt="1"/>
          </p:nvPr>
        </p:nvSpPr>
        <p:spPr>
          <a:xfrm>
            <a:off x="731520" y="3611880"/>
            <a:ext cx="10698480" cy="1280160"/>
          </a:xfrm>
          <a:prstGeom prst="rect">
            <a:avLst/>
          </a:prstGeom>
          <a:noFill/>
          <a:ln/>
        </p:spPr>
        <p:txBody>
          <a:bodyPr wrap="square" rtlCol="0" anchor="t"/>
          <a:lstStyle/>
          <a:p>
            <a:pPr indent="0" marL="0">
              <a:buNone/>
            </a:pPr>
            <a:r>
              <a:rPr lang="en-US" sz="2000" dirty="0">
                <a:solidFill>
                  <a:schemeClr val="accent2"/>
                </a:solidFill>
              </a:rPr>
              <a:t>Retrieval algorithms, concepts, methodology and validation</a:t>
            </a:r>
            <a:endParaRPr lang="en-US" sz="2000" dirty="0"/>
          </a:p>
          <a:p>
            <a:pPr indent="0" marL="0">
              <a:buNone/>
            </a:pPr>
            <a:r>
              <a:rPr lang="en-US" sz="2000" dirty="0">
                <a:solidFill>
                  <a:schemeClr val="accent2"/>
                </a:solidFill>
              </a:rPr>
              <a:t>Based on Li, Tang, Wu, Ren, Yan, Wan, Trigo &amp; Sobrino (2013), Remote Sensing of Environment 131: 14–37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land surface temperature matters</a:t>
            </a:r>
            <a:endParaRPr lang="en-US" sz="3000" dirty="0"/>
          </a:p>
        </p:txBody>
      </p:sp>
      <p:sp>
        <p:nvSpPr>
          <p:cNvPr id="3" name="text-1"/>
          <p:cNvSpPr txBox="1"/>
          <p:nvPr/>
        </p:nvSpPr>
        <p:spPr>
          <a:xfrm>
            <a:off x="457200" y="1188720"/>
            <a:ext cx="6035040" cy="4480560"/>
          </a:xfrm>
          <a:prstGeom prst="rect">
            <a:avLst/>
          </a:prstGeom>
          <a:noFill/>
          <a:ln/>
        </p:spPr>
        <p:txBody>
          <a:bodyPr wrap="square" lIns="635" tIns="635" rIns="635" bIns="635" rtlCol="0" anchor="t"/>
          <a:lstStyle/>
          <a:p>
            <a:pPr algn="l" marL="203200" indent="-203200">
              <a:spcAft>
                <a:spcPts val="1000"/>
              </a:spcAft>
              <a:buSzPct val="100000"/>
              <a:buChar char="•"/>
            </a:pPr>
            <a:r>
              <a:rPr lang="en-US" sz="1700" dirty="0">
                <a:solidFill>
                  <a:schemeClr val="tx1"/>
                </a:solidFill>
              </a:rPr>
              <a:t>LST is the </a:t>
            </a:r>
            <a:r>
              <a:rPr lang="en-US" sz="1700" b="1" dirty="0">
                <a:solidFill>
                  <a:schemeClr val="tx1"/>
                </a:solidFill>
              </a:rPr>
              <a:t>direct driving force</a:t>
            </a:r>
            <a:r>
              <a:rPr lang="en-US" sz="1700" dirty="0">
                <a:solidFill>
                  <a:schemeClr val="tx1"/>
                </a:solidFill>
              </a:rPr>
              <a:t> of long-wave radiation and turbulent heat exchange at the surface–atmosphere interface</a:t>
            </a:r>
            <a:endParaRPr lang="en-US" sz="1700" dirty="0"/>
          </a:p>
          <a:p>
            <a:pPr algn="l" marL="203200" indent="-203200">
              <a:spcAft>
                <a:spcPts val="1000"/>
              </a:spcAft>
              <a:buSzPct val="100000"/>
              <a:buChar char="•"/>
            </a:pPr>
            <a:r>
              <a:rPr lang="en-US" sz="1700" dirty="0">
                <a:solidFill>
                  <a:schemeClr val="tx1"/>
                </a:solidFill>
              </a:rPr>
              <a:t>Key input for </a:t>
            </a:r>
            <a:r>
              <a:rPr lang="en-US" sz="1700" b="1" dirty="0">
                <a:solidFill>
                  <a:schemeClr val="tx1"/>
                </a:solidFill>
              </a:rPr>
              <a:t>evapotranspiration</a:t>
            </a:r>
            <a:r>
              <a:rPr lang="en-US" sz="1700" dirty="0">
                <a:solidFill>
                  <a:schemeClr val="tx1"/>
                </a:solidFill>
              </a:rPr>
              <a:t>, drought monitoring, climate change, hydrology, vegetation and urban heat studies</a:t>
            </a:r>
            <a:endParaRPr lang="en-US" sz="1700" dirty="0"/>
          </a:p>
          <a:p>
            <a:pPr algn="l" marL="203200" indent="-203200">
              <a:spcAft>
                <a:spcPts val="1000"/>
              </a:spcAft>
              <a:buSzPct val="100000"/>
              <a:buChar char="•"/>
            </a:pPr>
            <a:r>
              <a:rPr lang="en-US" sz="1700" dirty="0">
                <a:solidFill>
                  <a:schemeClr val="tx1"/>
                </a:solidFill>
              </a:rPr>
              <a:t>Recognised as a </a:t>
            </a:r>
            <a:r>
              <a:rPr lang="en-US" sz="1700" b="1" dirty="0">
                <a:solidFill>
                  <a:schemeClr val="tx1"/>
                </a:solidFill>
              </a:rPr>
              <a:t>high-priority parameter</a:t>
            </a:r>
            <a:r>
              <a:rPr lang="en-US" sz="1700" dirty="0">
                <a:solidFill>
                  <a:schemeClr val="tx1"/>
                </a:solidFill>
              </a:rPr>
              <a:t> of the International Geosphere-Biosphere Programme (IGBP)</a:t>
            </a:r>
            <a:endParaRPr lang="en-US" sz="1700" dirty="0"/>
          </a:p>
          <a:p>
            <a:pPr algn="l" marL="203200" indent="-203200">
              <a:spcAft>
                <a:spcPts val="1000"/>
              </a:spcAft>
              <a:buSzPct val="100000"/>
              <a:buChar char="•"/>
            </a:pPr>
            <a:r>
              <a:rPr lang="en-US" sz="1700" dirty="0">
                <a:solidFill>
                  <a:schemeClr val="tx1"/>
                </a:solidFill>
              </a:rPr>
              <a:t>LST varies strongly in space and time, so </a:t>
            </a:r>
            <a:r>
              <a:rPr lang="en-US" sz="1700" b="1" dirty="0">
                <a:solidFill>
                  <a:schemeClr val="tx1"/>
                </a:solidFill>
              </a:rPr>
              <a:t>only satellites</a:t>
            </a:r>
            <a:r>
              <a:rPr lang="en-US" sz="1700" dirty="0">
                <a:solidFill>
                  <a:schemeClr val="tx1"/>
                </a:solidFill>
              </a:rPr>
              <a:t> can map it over large areas with spatially averaged values</a:t>
            </a:r>
            <a:endParaRPr lang="en-US" sz="1700" dirty="0"/>
          </a:p>
          <a:p>
            <a:pPr algn="l" marL="203200" indent="-203200">
              <a:spcAft>
                <a:spcPts val="1000"/>
              </a:spcAft>
              <a:buSzPct val="100000"/>
              <a:buChar char="•"/>
            </a:pPr>
            <a:r>
              <a:rPr lang="en-US" sz="1700" dirty="0">
                <a:solidFill>
                  <a:schemeClr val="tx1"/>
                </a:solidFill>
              </a:rPr>
              <a:t>Retrieval history dates back to the </a:t>
            </a:r>
            <a:r>
              <a:rPr lang="en-US" sz="1700" b="1" dirty="0">
                <a:solidFill>
                  <a:schemeClr val="tx1"/>
                </a:solidFill>
              </a:rPr>
              <a:t>1970s</a:t>
            </a:r>
            <a:r>
              <a:rPr lang="en-US" sz="1700" dirty="0">
                <a:solidFill>
                  <a:schemeClr val="tx1"/>
                </a:solidFill>
              </a:rPr>
              <a:t> (McMillin 1975)</a:t>
            </a:r>
            <a:endParaRPr lang="en-US" sz="1700" dirty="0"/>
          </a:p>
        </p:txBody>
      </p:sp>
      <p:sp>
        <p:nvSpPr>
          <p:cNvPr id="4" name="card-2"/>
          <p:cNvSpPr/>
          <p:nvPr/>
        </p:nvSpPr>
        <p:spPr>
          <a:xfrm>
            <a:off x="7040880" y="1234440"/>
            <a:ext cx="4663440" cy="1371600"/>
          </a:xfrm>
          <a:prstGeom prst="roundRect">
            <a:avLst>
              <a:gd name="adj" fmla="val 6667"/>
            </a:avLst>
          </a:prstGeom>
          <a:solidFill>
            <a:schemeClr val="accent1">
              <a:alpha val="12000"/>
            </a:schemeClr>
          </a:solidFill>
          <a:ln w="12700">
            <a:solidFill>
              <a:schemeClr val="accent1">
                <a:alpha val="40000"/>
              </a:schemeClr>
            </a:solidFill>
            <a:prstDash val="solid"/>
          </a:ln>
        </p:spPr>
      </p:sp>
      <p:sp>
        <p:nvSpPr>
          <p:cNvPr id="5" name="text-3"/>
          <p:cNvSpPr txBox="1"/>
          <p:nvPr/>
        </p:nvSpPr>
        <p:spPr>
          <a:xfrm>
            <a:off x="7223760" y="1344168"/>
            <a:ext cx="4297680" cy="731520"/>
          </a:xfrm>
          <a:prstGeom prst="rect">
            <a:avLst/>
          </a:prstGeom>
          <a:noFill/>
          <a:ln/>
        </p:spPr>
        <p:txBody>
          <a:bodyPr wrap="square" lIns="635" tIns="635" rIns="635" bIns="635" rtlCol="0" anchor="ctr"/>
          <a:lstStyle/>
          <a:p>
            <a:pPr algn="l"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1 K</a:t>
            </a:r>
            <a:endParaRPr lang="en-US" sz="1500" dirty="0"/>
          </a:p>
        </p:txBody>
      </p:sp>
      <p:sp>
        <p:nvSpPr>
          <p:cNvPr id="6" name="text-4"/>
          <p:cNvSpPr txBox="1"/>
          <p:nvPr/>
        </p:nvSpPr>
        <p:spPr>
          <a:xfrm>
            <a:off x="7223760" y="2057400"/>
            <a:ext cx="4297680" cy="457200"/>
          </a:xfrm>
          <a:prstGeom prst="rect">
            <a:avLst/>
          </a:prstGeom>
          <a:noFill/>
          <a:ln/>
        </p:spPr>
        <p:txBody>
          <a:bodyPr wrap="square" lIns="635" tIns="635" rIns="635" bIns="635" rtlCol="0" anchor="t"/>
          <a:lstStyle/>
          <a:p>
            <a:pPr algn="l" indent="0" marL="0">
              <a:spcAft>
                <a:spcPts val="600"/>
              </a:spcAft>
              <a:buNone/>
            </a:pPr>
            <a:r>
              <a:rPr lang="en-US" sz="1500" dirty="0">
                <a:solidFill>
                  <a:schemeClr val="tx2"/>
                </a:solidFill>
              </a:rPr>
              <a:t>accuracy needed for LST</a:t>
            </a:r>
            <a:endParaRPr lang="en-US" sz="1500" dirty="0"/>
          </a:p>
        </p:txBody>
      </p:sp>
      <p:sp>
        <p:nvSpPr>
          <p:cNvPr id="7" name="card-5"/>
          <p:cNvSpPr/>
          <p:nvPr/>
        </p:nvSpPr>
        <p:spPr>
          <a:xfrm>
            <a:off x="7040880" y="2834640"/>
            <a:ext cx="4663440" cy="1371600"/>
          </a:xfrm>
          <a:prstGeom prst="roundRect">
            <a:avLst>
              <a:gd name="adj" fmla="val 6667"/>
            </a:avLst>
          </a:prstGeom>
          <a:solidFill>
            <a:schemeClr val="accent1">
              <a:alpha val="12000"/>
            </a:schemeClr>
          </a:solidFill>
          <a:ln w="12700">
            <a:solidFill>
              <a:schemeClr val="accent1">
                <a:alpha val="40000"/>
              </a:schemeClr>
            </a:solidFill>
            <a:prstDash val="solid"/>
          </a:ln>
        </p:spPr>
      </p:sp>
      <p:sp>
        <p:nvSpPr>
          <p:cNvPr id="8" name="text-6"/>
          <p:cNvSpPr txBox="1"/>
          <p:nvPr/>
        </p:nvSpPr>
        <p:spPr>
          <a:xfrm>
            <a:off x="7223760" y="2944368"/>
            <a:ext cx="4297680" cy="731520"/>
          </a:xfrm>
          <a:prstGeom prst="rect">
            <a:avLst/>
          </a:prstGeom>
          <a:noFill/>
          <a:ln/>
        </p:spPr>
        <p:txBody>
          <a:bodyPr wrap="square" lIns="635" tIns="635" rIns="635" bIns="635" rtlCol="0" anchor="ctr"/>
          <a:lstStyle/>
          <a:p>
            <a:pPr algn="l"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&lt; 10 %</a:t>
            </a:r>
            <a:endParaRPr lang="en-US" sz="1500" dirty="0"/>
          </a:p>
        </p:txBody>
      </p:sp>
      <p:sp>
        <p:nvSpPr>
          <p:cNvPr id="9" name="text-7"/>
          <p:cNvSpPr txBox="1"/>
          <p:nvPr/>
        </p:nvSpPr>
        <p:spPr>
          <a:xfrm>
            <a:off x="7223760" y="3657600"/>
            <a:ext cx="4297680" cy="457200"/>
          </a:xfrm>
          <a:prstGeom prst="rect">
            <a:avLst/>
          </a:prstGeom>
          <a:noFill/>
          <a:ln/>
        </p:spPr>
        <p:txBody>
          <a:bodyPr wrap="square" lIns="635" tIns="635" rIns="635" bIns="635" rtlCol="0" anchor="t"/>
          <a:lstStyle/>
          <a:p>
            <a:pPr algn="l" indent="0" marL="0">
              <a:spcAft>
                <a:spcPts val="600"/>
              </a:spcAft>
              <a:buNone/>
            </a:pPr>
            <a:r>
              <a:rPr lang="en-US" sz="1500" dirty="0">
                <a:solidFill>
                  <a:schemeClr val="tx2"/>
                </a:solidFill>
              </a:rPr>
              <a:t>ET error target that needs it</a:t>
            </a:r>
            <a:endParaRPr lang="en-US" sz="1500" dirty="0"/>
          </a:p>
        </p:txBody>
      </p:sp>
      <p:sp>
        <p:nvSpPr>
          <p:cNvPr id="10" name="card-8"/>
          <p:cNvSpPr/>
          <p:nvPr/>
        </p:nvSpPr>
        <p:spPr>
          <a:xfrm>
            <a:off x="7040880" y="4434840"/>
            <a:ext cx="4663440" cy="1371600"/>
          </a:xfrm>
          <a:prstGeom prst="roundRect">
            <a:avLst>
              <a:gd name="adj" fmla="val 6667"/>
            </a:avLst>
          </a:prstGeom>
          <a:solidFill>
            <a:schemeClr val="accent1">
              <a:alpha val="12000"/>
            </a:schemeClr>
          </a:solidFill>
          <a:ln w="12700">
            <a:solidFill>
              <a:schemeClr val="accent1">
                <a:alpha val="40000"/>
              </a:schemeClr>
            </a:solidFill>
            <a:prstDash val="solid"/>
          </a:ln>
        </p:spPr>
      </p:sp>
      <p:sp>
        <p:nvSpPr>
          <p:cNvPr id="11" name="text-9"/>
          <p:cNvSpPr txBox="1"/>
          <p:nvPr/>
        </p:nvSpPr>
        <p:spPr>
          <a:xfrm>
            <a:off x="7223760" y="4544568"/>
            <a:ext cx="4297680" cy="731520"/>
          </a:xfrm>
          <a:prstGeom prst="rect">
            <a:avLst/>
          </a:prstGeom>
          <a:noFill/>
          <a:ln/>
        </p:spPr>
        <p:txBody>
          <a:bodyPr wrap="square" lIns="635" tIns="635" rIns="635" bIns="635" rtlCol="0" anchor="ctr"/>
          <a:lstStyle/>
          <a:p>
            <a:pPr algn="l" indent="0" marL="0">
              <a:spcAft>
                <a:spcPts val="600"/>
              </a:spcAft>
              <a:buNone/>
            </a:pPr>
            <a:r>
              <a:rPr lang="en-US" sz="4000" b="1" dirty="0">
                <a:solidFill>
                  <a:schemeClr val="accent1"/>
                </a:solidFill>
                <a:latin typeface="Cambria" pitchFamily="34" charset="0"/>
                <a:ea typeface="Cambria" pitchFamily="34" charset="-122"/>
                <a:cs typeface="Cambria" pitchFamily="34" charset="-120"/>
              </a:rPr>
              <a:t>8–13 µm</a:t>
            </a:r>
            <a:endParaRPr lang="en-US" sz="1500" dirty="0"/>
          </a:p>
        </p:txBody>
      </p:sp>
      <p:sp>
        <p:nvSpPr>
          <p:cNvPr id="12" name="text-10"/>
          <p:cNvSpPr txBox="1"/>
          <p:nvPr/>
        </p:nvSpPr>
        <p:spPr>
          <a:xfrm>
            <a:off x="7223760" y="5257800"/>
            <a:ext cx="4297680" cy="457200"/>
          </a:xfrm>
          <a:prstGeom prst="rect">
            <a:avLst/>
          </a:prstGeom>
          <a:noFill/>
          <a:ln/>
        </p:spPr>
        <p:txBody>
          <a:bodyPr wrap="square" lIns="635" tIns="635" rIns="635" bIns="635" rtlCol="0" anchor="t"/>
          <a:lstStyle/>
          <a:p>
            <a:pPr algn="l" indent="0" marL="0">
              <a:spcAft>
                <a:spcPts val="600"/>
              </a:spcAft>
              <a:buNone/>
            </a:pPr>
            <a:r>
              <a:rPr lang="en-US" sz="1500" dirty="0">
                <a:solidFill>
                  <a:schemeClr val="tx2"/>
                </a:solidFill>
              </a:rPr>
              <a:t>thermal atmospheric window</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Physical basis: Planck, Wien and emissivity</a:t>
            </a:r>
            <a:endParaRPr lang="en-US" sz="3000" dirty="0"/>
          </a:p>
        </p:txBody>
      </p:sp>
      <p:sp>
        <p:nvSpPr>
          <p:cNvPr id="3" name="box-11"/>
          <p:cNvSpPr txBox="1"/>
          <p:nvPr/>
        </p:nvSpPr>
        <p:spPr>
          <a:xfrm>
            <a:off x="457200" y="1234440"/>
            <a:ext cx="3657600" cy="1417320"/>
          </a:xfrm>
          <a:prstGeom prst="roundRect">
            <a:avLst>
              <a:gd name="adj" fmla="val 5161"/>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300" dirty="0">
                <a:solidFill>
                  <a:schemeClr val="tx1"/>
                </a:solidFill>
              </a:rPr>
              <a:t>Planck's law</a:t>
            </a:r>
            <a:endParaRPr lang="en-US" sz="1300" dirty="0"/>
          </a:p>
          <a:p>
            <a:pPr algn="ctr" indent="0" marL="0">
              <a:buNone/>
            </a:pPr>
            <a:r>
              <a:rPr lang="en-US" sz="1300" dirty="0">
                <a:solidFill>
                  <a:schemeClr val="tx1"/>
                </a:solidFill>
              </a:rPr>
              <a:t>Bλ(T) = C1 / [λ⁵ (exp(C2/λT) − 1)]</a:t>
            </a:r>
            <a:endParaRPr lang="en-US" sz="1300" dirty="0"/>
          </a:p>
          <a:p>
            <a:pPr algn="ctr" indent="0" marL="0">
              <a:buNone/>
            </a:pPr>
            <a:r>
              <a:rPr lang="en-US" sz="1300" dirty="0">
                <a:solidFill>
                  <a:schemeClr val="tx1"/>
                </a:solidFill>
              </a:rPr>
              <a:t>C1 = 1.191×10⁸ W µm⁴ sr⁻¹ m⁻²   C2 = 1.439×10⁴ µm K</a:t>
            </a:r>
            <a:endParaRPr lang="en-US" sz="1300" dirty="0"/>
          </a:p>
        </p:txBody>
      </p:sp>
      <p:sp>
        <p:nvSpPr>
          <p:cNvPr id="4" name="box-12"/>
          <p:cNvSpPr txBox="1"/>
          <p:nvPr/>
        </p:nvSpPr>
        <p:spPr>
          <a:xfrm>
            <a:off x="4297680" y="1234440"/>
            <a:ext cx="3657600" cy="1417320"/>
          </a:xfrm>
          <a:prstGeom prst="roundRect">
            <a:avLst>
              <a:gd name="adj" fmla="val 5161"/>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dirty="0">
                <a:solidFill>
                  <a:schemeClr val="tx1"/>
                </a:solidFill>
              </a:rPr>
              <a:t>Wien's law</a:t>
            </a:r>
            <a:endParaRPr lang="en-US" sz="1300" dirty="0"/>
          </a:p>
          <a:p>
            <a:pPr algn="ctr" indent="0" marL="0">
              <a:buNone/>
            </a:pPr>
            <a:r>
              <a:rPr lang="en-US" sz="1300" dirty="0">
                <a:solidFill>
                  <a:schemeClr val="tx1"/>
                </a:solidFill>
              </a:rPr>
              <a:t>λmax · T = 2897.9 µm K</a:t>
            </a:r>
            <a:endParaRPr lang="en-US" sz="1300" dirty="0"/>
          </a:p>
          <a:p>
            <a:pPr algn="ctr" indent="0" marL="0">
              <a:buNone/>
            </a:pPr>
            <a:r>
              <a:rPr lang="en-US" sz="1300" dirty="0">
                <a:solidFill>
                  <a:schemeClr val="tx1"/>
                </a:solidFill>
              </a:rPr>
              <a:t>250–330 K → peak 11.6–8.8 µm</a:t>
            </a:r>
            <a:endParaRPr lang="en-US" sz="1300" dirty="0"/>
          </a:p>
          <a:p>
            <a:pPr algn="ctr" indent="0" marL="0">
              <a:buNone/>
            </a:pPr>
            <a:r>
              <a:rPr lang="en-US" sz="1300" dirty="0">
                <a:solidFill>
                  <a:schemeClr val="tx1"/>
                </a:solidFill>
              </a:rPr>
              <a:t>Wildfire ~800 K → ~3.6 µm (MIR)</a:t>
            </a:r>
            <a:endParaRPr lang="en-US" sz="1300" dirty="0"/>
          </a:p>
        </p:txBody>
      </p:sp>
      <p:sp>
        <p:nvSpPr>
          <p:cNvPr id="5" name="box-13"/>
          <p:cNvSpPr txBox="1"/>
          <p:nvPr/>
        </p:nvSpPr>
        <p:spPr>
          <a:xfrm>
            <a:off x="8138160" y="1234440"/>
            <a:ext cx="3611880" cy="1417320"/>
          </a:xfrm>
          <a:prstGeom prst="roundRect">
            <a:avLst>
              <a:gd name="adj" fmla="val 5161"/>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300" dirty="0">
                <a:solidFill>
                  <a:schemeClr val="tx1"/>
                </a:solidFill>
              </a:rPr>
              <a:t>Emissivity ε</a:t>
            </a:r>
            <a:endParaRPr lang="en-US" sz="1300" dirty="0"/>
          </a:p>
          <a:p>
            <a:pPr algn="ctr" indent="0" marL="0">
              <a:buNone/>
            </a:pPr>
            <a:r>
              <a:rPr lang="en-US" sz="1300" dirty="0">
                <a:solidFill>
                  <a:schemeClr val="tx1"/>
                </a:solidFill>
              </a:rPr>
              <a:t>ratio of object radiance to a black body at the same T</a:t>
            </a:r>
            <a:endParaRPr lang="en-US" sz="1300" dirty="0"/>
          </a:p>
          <a:p>
            <a:pPr algn="ctr" indent="0" marL="0">
              <a:buNone/>
            </a:pPr>
            <a:r>
              <a:rPr lang="en-US" sz="1300" dirty="0">
                <a:solidFill>
                  <a:schemeClr val="tx1"/>
                </a:solidFill>
              </a:rPr>
              <a:t>Radiance = ε · Bλ(T)</a:t>
            </a:r>
            <a:endParaRPr lang="en-US" sz="1300" dirty="0"/>
          </a:p>
        </p:txBody>
      </p:sp>
      <p:sp>
        <p:nvSpPr>
          <p:cNvPr id="6" name="text-14"/>
          <p:cNvSpPr txBox="1"/>
          <p:nvPr/>
        </p:nvSpPr>
        <p:spPr>
          <a:xfrm>
            <a:off x="457200" y="2926080"/>
            <a:ext cx="11247120" cy="3291840"/>
          </a:xfrm>
          <a:prstGeom prst="rect">
            <a:avLst/>
          </a:prstGeom>
          <a:noFill/>
          <a:ln/>
        </p:spPr>
        <p:txBody>
          <a:bodyPr wrap="square" lIns="635" tIns="635" rIns="635" bIns="635" rtlCol="0" anchor="t"/>
          <a:lstStyle/>
          <a:p>
            <a:pPr algn="l" marL="203200" indent="-203200">
              <a:spcAft>
                <a:spcPts val="800"/>
              </a:spcAft>
              <a:buSzPct val="100000"/>
              <a:buChar char="•"/>
            </a:pPr>
            <a:r>
              <a:rPr lang="en-US" sz="1600" dirty="0">
                <a:solidFill>
                  <a:schemeClr val="tx1"/>
                </a:solidFill>
              </a:rPr>
              <a:t>The Earth (~288 K) emits most strongly near </a:t>
            </a:r>
            <a:r>
              <a:rPr lang="en-US" sz="1600" b="1" dirty="0">
                <a:solidFill>
                  <a:schemeClr val="tx1"/>
                </a:solidFill>
              </a:rPr>
              <a:t>10 µm</a:t>
            </a:r>
            <a:r>
              <a:rPr lang="en-US" sz="1600" dirty="0">
                <a:solidFill>
                  <a:schemeClr val="tx1"/>
                </a:solidFill>
              </a:rPr>
              <a:t>, which falls inside the </a:t>
            </a:r>
            <a:r>
              <a:rPr lang="en-US" sz="1600" b="1" dirty="0">
                <a:solidFill>
                  <a:schemeClr val="tx1"/>
                </a:solidFill>
              </a:rPr>
              <a:t>8–13 µm atmospheric window</a:t>
            </a:r>
            <a:r>
              <a:rPr lang="en-US" sz="1600" dirty="0">
                <a:solidFill>
                  <a:schemeClr val="tx1"/>
                </a:solidFill>
              </a:rPr>
              <a:t>, the most transparent region for thermal radiation</a:t>
            </a:r>
            <a:endParaRPr lang="en-US" sz="1600" dirty="0"/>
          </a:p>
          <a:p>
            <a:pPr algn="l" marL="203200" indent="-203200">
              <a:spcAft>
                <a:spcPts val="800"/>
              </a:spcAft>
              <a:buSzPct val="100000"/>
              <a:buChar char="•"/>
            </a:pPr>
            <a:r>
              <a:rPr lang="en-US" sz="1600" dirty="0">
                <a:solidFill>
                  <a:schemeClr val="tx1"/>
                </a:solidFill>
              </a:rPr>
              <a:t>The </a:t>
            </a:r>
            <a:r>
              <a:rPr lang="en-US" sz="1600" b="1" dirty="0">
                <a:solidFill>
                  <a:schemeClr val="tx1"/>
                </a:solidFill>
              </a:rPr>
              <a:t>3–5 µm mid-infrared (MIR)</a:t>
            </a:r>
            <a:r>
              <a:rPr lang="en-US" sz="1600" dirty="0">
                <a:solidFill>
                  <a:schemeClr val="tx1"/>
                </a:solidFill>
              </a:rPr>
              <a:t> window is also clear: it is used for hot targets (fires) and in some LST algorithms</a:t>
            </a:r>
            <a:endParaRPr lang="en-US" sz="1600" dirty="0"/>
          </a:p>
          <a:p>
            <a:pPr algn="l" marL="203200" indent="-203200">
              <a:spcAft>
                <a:spcPts val="800"/>
              </a:spcAft>
              <a:buSzPct val="100000"/>
              <a:buChar char="•"/>
            </a:pPr>
            <a:r>
              <a:rPr lang="en-US" sz="1600" dirty="0">
                <a:solidFill>
                  <a:schemeClr val="tx1"/>
                </a:solidFill>
              </a:rPr>
              <a:t>If there were no atmosphere and ε were known, LST could be obtained simply by </a:t>
            </a:r>
            <a:r>
              <a:rPr lang="en-US" sz="1600" b="1" dirty="0">
                <a:solidFill>
                  <a:schemeClr val="tx1"/>
                </a:solidFill>
              </a:rPr>
              <a:t>inverting Planck's law</a:t>
            </a:r>
            <a:endParaRPr lang="en-US" sz="1600" dirty="0"/>
          </a:p>
          <a:p>
            <a:pPr algn="l" marL="203200" indent="-203200">
              <a:spcAft>
                <a:spcPts val="800"/>
              </a:spcAft>
              <a:buSzPct val="100000"/>
              <a:buChar char="•"/>
            </a:pPr>
            <a:r>
              <a:rPr lang="en-US" sz="1600" dirty="0">
                <a:solidFill>
                  <a:schemeClr val="tx1"/>
                </a:solidFill>
              </a:rPr>
              <a:t>In reality the satellite also sees </a:t>
            </a:r>
            <a:r>
              <a:rPr lang="en-US" sz="1600" b="1" dirty="0">
                <a:solidFill>
                  <a:schemeClr val="tx1"/>
                </a:solidFill>
              </a:rPr>
              <a:t>atmospheric absorption, emission and reflection</a:t>
            </a:r>
            <a:r>
              <a:rPr lang="en-US" sz="1600" dirty="0">
                <a:solidFill>
                  <a:schemeClr val="tx1"/>
                </a:solidFill>
              </a:rPr>
              <a:t>, and natural surfaces are </a:t>
            </a:r>
            <a:r>
              <a:rPr lang="en-US" sz="1600" b="1" dirty="0">
                <a:solidFill>
                  <a:schemeClr val="tx1"/>
                </a:solidFill>
              </a:rPr>
              <a:t>not black bodies</a:t>
            </a:r>
            <a:r>
              <a:rPr lang="en-US" sz="1600" dirty="0">
                <a:solidFill>
                  <a:schemeClr val="tx1"/>
                </a:solidFill>
              </a:rPr>
              <a:t> (ε &lt; 1). That is why we need retrieval algorithms</a:t>
            </a:r>
            <a:endParaRPr lang="en-US" sz="1600" dirty="0"/>
          </a:p>
          <a:p>
            <a:pPr algn="l" marL="203200" indent="-203200">
              <a:spcAft>
                <a:spcPts val="800"/>
              </a:spcAft>
              <a:buSzPct val="100000"/>
              <a:buChar char="•"/>
            </a:pPr>
            <a:r>
              <a:rPr lang="en-US" sz="1600" dirty="0">
                <a:solidFill>
                  <a:schemeClr val="tx1"/>
                </a:solidFill>
              </a:rPr>
              <a:t>Satellite channels have finite bandwidth, so all quantities are </a:t>
            </a:r>
            <a:r>
              <a:rPr lang="en-US" sz="1600" b="1" dirty="0">
                <a:solidFill>
                  <a:schemeClr val="tx1"/>
                </a:solidFill>
              </a:rPr>
              <a:t>channel-effective values</a:t>
            </a:r>
            <a:r>
              <a:rPr lang="en-US" sz="1600" dirty="0">
                <a:solidFill>
                  <a:schemeClr val="tx1"/>
                </a:solidFill>
              </a:rPr>
              <a:t> weighted by the spectral response function gi(λ)</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Radiative transfer equation in the thermal infrared</a:t>
            </a:r>
            <a:endParaRPr lang="en-US" sz="3000" dirty="0"/>
          </a:p>
        </p:txBody>
      </p:sp>
      <p:pic>
        <p:nvPicPr>
          <p:cNvPr id="3" name="img-15" descr="Fig. 1 of Li et al. 2013: radiative transfer paths">    </p:cNvPr>
          <p:cNvPicPr>
            <a:picLocks noChangeAspect="1"/>
          </p:cNvPicPr>
          <p:nvPr/>
        </p:nvPicPr>
        <p:blipFill>
          <a:blip r:embed="rId1"/>
          <a:stretch>
            <a:fillRect/>
          </a:stretch>
        </p:blipFill>
        <p:spPr>
          <a:xfrm>
            <a:off x="457200" y="1143000"/>
            <a:ext cx="5120640" cy="4519061"/>
          </a:xfrm>
          <a:prstGeom prst="rect">
            <a:avLst/>
          </a:prstGeom>
        </p:spPr>
      </p:pic>
      <p:sp>
        <p:nvSpPr>
          <p:cNvPr id="4" name="frame-16"/>
          <p:cNvSpPr/>
          <p:nvPr/>
        </p:nvSpPr>
        <p:spPr>
          <a:xfrm>
            <a:off x="457200" y="1143000"/>
            <a:ext cx="5120640" cy="4519061"/>
          </a:xfrm>
          <a:prstGeom prst="rect">
            <a:avLst/>
          </a:prstGeom>
          <a:ln w="9525">
            <a:solidFill>
              <a:srgbClr val="C9CED6"/>
            </a:solidFill>
            <a:prstDash val="solid"/>
          </a:ln>
        </p:spPr>
      </p:sp>
      <p:sp>
        <p:nvSpPr>
          <p:cNvPr id="5" name="text-17"/>
          <p:cNvSpPr txBox="1"/>
          <p:nvPr/>
        </p:nvSpPr>
        <p:spPr>
          <a:xfrm>
            <a:off x="457200" y="6053328"/>
            <a:ext cx="5303520" cy="320040"/>
          </a:xfrm>
          <a:prstGeom prst="rect">
            <a:avLst/>
          </a:prstGeom>
          <a:noFill/>
          <a:ln/>
        </p:spPr>
        <p:txBody>
          <a:bodyPr wrap="square" lIns="635" tIns="635" rIns="635" bIns="635" rtlCol="0" anchor="t"/>
          <a:lstStyle/>
          <a:p>
            <a:pPr algn="l" indent="0" marL="0">
              <a:spcAft>
                <a:spcPts val="600"/>
              </a:spcAft>
              <a:buNone/>
            </a:pPr>
            <a:r>
              <a:rPr lang="en-US" sz="1100" i="1" dirty="0">
                <a:solidFill>
                  <a:srgbClr val="6B7280"/>
                </a:solidFill>
              </a:rPr>
              <a:t>Screenshot: Fig. 1 of Li et al. (2013), paths ① to ⑦</a:t>
            </a:r>
            <a:endParaRPr lang="en-US" sz="1100" dirty="0"/>
          </a:p>
        </p:txBody>
      </p:sp>
      <p:pic>
        <p:nvPicPr>
          <p:cNvPr id="6" name="img-18" descr="eq34_rte.png">    </p:cNvPr>
          <p:cNvPicPr>
            <a:picLocks noChangeAspect="1"/>
          </p:cNvPicPr>
          <p:nvPr/>
        </p:nvPicPr>
        <p:blipFill>
          <a:blip r:embed="rId2"/>
          <a:stretch>
            <a:fillRect/>
          </a:stretch>
        </p:blipFill>
        <p:spPr>
          <a:xfrm>
            <a:off x="5852160" y="1188720"/>
            <a:ext cx="5852160" cy="1004719"/>
          </a:xfrm>
          <a:prstGeom prst="rect">
            <a:avLst/>
          </a:prstGeom>
        </p:spPr>
      </p:pic>
      <p:sp>
        <p:nvSpPr>
          <p:cNvPr id="7" name="frame-19"/>
          <p:cNvSpPr/>
          <p:nvPr/>
        </p:nvSpPr>
        <p:spPr>
          <a:xfrm>
            <a:off x="5852160" y="1188720"/>
            <a:ext cx="5852160" cy="1004719"/>
          </a:xfrm>
          <a:prstGeom prst="rect">
            <a:avLst/>
          </a:prstGeom>
          <a:ln w="9525">
            <a:solidFill>
              <a:srgbClr val="C9CED6"/>
            </a:solidFill>
            <a:prstDash val="solid"/>
          </a:ln>
        </p:spPr>
      </p:sp>
      <p:pic>
        <p:nvPicPr>
          <p:cNvPr id="8" name="img-20" descr="eq4b.png">    </p:cNvPr>
          <p:cNvPicPr>
            <a:picLocks noChangeAspect="1"/>
          </p:cNvPicPr>
          <p:nvPr/>
        </p:nvPicPr>
        <p:blipFill>
          <a:blip r:embed="rId3"/>
          <a:stretch>
            <a:fillRect/>
          </a:stretch>
        </p:blipFill>
        <p:spPr>
          <a:xfrm>
            <a:off x="5852160" y="2377440"/>
            <a:ext cx="4508676" cy="1828800"/>
          </a:xfrm>
          <a:prstGeom prst="rect">
            <a:avLst/>
          </a:prstGeom>
        </p:spPr>
      </p:pic>
      <p:sp>
        <p:nvSpPr>
          <p:cNvPr id="9" name="frame-21"/>
          <p:cNvSpPr/>
          <p:nvPr/>
        </p:nvSpPr>
        <p:spPr>
          <a:xfrm>
            <a:off x="5852160" y="2377440"/>
            <a:ext cx="4508676" cy="1828800"/>
          </a:xfrm>
          <a:prstGeom prst="rect">
            <a:avLst/>
          </a:prstGeom>
          <a:ln w="9525">
            <a:solidFill>
              <a:srgbClr val="C9CED6"/>
            </a:solidFill>
            <a:prstDash val="solid"/>
          </a:ln>
        </p:spPr>
      </p:sp>
      <p:sp>
        <p:nvSpPr>
          <p:cNvPr id="10" name="text-22"/>
          <p:cNvSpPr txBox="1"/>
          <p:nvPr/>
        </p:nvSpPr>
        <p:spPr>
          <a:xfrm>
            <a:off x="5852160" y="4206240"/>
            <a:ext cx="5852160" cy="320040"/>
          </a:xfrm>
          <a:prstGeom prst="rect">
            <a:avLst/>
          </a:prstGeom>
          <a:noFill/>
          <a:ln/>
        </p:spPr>
        <p:txBody>
          <a:bodyPr wrap="square" lIns="635" tIns="635" rIns="635" bIns="635" rtlCol="0" anchor="t"/>
          <a:lstStyle/>
          <a:p>
            <a:pPr algn="l" indent="0" marL="0">
              <a:spcAft>
                <a:spcPts val="600"/>
              </a:spcAft>
              <a:buNone/>
            </a:pPr>
            <a:r>
              <a:rPr lang="en-US" sz="1100" i="1" dirty="0">
                <a:solidFill>
                  <a:srgbClr val="6B7280"/>
                </a:solidFill>
              </a:rPr>
              <a:t>Screenshot: Eqs. (3) and (4) of Li et al. (2013)</a:t>
            </a:r>
            <a:endParaRPr lang="en-US" sz="1100" dirty="0"/>
          </a:p>
        </p:txBody>
      </p:sp>
      <p:sp>
        <p:nvSpPr>
          <p:cNvPr id="11" name="text-23"/>
          <p:cNvSpPr txBox="1"/>
          <p:nvPr/>
        </p:nvSpPr>
        <p:spPr>
          <a:xfrm>
            <a:off x="5852160" y="4572000"/>
            <a:ext cx="5852160" cy="1737360"/>
          </a:xfrm>
          <a:prstGeom prst="rect">
            <a:avLst/>
          </a:prstGeom>
          <a:noFill/>
          <a:ln/>
        </p:spPr>
        <p:txBody>
          <a:bodyPr wrap="square" lIns="635" tIns="635" rIns="635" bIns="635" rtlCol="0" anchor="t"/>
          <a:lstStyle/>
          <a:p>
            <a:pPr algn="l" marL="203200" indent="-203200">
              <a:spcAft>
                <a:spcPts val="400"/>
              </a:spcAft>
              <a:buSzPct val="100000"/>
              <a:buChar char="•"/>
            </a:pPr>
            <a:r>
              <a:rPr lang="en-US" sz="1300" dirty="0">
                <a:solidFill>
                  <a:schemeClr val="tx1"/>
                </a:solidFill>
              </a:rPr>
              <a:t>① surface radiance attenuated by the atmosphere (τ)   ② upward atmospheric emission</a:t>
            </a:r>
            <a:endParaRPr lang="en-US" sz="1300" dirty="0"/>
          </a:p>
          <a:p>
            <a:pPr algn="l" marL="203200" indent="-203200">
              <a:spcAft>
                <a:spcPts val="400"/>
              </a:spcAft>
              <a:buSzPct val="100000"/>
              <a:buChar char="•"/>
            </a:pPr>
            <a:r>
              <a:rPr lang="en-US" sz="1300" dirty="0">
                <a:solidFill>
                  <a:schemeClr val="tx1"/>
                </a:solidFill>
              </a:rPr>
              <a:t>④ surface emission ε·B(Ts)   ⑤ reflected downwelling atmospheric radiance (1−ε)·R↓</a:t>
            </a:r>
            <a:endParaRPr lang="en-US" sz="1300" dirty="0"/>
          </a:p>
          <a:p>
            <a:pPr algn="l" marL="203200" indent="-203200">
              <a:spcAft>
                <a:spcPts val="400"/>
              </a:spcAft>
              <a:buSzPct val="100000"/>
              <a:buChar char="•"/>
            </a:pPr>
            <a:r>
              <a:rPr lang="en-US" sz="1300" dirty="0">
                <a:solidFill>
                  <a:schemeClr val="tx1"/>
                </a:solidFill>
              </a:rPr>
              <a:t>③, ⑥, ⑦ solar terms: </a:t>
            </a:r>
            <a:r>
              <a:rPr lang="en-US" sz="1300" b="1" dirty="0">
                <a:solidFill>
                  <a:schemeClr val="tx1"/>
                </a:solidFill>
              </a:rPr>
              <a:t>negligible in 8–14 µm</a:t>
            </a:r>
            <a:r>
              <a:rPr lang="en-US" sz="1300" dirty="0">
                <a:solidFill>
                  <a:schemeClr val="tx1"/>
                </a:solidFill>
              </a:rPr>
              <a:t> (day and night) and in 3–5 µm at night</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LST retrieval is difficult: an ill-posed problem</a:t>
            </a:r>
            <a:endParaRPr lang="en-US" sz="3000" dirty="0"/>
          </a:p>
        </p:txBody>
      </p:sp>
      <p:sp>
        <p:nvSpPr>
          <p:cNvPr id="3" name="icon-24"/>
          <p:cNvSpPr txBox="1"/>
          <p:nvPr/>
        </p:nvSpPr>
        <p:spPr>
          <a:xfrm>
            <a:off x="457200" y="12801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25"/>
          <p:cNvSpPr txBox="1"/>
          <p:nvPr/>
        </p:nvSpPr>
        <p:spPr>
          <a:xfrm>
            <a:off x="1143000" y="1188720"/>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Underdetermined</a:t>
            </a:r>
            <a:endParaRPr lang="en-US" sz="1600" dirty="0"/>
          </a:p>
        </p:txBody>
      </p:sp>
      <p:sp>
        <p:nvSpPr>
          <p:cNvPr id="5" name="text-26"/>
          <p:cNvSpPr txBox="1"/>
          <p:nvPr/>
        </p:nvSpPr>
        <p:spPr>
          <a:xfrm>
            <a:off x="1143000" y="1536192"/>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N channels give N equations but N + 1 unknowns (N emissivities + 1 LST), even with a perfect atmosphere</a:t>
            </a:r>
            <a:endParaRPr lang="en-US" sz="1300" dirty="0"/>
          </a:p>
        </p:txBody>
      </p:sp>
      <p:sp>
        <p:nvSpPr>
          <p:cNvPr id="6" name="icon-27"/>
          <p:cNvSpPr txBox="1"/>
          <p:nvPr/>
        </p:nvSpPr>
        <p:spPr>
          <a:xfrm>
            <a:off x="457200" y="257860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28"/>
          <p:cNvSpPr txBox="1"/>
          <p:nvPr/>
        </p:nvSpPr>
        <p:spPr>
          <a:xfrm>
            <a:off x="1143000" y="2487168"/>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Highly correlated channels</a:t>
            </a:r>
            <a:endParaRPr lang="en-US" sz="1600" dirty="0"/>
          </a:p>
        </p:txBody>
      </p:sp>
      <p:sp>
        <p:nvSpPr>
          <p:cNvPr id="8" name="text-29"/>
          <p:cNvSpPr txBox="1"/>
          <p:nvPr/>
        </p:nvSpPr>
        <p:spPr>
          <a:xfrm>
            <a:off x="1143000" y="2834640"/>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TIR measurements are correlated, so noise and atmospheric errors strongly destabilise the solution</a:t>
            </a:r>
            <a:endParaRPr lang="en-US" sz="1300" dirty="0"/>
          </a:p>
        </p:txBody>
      </p:sp>
      <p:sp>
        <p:nvSpPr>
          <p:cNvPr id="9" name="icon-30"/>
          <p:cNvSpPr txBox="1"/>
          <p:nvPr/>
        </p:nvSpPr>
        <p:spPr>
          <a:xfrm>
            <a:off x="457200" y="3877056"/>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0" name="text-31"/>
          <p:cNvSpPr txBox="1"/>
          <p:nvPr/>
        </p:nvSpPr>
        <p:spPr>
          <a:xfrm>
            <a:off x="1143000" y="3785616"/>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Coupling</a:t>
            </a:r>
            <a:endParaRPr lang="en-US" sz="1600" dirty="0"/>
          </a:p>
        </p:txBody>
      </p:sp>
      <p:sp>
        <p:nvSpPr>
          <p:cNvPr id="11" name="text-32"/>
          <p:cNvSpPr txBox="1"/>
          <p:nvPr/>
        </p:nvSpPr>
        <p:spPr>
          <a:xfrm>
            <a:off x="1143000" y="4133088"/>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LST, emissivity and downward atmospheric radiance are coupled through ε; they cannot be separated physically from radiance alone</a:t>
            </a:r>
            <a:endParaRPr lang="en-US" sz="1300" dirty="0"/>
          </a:p>
        </p:txBody>
      </p:sp>
      <p:sp>
        <p:nvSpPr>
          <p:cNvPr id="12" name="icon-33"/>
          <p:cNvSpPr txBox="1"/>
          <p:nvPr/>
        </p:nvSpPr>
        <p:spPr>
          <a:xfrm>
            <a:off x="457200" y="5175504"/>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3" name="text-34"/>
          <p:cNvSpPr txBox="1"/>
          <p:nvPr/>
        </p:nvSpPr>
        <p:spPr>
          <a:xfrm>
            <a:off x="1143000" y="5084064"/>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Atmospheric correction</a:t>
            </a:r>
            <a:endParaRPr lang="en-US" sz="1600" dirty="0"/>
          </a:p>
        </p:txBody>
      </p:sp>
      <p:sp>
        <p:nvSpPr>
          <p:cNvPr id="14" name="text-35"/>
          <p:cNvSpPr txBox="1"/>
          <p:nvPr/>
        </p:nvSpPr>
        <p:spPr>
          <a:xfrm>
            <a:off x="1143000" y="5431536"/>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Needs accurate vertical profiles of temperature and water vapour, which are highly variable</a:t>
            </a:r>
            <a:endParaRPr lang="en-US" sz="1300" dirty="0"/>
          </a:p>
        </p:txBody>
      </p:sp>
      <p:sp>
        <p:nvSpPr>
          <p:cNvPr id="15" name="icon-36"/>
          <p:cNvSpPr txBox="1"/>
          <p:nvPr/>
        </p:nvSpPr>
        <p:spPr>
          <a:xfrm>
            <a:off x="6263640" y="128016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6" name="text-37"/>
          <p:cNvSpPr txBox="1"/>
          <p:nvPr/>
        </p:nvSpPr>
        <p:spPr>
          <a:xfrm>
            <a:off x="6949440" y="1188720"/>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Solar contamination in MIR</a:t>
            </a:r>
            <a:endParaRPr lang="en-US" sz="1600" dirty="0"/>
          </a:p>
        </p:txBody>
      </p:sp>
      <p:sp>
        <p:nvSpPr>
          <p:cNvPr id="17" name="text-38"/>
          <p:cNvSpPr txBox="1"/>
          <p:nvPr/>
        </p:nvSpPr>
        <p:spPr>
          <a:xfrm>
            <a:off x="6949440" y="1536192"/>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By day, reflected sunlight at 3–5 µm is the same order as emission and needs surface BRDF</a:t>
            </a:r>
            <a:endParaRPr lang="en-US" sz="1300" dirty="0"/>
          </a:p>
        </p:txBody>
      </p:sp>
      <p:sp>
        <p:nvSpPr>
          <p:cNvPr id="18" name="icon-39"/>
          <p:cNvSpPr txBox="1"/>
          <p:nvPr/>
        </p:nvSpPr>
        <p:spPr>
          <a:xfrm>
            <a:off x="6263640" y="2578608"/>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9" name="text-40"/>
          <p:cNvSpPr txBox="1"/>
          <p:nvPr/>
        </p:nvSpPr>
        <p:spPr>
          <a:xfrm>
            <a:off x="6949440" y="2487168"/>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Physical meaning</a:t>
            </a:r>
            <a:endParaRPr lang="en-US" sz="1600" dirty="0"/>
          </a:p>
        </p:txBody>
      </p:sp>
      <p:sp>
        <p:nvSpPr>
          <p:cNvPr id="20" name="text-41"/>
          <p:cNvSpPr txBox="1"/>
          <p:nvPr/>
        </p:nvSpPr>
        <p:spPr>
          <a:xfrm>
            <a:off x="6949440" y="2834640"/>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Satellite LST is a radiometric (skin) temperature of the top few mm; mixed pixels have no unique thermodynamic temperature</a:t>
            </a:r>
            <a:endParaRPr lang="en-US" sz="1300" dirty="0"/>
          </a:p>
        </p:txBody>
      </p:sp>
      <p:sp>
        <p:nvSpPr>
          <p:cNvPr id="21" name="icon-42"/>
          <p:cNvSpPr txBox="1"/>
          <p:nvPr/>
        </p:nvSpPr>
        <p:spPr>
          <a:xfrm>
            <a:off x="6263640" y="3877056"/>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2" name="text-43"/>
          <p:cNvSpPr txBox="1"/>
          <p:nvPr/>
        </p:nvSpPr>
        <p:spPr>
          <a:xfrm>
            <a:off x="6949440" y="3785616"/>
            <a:ext cx="4937760" cy="36576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Validation</a:t>
            </a:r>
            <a:endParaRPr lang="en-US" sz="1600" dirty="0"/>
          </a:p>
        </p:txBody>
      </p:sp>
      <p:sp>
        <p:nvSpPr>
          <p:cNvPr id="23" name="text-44"/>
          <p:cNvSpPr txBox="1"/>
          <p:nvPr/>
        </p:nvSpPr>
        <p:spPr>
          <a:xfrm>
            <a:off x="6949440" y="4133088"/>
            <a:ext cx="493776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LST can vary &gt; 10 K over cm and &gt; 1 K in under a minute, so ground truth rarely represents a pixel</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Taxonomy of LST retrieval algorithms</a:t>
            </a:r>
            <a:endParaRPr lang="en-US" sz="3000" dirty="0"/>
          </a:p>
        </p:txBody>
      </p:sp>
      <p:sp>
        <p:nvSpPr>
          <p:cNvPr id="3" name="box-45"/>
          <p:cNvSpPr txBox="1"/>
          <p:nvPr/>
        </p:nvSpPr>
        <p:spPr>
          <a:xfrm>
            <a:off x="4480560" y="1097280"/>
            <a:ext cx="3200400" cy="548640"/>
          </a:xfrm>
          <a:prstGeom prst="roundRect">
            <a:avLst>
              <a:gd name="adj" fmla="val 13333"/>
            </a:avLst>
          </a:prstGeom>
          <a:solidFill>
            <a:schemeClr val="tx1"/>
          </a:solidFill>
          <a:ln w="15875">
            <a:solidFill>
              <a:schemeClr val="tx1"/>
            </a:solidFill>
          </a:ln>
        </p:spPr>
        <p:txBody>
          <a:bodyPr wrap="square" lIns="1016" tIns="1016" rIns="1016" bIns="1016" rtlCol="0" anchor="ctr"/>
          <a:lstStyle/>
          <a:p>
            <a:pPr algn="ctr" indent="0" marL="0">
              <a:buNone/>
            </a:pPr>
            <a:r>
              <a:rPr lang="en-US" sz="1500" b="1" dirty="0">
                <a:solidFill>
                  <a:schemeClr val="bg1"/>
                </a:solidFill>
              </a:rPr>
              <a:t>LST retrieval from TIR data</a:t>
            </a:r>
            <a:endParaRPr lang="en-US" sz="1500" dirty="0"/>
          </a:p>
        </p:txBody>
      </p:sp>
      <p:sp>
        <p:nvSpPr>
          <p:cNvPr id="4" name="box-46"/>
          <p:cNvSpPr txBox="1"/>
          <p:nvPr/>
        </p:nvSpPr>
        <p:spPr>
          <a:xfrm>
            <a:off x="1097280" y="2011680"/>
            <a:ext cx="3291840" cy="548640"/>
          </a:xfrm>
          <a:prstGeom prst="roundRect">
            <a:avLst>
              <a:gd name="adj" fmla="val 13333"/>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400" b="1" dirty="0">
                <a:solidFill>
                  <a:schemeClr val="bg1"/>
                </a:solidFill>
              </a:rPr>
              <a:t>Emissivity KNOWN</a:t>
            </a:r>
            <a:endParaRPr lang="en-US" sz="1400" dirty="0"/>
          </a:p>
        </p:txBody>
      </p:sp>
      <p:sp>
        <p:nvSpPr>
          <p:cNvPr id="5" name="box-47"/>
          <p:cNvSpPr txBox="1"/>
          <p:nvPr/>
        </p:nvSpPr>
        <p:spPr>
          <a:xfrm>
            <a:off x="7680960" y="2011680"/>
            <a:ext cx="3566160" cy="548640"/>
          </a:xfrm>
          <a:prstGeom prst="roundRect">
            <a:avLst>
              <a:gd name="adj" fmla="val 13333"/>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400" b="1" dirty="0">
                <a:solidFill>
                  <a:schemeClr val="bg1"/>
                </a:solidFill>
              </a:rPr>
              <a:t>Emissivity UNKNOWN</a:t>
            </a:r>
            <a:endParaRPr lang="en-US" sz="1400" dirty="0"/>
          </a:p>
        </p:txBody>
      </p:sp>
      <p:sp>
        <p:nvSpPr>
          <p:cNvPr id="6" name="arrow-48"/>
          <p:cNvSpPr/>
          <p:nvPr/>
        </p:nvSpPr>
        <p:spPr>
          <a:xfrm flipH="1">
            <a:off x="2743200" y="1645920"/>
            <a:ext cx="2743200" cy="365760"/>
          </a:xfrm>
          <a:prstGeom prst="line">
            <a:avLst/>
          </a:prstGeom>
          <a:noFill/>
          <a:ln w="22225">
            <a:solidFill>
              <a:srgbClr val="6B7280"/>
            </a:solidFill>
            <a:prstDash val="solid"/>
            <a:tailEnd type="triangle"/>
          </a:ln>
        </p:spPr>
      </p:sp>
      <p:sp>
        <p:nvSpPr>
          <p:cNvPr id="7" name="arrow-49"/>
          <p:cNvSpPr/>
          <p:nvPr/>
        </p:nvSpPr>
        <p:spPr>
          <a:xfrm>
            <a:off x="6675120" y="1645920"/>
            <a:ext cx="2788920" cy="365760"/>
          </a:xfrm>
          <a:prstGeom prst="line">
            <a:avLst/>
          </a:prstGeom>
          <a:noFill/>
          <a:ln w="22225">
            <a:solidFill>
              <a:srgbClr val="6B7280"/>
            </a:solidFill>
            <a:prstDash val="solid"/>
            <a:tailEnd type="triangle"/>
          </a:ln>
        </p:spPr>
      </p:sp>
      <p:sp>
        <p:nvSpPr>
          <p:cNvPr id="8" name="box-50"/>
          <p:cNvSpPr txBox="1"/>
          <p:nvPr/>
        </p:nvSpPr>
        <p:spPr>
          <a:xfrm>
            <a:off x="1097280" y="2834640"/>
            <a:ext cx="3291840" cy="594360"/>
          </a:xfrm>
          <a:prstGeom prst="roundRect">
            <a:avLst>
              <a:gd name="adj" fmla="val 12308"/>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dirty="0">
                <a:solidFill>
                  <a:schemeClr val="tx1"/>
                </a:solidFill>
              </a:rPr>
              <a:t>Single-channel</a:t>
            </a:r>
            <a:endParaRPr lang="en-US" sz="1400" dirty="0"/>
          </a:p>
        </p:txBody>
      </p:sp>
      <p:sp>
        <p:nvSpPr>
          <p:cNvPr id="9" name="box-51"/>
          <p:cNvSpPr txBox="1"/>
          <p:nvPr/>
        </p:nvSpPr>
        <p:spPr>
          <a:xfrm>
            <a:off x="1097280" y="3611880"/>
            <a:ext cx="3291840" cy="594360"/>
          </a:xfrm>
          <a:prstGeom prst="roundRect">
            <a:avLst>
              <a:gd name="adj" fmla="val 12308"/>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dirty="0">
                <a:solidFill>
                  <a:schemeClr val="tx1"/>
                </a:solidFill>
              </a:rPr>
              <a:t>Multi-channel (split-window)</a:t>
            </a:r>
            <a:endParaRPr lang="en-US" sz="1400" dirty="0"/>
          </a:p>
        </p:txBody>
      </p:sp>
      <p:sp>
        <p:nvSpPr>
          <p:cNvPr id="10" name="box-52"/>
          <p:cNvSpPr txBox="1"/>
          <p:nvPr/>
        </p:nvSpPr>
        <p:spPr>
          <a:xfrm>
            <a:off x="1097280" y="4389120"/>
            <a:ext cx="3291840" cy="594360"/>
          </a:xfrm>
          <a:prstGeom prst="roundRect">
            <a:avLst>
              <a:gd name="adj" fmla="val 12308"/>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dirty="0">
                <a:solidFill>
                  <a:schemeClr val="tx1"/>
                </a:solidFill>
              </a:rPr>
              <a:t>Multi-angle (dual-angle)</a:t>
            </a:r>
            <a:endParaRPr lang="en-US" sz="1400" dirty="0"/>
          </a:p>
        </p:txBody>
      </p:sp>
      <p:sp>
        <p:nvSpPr>
          <p:cNvPr id="11" name="arrow-53"/>
          <p:cNvSpPr/>
          <p:nvPr/>
        </p:nvSpPr>
        <p:spPr>
          <a:xfrm>
            <a:off x="2743200" y="2560320"/>
            <a:ext cx="0" cy="274320"/>
          </a:xfrm>
          <a:prstGeom prst="line">
            <a:avLst/>
          </a:prstGeom>
          <a:noFill/>
          <a:ln w="22225">
            <a:solidFill>
              <a:srgbClr val="6B7280"/>
            </a:solidFill>
            <a:prstDash val="solid"/>
            <a:tailEnd type="triangle"/>
          </a:ln>
        </p:spPr>
      </p:sp>
      <p:sp>
        <p:nvSpPr>
          <p:cNvPr id="12" name="box-54"/>
          <p:cNvSpPr txBox="1"/>
          <p:nvPr/>
        </p:nvSpPr>
        <p:spPr>
          <a:xfrm>
            <a:off x="6126480" y="2834640"/>
            <a:ext cx="5669280" cy="914400"/>
          </a:xfrm>
          <a:prstGeom prst="roundRect">
            <a:avLst>
              <a:gd name="adj" fmla="val 8000"/>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dirty="0">
                <a:solidFill>
                  <a:schemeClr val="tx1"/>
                </a:solidFill>
              </a:rPr>
              <a:t>Stepwise</a:t>
            </a:r>
            <a:endParaRPr lang="en-US" sz="1300" dirty="0"/>
          </a:p>
          <a:p>
            <a:pPr algn="ctr" indent="0" marL="0">
              <a:buNone/>
            </a:pPr>
            <a:r>
              <a:rPr lang="en-US" sz="1300" dirty="0">
                <a:solidFill>
                  <a:schemeClr val="tx1"/>
                </a:solidFill>
              </a:rPr>
              <a:t>CBEM · NBEM (NDVI) · Day/night TISI</a:t>
            </a:r>
            <a:endParaRPr lang="en-US" sz="1300" dirty="0"/>
          </a:p>
        </p:txBody>
      </p:sp>
      <p:sp>
        <p:nvSpPr>
          <p:cNvPr id="13" name="box-55"/>
          <p:cNvSpPr txBox="1"/>
          <p:nvPr/>
        </p:nvSpPr>
        <p:spPr>
          <a:xfrm>
            <a:off x="6126480" y="3913632"/>
            <a:ext cx="5669280" cy="914400"/>
          </a:xfrm>
          <a:prstGeom prst="roundRect">
            <a:avLst>
              <a:gd name="adj" fmla="val 8000"/>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300" dirty="0">
                <a:solidFill>
                  <a:schemeClr val="tx1"/>
                </a:solidFill>
              </a:rPr>
              <a:t>Simultaneous LST + LSE (atmosphere known)</a:t>
            </a:r>
            <a:endParaRPr lang="en-US" sz="1300" dirty="0"/>
          </a:p>
          <a:p>
            <a:pPr algn="ctr" indent="0" marL="0">
              <a:buNone/>
            </a:pPr>
            <a:r>
              <a:rPr lang="en-US" sz="1300" dirty="0">
                <a:solidFill>
                  <a:schemeClr val="tx1"/>
                </a:solidFill>
              </a:rPr>
              <a:t>TTM · Physical day/night (MODIS) · GBE · TES · ISSTES · LECTES</a:t>
            </a:r>
            <a:endParaRPr lang="en-US" sz="1300" dirty="0"/>
          </a:p>
        </p:txBody>
      </p:sp>
      <p:sp>
        <p:nvSpPr>
          <p:cNvPr id="14" name="box-56"/>
          <p:cNvSpPr txBox="1"/>
          <p:nvPr/>
        </p:nvSpPr>
        <p:spPr>
          <a:xfrm>
            <a:off x="6126480" y="4992624"/>
            <a:ext cx="5669280" cy="914400"/>
          </a:xfrm>
          <a:prstGeom prst="roundRect">
            <a:avLst>
              <a:gd name="adj" fmla="val 8000"/>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300" dirty="0">
                <a:solidFill>
                  <a:schemeClr val="tx1"/>
                </a:solidFill>
              </a:rPr>
              <a:t>Simultaneous LST + LSE + atmosphere</a:t>
            </a:r>
            <a:endParaRPr lang="en-US" sz="1300" dirty="0"/>
          </a:p>
          <a:p>
            <a:pPr algn="ctr" indent="0" marL="0">
              <a:buNone/>
            </a:pPr>
            <a:r>
              <a:rPr lang="en-US" sz="1300" dirty="0">
                <a:solidFill>
                  <a:schemeClr val="tx1"/>
                </a:solidFill>
              </a:rPr>
              <a:t>ANN · Two-step physical retrieval (TSRM)</a:t>
            </a:r>
            <a:endParaRPr lang="en-US" sz="1300" dirty="0"/>
          </a:p>
        </p:txBody>
      </p:sp>
      <p:sp>
        <p:nvSpPr>
          <p:cNvPr id="15" name="arrow-57"/>
          <p:cNvSpPr/>
          <p:nvPr/>
        </p:nvSpPr>
        <p:spPr>
          <a:xfrm>
            <a:off x="9464040" y="2560320"/>
            <a:ext cx="0" cy="274320"/>
          </a:xfrm>
          <a:prstGeom prst="line">
            <a:avLst/>
          </a:prstGeom>
          <a:noFill/>
          <a:ln w="22225">
            <a:solidFill>
              <a:srgbClr val="6B7280"/>
            </a:solidFill>
            <a:prstDash val="solid"/>
            <a:tailEnd type="triangle"/>
          </a:ln>
        </p:spPr>
      </p:sp>
      <p:sp>
        <p:nvSpPr>
          <p:cNvPr id="16" name="text-58"/>
          <p:cNvSpPr txBox="1"/>
          <p:nvPr/>
        </p:nvSpPr>
        <p:spPr>
          <a:xfrm>
            <a:off x="457200" y="5486400"/>
            <a:ext cx="5303520" cy="822960"/>
          </a:xfrm>
          <a:prstGeom prst="rect">
            <a:avLst/>
          </a:prstGeom>
          <a:noFill/>
          <a:ln/>
        </p:spPr>
        <p:txBody>
          <a:bodyPr wrap="square" lIns="635" tIns="635" rIns="635" bIns="635" rtlCol="0" anchor="t"/>
          <a:lstStyle/>
          <a:p>
            <a:pPr algn="l" indent="0" marL="0">
              <a:spcAft>
                <a:spcPts val="600"/>
              </a:spcAft>
              <a:buNone/>
            </a:pPr>
            <a:r>
              <a:rPr lang="en-US" sz="1300" i="1" dirty="0">
                <a:solidFill>
                  <a:schemeClr val="tx2"/>
                </a:solidFill>
              </a:rPr>
              <a:t>Every method adds information to make N + 1 unknowns solvable: known ε, extra channels, extra angles, extra times, or a constraint on the shape of the emissivity spectrum.</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Part A: algorithms with known emissivity</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1800" dirty="0">
                <a:solidFill>
                  <a:schemeClr val="accent2"/>
                </a:solidFill>
              </a:rPr>
              <a:t>Single-channel · Split-window (linear, GSW, non-linear) · Multi-channel · Multi-angle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5C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Single-channel method (mono-window)</a:t>
            </a:r>
            <a:endParaRPr lang="en-US" sz="3000" dirty="0"/>
          </a:p>
        </p:txBody>
      </p:sp>
      <p:sp>
        <p:nvSpPr>
          <p:cNvPr id="3" name="box-59"/>
          <p:cNvSpPr txBox="1"/>
          <p:nvPr/>
        </p:nvSpPr>
        <p:spPr>
          <a:xfrm>
            <a:off x="457200" y="1143000"/>
            <a:ext cx="4754880" cy="621792"/>
          </a:xfrm>
          <a:prstGeom prst="roundRect">
            <a:avLst>
              <a:gd name="adj" fmla="val 11765"/>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TOA radiance in one TIR channel (≈10–11 µm)</a:t>
            </a:r>
            <a:endParaRPr lang="en-US" sz="1300" dirty="0"/>
          </a:p>
        </p:txBody>
      </p:sp>
      <p:sp>
        <p:nvSpPr>
          <p:cNvPr id="4" name="box-60"/>
          <p:cNvSpPr txBox="1"/>
          <p:nvPr/>
        </p:nvSpPr>
        <p:spPr>
          <a:xfrm>
            <a:off x="457200" y="1947672"/>
            <a:ext cx="4754880" cy="621792"/>
          </a:xfrm>
          <a:prstGeom prst="roundRect">
            <a:avLst>
              <a:gd name="adj" fmla="val 11765"/>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Atmospheric profile: radiosonde, sounder or NWP (NCEP, ECMWF)</a:t>
            </a:r>
            <a:endParaRPr lang="en-US" sz="1300" dirty="0"/>
          </a:p>
        </p:txBody>
      </p:sp>
      <p:sp>
        <p:nvSpPr>
          <p:cNvPr id="5" name="arrow-61"/>
          <p:cNvSpPr/>
          <p:nvPr/>
        </p:nvSpPr>
        <p:spPr>
          <a:xfrm>
            <a:off x="2834640" y="1764792"/>
            <a:ext cx="0" cy="182880"/>
          </a:xfrm>
          <a:prstGeom prst="line">
            <a:avLst/>
          </a:prstGeom>
          <a:noFill/>
          <a:ln w="22225">
            <a:solidFill>
              <a:srgbClr val="6B7280"/>
            </a:solidFill>
            <a:prstDash val="solid"/>
            <a:tailEnd type="triangle"/>
          </a:ln>
        </p:spPr>
      </p:sp>
      <p:sp>
        <p:nvSpPr>
          <p:cNvPr id="6" name="box-62"/>
          <p:cNvSpPr txBox="1"/>
          <p:nvPr/>
        </p:nvSpPr>
        <p:spPr>
          <a:xfrm>
            <a:off x="457200" y="2752344"/>
            <a:ext cx="4754880" cy="621792"/>
          </a:xfrm>
          <a:prstGeom prst="roundRect">
            <a:avLst>
              <a:gd name="adj" fmla="val 11765"/>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RTM (MODTRAN, 4A/OP) → τ, R↑, R↓</a:t>
            </a:r>
            <a:endParaRPr lang="en-US" sz="1300" dirty="0"/>
          </a:p>
        </p:txBody>
      </p:sp>
      <p:sp>
        <p:nvSpPr>
          <p:cNvPr id="7" name="arrow-63"/>
          <p:cNvSpPr/>
          <p:nvPr/>
        </p:nvSpPr>
        <p:spPr>
          <a:xfrm>
            <a:off x="2834640" y="2569464"/>
            <a:ext cx="0" cy="182880"/>
          </a:xfrm>
          <a:prstGeom prst="line">
            <a:avLst/>
          </a:prstGeom>
          <a:noFill/>
          <a:ln w="22225">
            <a:solidFill>
              <a:srgbClr val="6B7280"/>
            </a:solidFill>
            <a:prstDash val="solid"/>
            <a:tailEnd type="triangle"/>
          </a:ln>
        </p:spPr>
      </p:sp>
      <p:sp>
        <p:nvSpPr>
          <p:cNvPr id="8" name="box-64"/>
          <p:cNvSpPr txBox="1"/>
          <p:nvPr/>
        </p:nvSpPr>
        <p:spPr>
          <a:xfrm>
            <a:off x="457200" y="3557016"/>
            <a:ext cx="4754880" cy="621792"/>
          </a:xfrm>
          <a:prstGeom prst="roundRect">
            <a:avLst>
              <a:gd name="adj" fmla="val 11765"/>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Known emissivity ε of the pixel</a:t>
            </a:r>
            <a:endParaRPr lang="en-US" sz="1300" dirty="0"/>
          </a:p>
        </p:txBody>
      </p:sp>
      <p:sp>
        <p:nvSpPr>
          <p:cNvPr id="9" name="arrow-65"/>
          <p:cNvSpPr/>
          <p:nvPr/>
        </p:nvSpPr>
        <p:spPr>
          <a:xfrm>
            <a:off x="2834640" y="3374136"/>
            <a:ext cx="0" cy="182880"/>
          </a:xfrm>
          <a:prstGeom prst="line">
            <a:avLst/>
          </a:prstGeom>
          <a:noFill/>
          <a:ln w="22225">
            <a:solidFill>
              <a:srgbClr val="6B7280"/>
            </a:solidFill>
            <a:prstDash val="solid"/>
            <a:tailEnd type="triangle"/>
          </a:ln>
        </p:spPr>
      </p:sp>
      <p:sp>
        <p:nvSpPr>
          <p:cNvPr id="10" name="box-66"/>
          <p:cNvSpPr txBox="1"/>
          <p:nvPr/>
        </p:nvSpPr>
        <p:spPr>
          <a:xfrm>
            <a:off x="457200" y="4361688"/>
            <a:ext cx="4754880" cy="621792"/>
          </a:xfrm>
          <a:prstGeom prst="roundRect">
            <a:avLst>
              <a:gd name="adj" fmla="val 11765"/>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Invert RTE: B(Ts) = [(I − R↑)/τ − (1 − ε)R↓] / ε</a:t>
            </a:r>
            <a:endParaRPr lang="en-US" sz="1300" dirty="0"/>
          </a:p>
        </p:txBody>
      </p:sp>
      <p:sp>
        <p:nvSpPr>
          <p:cNvPr id="11" name="arrow-67"/>
          <p:cNvSpPr/>
          <p:nvPr/>
        </p:nvSpPr>
        <p:spPr>
          <a:xfrm>
            <a:off x="2834640" y="4178808"/>
            <a:ext cx="0" cy="182880"/>
          </a:xfrm>
          <a:prstGeom prst="line">
            <a:avLst/>
          </a:prstGeom>
          <a:noFill/>
          <a:ln w="22225">
            <a:solidFill>
              <a:srgbClr val="6B7280"/>
            </a:solidFill>
            <a:prstDash val="solid"/>
            <a:tailEnd type="triangle"/>
          </a:ln>
        </p:spPr>
      </p:sp>
      <p:sp>
        <p:nvSpPr>
          <p:cNvPr id="12" name="box-68"/>
          <p:cNvSpPr txBox="1"/>
          <p:nvPr/>
        </p:nvSpPr>
        <p:spPr>
          <a:xfrm>
            <a:off x="457200" y="5166360"/>
            <a:ext cx="4754880" cy="621792"/>
          </a:xfrm>
          <a:prstGeom prst="roundRect">
            <a:avLst>
              <a:gd name="adj" fmla="val 11765"/>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300" b="1" dirty="0">
                <a:solidFill>
                  <a:schemeClr val="bg1"/>
                </a:solidFill>
              </a:rPr>
              <a:t>Invert Planck → LST</a:t>
            </a:r>
            <a:endParaRPr lang="en-US" sz="1300" dirty="0"/>
          </a:p>
        </p:txBody>
      </p:sp>
      <p:sp>
        <p:nvSpPr>
          <p:cNvPr id="13" name="arrow-69"/>
          <p:cNvSpPr/>
          <p:nvPr/>
        </p:nvSpPr>
        <p:spPr>
          <a:xfrm>
            <a:off x="2834640" y="4983480"/>
            <a:ext cx="0" cy="182880"/>
          </a:xfrm>
          <a:prstGeom prst="line">
            <a:avLst/>
          </a:prstGeom>
          <a:noFill/>
          <a:ln w="22225">
            <a:solidFill>
              <a:srgbClr val="6B7280"/>
            </a:solidFill>
            <a:prstDash val="solid"/>
            <a:tailEnd type="triangle"/>
          </a:ln>
        </p:spPr>
      </p:sp>
      <p:sp>
        <p:nvSpPr>
          <p:cNvPr id="14" name="text-70"/>
          <p:cNvSpPr txBox="1"/>
          <p:nvPr/>
        </p:nvSpPr>
        <p:spPr>
          <a:xfrm>
            <a:off x="5577840" y="1143000"/>
            <a:ext cx="6126480" cy="310896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Uses </a:t>
            </a:r>
            <a:r>
              <a:rPr lang="en-US" sz="1400" b="1" dirty="0">
                <a:solidFill>
                  <a:schemeClr val="tx1"/>
                </a:solidFill>
              </a:rPr>
              <a:t>one channel</a:t>
            </a:r>
            <a:r>
              <a:rPr lang="en-US" sz="1400" dirty="0">
                <a:solidFill>
                  <a:schemeClr val="tx1"/>
                </a:solidFill>
              </a:rPr>
              <a:t> in the window and corrects it with a radiative transfer model (also called the </a:t>
            </a:r>
            <a:r>
              <a:rPr lang="en-US" sz="1400" b="1" dirty="0">
                <a:solidFill>
                  <a:schemeClr val="tx1"/>
                </a:solidFill>
              </a:rPr>
              <a:t>model emissivity method</a:t>
            </a:r>
            <a:r>
              <a:rPr lang="en-US" sz="1400" dirty="0">
                <a:solidFill>
                  <a:schemeClr val="tx1"/>
                </a:solidFill>
              </a:rPr>
              <a:t>)</a:t>
            </a:r>
            <a:endParaRPr lang="en-US" sz="1400" dirty="0"/>
          </a:p>
          <a:p>
            <a:pPr algn="l" marL="203200" indent="-203200">
              <a:spcAft>
                <a:spcPts val="600"/>
              </a:spcAft>
              <a:buSzPct val="100000"/>
              <a:buChar char="•"/>
            </a:pPr>
            <a:r>
              <a:rPr lang="en-US" sz="1400" dirty="0">
                <a:solidFill>
                  <a:schemeClr val="tx1"/>
                </a:solidFill>
              </a:rPr>
              <a:t>RTM accuracy 0.5–2 % in the windows → </a:t>
            </a:r>
            <a:r>
              <a:rPr lang="en-US" sz="1400" b="1" dirty="0">
                <a:solidFill>
                  <a:schemeClr val="tx1"/>
                </a:solidFill>
              </a:rPr>
              <a:t>0.4–1.5 K</a:t>
            </a:r>
            <a:r>
              <a:rPr lang="en-US" sz="1400" dirty="0">
                <a:solidFill>
                  <a:schemeClr val="tx1"/>
                </a:solidFill>
              </a:rPr>
              <a:t> LST error</a:t>
            </a:r>
            <a:endParaRPr lang="en-US" sz="1400" dirty="0"/>
          </a:p>
          <a:p>
            <a:pPr algn="l" marL="203200" indent="-203200">
              <a:spcAft>
                <a:spcPts val="600"/>
              </a:spcAft>
              <a:buSzPct val="100000"/>
              <a:buChar char="•"/>
            </a:pPr>
            <a:r>
              <a:rPr lang="en-US" sz="1400" b="1" dirty="0">
                <a:solidFill>
                  <a:schemeClr val="tx1"/>
                </a:solidFill>
              </a:rPr>
              <a:t>1 % emissivity error → 0.3 K</a:t>
            </a:r>
            <a:r>
              <a:rPr lang="en-US" sz="1400" dirty="0">
                <a:solidFill>
                  <a:schemeClr val="tx1"/>
                </a:solidFill>
              </a:rPr>
              <a:t> (hot, humid) to </a:t>
            </a:r>
            <a:r>
              <a:rPr lang="en-US" sz="1400" b="1" dirty="0">
                <a:solidFill>
                  <a:schemeClr val="tx1"/>
                </a:solidFill>
              </a:rPr>
              <a:t>0.7 K</a:t>
            </a:r>
            <a:r>
              <a:rPr lang="en-US" sz="1400" dirty="0">
                <a:solidFill>
                  <a:schemeClr val="tx1"/>
                </a:solidFill>
              </a:rPr>
              <a:t> (cold, dry); typical ε uncertainty gives </a:t>
            </a:r>
            <a:r>
              <a:rPr lang="en-US" sz="1400" b="1" dirty="0">
                <a:solidFill>
                  <a:schemeClr val="tx1"/>
                </a:solidFill>
              </a:rPr>
              <a:t>1–2 K</a:t>
            </a:r>
            <a:endParaRPr lang="en-US" sz="1400" dirty="0"/>
          </a:p>
          <a:p>
            <a:pPr algn="l" marL="203200" indent="-203200">
              <a:spcAft>
                <a:spcPts val="600"/>
              </a:spcAft>
              <a:buSzPct val="100000"/>
              <a:buChar char="•"/>
            </a:pPr>
            <a:r>
              <a:rPr lang="en-US" sz="1400" dirty="0">
                <a:solidFill>
                  <a:schemeClr val="tx1"/>
                </a:solidFill>
              </a:rPr>
              <a:t>Radiosondes: ±0.5 K temperature, ±10 % water vapour; balloon drifts up to 60 km</a:t>
            </a:r>
            <a:endParaRPr lang="en-US" sz="1400" dirty="0"/>
          </a:p>
          <a:p>
            <a:pPr algn="l" marL="203200" indent="-203200">
              <a:spcAft>
                <a:spcPts val="600"/>
              </a:spcAft>
              <a:buSzPct val="100000"/>
              <a:buChar char="•"/>
            </a:pPr>
            <a:r>
              <a:rPr lang="en-US" sz="1400" dirty="0">
                <a:solidFill>
                  <a:schemeClr val="tx1"/>
                </a:solidFill>
              </a:rPr>
              <a:t>ECMWF humidity forecast errors usually add </a:t>
            </a:r>
            <a:r>
              <a:rPr lang="en-US" sz="1400" b="1" dirty="0">
                <a:solidFill>
                  <a:schemeClr val="tx1"/>
                </a:solidFill>
              </a:rPr>
              <a:t>&lt; 0.5 K</a:t>
            </a:r>
            <a:endParaRPr lang="en-US" sz="1400" dirty="0"/>
          </a:p>
        </p:txBody>
      </p:sp>
      <p:sp>
        <p:nvSpPr>
          <p:cNvPr id="15" name="box-71"/>
          <p:cNvSpPr txBox="1"/>
          <p:nvPr/>
        </p:nvSpPr>
        <p:spPr>
          <a:xfrm>
            <a:off x="5577840" y="3794760"/>
            <a:ext cx="6126480" cy="2194560"/>
          </a:xfrm>
          <a:prstGeom prst="roundRect">
            <a:avLst>
              <a:gd name="adj" fmla="val 3333"/>
            </a:avLst>
          </a:prstGeom>
          <a:solidFill>
            <a:schemeClr val="accent2">
              <a:alpha val="15000"/>
            </a:schemeClr>
          </a:solidFill>
          <a:ln w="15875">
            <a:solidFill>
              <a:schemeClr val="accent2"/>
            </a:solidFill>
          </a:ln>
        </p:spPr>
        <p:txBody>
          <a:bodyPr wrap="square" lIns="1016" tIns="1016" rIns="1016" bIns="1016" rtlCol="0" anchor="ctr"/>
          <a:lstStyle/>
          <a:p>
            <a:pPr algn="l" indent="0" marL="0">
              <a:buNone/>
            </a:pPr>
            <a:r>
              <a:rPr lang="en-US" sz="1300" dirty="0">
                <a:solidFill>
                  <a:schemeClr val="tx1"/>
                </a:solidFill>
              </a:rPr>
              <a:t>Practical variants with fewer inputs</a:t>
            </a:r>
            <a:endParaRPr lang="en-US" sz="1300" dirty="0"/>
          </a:p>
          <a:p>
            <a:pPr algn="l" indent="0" marL="0">
              <a:buNone/>
            </a:pPr>
            <a:r>
              <a:rPr lang="en-US" sz="1300" dirty="0">
                <a:solidFill>
                  <a:schemeClr val="tx1"/>
                </a:solidFill>
              </a:rPr>
              <a:t>– Qin et al. (2001) mono-window for Landsat TM6: needs near-surface air temperature and water vapour</a:t>
            </a:r>
            <a:endParaRPr lang="en-US" sz="1300" dirty="0"/>
          </a:p>
          <a:p>
            <a:pPr algn="l" indent="0" marL="0">
              <a:buNone/>
            </a:pPr>
            <a:r>
              <a:rPr lang="en-US" sz="1300" dirty="0">
                <a:solidFill>
                  <a:schemeClr val="tx1"/>
                </a:solidFill>
              </a:rPr>
              <a:t>– Jiménez-Muñoz &amp; Sobrino (2003, 2009) generalized single-channel: needs only ε and total water vapour; any ~1 µm wide channel</a:t>
            </a:r>
            <a:endParaRPr lang="en-US" sz="1300" dirty="0"/>
          </a:p>
          <a:p>
            <a:pPr algn="l" indent="0" marL="0">
              <a:buNone/>
            </a:pPr>
            <a:r>
              <a:rPr lang="en-US" sz="1300" dirty="0">
                <a:solidFill>
                  <a:schemeClr val="tx1"/>
                </a:solidFill>
              </a:rPr>
              <a:t>– Empirical versions perform poorly at high water vapour</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Split-window (SW) algorithm: the operational workhorse</a:t>
            </a:r>
            <a:endParaRPr lang="en-US" sz="3000" dirty="0"/>
          </a:p>
        </p:txBody>
      </p:sp>
      <p:sp>
        <p:nvSpPr>
          <p:cNvPr id="3" name="text-72"/>
          <p:cNvSpPr txBox="1"/>
          <p:nvPr/>
        </p:nvSpPr>
        <p:spPr>
          <a:xfrm>
            <a:off x="457200" y="1143000"/>
            <a:ext cx="5760720" cy="2377440"/>
          </a:xfrm>
          <a:prstGeom prst="rect">
            <a:avLst/>
          </a:prstGeom>
          <a:noFill/>
          <a:ln/>
        </p:spPr>
        <p:txBody>
          <a:bodyPr wrap="square" lIns="635" tIns="635" rIns="635" bIns="635" rtlCol="0" anchor="t"/>
          <a:lstStyle/>
          <a:p>
            <a:pPr algn="l" marL="203200" indent="-203200">
              <a:spcAft>
                <a:spcPts val="800"/>
              </a:spcAft>
              <a:buSzPct val="100000"/>
              <a:buChar char="•"/>
            </a:pPr>
            <a:r>
              <a:rPr lang="en-US" sz="1500" dirty="0">
                <a:solidFill>
                  <a:schemeClr val="tx1"/>
                </a:solidFill>
              </a:rPr>
              <a:t>Two adjacent TIR channels near </a:t>
            </a:r>
            <a:r>
              <a:rPr lang="en-US" sz="1500" b="1" dirty="0">
                <a:solidFill>
                  <a:schemeClr val="tx1"/>
                </a:solidFill>
              </a:rPr>
              <a:t>11 µm and 12 µm</a:t>
            </a:r>
            <a:r>
              <a:rPr lang="en-US" sz="1500" dirty="0">
                <a:solidFill>
                  <a:schemeClr val="tx1"/>
                </a:solidFill>
              </a:rPr>
              <a:t> absorb water vapour differently</a:t>
            </a:r>
            <a:endParaRPr lang="en-US" sz="1500" dirty="0"/>
          </a:p>
          <a:p>
            <a:pPr algn="l" marL="203200" indent="-203200">
              <a:spcAft>
                <a:spcPts val="800"/>
              </a:spcAft>
              <a:buSzPct val="100000"/>
              <a:buChar char="•"/>
            </a:pPr>
            <a:r>
              <a:rPr lang="en-US" sz="1500" dirty="0">
                <a:solidFill>
                  <a:schemeClr val="tx1"/>
                </a:solidFill>
              </a:rPr>
              <a:t>The </a:t>
            </a:r>
            <a:r>
              <a:rPr lang="en-US" sz="1500" b="1" dirty="0">
                <a:solidFill>
                  <a:schemeClr val="tx1"/>
                </a:solidFill>
              </a:rPr>
              <a:t>difference Ti − Tj</a:t>
            </a:r>
            <a:r>
              <a:rPr lang="en-US" sz="1500" dirty="0">
                <a:solidFill>
                  <a:schemeClr val="tx1"/>
                </a:solidFill>
              </a:rPr>
              <a:t> is proportional to the atmospheric correction, so </a:t>
            </a:r>
            <a:r>
              <a:rPr lang="en-US" sz="1500" b="1" dirty="0">
                <a:solidFill>
                  <a:schemeClr val="tx1"/>
                </a:solidFill>
              </a:rPr>
              <a:t>no profile is needed</a:t>
            </a:r>
            <a:endParaRPr lang="en-US" sz="1500" dirty="0"/>
          </a:p>
          <a:p>
            <a:pPr algn="l" marL="203200" indent="-203200">
              <a:spcAft>
                <a:spcPts val="800"/>
              </a:spcAft>
              <a:buSzPct val="100000"/>
              <a:buChar char="•"/>
            </a:pPr>
            <a:r>
              <a:rPr lang="en-US" sz="1500" dirty="0">
                <a:solidFill>
                  <a:schemeClr val="tx1"/>
                </a:solidFill>
              </a:rPr>
              <a:t>First proposed for </a:t>
            </a:r>
            <a:r>
              <a:rPr lang="en-US" sz="1500" b="1" dirty="0">
                <a:solidFill>
                  <a:schemeClr val="tx1"/>
                </a:solidFill>
              </a:rPr>
              <a:t>sea surface temperature</a:t>
            </a:r>
            <a:r>
              <a:rPr lang="en-US" sz="1500" dirty="0">
                <a:solidFill>
                  <a:schemeClr val="tx1"/>
                </a:solidFill>
              </a:rPr>
              <a:t> by McMillin (1975); extended to land from the late 1980s</a:t>
            </a:r>
            <a:endParaRPr lang="en-US" sz="1500" dirty="0"/>
          </a:p>
          <a:p>
            <a:pPr algn="l" marL="203200" indent="-203200">
              <a:spcAft>
                <a:spcPts val="800"/>
              </a:spcAft>
              <a:buSzPct val="100000"/>
              <a:buChar char="•"/>
            </a:pPr>
            <a:r>
              <a:rPr lang="en-US" sz="1500" dirty="0">
                <a:solidFill>
                  <a:schemeClr val="tx1"/>
                </a:solidFill>
              </a:rPr>
              <a:t>Coefficients come from </a:t>
            </a:r>
            <a:r>
              <a:rPr lang="en-US" sz="1500" b="1" dirty="0">
                <a:solidFill>
                  <a:schemeClr val="tx1"/>
                </a:solidFill>
              </a:rPr>
              <a:t>regressing MODTRAN-simulated</a:t>
            </a:r>
            <a:r>
              <a:rPr lang="en-US" sz="1500" dirty="0">
                <a:solidFill>
                  <a:schemeClr val="tx1"/>
                </a:solidFill>
              </a:rPr>
              <a:t> brightness temperatures over many atmospheres and surfaces</a:t>
            </a:r>
            <a:endParaRPr lang="en-US" sz="1500" dirty="0"/>
          </a:p>
        </p:txBody>
      </p:sp>
      <p:pic>
        <p:nvPicPr>
          <p:cNvPr id="4" name="img-73" descr="eq7_sw.png">    </p:cNvPr>
          <p:cNvPicPr>
            <a:picLocks noChangeAspect="1"/>
          </p:cNvPicPr>
          <p:nvPr/>
        </p:nvPicPr>
        <p:blipFill>
          <a:blip r:embed="rId1"/>
          <a:stretch>
            <a:fillRect/>
          </a:stretch>
        </p:blipFill>
        <p:spPr>
          <a:xfrm>
            <a:off x="457200" y="3703320"/>
            <a:ext cx="5760720" cy="591677"/>
          </a:xfrm>
          <a:prstGeom prst="rect">
            <a:avLst/>
          </a:prstGeom>
        </p:spPr>
      </p:pic>
      <p:sp>
        <p:nvSpPr>
          <p:cNvPr id="5" name="frame-74"/>
          <p:cNvSpPr/>
          <p:nvPr/>
        </p:nvSpPr>
        <p:spPr>
          <a:xfrm>
            <a:off x="457200" y="3703320"/>
            <a:ext cx="5760720" cy="591677"/>
          </a:xfrm>
          <a:prstGeom prst="rect">
            <a:avLst/>
          </a:prstGeom>
          <a:ln w="9525">
            <a:solidFill>
              <a:srgbClr val="C9CED6"/>
            </a:solidFill>
            <a:prstDash val="solid"/>
          </a:ln>
        </p:spPr>
      </p:sp>
      <p:sp>
        <p:nvSpPr>
          <p:cNvPr id="6" name="text-75"/>
          <p:cNvSpPr txBox="1"/>
          <p:nvPr/>
        </p:nvSpPr>
        <p:spPr>
          <a:xfrm>
            <a:off x="457200" y="4434840"/>
            <a:ext cx="5760720" cy="320040"/>
          </a:xfrm>
          <a:prstGeom prst="rect">
            <a:avLst/>
          </a:prstGeom>
          <a:noFill/>
          <a:ln/>
        </p:spPr>
        <p:txBody>
          <a:bodyPr wrap="square" lIns="635" tIns="635" rIns="635" bIns="635" rtlCol="0" anchor="t"/>
          <a:lstStyle/>
          <a:p>
            <a:pPr algn="l" indent="0" marL="0">
              <a:spcAft>
                <a:spcPts val="600"/>
              </a:spcAft>
              <a:buNone/>
            </a:pPr>
            <a:r>
              <a:rPr lang="en-US" sz="1100" i="1" dirty="0">
                <a:solidFill>
                  <a:srgbClr val="6B7280"/>
                </a:solidFill>
              </a:rPr>
              <a:t>Screenshot: linear SW, Eq. (7) of Li et al. (2013)</a:t>
            </a:r>
            <a:endParaRPr lang="en-US" sz="1100" dirty="0"/>
          </a:p>
        </p:txBody>
      </p:sp>
      <p:sp>
        <p:nvSpPr>
          <p:cNvPr id="7" name="box-76"/>
          <p:cNvSpPr txBox="1"/>
          <p:nvPr/>
        </p:nvSpPr>
        <p:spPr>
          <a:xfrm>
            <a:off x="457200" y="4846320"/>
            <a:ext cx="5760720" cy="1371600"/>
          </a:xfrm>
          <a:prstGeom prst="roundRect">
            <a:avLst>
              <a:gd name="adj" fmla="val 5333"/>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dirty="0">
                <a:solidFill>
                  <a:schemeClr val="tx1"/>
                </a:solidFill>
              </a:rPr>
              <a:t>ak = f(gi, gj, εi, εj, WV, VZA)</a:t>
            </a:r>
            <a:endParaRPr lang="en-US" sz="1400" dirty="0"/>
          </a:p>
          <a:p>
            <a:pPr algn="ctr" indent="0" marL="0">
              <a:buNone/>
            </a:pPr>
            <a:r>
              <a:rPr lang="en-US" sz="1400" dirty="0">
                <a:solidFill>
                  <a:schemeClr val="tx1"/>
                </a:solidFill>
              </a:rPr>
              <a:t>Coefficients depend on spectral response, the two emissivities, water vapour and view zenith angle</a:t>
            </a:r>
            <a:endParaRPr lang="en-US" sz="1400" dirty="0"/>
          </a:p>
        </p:txBody>
      </p:sp>
      <p:sp>
        <p:nvSpPr>
          <p:cNvPr id="8" name="box-77"/>
          <p:cNvSpPr txBox="1"/>
          <p:nvPr/>
        </p:nvSpPr>
        <p:spPr>
          <a:xfrm>
            <a:off x="6766560" y="1234440"/>
            <a:ext cx="4937760" cy="822960"/>
          </a:xfrm>
          <a:prstGeom prst="roundRect">
            <a:avLst>
              <a:gd name="adj" fmla="val 8889"/>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400" dirty="0">
                <a:solidFill>
                  <a:schemeClr val="bg1"/>
                </a:solidFill>
              </a:rPr>
              <a:t>RT simulation database (profiles × ε × VZA)</a:t>
            </a:r>
            <a:endParaRPr lang="en-US" sz="1400" dirty="0"/>
          </a:p>
        </p:txBody>
      </p:sp>
      <p:sp>
        <p:nvSpPr>
          <p:cNvPr id="9" name="box-78"/>
          <p:cNvSpPr txBox="1"/>
          <p:nvPr/>
        </p:nvSpPr>
        <p:spPr>
          <a:xfrm>
            <a:off x="6766560" y="2423160"/>
            <a:ext cx="4937760" cy="822960"/>
          </a:xfrm>
          <a:prstGeom prst="roundRect">
            <a:avLst>
              <a:gd name="adj" fmla="val 8889"/>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400" dirty="0">
                <a:solidFill>
                  <a:schemeClr val="bg1"/>
                </a:solidFill>
              </a:rPr>
              <a:t>Simulate Ti, Tj at TOA</a:t>
            </a:r>
            <a:endParaRPr lang="en-US" sz="1400" dirty="0"/>
          </a:p>
        </p:txBody>
      </p:sp>
      <p:sp>
        <p:nvSpPr>
          <p:cNvPr id="10" name="arrow-79"/>
          <p:cNvSpPr/>
          <p:nvPr/>
        </p:nvSpPr>
        <p:spPr>
          <a:xfrm>
            <a:off x="9235440" y="2057400"/>
            <a:ext cx="0" cy="365760"/>
          </a:xfrm>
          <a:prstGeom prst="line">
            <a:avLst/>
          </a:prstGeom>
          <a:noFill/>
          <a:ln w="22225">
            <a:solidFill>
              <a:srgbClr val="6B7280"/>
            </a:solidFill>
            <a:prstDash val="solid"/>
            <a:tailEnd type="triangle"/>
          </a:ln>
        </p:spPr>
      </p:sp>
      <p:sp>
        <p:nvSpPr>
          <p:cNvPr id="11" name="box-80"/>
          <p:cNvSpPr txBox="1"/>
          <p:nvPr/>
        </p:nvSpPr>
        <p:spPr>
          <a:xfrm>
            <a:off x="6766560" y="3611880"/>
            <a:ext cx="4937760" cy="822960"/>
          </a:xfrm>
          <a:prstGeom prst="roundRect">
            <a:avLst>
              <a:gd name="adj" fmla="val 8889"/>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400" dirty="0">
                <a:solidFill>
                  <a:schemeClr val="bg1"/>
                </a:solidFill>
              </a:rPr>
              <a:t>Regress coefficients per WV / ε / VZA class → LUT</a:t>
            </a:r>
            <a:endParaRPr lang="en-US" sz="1400" dirty="0"/>
          </a:p>
        </p:txBody>
      </p:sp>
      <p:sp>
        <p:nvSpPr>
          <p:cNvPr id="12" name="arrow-81"/>
          <p:cNvSpPr/>
          <p:nvPr/>
        </p:nvSpPr>
        <p:spPr>
          <a:xfrm>
            <a:off x="9235440" y="3246120"/>
            <a:ext cx="0" cy="365760"/>
          </a:xfrm>
          <a:prstGeom prst="line">
            <a:avLst/>
          </a:prstGeom>
          <a:noFill/>
          <a:ln w="22225">
            <a:solidFill>
              <a:srgbClr val="6B7280"/>
            </a:solidFill>
            <a:prstDash val="solid"/>
            <a:tailEnd type="triangle"/>
          </a:ln>
        </p:spPr>
      </p:sp>
      <p:sp>
        <p:nvSpPr>
          <p:cNvPr id="13" name="box-82"/>
          <p:cNvSpPr txBox="1"/>
          <p:nvPr/>
        </p:nvSpPr>
        <p:spPr>
          <a:xfrm>
            <a:off x="6766560" y="4800600"/>
            <a:ext cx="4937760" cy="822960"/>
          </a:xfrm>
          <a:prstGeom prst="roundRect">
            <a:avLst>
              <a:gd name="adj" fmla="val 8889"/>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400" b="1" dirty="0">
                <a:solidFill>
                  <a:schemeClr val="bg1"/>
                </a:solidFill>
              </a:rPr>
              <a:t>Apply to image: Ti, Tj + ε (+ WV) → LST</a:t>
            </a:r>
            <a:endParaRPr lang="en-US" sz="1400" dirty="0"/>
          </a:p>
        </p:txBody>
      </p:sp>
      <p:sp>
        <p:nvSpPr>
          <p:cNvPr id="14" name="arrow-83"/>
          <p:cNvSpPr/>
          <p:nvPr/>
        </p:nvSpPr>
        <p:spPr>
          <a:xfrm>
            <a:off x="9235440" y="4434840"/>
            <a:ext cx="0" cy="365760"/>
          </a:xfrm>
          <a:prstGeom prst="line">
            <a:avLst/>
          </a:prstGeom>
          <a:noFill/>
          <a:ln w="22225">
            <a:solidFill>
              <a:srgbClr val="6B7280"/>
            </a:solidFill>
            <a:prstDash val="solid"/>
            <a:tailEnd type="triangle"/>
          </a:ln>
        </p:spPr>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Generalized split-window (MODIS) and non-linear SW</a:t>
            </a:r>
            <a:endParaRPr lang="en-US" sz="3000" dirty="0"/>
          </a:p>
        </p:txBody>
      </p:sp>
      <p:pic>
        <p:nvPicPr>
          <p:cNvPr id="3" name="img-84" descr="eq11_gsw.png">    </p:cNvPr>
          <p:cNvPicPr>
            <a:picLocks noChangeAspect="1"/>
          </p:cNvPicPr>
          <p:nvPr/>
        </p:nvPicPr>
        <p:blipFill>
          <a:blip r:embed="rId1"/>
          <a:stretch>
            <a:fillRect/>
          </a:stretch>
        </p:blipFill>
        <p:spPr>
          <a:xfrm>
            <a:off x="457200" y="1188720"/>
            <a:ext cx="5760720" cy="1039636"/>
          </a:xfrm>
          <a:prstGeom prst="rect">
            <a:avLst/>
          </a:prstGeom>
        </p:spPr>
      </p:pic>
      <p:sp>
        <p:nvSpPr>
          <p:cNvPr id="4" name="frame-85"/>
          <p:cNvSpPr/>
          <p:nvPr/>
        </p:nvSpPr>
        <p:spPr>
          <a:xfrm>
            <a:off x="457200" y="1188720"/>
            <a:ext cx="5760720" cy="1039636"/>
          </a:xfrm>
          <a:prstGeom prst="rect">
            <a:avLst/>
          </a:prstGeom>
          <a:ln w="9525">
            <a:solidFill>
              <a:srgbClr val="C9CED6"/>
            </a:solidFill>
            <a:prstDash val="solid"/>
          </a:ln>
        </p:spPr>
      </p:sp>
      <p:sp>
        <p:nvSpPr>
          <p:cNvPr id="5" name="text-86"/>
          <p:cNvSpPr txBox="1"/>
          <p:nvPr/>
        </p:nvSpPr>
        <p:spPr>
          <a:xfrm>
            <a:off x="457200" y="2286000"/>
            <a:ext cx="5760720" cy="320040"/>
          </a:xfrm>
          <a:prstGeom prst="rect">
            <a:avLst/>
          </a:prstGeom>
          <a:noFill/>
          <a:ln/>
        </p:spPr>
        <p:txBody>
          <a:bodyPr wrap="square" lIns="635" tIns="635" rIns="635" bIns="635" rtlCol="0" anchor="t"/>
          <a:lstStyle/>
          <a:p>
            <a:pPr algn="l" indent="0" marL="0">
              <a:spcAft>
                <a:spcPts val="600"/>
              </a:spcAft>
              <a:buNone/>
            </a:pPr>
            <a:r>
              <a:rPr lang="en-US" sz="1100" i="1" dirty="0">
                <a:solidFill>
                  <a:srgbClr val="6B7280"/>
                </a:solidFill>
              </a:rPr>
              <a:t>Screenshot: GSW of Wan &amp; Dozier (1996), Eq. (11) in Li et al. (2013)</a:t>
            </a:r>
            <a:endParaRPr lang="en-US" sz="1100" dirty="0"/>
          </a:p>
        </p:txBody>
      </p:sp>
      <p:sp>
        <p:nvSpPr>
          <p:cNvPr id="6" name="text-87"/>
          <p:cNvSpPr txBox="1"/>
          <p:nvPr/>
        </p:nvSpPr>
        <p:spPr>
          <a:xfrm>
            <a:off x="457200" y="2697480"/>
            <a:ext cx="5760720" cy="3566160"/>
          </a:xfrm>
          <a:prstGeom prst="rect">
            <a:avLst/>
          </a:prstGeom>
          <a:noFill/>
          <a:ln/>
        </p:spPr>
        <p:txBody>
          <a:bodyPr wrap="square" lIns="635" tIns="635" rIns="635" bIns="635" rtlCol="0" anchor="t"/>
          <a:lstStyle/>
          <a:p>
            <a:pPr algn="l" marL="203200" indent="-203200">
              <a:spcAft>
                <a:spcPts val="500"/>
              </a:spcAft>
              <a:buSzPct val="100000"/>
              <a:buChar char="•"/>
            </a:pPr>
            <a:r>
              <a:rPr lang="en-US" sz="1400" dirty="0">
                <a:solidFill>
                  <a:schemeClr val="tx1"/>
                </a:solidFill>
              </a:rPr>
              <a:t>Uses MODIS </a:t>
            </a:r>
            <a:r>
              <a:rPr lang="en-US" sz="1400" b="1" dirty="0">
                <a:solidFill>
                  <a:schemeClr val="tx1"/>
                </a:solidFill>
              </a:rPr>
              <a:t>bands 31 and 32</a:t>
            </a:r>
            <a:r>
              <a:rPr lang="en-US" sz="1400" dirty="0">
                <a:solidFill>
                  <a:schemeClr val="tx1"/>
                </a:solidFill>
              </a:rPr>
              <a:t>, mean emissivity ε and difference Δε</a:t>
            </a:r>
            <a:endParaRPr lang="en-US" sz="1400" dirty="0"/>
          </a:p>
          <a:p>
            <a:pPr algn="l" marL="203200" indent="-203200">
              <a:spcAft>
                <a:spcPts val="500"/>
              </a:spcAft>
              <a:buSzPct val="100000"/>
              <a:buChar char="•"/>
            </a:pPr>
            <a:r>
              <a:rPr lang="en-US" sz="1400" dirty="0">
                <a:solidFill>
                  <a:schemeClr val="tx1"/>
                </a:solidFill>
              </a:rPr>
              <a:t>Coefficients b0–b6 stored in a </a:t>
            </a:r>
            <a:r>
              <a:rPr lang="en-US" sz="1400" b="1" dirty="0">
                <a:solidFill>
                  <a:schemeClr val="tx1"/>
                </a:solidFill>
              </a:rPr>
              <a:t>multi-dimensional LUT</a:t>
            </a:r>
            <a:r>
              <a:rPr lang="en-US" sz="1400" dirty="0">
                <a:solidFill>
                  <a:schemeClr val="tx1"/>
                </a:solidFill>
              </a:rPr>
              <a:t> by view angle, WV, ε and air temperature Ta</a:t>
            </a:r>
            <a:endParaRPr lang="en-US" sz="1400" dirty="0"/>
          </a:p>
          <a:p>
            <a:pPr algn="l" marL="203200" indent="-203200">
              <a:spcAft>
                <a:spcPts val="500"/>
              </a:spcAft>
              <a:buSzPct val="100000"/>
              <a:buChar char="•"/>
            </a:pPr>
            <a:r>
              <a:rPr lang="en-US" sz="1400" dirty="0">
                <a:solidFill>
                  <a:schemeClr val="tx1"/>
                </a:solidFill>
              </a:rPr>
              <a:t>WV sub-ranges up to </a:t>
            </a:r>
            <a:r>
              <a:rPr lang="en-US" sz="1400" b="1" dirty="0">
                <a:solidFill>
                  <a:schemeClr val="tx1"/>
                </a:solidFill>
              </a:rPr>
              <a:t>6.5 g/cm²</a:t>
            </a:r>
            <a:r>
              <a:rPr lang="en-US" sz="1400" dirty="0">
                <a:solidFill>
                  <a:schemeClr val="tx1"/>
                </a:solidFill>
              </a:rPr>
              <a:t> (0.5 overlap); ε classes </a:t>
            </a:r>
            <a:r>
              <a:rPr lang="en-US" sz="1400" b="1" dirty="0">
                <a:solidFill>
                  <a:schemeClr val="tx1"/>
                </a:solidFill>
              </a:rPr>
              <a:t>0.90–0.96</a:t>
            </a:r>
            <a:r>
              <a:rPr lang="en-US" sz="1400" dirty="0">
                <a:solidFill>
                  <a:schemeClr val="tx1"/>
                </a:solidFill>
              </a:rPr>
              <a:t> and </a:t>
            </a:r>
            <a:r>
              <a:rPr lang="en-US" sz="1400" b="1" dirty="0">
                <a:solidFill>
                  <a:schemeClr val="tx1"/>
                </a:solidFill>
              </a:rPr>
              <a:t>0.94–1.0</a:t>
            </a:r>
            <a:endParaRPr lang="en-US" sz="1400" dirty="0"/>
          </a:p>
          <a:p>
            <a:pPr algn="l" marL="203200" indent="-203200">
              <a:spcAft>
                <a:spcPts val="500"/>
              </a:spcAft>
              <a:buSzPct val="100000"/>
              <a:buChar char="•"/>
            </a:pPr>
            <a:r>
              <a:rPr lang="en-US" sz="1400" b="1" dirty="0">
                <a:solidFill>
                  <a:schemeClr val="tx1"/>
                </a:solidFill>
              </a:rPr>
              <a:t>Two-step</a:t>
            </a:r>
            <a:r>
              <a:rPr lang="en-US" sz="1400" dirty="0">
                <a:solidFill>
                  <a:schemeClr val="tx1"/>
                </a:solidFill>
              </a:rPr>
              <a:t>: approximate LST over Ta ± 16 K, then refine in the matching sub-range</a:t>
            </a:r>
            <a:endParaRPr lang="en-US" sz="1400" dirty="0"/>
          </a:p>
          <a:p>
            <a:pPr algn="l" marL="203200" indent="-203200">
              <a:spcAft>
                <a:spcPts val="500"/>
              </a:spcAft>
              <a:buSzPct val="100000"/>
              <a:buChar char="•"/>
            </a:pPr>
            <a:r>
              <a:rPr lang="en-US" sz="1400" dirty="0">
                <a:solidFill>
                  <a:schemeClr val="tx1"/>
                </a:solidFill>
              </a:rPr>
              <a:t>Accuracy </a:t>
            </a:r>
            <a:r>
              <a:rPr lang="en-US" sz="1400" b="1" dirty="0">
                <a:solidFill>
                  <a:schemeClr val="tx1"/>
                </a:solidFill>
              </a:rPr>
              <a:t>better than 1 K</a:t>
            </a:r>
            <a:r>
              <a:rPr lang="en-US" sz="1400" dirty="0">
                <a:solidFill>
                  <a:schemeClr val="tx1"/>
                </a:solidFill>
              </a:rPr>
              <a:t> for 263–322 K on several land covers</a:t>
            </a:r>
            <a:endParaRPr lang="en-US" sz="1400" dirty="0"/>
          </a:p>
          <a:p>
            <a:pPr algn="l" marL="203200" indent="-203200">
              <a:spcAft>
                <a:spcPts val="500"/>
              </a:spcAft>
              <a:buSzPct val="100000"/>
              <a:buChar char="•"/>
            </a:pPr>
            <a:r>
              <a:rPr lang="en-US" sz="1400" dirty="0">
                <a:solidFill>
                  <a:schemeClr val="tx1"/>
                </a:solidFill>
              </a:rPr>
              <a:t>Ignoring view angle: up to </a:t>
            </a:r>
            <a:r>
              <a:rPr lang="en-US" sz="1400" b="1" dirty="0">
                <a:solidFill>
                  <a:schemeClr val="tx1"/>
                </a:solidFill>
              </a:rPr>
              <a:t>1.6 K</a:t>
            </a:r>
            <a:r>
              <a:rPr lang="en-US" sz="1400" dirty="0">
                <a:solidFill>
                  <a:schemeClr val="tx1"/>
                </a:solidFill>
              </a:rPr>
              <a:t> error for 0.01 uncertainty in Δε/ε²</a:t>
            </a:r>
            <a:endParaRPr lang="en-US" sz="1400" dirty="0"/>
          </a:p>
        </p:txBody>
      </p:sp>
      <p:sp>
        <p:nvSpPr>
          <p:cNvPr id="7" name="box-88"/>
          <p:cNvSpPr txBox="1"/>
          <p:nvPr/>
        </p:nvSpPr>
        <p:spPr>
          <a:xfrm>
            <a:off x="6583680" y="1188720"/>
            <a:ext cx="5120640" cy="1051560"/>
          </a:xfrm>
          <a:prstGeom prst="roundRect">
            <a:avLst>
              <a:gd name="adj" fmla="val 6957"/>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600" dirty="0">
                <a:solidFill>
                  <a:schemeClr val="tx1"/>
                </a:solidFill>
              </a:rPr>
              <a:t>Non-linear SW, Eq. (12)</a:t>
            </a:r>
            <a:endParaRPr lang="en-US" sz="1600" dirty="0"/>
          </a:p>
          <a:p>
            <a:pPr algn="ctr" indent="0" marL="0">
              <a:buNone/>
            </a:pPr>
            <a:r>
              <a:rPr lang="en-US" sz="1600" dirty="0">
                <a:solidFill>
                  <a:schemeClr val="tx1"/>
                </a:solidFill>
              </a:rPr>
              <a:t>LST = c0 + c1 Ti + c2 (Ti − Tj) + c3 (Ti − Tj)²</a:t>
            </a:r>
            <a:endParaRPr lang="en-US" sz="1600" dirty="0"/>
          </a:p>
        </p:txBody>
      </p:sp>
      <p:sp>
        <p:nvSpPr>
          <p:cNvPr id="8" name="text-89"/>
          <p:cNvSpPr txBox="1"/>
          <p:nvPr/>
        </p:nvSpPr>
        <p:spPr>
          <a:xfrm>
            <a:off x="6583680" y="2468880"/>
            <a:ext cx="5120640" cy="3749040"/>
          </a:xfrm>
          <a:prstGeom prst="rect">
            <a:avLst/>
          </a:prstGeom>
          <a:noFill/>
          <a:ln/>
        </p:spPr>
        <p:txBody>
          <a:bodyPr wrap="square" lIns="635" tIns="635" rIns="635" bIns="635" rtlCol="0" anchor="t"/>
          <a:lstStyle/>
          <a:p>
            <a:pPr algn="l" marL="203200" indent="-203200">
              <a:spcAft>
                <a:spcPts val="500"/>
              </a:spcAft>
              <a:buSzPct val="100000"/>
              <a:buChar char="•"/>
            </a:pPr>
            <a:r>
              <a:rPr lang="en-US" sz="1400" dirty="0">
                <a:solidFill>
                  <a:schemeClr val="tx1"/>
                </a:solidFill>
              </a:rPr>
              <a:t>Quadratic term corrects errors from </a:t>
            </a:r>
            <a:r>
              <a:rPr lang="en-US" sz="1400" b="1" dirty="0">
                <a:solidFill>
                  <a:schemeClr val="tx1"/>
                </a:solidFill>
              </a:rPr>
              <a:t>linearising the RTE</a:t>
            </a:r>
            <a:r>
              <a:rPr lang="en-US" sz="1400" dirty="0">
                <a:solidFill>
                  <a:schemeClr val="tx1"/>
                </a:solidFill>
              </a:rPr>
              <a:t>, important in </a:t>
            </a:r>
            <a:r>
              <a:rPr lang="en-US" sz="1400" b="1" dirty="0">
                <a:solidFill>
                  <a:schemeClr val="tx1"/>
                </a:solidFill>
              </a:rPr>
              <a:t>hot, humid</a:t>
            </a:r>
            <a:r>
              <a:rPr lang="en-US" sz="1400" dirty="0">
                <a:solidFill>
                  <a:schemeClr val="tx1"/>
                </a:solidFill>
              </a:rPr>
              <a:t> atmospheres</a:t>
            </a:r>
            <a:endParaRPr lang="en-US" sz="1400" dirty="0"/>
          </a:p>
          <a:p>
            <a:pPr algn="l" marL="203200" indent="-203200">
              <a:spcAft>
                <a:spcPts val="500"/>
              </a:spcAft>
              <a:buSzPct val="100000"/>
              <a:buChar char="•"/>
            </a:pPr>
            <a:r>
              <a:rPr lang="en-US" sz="1400" dirty="0">
                <a:solidFill>
                  <a:schemeClr val="tx1"/>
                </a:solidFill>
              </a:rPr>
              <a:t>Sobrino &amp; Raissouni (2000) for AVHRR: c0 depends on ε, Δε and WV → </a:t>
            </a:r>
            <a:r>
              <a:rPr lang="en-US" sz="1400" b="1" dirty="0">
                <a:solidFill>
                  <a:schemeClr val="tx1"/>
                </a:solidFill>
              </a:rPr>
              <a:t>1.3 K</a:t>
            </a:r>
            <a:r>
              <a:rPr lang="en-US" sz="1400" dirty="0">
                <a:solidFill>
                  <a:schemeClr val="tx1"/>
                </a:solidFill>
              </a:rPr>
              <a:t> error vs Australian in situ data</a:t>
            </a:r>
            <a:endParaRPr lang="en-US" sz="1400" dirty="0"/>
          </a:p>
          <a:p>
            <a:pPr algn="l" marL="203200" indent="-203200">
              <a:spcAft>
                <a:spcPts val="500"/>
              </a:spcAft>
              <a:buSzPct val="100000"/>
              <a:buChar char="•"/>
            </a:pPr>
            <a:r>
              <a:rPr lang="en-US" sz="1400" dirty="0">
                <a:solidFill>
                  <a:schemeClr val="tx1"/>
                </a:solidFill>
              </a:rPr>
              <a:t>Sobrino &amp; Romaguera (2004), Atitar &amp; Sobrino (2009) for SEVIRI: coefficients depend on sec²(VZA) → </a:t>
            </a:r>
            <a:r>
              <a:rPr lang="en-US" sz="1400" b="1" dirty="0">
                <a:solidFill>
                  <a:schemeClr val="tx1"/>
                </a:solidFill>
              </a:rPr>
              <a:t>RMSE 1.3 K</a:t>
            </a:r>
            <a:r>
              <a:rPr lang="en-US" sz="1400" dirty="0">
                <a:solidFill>
                  <a:schemeClr val="tx1"/>
                </a:solidFill>
              </a:rPr>
              <a:t> for VZA &lt; 50°</a:t>
            </a:r>
            <a:endParaRPr lang="en-US" sz="1400" dirty="0"/>
          </a:p>
          <a:p>
            <a:pPr algn="l" marL="203200" indent="-203200">
              <a:spcAft>
                <a:spcPts val="500"/>
              </a:spcAft>
              <a:buSzPct val="100000"/>
              <a:buChar char="•"/>
            </a:pPr>
            <a:r>
              <a:rPr lang="en-US" sz="1400" dirty="0">
                <a:solidFill>
                  <a:schemeClr val="tx1"/>
                </a:solidFill>
              </a:rPr>
              <a:t>Comparisons: most SW algorithms are statistically similar. Using </a:t>
            </a:r>
            <a:r>
              <a:rPr lang="en-US" sz="1400" b="1" dirty="0">
                <a:solidFill>
                  <a:schemeClr val="tx1"/>
                </a:solidFill>
              </a:rPr>
              <a:t>mean ε only</a:t>
            </a:r>
            <a:r>
              <a:rPr lang="en-US" sz="1400" dirty="0">
                <a:solidFill>
                  <a:schemeClr val="tx1"/>
                </a:solidFill>
              </a:rPr>
              <a:t> is recommended operationally (Yu et al. 2009)</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Multi-channel (3–4 channel) and multi-angle methods</a:t>
            </a:r>
            <a:endParaRPr lang="en-US" sz="3000" dirty="0"/>
          </a:p>
        </p:txBody>
      </p:sp>
      <p:sp>
        <p:nvSpPr>
          <p:cNvPr id="3" name="box-90"/>
          <p:cNvSpPr txBox="1"/>
          <p:nvPr/>
        </p:nvSpPr>
        <p:spPr>
          <a:xfrm>
            <a:off x="457200" y="1188720"/>
            <a:ext cx="5486400" cy="548640"/>
          </a:xfrm>
          <a:prstGeom prst="roundRect">
            <a:avLst>
              <a:gd name="adj" fmla="val 13333"/>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600" b="1" dirty="0">
                <a:solidFill>
                  <a:schemeClr val="tx1"/>
                </a:solidFill>
              </a:rPr>
              <a:t>Multi-channel: add MIR (3.9 µm) and 8.7 µm</a:t>
            </a:r>
            <a:endParaRPr lang="en-US" sz="1600" dirty="0"/>
          </a:p>
        </p:txBody>
      </p:sp>
      <p:sp>
        <p:nvSpPr>
          <p:cNvPr id="4" name="text-91"/>
          <p:cNvSpPr txBox="1"/>
          <p:nvPr/>
        </p:nvSpPr>
        <p:spPr>
          <a:xfrm>
            <a:off x="457200" y="1828800"/>
            <a:ext cx="5486400" cy="438912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Sun &amp; Pinker (2003): </a:t>
            </a:r>
            <a:r>
              <a:rPr lang="en-US" sz="1400" b="1" dirty="0">
                <a:solidFill>
                  <a:schemeClr val="tx1"/>
                </a:solidFill>
              </a:rPr>
              <a:t>three-channel</a:t>
            </a:r>
            <a:r>
              <a:rPr lang="en-US" sz="1400" dirty="0">
                <a:solidFill>
                  <a:schemeClr val="tx1"/>
                </a:solidFill>
              </a:rPr>
              <a:t> night-time algorithm for GOES using 3.9 µm; RMSE </a:t>
            </a:r>
            <a:r>
              <a:rPr lang="en-US" sz="1400" b="1" dirty="0">
                <a:solidFill>
                  <a:schemeClr val="tx1"/>
                </a:solidFill>
              </a:rPr>
              <a:t>&lt; 1 K</a:t>
            </a:r>
            <a:endParaRPr lang="en-US" sz="1400" dirty="0"/>
          </a:p>
          <a:p>
            <a:pPr algn="l" marL="203200" indent="-203200">
              <a:spcAft>
                <a:spcPts val="600"/>
              </a:spcAft>
              <a:buSzPct val="100000"/>
              <a:buChar char="•"/>
            </a:pPr>
            <a:r>
              <a:rPr lang="en-US" sz="1400" dirty="0">
                <a:solidFill>
                  <a:schemeClr val="tx1"/>
                </a:solidFill>
              </a:rPr>
              <a:t>Sun &amp; Pinker (2007): </a:t>
            </a:r>
            <a:r>
              <a:rPr lang="en-US" sz="1400" b="1" dirty="0">
                <a:solidFill>
                  <a:schemeClr val="tx1"/>
                </a:solidFill>
              </a:rPr>
              <a:t>four-channel</a:t>
            </a:r>
            <a:r>
              <a:rPr lang="en-US" sz="1400" dirty="0">
                <a:solidFill>
                  <a:schemeClr val="tx1"/>
                </a:solidFill>
              </a:rPr>
              <a:t> non-linear algorithm for SEVIRI with land-cover-dependent coefficients; adds a sec(VZA) term</a:t>
            </a:r>
            <a:endParaRPr lang="en-US" sz="1400" dirty="0"/>
          </a:p>
          <a:p>
            <a:pPr algn="l" marL="203200" indent="-203200">
              <a:spcAft>
                <a:spcPts val="600"/>
              </a:spcAft>
              <a:buSzPct val="100000"/>
              <a:buChar char="•"/>
            </a:pPr>
            <a:r>
              <a:rPr lang="en-US" sz="1400" dirty="0">
                <a:solidFill>
                  <a:schemeClr val="tx1"/>
                </a:solidFill>
              </a:rPr>
              <a:t>By day a </a:t>
            </a:r>
            <a:r>
              <a:rPr lang="en-US" sz="1400" b="1" dirty="0">
                <a:solidFill>
                  <a:schemeClr val="tx1"/>
                </a:solidFill>
              </a:rPr>
              <a:t>solar correction</a:t>
            </a:r>
            <a:r>
              <a:rPr lang="en-US" sz="1400" dirty="0">
                <a:solidFill>
                  <a:schemeClr val="tx1"/>
                </a:solidFill>
              </a:rPr>
              <a:t> term (d6·Ti1·cos θs) is needed for the MIR channel</a:t>
            </a:r>
            <a:endParaRPr lang="en-US" sz="1400" dirty="0"/>
          </a:p>
          <a:p>
            <a:pPr algn="l" marL="203200" indent="-203200">
              <a:spcAft>
                <a:spcPts val="600"/>
              </a:spcAft>
              <a:buSzPct val="100000"/>
              <a:buChar char="•"/>
            </a:pPr>
            <a:r>
              <a:rPr lang="en-US" sz="1400" dirty="0">
                <a:solidFill>
                  <a:schemeClr val="tx1"/>
                </a:solidFill>
              </a:rPr>
              <a:t>Cautions: MIR reflectance is high in arid regions; emissivity uncertainty is larger at 3.9 and 8.7 µm; extra channels add noise</a:t>
            </a:r>
            <a:endParaRPr lang="en-US" sz="1400" dirty="0"/>
          </a:p>
        </p:txBody>
      </p:sp>
      <p:sp>
        <p:nvSpPr>
          <p:cNvPr id="5" name="box-92"/>
          <p:cNvSpPr txBox="1"/>
          <p:nvPr/>
        </p:nvSpPr>
        <p:spPr>
          <a:xfrm>
            <a:off x="6263640" y="1188720"/>
            <a:ext cx="5486400" cy="548640"/>
          </a:xfrm>
          <a:prstGeom prst="roundRect">
            <a:avLst>
              <a:gd name="adj" fmla="val 13333"/>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600" b="1" dirty="0">
                <a:solidFill>
                  <a:schemeClr val="tx1"/>
                </a:solidFill>
              </a:rPr>
              <a:t>Multi-angle: same pixel, two path lengths</a:t>
            </a:r>
            <a:endParaRPr lang="en-US" sz="1600" dirty="0"/>
          </a:p>
        </p:txBody>
      </p:sp>
      <p:pic>
        <p:nvPicPr>
          <p:cNvPr id="6" name="img-93" descr="eq17_da.png">    </p:cNvPr>
          <p:cNvPicPr>
            <a:picLocks noChangeAspect="1"/>
          </p:cNvPicPr>
          <p:nvPr/>
        </p:nvPicPr>
        <p:blipFill>
          <a:blip r:embed="rId1"/>
          <a:stretch>
            <a:fillRect/>
          </a:stretch>
        </p:blipFill>
        <p:spPr>
          <a:xfrm>
            <a:off x="6263640" y="1874520"/>
            <a:ext cx="3096561" cy="411480"/>
          </a:xfrm>
          <a:prstGeom prst="rect">
            <a:avLst/>
          </a:prstGeom>
        </p:spPr>
      </p:pic>
      <p:sp>
        <p:nvSpPr>
          <p:cNvPr id="7" name="frame-94"/>
          <p:cNvSpPr/>
          <p:nvPr/>
        </p:nvSpPr>
        <p:spPr>
          <a:xfrm>
            <a:off x="6263640" y="1874520"/>
            <a:ext cx="3096561" cy="411480"/>
          </a:xfrm>
          <a:prstGeom prst="rect">
            <a:avLst/>
          </a:prstGeom>
          <a:ln w="9525">
            <a:solidFill>
              <a:srgbClr val="C9CED6"/>
            </a:solidFill>
            <a:prstDash val="solid"/>
          </a:ln>
        </p:spPr>
      </p:sp>
      <p:sp>
        <p:nvSpPr>
          <p:cNvPr id="8" name="text-95"/>
          <p:cNvSpPr txBox="1"/>
          <p:nvPr/>
        </p:nvSpPr>
        <p:spPr>
          <a:xfrm>
            <a:off x="6263640" y="2331720"/>
            <a:ext cx="5486400" cy="320040"/>
          </a:xfrm>
          <a:prstGeom prst="rect">
            <a:avLst/>
          </a:prstGeom>
          <a:noFill/>
          <a:ln/>
        </p:spPr>
        <p:txBody>
          <a:bodyPr wrap="square" lIns="635" tIns="635" rIns="635" bIns="635" rtlCol="0" anchor="t"/>
          <a:lstStyle/>
          <a:p>
            <a:pPr algn="l" indent="0" marL="0">
              <a:spcAft>
                <a:spcPts val="600"/>
              </a:spcAft>
              <a:buNone/>
            </a:pPr>
            <a:r>
              <a:rPr lang="en-US" sz="1100" i="1" dirty="0">
                <a:solidFill>
                  <a:srgbClr val="6B7280"/>
                </a:solidFill>
              </a:rPr>
              <a:t>Screenshot: dual-angle algorithm, Eq. (17) of Li et al. (2013)</a:t>
            </a:r>
            <a:endParaRPr lang="en-US" sz="1100" dirty="0"/>
          </a:p>
        </p:txBody>
      </p:sp>
      <p:sp>
        <p:nvSpPr>
          <p:cNvPr id="9" name="text-96"/>
          <p:cNvSpPr txBox="1"/>
          <p:nvPr/>
        </p:nvSpPr>
        <p:spPr>
          <a:xfrm>
            <a:off x="6263640" y="2697480"/>
            <a:ext cx="5486400" cy="3566160"/>
          </a:xfrm>
          <a:prstGeom prst="rect">
            <a:avLst/>
          </a:prstGeom>
          <a:noFill/>
          <a:ln/>
        </p:spPr>
        <p:txBody>
          <a:bodyPr wrap="square" lIns="635" tIns="635" rIns="635" bIns="635" rtlCol="0" anchor="t"/>
          <a:lstStyle/>
          <a:p>
            <a:pPr algn="l" marL="203200" indent="-203200">
              <a:spcAft>
                <a:spcPts val="500"/>
              </a:spcAft>
              <a:buSzPct val="100000"/>
              <a:buChar char="•"/>
            </a:pPr>
            <a:r>
              <a:rPr lang="en-US" sz="1400" dirty="0">
                <a:solidFill>
                  <a:schemeClr val="tx1"/>
                </a:solidFill>
              </a:rPr>
              <a:t>Built for </a:t>
            </a:r>
            <a:r>
              <a:rPr lang="en-US" sz="1400" b="1" dirty="0">
                <a:solidFill>
                  <a:schemeClr val="tx1"/>
                </a:solidFill>
              </a:rPr>
              <a:t>ATSR</a:t>
            </a:r>
            <a:r>
              <a:rPr lang="en-US" sz="1400" dirty="0">
                <a:solidFill>
                  <a:schemeClr val="tx1"/>
                </a:solidFill>
              </a:rPr>
              <a:t> (ERS-1): nadir view 0–21.6° and forward view 52–55°, about </a:t>
            </a:r>
            <a:r>
              <a:rPr lang="en-US" sz="1400" b="1" dirty="0">
                <a:solidFill>
                  <a:schemeClr val="tx1"/>
                </a:solidFill>
              </a:rPr>
              <a:t>2 min apart</a:t>
            </a:r>
            <a:endParaRPr lang="en-US" sz="1400" dirty="0"/>
          </a:p>
          <a:p>
            <a:pPr algn="l" marL="203200" indent="-203200">
              <a:spcAft>
                <a:spcPts val="500"/>
              </a:spcAft>
              <a:buSzPct val="100000"/>
              <a:buChar char="•"/>
            </a:pPr>
            <a:r>
              <a:rPr lang="en-US" sz="1400" dirty="0">
                <a:solidFill>
                  <a:schemeClr val="tx1"/>
                </a:solidFill>
              </a:rPr>
              <a:t>Longer slant path in the forward view means more absorption, so Tn − Tf gives the atmospheric correction</a:t>
            </a:r>
            <a:endParaRPr lang="en-US" sz="1400" dirty="0"/>
          </a:p>
          <a:p>
            <a:pPr algn="l" marL="203200" indent="-203200">
              <a:spcAft>
                <a:spcPts val="500"/>
              </a:spcAft>
              <a:buSzPct val="100000"/>
              <a:buChar char="•"/>
            </a:pPr>
            <a:r>
              <a:rPr lang="en-US" sz="1400" dirty="0">
                <a:solidFill>
                  <a:schemeClr val="tx1"/>
                </a:solidFill>
              </a:rPr>
              <a:t>Can beat split-window </a:t>
            </a:r>
            <a:r>
              <a:rPr lang="en-US" sz="1400" b="1" dirty="0">
                <a:solidFill>
                  <a:schemeClr val="tx1"/>
                </a:solidFill>
              </a:rPr>
              <a:t>if angular emissivity is known</a:t>
            </a:r>
            <a:endParaRPr lang="en-US" sz="1400" dirty="0"/>
          </a:p>
          <a:p>
            <a:pPr algn="l" marL="203200" indent="-203200">
              <a:spcAft>
                <a:spcPts val="500"/>
              </a:spcAft>
              <a:buSzPct val="100000"/>
              <a:buChar char="•"/>
            </a:pPr>
            <a:r>
              <a:rPr lang="en-US" sz="1400" dirty="0">
                <a:solidFill>
                  <a:schemeClr val="tx1"/>
                </a:solidFill>
              </a:rPr>
              <a:t>Limitations: angular variation of ε and LST, pixel footprint differences, mis-registration, needs a horizontally uniform atmosphere</a:t>
            </a:r>
            <a:endParaRPr lang="en-US" sz="1400" dirty="0"/>
          </a:p>
          <a:p>
            <a:pPr algn="l" marL="203200" indent="-203200">
              <a:spcAft>
                <a:spcPts val="500"/>
              </a:spcAft>
              <a:buSzPct val="100000"/>
              <a:buChar char="•"/>
            </a:pPr>
            <a:r>
              <a:rPr lang="en-US" sz="1400" dirty="0">
                <a:solidFill>
                  <a:schemeClr val="tx1"/>
                </a:solidFill>
              </a:rPr>
              <a:t>Practical only over </a:t>
            </a:r>
            <a:r>
              <a:rPr lang="en-US" sz="1400" b="1" dirty="0">
                <a:solidFill>
                  <a:schemeClr val="tx1"/>
                </a:solidFill>
              </a:rPr>
              <a:t>homogeneous</a:t>
            </a:r>
            <a:r>
              <a:rPr lang="en-US" sz="1400" dirty="0">
                <a:solidFill>
                  <a:schemeClr val="tx1"/>
                </a:solidFill>
              </a:rPr>
              <a:t> surfaces (sea, dense forest)</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Part B: algorithms when emissivity is unknown</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1800" dirty="0">
                <a:solidFill>
                  <a:schemeClr val="accent2"/>
                </a:solidFill>
              </a:rPr>
              <a:t>1 % emissivity error ≈ 0.5 K LST error, so emissivity must be estimated from space</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5C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Stepwise methods: CBEM and NDVI-based emissivity</a:t>
            </a:r>
            <a:endParaRPr lang="en-US" sz="3000" dirty="0"/>
          </a:p>
        </p:txBody>
      </p:sp>
      <p:sp>
        <p:nvSpPr>
          <p:cNvPr id="3" name="box-97"/>
          <p:cNvSpPr txBox="1"/>
          <p:nvPr/>
        </p:nvSpPr>
        <p:spPr>
          <a:xfrm>
            <a:off x="457200" y="1188720"/>
            <a:ext cx="5394960" cy="548640"/>
          </a:xfrm>
          <a:prstGeom prst="roundRect">
            <a:avLst>
              <a:gd name="adj" fmla="val 13333"/>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600" b="1" dirty="0">
                <a:solidFill>
                  <a:schemeClr val="tx1"/>
                </a:solidFill>
              </a:rPr>
              <a:t>CBEM: classification-based emissivity</a:t>
            </a:r>
            <a:endParaRPr lang="en-US" sz="1600" dirty="0"/>
          </a:p>
        </p:txBody>
      </p:sp>
      <p:sp>
        <p:nvSpPr>
          <p:cNvPr id="4" name="box-98"/>
          <p:cNvSpPr txBox="1"/>
          <p:nvPr/>
        </p:nvSpPr>
        <p:spPr>
          <a:xfrm>
            <a:off x="457200" y="1874520"/>
            <a:ext cx="5394960" cy="621792"/>
          </a:xfrm>
          <a:prstGeom prst="roundRect">
            <a:avLst>
              <a:gd name="adj" fmla="val 11765"/>
            </a:avLst>
          </a:prstGeom>
          <a:solidFill>
            <a:schemeClr val="accent2"/>
          </a:solidFill>
          <a:ln w="15875">
            <a:solidFill>
              <a:schemeClr val="accent2"/>
            </a:solidFill>
          </a:ln>
        </p:spPr>
        <p:txBody>
          <a:bodyPr wrap="square" lIns="1016" tIns="1016" rIns="1016" bIns="1016" rtlCol="0" anchor="ctr"/>
          <a:lstStyle/>
          <a:p>
            <a:pPr algn="ctr" indent="0" marL="0">
              <a:buNone/>
            </a:pPr>
            <a:r>
              <a:rPr lang="en-US" sz="1300" dirty="0">
                <a:solidFill>
                  <a:schemeClr val="tx1"/>
                </a:solidFill>
              </a:rPr>
              <a:t>Land-cover classification (VNIR)</a:t>
            </a:r>
            <a:endParaRPr lang="en-US" sz="1300" dirty="0"/>
          </a:p>
        </p:txBody>
      </p:sp>
      <p:sp>
        <p:nvSpPr>
          <p:cNvPr id="5" name="box-99"/>
          <p:cNvSpPr txBox="1"/>
          <p:nvPr/>
        </p:nvSpPr>
        <p:spPr>
          <a:xfrm>
            <a:off x="457200" y="2697480"/>
            <a:ext cx="5394960" cy="621792"/>
          </a:xfrm>
          <a:prstGeom prst="roundRect">
            <a:avLst>
              <a:gd name="adj" fmla="val 11765"/>
            </a:avLst>
          </a:prstGeom>
          <a:solidFill>
            <a:schemeClr val="accent2"/>
          </a:solidFill>
          <a:ln w="15875">
            <a:solidFill>
              <a:schemeClr val="accent2"/>
            </a:solidFill>
          </a:ln>
        </p:spPr>
        <p:txBody>
          <a:bodyPr wrap="square" lIns="1016" tIns="1016" rIns="1016" bIns="1016" rtlCol="0" anchor="ctr"/>
          <a:lstStyle/>
          <a:p>
            <a:pPr algn="ctr" indent="0" marL="0">
              <a:buNone/>
            </a:pPr>
            <a:r>
              <a:rPr lang="en-US" sz="1300" dirty="0">
                <a:solidFill>
                  <a:schemeClr val="tx1"/>
                </a:solidFill>
              </a:rPr>
              <a:t>Look-up table: emissivity per class (+ season, dynamic state)</a:t>
            </a:r>
            <a:endParaRPr lang="en-US" sz="1300" dirty="0"/>
          </a:p>
        </p:txBody>
      </p:sp>
      <p:sp>
        <p:nvSpPr>
          <p:cNvPr id="6" name="arrow-100"/>
          <p:cNvSpPr/>
          <p:nvPr/>
        </p:nvSpPr>
        <p:spPr>
          <a:xfrm>
            <a:off x="3154680" y="2496312"/>
            <a:ext cx="0" cy="201168"/>
          </a:xfrm>
          <a:prstGeom prst="line">
            <a:avLst/>
          </a:prstGeom>
          <a:noFill/>
          <a:ln w="22225">
            <a:solidFill>
              <a:srgbClr val="6B7280"/>
            </a:solidFill>
            <a:prstDash val="solid"/>
            <a:tailEnd type="triangle"/>
          </a:ln>
        </p:spPr>
      </p:sp>
      <p:sp>
        <p:nvSpPr>
          <p:cNvPr id="7" name="box-101"/>
          <p:cNvSpPr txBox="1"/>
          <p:nvPr/>
        </p:nvSpPr>
        <p:spPr>
          <a:xfrm>
            <a:off x="457200" y="3520440"/>
            <a:ext cx="5394960" cy="621792"/>
          </a:xfrm>
          <a:prstGeom prst="roundRect">
            <a:avLst>
              <a:gd name="adj" fmla="val 11765"/>
            </a:avLst>
          </a:prstGeom>
          <a:solidFill>
            <a:schemeClr val="accent2"/>
          </a:solidFill>
          <a:ln w="15875">
            <a:solidFill>
              <a:schemeClr val="accent2"/>
            </a:solidFill>
          </a:ln>
        </p:spPr>
        <p:txBody>
          <a:bodyPr wrap="square" lIns="1016" tIns="1016" rIns="1016" bIns="1016" rtlCol="0" anchor="ctr"/>
          <a:lstStyle/>
          <a:p>
            <a:pPr algn="ctr" indent="0" marL="0">
              <a:buNone/>
            </a:pPr>
            <a:r>
              <a:rPr lang="en-US" sz="1300" dirty="0">
                <a:solidFill>
                  <a:schemeClr val="tx1"/>
                </a:solidFill>
              </a:rPr>
              <a:t>Known-ε LST algorithm (SW / single channel)</a:t>
            </a:r>
            <a:endParaRPr lang="en-US" sz="1300" dirty="0"/>
          </a:p>
        </p:txBody>
      </p:sp>
      <p:sp>
        <p:nvSpPr>
          <p:cNvPr id="8" name="arrow-102"/>
          <p:cNvSpPr/>
          <p:nvPr/>
        </p:nvSpPr>
        <p:spPr>
          <a:xfrm>
            <a:off x="3154680" y="3319272"/>
            <a:ext cx="0" cy="201168"/>
          </a:xfrm>
          <a:prstGeom prst="line">
            <a:avLst/>
          </a:prstGeom>
          <a:noFill/>
          <a:ln w="22225">
            <a:solidFill>
              <a:srgbClr val="6B7280"/>
            </a:solidFill>
            <a:prstDash val="solid"/>
            <a:tailEnd type="triangle"/>
          </a:ln>
        </p:spPr>
      </p:sp>
      <p:sp>
        <p:nvSpPr>
          <p:cNvPr id="9" name="text-103"/>
          <p:cNvSpPr txBox="1"/>
          <p:nvPr/>
        </p:nvSpPr>
        <p:spPr>
          <a:xfrm>
            <a:off x="457200" y="4389120"/>
            <a:ext cx="5394960" cy="1920240"/>
          </a:xfrm>
          <a:prstGeom prst="rect">
            <a:avLst/>
          </a:prstGeom>
          <a:noFill/>
          <a:ln/>
        </p:spPr>
        <p:txBody>
          <a:bodyPr wrap="square" lIns="635" tIns="635" rIns="635" bIns="635" rtlCol="0" anchor="t"/>
          <a:lstStyle/>
          <a:p>
            <a:pPr algn="l" marL="203200" indent="-203200">
              <a:spcAft>
                <a:spcPts val="400"/>
              </a:spcAft>
              <a:buSzPct val="100000"/>
              <a:buChar char="•"/>
            </a:pPr>
            <a:r>
              <a:rPr lang="en-US" sz="1300" dirty="0">
                <a:solidFill>
                  <a:schemeClr val="tx1"/>
                </a:solidFill>
              </a:rPr>
              <a:t>Snyder et al. (1998): ~</a:t>
            </a:r>
            <a:r>
              <a:rPr lang="en-US" sz="1300" b="1" dirty="0">
                <a:solidFill>
                  <a:schemeClr val="tx1"/>
                </a:solidFill>
              </a:rPr>
              <a:t>70 %</a:t>
            </a:r>
            <a:r>
              <a:rPr lang="en-US" sz="1300" dirty="0">
                <a:solidFill>
                  <a:schemeClr val="tx1"/>
                </a:solidFill>
              </a:rPr>
              <a:t> of land covers within </a:t>
            </a:r>
            <a:r>
              <a:rPr lang="en-US" sz="1300" b="1" dirty="0">
                <a:solidFill>
                  <a:schemeClr val="tx1"/>
                </a:solidFill>
              </a:rPr>
              <a:t>0.01</a:t>
            </a:r>
            <a:r>
              <a:rPr lang="en-US" sz="1300" dirty="0">
                <a:solidFill>
                  <a:schemeClr val="tx1"/>
                </a:solidFill>
              </a:rPr>
              <a:t> emissivity</a:t>
            </a:r>
            <a:endParaRPr lang="en-US" sz="1300" dirty="0"/>
          </a:p>
          <a:p>
            <a:pPr algn="l" marL="203200" indent="-203200">
              <a:spcAft>
                <a:spcPts val="400"/>
              </a:spcAft>
              <a:buSzPct val="100000"/>
              <a:buChar char="•"/>
            </a:pPr>
            <a:r>
              <a:rPr lang="en-US" sz="1300" dirty="0">
                <a:solidFill>
                  <a:schemeClr val="tx1"/>
                </a:solidFill>
              </a:rPr>
              <a:t>Simple; no atmospheric correction needed</a:t>
            </a:r>
            <a:endParaRPr lang="en-US" sz="1300" dirty="0"/>
          </a:p>
          <a:p>
            <a:pPr algn="l" marL="203200" indent="-203200">
              <a:spcAft>
                <a:spcPts val="400"/>
              </a:spcAft>
              <a:buSzPct val="100000"/>
              <a:buChar char="•"/>
            </a:pPr>
            <a:r>
              <a:rPr lang="en-US" sz="1300" dirty="0">
                <a:solidFill>
                  <a:schemeClr val="tx1"/>
                </a:solidFill>
              </a:rPr>
              <a:t>Problems: soil moisture, phenology, snow; VNIR responds to OH/Fe-oxides but TIR to Si–O; seams at class boundaries</a:t>
            </a:r>
            <a:endParaRPr lang="en-US" sz="1300" dirty="0"/>
          </a:p>
        </p:txBody>
      </p:sp>
      <p:sp>
        <p:nvSpPr>
          <p:cNvPr id="10" name="box-104"/>
          <p:cNvSpPr txBox="1"/>
          <p:nvPr/>
        </p:nvSpPr>
        <p:spPr>
          <a:xfrm>
            <a:off x="6263640" y="1188720"/>
            <a:ext cx="5486400" cy="548640"/>
          </a:xfrm>
          <a:prstGeom prst="roundRect">
            <a:avLst>
              <a:gd name="adj" fmla="val 13333"/>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600" b="1" dirty="0">
                <a:solidFill>
                  <a:schemeClr val="tx1"/>
                </a:solidFill>
              </a:rPr>
              <a:t>NBEM: NDVI threshold method (Sobrino &amp; Raissouni 2000)</a:t>
            </a:r>
            <a:endParaRPr lang="en-US" sz="1600" dirty="0"/>
          </a:p>
        </p:txBody>
      </p:sp>
      <p:sp>
        <p:nvSpPr>
          <p:cNvPr id="11" name="box-105"/>
          <p:cNvSpPr txBox="1"/>
          <p:nvPr/>
        </p:nvSpPr>
        <p:spPr>
          <a:xfrm>
            <a:off x="6263640" y="1874520"/>
            <a:ext cx="5486400" cy="548640"/>
          </a:xfrm>
          <a:prstGeom prst="roundRect">
            <a:avLst>
              <a:gd name="adj" fmla="val 13333"/>
            </a:avLst>
          </a:prstGeom>
          <a:solidFill>
            <a:schemeClr val="accent5"/>
          </a:solidFill>
          <a:ln w="15875">
            <a:solidFill>
              <a:schemeClr val="accent5"/>
            </a:solidFill>
          </a:ln>
        </p:spPr>
        <p:txBody>
          <a:bodyPr wrap="square" lIns="1016" tIns="1016" rIns="1016" bIns="1016" rtlCol="0" anchor="ctr"/>
          <a:lstStyle/>
          <a:p>
            <a:pPr algn="ctr" indent="0" marL="0">
              <a:buNone/>
            </a:pPr>
            <a:r>
              <a:rPr lang="en-US" sz="1300" dirty="0">
                <a:solidFill>
                  <a:schemeClr val="bg1"/>
                </a:solidFill>
              </a:rPr>
              <a:t>Compute NDVI from red and NIR</a:t>
            </a:r>
            <a:endParaRPr lang="en-US" sz="1300" dirty="0"/>
          </a:p>
        </p:txBody>
      </p:sp>
      <p:sp>
        <p:nvSpPr>
          <p:cNvPr id="12" name="arrow-106"/>
          <p:cNvSpPr/>
          <p:nvPr/>
        </p:nvSpPr>
        <p:spPr>
          <a:xfrm>
            <a:off x="9006840" y="2423160"/>
            <a:ext cx="0" cy="182880"/>
          </a:xfrm>
          <a:prstGeom prst="line">
            <a:avLst/>
          </a:prstGeom>
          <a:noFill/>
          <a:ln w="22225">
            <a:solidFill>
              <a:srgbClr val="6B7280"/>
            </a:solidFill>
            <a:prstDash val="solid"/>
            <a:tailEnd type="triangle"/>
          </a:ln>
        </p:spPr>
      </p:sp>
      <p:sp>
        <p:nvSpPr>
          <p:cNvPr id="13" name="box-107"/>
          <p:cNvSpPr txBox="1"/>
          <p:nvPr/>
        </p:nvSpPr>
        <p:spPr>
          <a:xfrm>
            <a:off x="6263640" y="2606040"/>
            <a:ext cx="1737360" cy="1234440"/>
          </a:xfrm>
          <a:prstGeom prst="roundRect">
            <a:avLst>
              <a:gd name="adj" fmla="val 5926"/>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100" dirty="0">
                <a:solidFill>
                  <a:schemeClr val="tx1"/>
                </a:solidFill>
              </a:rPr>
              <a:t>NDVI &lt; NDVIs</a:t>
            </a:r>
            <a:endParaRPr lang="en-US" sz="1100" dirty="0"/>
          </a:p>
          <a:p>
            <a:pPr algn="ctr" indent="0" marL="0">
              <a:buNone/>
            </a:pPr>
            <a:r>
              <a:rPr lang="en-US" sz="1100" dirty="0">
                <a:solidFill>
                  <a:schemeClr val="tx1"/>
                </a:solidFill>
              </a:rPr>
              <a:t>bare soil: ε from red reflectance</a:t>
            </a:r>
            <a:endParaRPr lang="en-US" sz="1100" dirty="0"/>
          </a:p>
        </p:txBody>
      </p:sp>
      <p:sp>
        <p:nvSpPr>
          <p:cNvPr id="14" name="box-108"/>
          <p:cNvSpPr txBox="1"/>
          <p:nvPr/>
        </p:nvSpPr>
        <p:spPr>
          <a:xfrm>
            <a:off x="8138160" y="2606040"/>
            <a:ext cx="1737360" cy="1234440"/>
          </a:xfrm>
          <a:prstGeom prst="roundRect">
            <a:avLst>
              <a:gd name="adj" fmla="val 5926"/>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100" dirty="0">
                <a:solidFill>
                  <a:schemeClr val="tx1"/>
                </a:solidFill>
              </a:rPr>
              <a:t>NDVIs ≤ NDVI ≤ NDVIv</a:t>
            </a:r>
            <a:endParaRPr lang="en-US" sz="1100" dirty="0"/>
          </a:p>
          <a:p>
            <a:pPr algn="ctr" indent="0" marL="0">
              <a:buNone/>
            </a:pPr>
            <a:r>
              <a:rPr lang="en-US" sz="1100" dirty="0">
                <a:solidFill>
                  <a:schemeClr val="tx1"/>
                </a:solidFill>
              </a:rPr>
              <a:t>mixed: ε = εv·Pv + εs·(1 − Pv) + dε</a:t>
            </a:r>
            <a:endParaRPr lang="en-US" sz="1100" dirty="0"/>
          </a:p>
        </p:txBody>
      </p:sp>
      <p:sp>
        <p:nvSpPr>
          <p:cNvPr id="15" name="box-109"/>
          <p:cNvSpPr txBox="1"/>
          <p:nvPr/>
        </p:nvSpPr>
        <p:spPr>
          <a:xfrm>
            <a:off x="10012680" y="2606040"/>
            <a:ext cx="1737360" cy="1234440"/>
          </a:xfrm>
          <a:prstGeom prst="roundRect">
            <a:avLst>
              <a:gd name="adj" fmla="val 5926"/>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100" dirty="0">
                <a:solidFill>
                  <a:schemeClr val="tx1"/>
                </a:solidFill>
              </a:rPr>
              <a:t>NDVI &gt; NDVIv</a:t>
            </a:r>
            <a:endParaRPr lang="en-US" sz="1100" dirty="0"/>
          </a:p>
          <a:p>
            <a:pPr algn="ctr" indent="0" marL="0">
              <a:buNone/>
            </a:pPr>
            <a:r>
              <a:rPr lang="en-US" sz="1100" dirty="0">
                <a:solidFill>
                  <a:schemeClr val="tx1"/>
                </a:solidFill>
              </a:rPr>
              <a:t>full vegetation: ε ≈ 0.99</a:t>
            </a:r>
            <a:endParaRPr lang="en-US" sz="1100" dirty="0"/>
          </a:p>
        </p:txBody>
      </p:sp>
      <p:sp>
        <p:nvSpPr>
          <p:cNvPr id="16" name="text-110"/>
          <p:cNvSpPr txBox="1"/>
          <p:nvPr/>
        </p:nvSpPr>
        <p:spPr>
          <a:xfrm>
            <a:off x="6263640" y="3977640"/>
            <a:ext cx="5486400" cy="457200"/>
          </a:xfrm>
          <a:prstGeom prst="rect">
            <a:avLst/>
          </a:prstGeom>
          <a:noFill/>
          <a:ln/>
        </p:spPr>
        <p:txBody>
          <a:bodyPr wrap="square" lIns="635" tIns="635" rIns="635" bIns="635" rtlCol="0" anchor="t"/>
          <a:lstStyle/>
          <a:p>
            <a:pPr algn="l" indent="0" marL="0">
              <a:spcAft>
                <a:spcPts val="600"/>
              </a:spcAft>
              <a:buNone/>
            </a:pPr>
            <a:r>
              <a:rPr lang="en-US" sz="1200" i="1" dirty="0">
                <a:solidFill>
                  <a:schemeClr val="tx2"/>
                </a:solidFill>
              </a:rPr>
              <a:t>Pv = [(NDVI − NDVIs)/(NDVIv − NDVIs)]²  (vegetation fraction; dε = cavity term)</a:t>
            </a:r>
            <a:endParaRPr lang="en-US" sz="1200" dirty="0"/>
          </a:p>
        </p:txBody>
      </p:sp>
      <p:sp>
        <p:nvSpPr>
          <p:cNvPr id="17" name="text-111"/>
          <p:cNvSpPr txBox="1"/>
          <p:nvPr/>
        </p:nvSpPr>
        <p:spPr>
          <a:xfrm>
            <a:off x="6263640" y="4434840"/>
            <a:ext cx="5486400" cy="1828800"/>
          </a:xfrm>
          <a:prstGeom prst="rect">
            <a:avLst/>
          </a:prstGeom>
          <a:noFill/>
          <a:ln/>
        </p:spPr>
        <p:txBody>
          <a:bodyPr wrap="square" lIns="635" tIns="635" rIns="635" bIns="635" rtlCol="0" anchor="t"/>
          <a:lstStyle/>
          <a:p>
            <a:pPr algn="l" marL="203200" indent="-203200">
              <a:spcAft>
                <a:spcPts val="400"/>
              </a:spcAft>
              <a:buSzPct val="100000"/>
              <a:buChar char="•"/>
            </a:pPr>
            <a:r>
              <a:rPr lang="en-US" sz="1300" dirty="0">
                <a:solidFill>
                  <a:schemeClr val="tx1"/>
                </a:solidFill>
              </a:rPr>
              <a:t>Assumes pixel = </a:t>
            </a:r>
            <a:r>
              <a:rPr lang="en-US" sz="1300" b="1" dirty="0">
                <a:solidFill>
                  <a:schemeClr val="tx1"/>
                </a:solidFill>
              </a:rPr>
              <a:t>soil + vegetation</a:t>
            </a:r>
            <a:r>
              <a:rPr lang="en-US" sz="1300" dirty="0">
                <a:solidFill>
                  <a:schemeClr val="tx1"/>
                </a:solidFill>
              </a:rPr>
              <a:t>; ε varies linearly with vegetation fraction</a:t>
            </a:r>
            <a:endParaRPr lang="en-US" sz="1300" dirty="0"/>
          </a:p>
          <a:p>
            <a:pPr algn="l" marL="203200" indent="-203200">
              <a:spcAft>
                <a:spcPts val="400"/>
              </a:spcAft>
              <a:buSzPct val="100000"/>
              <a:buChar char="•"/>
            </a:pPr>
            <a:r>
              <a:rPr lang="en-US" sz="1300" dirty="0">
                <a:solidFill>
                  <a:schemeClr val="tx1"/>
                </a:solidFill>
              </a:rPr>
              <a:t>Needs NDVI thresholds and soil and vegetation emissivities; </a:t>
            </a:r>
            <a:r>
              <a:rPr lang="en-US" sz="1300" b="1" dirty="0">
                <a:solidFill>
                  <a:schemeClr val="tx1"/>
                </a:solidFill>
              </a:rPr>
              <a:t>soil ε is the main error source</a:t>
            </a:r>
            <a:endParaRPr lang="en-US" sz="1300" dirty="0"/>
          </a:p>
          <a:p>
            <a:pPr algn="l" marL="203200" indent="-203200">
              <a:spcAft>
                <a:spcPts val="400"/>
              </a:spcAft>
              <a:buSzPct val="100000"/>
              <a:buChar char="•"/>
            </a:pPr>
            <a:r>
              <a:rPr lang="en-US" sz="1300" dirty="0">
                <a:solidFill>
                  <a:schemeClr val="tx1"/>
                </a:solidFill>
              </a:rPr>
              <a:t>Valid mainly in </a:t>
            </a:r>
            <a:r>
              <a:rPr lang="en-US" sz="1300" b="1" dirty="0">
                <a:solidFill>
                  <a:schemeClr val="tx1"/>
                </a:solidFill>
              </a:rPr>
              <a:t>10–12 µm</a:t>
            </a:r>
            <a:r>
              <a:rPr lang="en-US" sz="1300" dirty="0">
                <a:solidFill>
                  <a:schemeClr val="tx1"/>
                </a:solidFill>
              </a:rPr>
              <a:t>; not for water, snow, ice, rock or senescent vegetation; discontinuities between regimes</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Day/night TISI method (Becker &amp; Li; Li et al. 2000)</a:t>
            </a:r>
            <a:endParaRPr lang="en-US" sz="3000" dirty="0"/>
          </a:p>
        </p:txBody>
      </p:sp>
      <p:sp>
        <p:nvSpPr>
          <p:cNvPr id="3" name="box-112"/>
          <p:cNvSpPr txBox="1"/>
          <p:nvPr/>
        </p:nvSpPr>
        <p:spPr>
          <a:xfrm>
            <a:off x="457200" y="109728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Day and night MIR (3.9 µm) + TIR images, approximate atmospheric correction</a:t>
            </a:r>
            <a:endParaRPr lang="en-US" sz="1250" dirty="0"/>
          </a:p>
        </p:txBody>
      </p:sp>
      <p:sp>
        <p:nvSpPr>
          <p:cNvPr id="4" name="box-113"/>
          <p:cNvSpPr txBox="1"/>
          <p:nvPr/>
        </p:nvSpPr>
        <p:spPr>
          <a:xfrm>
            <a:off x="457200" y="182880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Assume TISI (temperature-independent spectral index) is the same day and night</a:t>
            </a:r>
            <a:endParaRPr lang="en-US" sz="1250" dirty="0"/>
          </a:p>
        </p:txBody>
      </p:sp>
      <p:sp>
        <p:nvSpPr>
          <p:cNvPr id="5" name="arrow-114"/>
          <p:cNvSpPr/>
          <p:nvPr/>
        </p:nvSpPr>
        <p:spPr>
          <a:xfrm>
            <a:off x="3474720" y="1664208"/>
            <a:ext cx="0" cy="164592"/>
          </a:xfrm>
          <a:prstGeom prst="line">
            <a:avLst/>
          </a:prstGeom>
          <a:noFill/>
          <a:ln w="22225">
            <a:solidFill>
              <a:srgbClr val="6B7280"/>
            </a:solidFill>
            <a:prstDash val="solid"/>
            <a:tailEnd type="triangle"/>
          </a:ln>
        </p:spPr>
      </p:sp>
      <p:sp>
        <p:nvSpPr>
          <p:cNvPr id="6" name="box-115"/>
          <p:cNvSpPr txBox="1"/>
          <p:nvPr/>
        </p:nvSpPr>
        <p:spPr>
          <a:xfrm>
            <a:off x="457200" y="256032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Day − night TISI difference isolates reflected sunlight → MIR bidirectional reflectivity</a:t>
            </a:r>
            <a:endParaRPr lang="en-US" sz="1250" dirty="0"/>
          </a:p>
        </p:txBody>
      </p:sp>
      <p:sp>
        <p:nvSpPr>
          <p:cNvPr id="7" name="arrow-116"/>
          <p:cNvSpPr/>
          <p:nvPr/>
        </p:nvSpPr>
        <p:spPr>
          <a:xfrm>
            <a:off x="3474720" y="2395728"/>
            <a:ext cx="0" cy="164592"/>
          </a:xfrm>
          <a:prstGeom prst="line">
            <a:avLst/>
          </a:prstGeom>
          <a:noFill/>
          <a:ln w="22225">
            <a:solidFill>
              <a:srgbClr val="6B7280"/>
            </a:solidFill>
            <a:prstDash val="solid"/>
            <a:tailEnd type="triangle"/>
          </a:ln>
        </p:spPr>
      </p:sp>
      <p:sp>
        <p:nvSpPr>
          <p:cNvPr id="8" name="box-117"/>
          <p:cNvSpPr txBox="1"/>
          <p:nvPr/>
        </p:nvSpPr>
        <p:spPr>
          <a:xfrm>
            <a:off x="457200" y="329184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Angular form factor or kernel BRDF model → hemispherical-directional reflectivity</a:t>
            </a:r>
            <a:endParaRPr lang="en-US" sz="1250" dirty="0"/>
          </a:p>
        </p:txBody>
      </p:sp>
      <p:sp>
        <p:nvSpPr>
          <p:cNvPr id="9" name="arrow-118"/>
          <p:cNvSpPr/>
          <p:nvPr/>
        </p:nvSpPr>
        <p:spPr>
          <a:xfrm>
            <a:off x="3474720" y="3127248"/>
            <a:ext cx="0" cy="164592"/>
          </a:xfrm>
          <a:prstGeom prst="line">
            <a:avLst/>
          </a:prstGeom>
          <a:noFill/>
          <a:ln w="22225">
            <a:solidFill>
              <a:srgbClr val="6B7280"/>
            </a:solidFill>
            <a:prstDash val="solid"/>
            <a:tailEnd type="triangle"/>
          </a:ln>
        </p:spPr>
      </p:sp>
      <p:sp>
        <p:nvSpPr>
          <p:cNvPr id="10" name="box-119"/>
          <p:cNvSpPr txBox="1"/>
          <p:nvPr/>
        </p:nvSpPr>
        <p:spPr>
          <a:xfrm>
            <a:off x="457200" y="402336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MIR emissivity = 1 − reflectivity</a:t>
            </a:r>
            <a:endParaRPr lang="en-US" sz="1250" dirty="0"/>
          </a:p>
        </p:txBody>
      </p:sp>
      <p:sp>
        <p:nvSpPr>
          <p:cNvPr id="11" name="arrow-120"/>
          <p:cNvSpPr/>
          <p:nvPr/>
        </p:nvSpPr>
        <p:spPr>
          <a:xfrm>
            <a:off x="3474720" y="3858768"/>
            <a:ext cx="0" cy="164592"/>
          </a:xfrm>
          <a:prstGeom prst="line">
            <a:avLst/>
          </a:prstGeom>
          <a:noFill/>
          <a:ln w="22225">
            <a:solidFill>
              <a:srgbClr val="6B7280"/>
            </a:solidFill>
            <a:prstDash val="solid"/>
            <a:tailEnd type="triangle"/>
          </a:ln>
        </p:spPr>
      </p:sp>
      <p:sp>
        <p:nvSpPr>
          <p:cNvPr id="12" name="box-121"/>
          <p:cNvSpPr txBox="1"/>
          <p:nvPr/>
        </p:nvSpPr>
        <p:spPr>
          <a:xfrm>
            <a:off x="457200" y="4754880"/>
            <a:ext cx="6035040" cy="566928"/>
          </a:xfrm>
          <a:prstGeom prst="roundRect">
            <a:avLst>
              <a:gd name="adj" fmla="val 12903"/>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250" dirty="0">
                <a:solidFill>
                  <a:schemeClr val="bg1"/>
                </a:solidFill>
              </a:rPr>
              <a:t>TISI ratios → TIR emissivities</a:t>
            </a:r>
            <a:endParaRPr lang="en-US" sz="1250" dirty="0"/>
          </a:p>
        </p:txBody>
      </p:sp>
      <p:sp>
        <p:nvSpPr>
          <p:cNvPr id="13" name="arrow-122"/>
          <p:cNvSpPr/>
          <p:nvPr/>
        </p:nvSpPr>
        <p:spPr>
          <a:xfrm>
            <a:off x="3474720" y="4590288"/>
            <a:ext cx="0" cy="164592"/>
          </a:xfrm>
          <a:prstGeom prst="line">
            <a:avLst/>
          </a:prstGeom>
          <a:noFill/>
          <a:ln w="22225">
            <a:solidFill>
              <a:srgbClr val="6B7280"/>
            </a:solidFill>
            <a:prstDash val="solid"/>
            <a:tailEnd type="triangle"/>
          </a:ln>
        </p:spPr>
      </p:sp>
      <p:sp>
        <p:nvSpPr>
          <p:cNvPr id="14" name="box-123"/>
          <p:cNvSpPr txBox="1"/>
          <p:nvPr/>
        </p:nvSpPr>
        <p:spPr>
          <a:xfrm>
            <a:off x="457200" y="5486400"/>
            <a:ext cx="6035040" cy="566928"/>
          </a:xfrm>
          <a:prstGeom prst="roundRect">
            <a:avLst>
              <a:gd name="adj" fmla="val 12903"/>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250" b="1" dirty="0">
                <a:solidFill>
                  <a:schemeClr val="bg1"/>
                </a:solidFill>
              </a:rPr>
              <a:t>Split-window LST with retrieved ε</a:t>
            </a:r>
            <a:endParaRPr lang="en-US" sz="1250" dirty="0"/>
          </a:p>
        </p:txBody>
      </p:sp>
      <p:sp>
        <p:nvSpPr>
          <p:cNvPr id="15" name="arrow-124"/>
          <p:cNvSpPr/>
          <p:nvPr/>
        </p:nvSpPr>
        <p:spPr>
          <a:xfrm>
            <a:off x="3474720" y="5321808"/>
            <a:ext cx="0" cy="164592"/>
          </a:xfrm>
          <a:prstGeom prst="line">
            <a:avLst/>
          </a:prstGeom>
          <a:noFill/>
          <a:ln w="22225">
            <a:solidFill>
              <a:srgbClr val="6B7280"/>
            </a:solidFill>
            <a:prstDash val="solid"/>
            <a:tailEnd type="triangle"/>
          </a:ln>
        </p:spPr>
      </p:sp>
      <p:sp>
        <p:nvSpPr>
          <p:cNvPr id="16" name="text-125"/>
          <p:cNvSpPr txBox="1"/>
          <p:nvPr/>
        </p:nvSpPr>
        <p:spPr>
          <a:xfrm>
            <a:off x="6858000" y="1143000"/>
            <a:ext cx="4846320" cy="5120640"/>
          </a:xfrm>
          <a:prstGeom prst="rect">
            <a:avLst/>
          </a:prstGeom>
          <a:noFill/>
          <a:ln/>
        </p:spPr>
        <p:txBody>
          <a:bodyPr wrap="square" lIns="635" tIns="635" rIns="635" bIns="635" rtlCol="0" anchor="t"/>
          <a:lstStyle/>
          <a:p>
            <a:pPr algn="l" marL="203200" indent="-203200">
              <a:spcAft>
                <a:spcPts val="1000"/>
              </a:spcAft>
              <a:buSzPct val="100000"/>
              <a:buChar char="•"/>
            </a:pPr>
            <a:r>
              <a:rPr lang="en-US" sz="1500" b="1" dirty="0">
                <a:solidFill>
                  <a:schemeClr val="tx1"/>
                </a:solidFill>
              </a:rPr>
              <a:t>Physically based</a:t>
            </a:r>
            <a:r>
              <a:rPr lang="en-US" sz="1500" dirty="0">
                <a:solidFill>
                  <a:schemeClr val="tx1"/>
                </a:solidFill>
              </a:rPr>
              <a:t>; needs no prior knowledge of the surface, so it works for surfaces with strong spectral contrast (bare soil, rocks)</a:t>
            </a:r>
            <a:endParaRPr lang="en-US" sz="1500" dirty="0"/>
          </a:p>
          <a:p>
            <a:pPr algn="l" marL="203200" indent="-203200">
              <a:spcAft>
                <a:spcPts val="1000"/>
              </a:spcAft>
              <a:buSzPct val="100000"/>
              <a:buChar char="•"/>
            </a:pPr>
            <a:r>
              <a:rPr lang="en-US" sz="1500" dirty="0">
                <a:solidFill>
                  <a:schemeClr val="tx1"/>
                </a:solidFill>
              </a:rPr>
              <a:t>A standard atmosphere instead of the actual one gives only </a:t>
            </a:r>
            <a:r>
              <a:rPr lang="en-US" sz="1500" b="1" dirty="0">
                <a:solidFill>
                  <a:schemeClr val="tx1"/>
                </a:solidFill>
              </a:rPr>
              <a:t>≤ 3 %</a:t>
            </a:r>
            <a:r>
              <a:rPr lang="en-US" sz="1500" dirty="0">
                <a:solidFill>
                  <a:schemeClr val="tx1"/>
                </a:solidFill>
              </a:rPr>
              <a:t> emissivity and </a:t>
            </a:r>
            <a:r>
              <a:rPr lang="en-US" sz="1500" b="1" dirty="0">
                <a:solidFill>
                  <a:schemeClr val="tx1"/>
                </a:solidFill>
              </a:rPr>
              <a:t>0.5 K</a:t>
            </a:r>
            <a:r>
              <a:rPr lang="en-US" sz="1500" dirty="0">
                <a:solidFill>
                  <a:schemeClr val="tx1"/>
                </a:solidFill>
              </a:rPr>
              <a:t> LST error with SW</a:t>
            </a:r>
            <a:endParaRPr lang="en-US" sz="1500" dirty="0"/>
          </a:p>
          <a:p>
            <a:pPr algn="l" marL="203200" indent="-203200">
              <a:spcAft>
                <a:spcPts val="1000"/>
              </a:spcAft>
              <a:buSzPct val="100000"/>
              <a:buChar char="•"/>
            </a:pPr>
            <a:r>
              <a:rPr lang="en-US" sz="1500" dirty="0">
                <a:solidFill>
                  <a:schemeClr val="tx1"/>
                </a:solidFill>
              </a:rPr>
              <a:t>Assumes emissivity is constant over a few days (unless rain or snow); </a:t>
            </a:r>
            <a:r>
              <a:rPr lang="en-US" sz="1500" b="1" dirty="0">
                <a:solidFill>
                  <a:schemeClr val="tx1"/>
                </a:solidFill>
              </a:rPr>
              <a:t>night dew</a:t>
            </a:r>
            <a:r>
              <a:rPr lang="en-US" sz="1500" dirty="0">
                <a:solidFill>
                  <a:schemeClr val="tx1"/>
                </a:solidFill>
              </a:rPr>
              <a:t> can break it</a:t>
            </a:r>
            <a:endParaRPr lang="en-US" sz="1500" dirty="0"/>
          </a:p>
          <a:p>
            <a:pPr algn="l" marL="203200" indent="-203200">
              <a:spcAft>
                <a:spcPts val="1000"/>
              </a:spcAft>
              <a:buSzPct val="100000"/>
              <a:buChar char="•"/>
            </a:pPr>
            <a:r>
              <a:rPr lang="en-US" sz="1500" dirty="0">
                <a:solidFill>
                  <a:schemeClr val="tx1"/>
                </a:solidFill>
              </a:rPr>
              <a:t>Requires </a:t>
            </a:r>
            <a:r>
              <a:rPr lang="en-US" sz="1500" b="1" dirty="0">
                <a:solidFill>
                  <a:schemeClr val="tx1"/>
                </a:solidFill>
              </a:rPr>
              <a:t>co-registered</a:t>
            </a:r>
            <a:r>
              <a:rPr lang="en-US" sz="1500" dirty="0">
                <a:solidFill>
                  <a:schemeClr val="tx1"/>
                </a:solidFill>
              </a:rPr>
              <a:t> day and night images at </a:t>
            </a:r>
            <a:r>
              <a:rPr lang="en-US" sz="1500" b="1" dirty="0">
                <a:solidFill>
                  <a:schemeClr val="tx1"/>
                </a:solidFill>
              </a:rPr>
              <a:t>similar view angles</a:t>
            </a:r>
            <a:r>
              <a:rPr lang="en-US" sz="1500" dirty="0">
                <a:solidFill>
                  <a:schemeClr val="tx1"/>
                </a:solidFill>
              </a:rPr>
              <a:t>, plus concurrent MIR and TIR data</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Two-temperature method and MODIS day/night physical method</a:t>
            </a:r>
            <a:endParaRPr lang="en-US" sz="3000" dirty="0"/>
          </a:p>
        </p:txBody>
      </p:sp>
      <p:sp>
        <p:nvSpPr>
          <p:cNvPr id="3" name="box-126"/>
          <p:cNvSpPr txBox="1"/>
          <p:nvPr/>
        </p:nvSpPr>
        <p:spPr>
          <a:xfrm>
            <a:off x="457200" y="1188720"/>
            <a:ext cx="5486400" cy="548640"/>
          </a:xfrm>
          <a:prstGeom prst="roundRect">
            <a:avLst>
              <a:gd name="adj" fmla="val 13333"/>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600" b="1" dirty="0">
                <a:solidFill>
                  <a:schemeClr val="tx1"/>
                </a:solidFill>
              </a:rPr>
              <a:t>Two-temperature method (Watson 1992)</a:t>
            </a:r>
            <a:endParaRPr lang="en-US" sz="1600" dirty="0"/>
          </a:p>
        </p:txBody>
      </p:sp>
      <p:sp>
        <p:nvSpPr>
          <p:cNvPr id="4" name="box-127"/>
          <p:cNvSpPr txBox="1"/>
          <p:nvPr/>
        </p:nvSpPr>
        <p:spPr>
          <a:xfrm>
            <a:off x="457200" y="1874520"/>
            <a:ext cx="2606040" cy="1005840"/>
          </a:xfrm>
          <a:prstGeom prst="roundRect">
            <a:avLst>
              <a:gd name="adj" fmla="val 7273"/>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Time 1: N channels</a:t>
            </a:r>
            <a:endParaRPr lang="en-US" sz="1300" dirty="0"/>
          </a:p>
          <a:p>
            <a:pPr algn="ctr" indent="0" marL="0">
              <a:buNone/>
            </a:pPr>
            <a:r>
              <a:rPr lang="en-US" sz="1300" dirty="0">
                <a:solidFill>
                  <a:schemeClr val="bg1"/>
                </a:solidFill>
              </a:rPr>
              <a:t>Time 2: N channels</a:t>
            </a:r>
            <a:endParaRPr lang="en-US" sz="1300" dirty="0"/>
          </a:p>
        </p:txBody>
      </p:sp>
      <p:sp>
        <p:nvSpPr>
          <p:cNvPr id="5" name="box-128"/>
          <p:cNvSpPr txBox="1"/>
          <p:nvPr/>
        </p:nvSpPr>
        <p:spPr>
          <a:xfrm>
            <a:off x="3337560" y="1874520"/>
            <a:ext cx="2606040" cy="1005840"/>
          </a:xfrm>
          <a:prstGeom prst="roundRect">
            <a:avLst>
              <a:gd name="adj" fmla="val 7273"/>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200" dirty="0">
                <a:solidFill>
                  <a:schemeClr val="bg1"/>
                </a:solidFill>
              </a:rPr>
              <a:t>2N equations</a:t>
            </a:r>
            <a:endParaRPr lang="en-US" sz="1200" dirty="0"/>
          </a:p>
          <a:p>
            <a:pPr algn="ctr" indent="0" marL="0">
              <a:buNone/>
            </a:pPr>
            <a:r>
              <a:rPr lang="en-US" sz="1200" dirty="0">
                <a:solidFill>
                  <a:schemeClr val="bg1"/>
                </a:solidFill>
              </a:rPr>
              <a:t>N emissivities + 2 LSTs = N + 2 unknowns</a:t>
            </a:r>
            <a:endParaRPr lang="en-US" sz="1200" dirty="0"/>
          </a:p>
        </p:txBody>
      </p:sp>
      <p:sp>
        <p:nvSpPr>
          <p:cNvPr id="6" name="arrow-129"/>
          <p:cNvSpPr/>
          <p:nvPr/>
        </p:nvSpPr>
        <p:spPr>
          <a:xfrm>
            <a:off x="3063240" y="2377440"/>
            <a:ext cx="274320" cy="0"/>
          </a:xfrm>
          <a:prstGeom prst="line">
            <a:avLst/>
          </a:prstGeom>
          <a:noFill/>
          <a:ln w="22225">
            <a:solidFill>
              <a:srgbClr val="6B7280"/>
            </a:solidFill>
            <a:prstDash val="solid"/>
            <a:tailEnd type="triangle"/>
          </a:ln>
        </p:spPr>
      </p:sp>
      <p:sp>
        <p:nvSpPr>
          <p:cNvPr id="7" name="text-130"/>
          <p:cNvSpPr txBox="1"/>
          <p:nvPr/>
        </p:nvSpPr>
        <p:spPr>
          <a:xfrm>
            <a:off x="457200" y="3063240"/>
            <a:ext cx="5486400" cy="320040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Solvable if </a:t>
            </a:r>
            <a:r>
              <a:rPr lang="en-US" sz="1400" b="1" dirty="0">
                <a:solidFill>
                  <a:schemeClr val="tx1"/>
                </a:solidFill>
              </a:rPr>
              <a:t>N ≥ 2</a:t>
            </a:r>
            <a:r>
              <a:rPr lang="en-US" sz="1400" dirty="0">
                <a:solidFill>
                  <a:schemeClr val="tx1"/>
                </a:solidFill>
              </a:rPr>
              <a:t>; makes no assumption on spectral shape, only that </a:t>
            </a:r>
            <a:r>
              <a:rPr lang="en-US" sz="1400" b="1" dirty="0">
                <a:solidFill>
                  <a:schemeClr val="tx1"/>
                </a:solidFill>
              </a:rPr>
              <a:t>ε is time-invariant</a:t>
            </a:r>
            <a:endParaRPr lang="en-US" sz="1400" dirty="0"/>
          </a:p>
          <a:p>
            <a:pPr algn="l" marL="203200" indent="-203200">
              <a:spcAft>
                <a:spcPts val="600"/>
              </a:spcAft>
              <a:buSzPct val="100000"/>
              <a:buChar char="•"/>
            </a:pPr>
            <a:r>
              <a:rPr lang="en-US" sz="1400" dirty="0">
                <a:solidFill>
                  <a:schemeClr val="tx1"/>
                </a:solidFill>
              </a:rPr>
              <a:t>Equations are highly correlated → </a:t>
            </a:r>
            <a:r>
              <a:rPr lang="en-US" sz="1400" b="1" dirty="0">
                <a:solidFill>
                  <a:schemeClr val="tx1"/>
                </a:solidFill>
              </a:rPr>
              <a:t>sensitive to noise</a:t>
            </a:r>
            <a:r>
              <a:rPr lang="en-US" sz="1400" dirty="0">
                <a:solidFill>
                  <a:schemeClr val="tx1"/>
                </a:solidFill>
              </a:rPr>
              <a:t> and atmospheric errors</a:t>
            </a:r>
            <a:endParaRPr lang="en-US" sz="1400" dirty="0"/>
          </a:p>
          <a:p>
            <a:pPr algn="l" marL="203200" indent="-203200">
              <a:spcAft>
                <a:spcPts val="600"/>
              </a:spcAft>
              <a:buSzPct val="100000"/>
              <a:buChar char="•"/>
            </a:pPr>
            <a:r>
              <a:rPr lang="en-US" sz="1400" dirty="0">
                <a:solidFill>
                  <a:schemeClr val="tx1"/>
                </a:solidFill>
              </a:rPr>
              <a:t>Needs a large temperature difference between times, accurate co-registration and the same view angle</a:t>
            </a:r>
            <a:endParaRPr lang="en-US" sz="1400" dirty="0"/>
          </a:p>
          <a:p>
            <a:pPr algn="l" marL="203200" indent="-203200">
              <a:spcAft>
                <a:spcPts val="600"/>
              </a:spcAft>
              <a:buSzPct val="100000"/>
              <a:buChar char="•"/>
            </a:pPr>
            <a:r>
              <a:rPr lang="en-US" sz="1400" dirty="0">
                <a:solidFill>
                  <a:schemeClr val="tx1"/>
                </a:solidFill>
              </a:rPr>
              <a:t>Best suited to </a:t>
            </a:r>
            <a:r>
              <a:rPr lang="en-US" sz="1400" b="1" dirty="0">
                <a:solidFill>
                  <a:schemeClr val="tx1"/>
                </a:solidFill>
              </a:rPr>
              <a:t>geostationary</a:t>
            </a:r>
            <a:r>
              <a:rPr lang="en-US" sz="1400" dirty="0">
                <a:solidFill>
                  <a:schemeClr val="tx1"/>
                </a:solidFill>
              </a:rPr>
              <a:t> data</a:t>
            </a:r>
            <a:endParaRPr lang="en-US" sz="1400" dirty="0"/>
          </a:p>
        </p:txBody>
      </p:sp>
      <p:sp>
        <p:nvSpPr>
          <p:cNvPr id="8" name="box-131"/>
          <p:cNvSpPr txBox="1"/>
          <p:nvPr/>
        </p:nvSpPr>
        <p:spPr>
          <a:xfrm>
            <a:off x="6263640" y="1188720"/>
            <a:ext cx="5486400" cy="548640"/>
          </a:xfrm>
          <a:prstGeom prst="roundRect">
            <a:avLst>
              <a:gd name="adj" fmla="val 13333"/>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600" b="1" dirty="0">
                <a:solidFill>
                  <a:schemeClr val="tx1"/>
                </a:solidFill>
              </a:rPr>
              <a:t>Physics-based day/night method (Wan &amp; Li 1997, MODIS)</a:t>
            </a:r>
            <a:endParaRPr lang="en-US" sz="1600" dirty="0"/>
          </a:p>
        </p:txBody>
      </p:sp>
      <p:sp>
        <p:nvSpPr>
          <p:cNvPr id="9" name="box-132"/>
          <p:cNvSpPr txBox="1"/>
          <p:nvPr/>
        </p:nvSpPr>
        <p:spPr>
          <a:xfrm>
            <a:off x="6263640" y="1874520"/>
            <a:ext cx="2606040" cy="1005840"/>
          </a:xfrm>
          <a:prstGeom prst="roundRect">
            <a:avLst>
              <a:gd name="adj" fmla="val 7273"/>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300" dirty="0">
                <a:solidFill>
                  <a:schemeClr val="bg1"/>
                </a:solidFill>
              </a:rPr>
              <a:t>Day + night MIR &amp; TIR</a:t>
            </a:r>
            <a:endParaRPr lang="en-US" sz="1300" dirty="0"/>
          </a:p>
          <a:p>
            <a:pPr algn="ctr" indent="0" marL="0">
              <a:buNone/>
            </a:pPr>
            <a:r>
              <a:rPr lang="en-US" sz="1300" dirty="0">
                <a:solidFill>
                  <a:schemeClr val="bg1"/>
                </a:solidFill>
              </a:rPr>
              <a:t>2N measurements</a:t>
            </a:r>
            <a:endParaRPr lang="en-US" sz="1300" dirty="0"/>
          </a:p>
        </p:txBody>
      </p:sp>
      <p:sp>
        <p:nvSpPr>
          <p:cNvPr id="10" name="box-133"/>
          <p:cNvSpPr txBox="1"/>
          <p:nvPr/>
        </p:nvSpPr>
        <p:spPr>
          <a:xfrm>
            <a:off x="9144000" y="1874520"/>
            <a:ext cx="2606040" cy="1005840"/>
          </a:xfrm>
          <a:prstGeom prst="roundRect">
            <a:avLst>
              <a:gd name="adj" fmla="val 7273"/>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200" dirty="0">
                <a:solidFill>
                  <a:schemeClr val="bg1"/>
                </a:solidFill>
              </a:rPr>
              <a:t>N + 7 unknowns: N ε, 2 LST, 2 Ta, 2 WV, 1 form factor → N ≥ 7</a:t>
            </a:r>
            <a:endParaRPr lang="en-US" sz="1200" dirty="0"/>
          </a:p>
        </p:txBody>
      </p:sp>
      <p:sp>
        <p:nvSpPr>
          <p:cNvPr id="11" name="arrow-134"/>
          <p:cNvSpPr/>
          <p:nvPr/>
        </p:nvSpPr>
        <p:spPr>
          <a:xfrm>
            <a:off x="8869680" y="2377440"/>
            <a:ext cx="274320" cy="0"/>
          </a:xfrm>
          <a:prstGeom prst="line">
            <a:avLst/>
          </a:prstGeom>
          <a:noFill/>
          <a:ln w="22225">
            <a:solidFill>
              <a:srgbClr val="6B7280"/>
            </a:solidFill>
            <a:prstDash val="solid"/>
            <a:tailEnd type="triangle"/>
          </a:ln>
        </p:spPr>
      </p:sp>
      <p:sp>
        <p:nvSpPr>
          <p:cNvPr id="12" name="text-135"/>
          <p:cNvSpPr txBox="1"/>
          <p:nvPr/>
        </p:nvSpPr>
        <p:spPr>
          <a:xfrm>
            <a:off x="6263640" y="3063240"/>
            <a:ext cx="5486400" cy="320040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Reflected sun in MIR by day </a:t>
            </a:r>
            <a:r>
              <a:rPr lang="en-US" sz="1400" b="1" dirty="0">
                <a:solidFill>
                  <a:schemeClr val="tx1"/>
                </a:solidFill>
              </a:rPr>
              <a:t>reduces correlation</a:t>
            </a:r>
            <a:r>
              <a:rPr lang="en-US" sz="1400" dirty="0">
                <a:solidFill>
                  <a:schemeClr val="tx1"/>
                </a:solidFill>
              </a:rPr>
              <a:t> → more stable solution</a:t>
            </a:r>
            <a:endParaRPr lang="en-US" sz="1400" dirty="0"/>
          </a:p>
          <a:p>
            <a:pPr algn="l" marL="203200" indent="-203200">
              <a:spcAft>
                <a:spcPts val="600"/>
              </a:spcAft>
              <a:buSzPct val="100000"/>
              <a:buChar char="•"/>
            </a:pPr>
            <a:r>
              <a:rPr lang="en-US" sz="1400" dirty="0">
                <a:solidFill>
                  <a:schemeClr val="tx1"/>
                </a:solidFill>
              </a:rPr>
              <a:t>Ta and WV adjust the initial profile, so atmospheric correction can be approximate</a:t>
            </a:r>
            <a:endParaRPr lang="en-US" sz="1400" dirty="0"/>
          </a:p>
          <a:p>
            <a:pPr algn="l" marL="203200" indent="-203200">
              <a:spcAft>
                <a:spcPts val="600"/>
              </a:spcAft>
              <a:buSzPct val="100000"/>
              <a:buChar char="•"/>
            </a:pPr>
            <a:r>
              <a:rPr lang="en-US" sz="1400" dirty="0">
                <a:solidFill>
                  <a:schemeClr val="tx1"/>
                </a:solidFill>
              </a:rPr>
              <a:t>Works even if day and night LST are equal; images can be days apart</a:t>
            </a:r>
            <a:endParaRPr lang="en-US" sz="1400" dirty="0"/>
          </a:p>
          <a:p>
            <a:pPr algn="l" marL="203200" indent="-203200">
              <a:spcAft>
                <a:spcPts val="600"/>
              </a:spcAft>
              <a:buSzPct val="100000"/>
              <a:buChar char="•"/>
            </a:pPr>
            <a:r>
              <a:rPr lang="en-US" sz="1400" dirty="0">
                <a:solidFill>
                  <a:schemeClr val="tx1"/>
                </a:solidFill>
              </a:rPr>
              <a:t>Pixels aggregated to </a:t>
            </a:r>
            <a:r>
              <a:rPr lang="en-US" sz="1400" b="1" dirty="0">
                <a:solidFill>
                  <a:schemeClr val="tx1"/>
                </a:solidFill>
              </a:rPr>
              <a:t>5–6 km</a:t>
            </a:r>
            <a:r>
              <a:rPr lang="en-US" sz="1400" dirty="0">
                <a:solidFill>
                  <a:schemeClr val="tx1"/>
                </a:solidFill>
              </a:rPr>
              <a:t> against mis-registration; 16 VZA sub-ranges; combines Terra and Aqua</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Temperature–emissivity separation (TES) for ASTER</a:t>
            </a:r>
            <a:endParaRPr lang="en-US" sz="3000" dirty="0"/>
          </a:p>
        </p:txBody>
      </p:sp>
      <p:sp>
        <p:nvSpPr>
          <p:cNvPr id="3" name="box-136"/>
          <p:cNvSpPr txBox="1"/>
          <p:nvPr/>
        </p:nvSpPr>
        <p:spPr>
          <a:xfrm>
            <a:off x="457200" y="1280160"/>
            <a:ext cx="2057400" cy="640080"/>
          </a:xfrm>
          <a:prstGeom prst="roundRect">
            <a:avLst>
              <a:gd name="adj" fmla="val 11429"/>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600" b="1" dirty="0">
                <a:solidFill>
                  <a:schemeClr val="bg1"/>
                </a:solidFill>
              </a:rPr>
              <a:t>NEM</a:t>
            </a:r>
            <a:endParaRPr lang="en-US" sz="1600" dirty="0"/>
          </a:p>
        </p:txBody>
      </p:sp>
      <p:sp>
        <p:nvSpPr>
          <p:cNvPr id="4" name="box-137"/>
          <p:cNvSpPr txBox="1"/>
          <p:nvPr/>
        </p:nvSpPr>
        <p:spPr>
          <a:xfrm>
            <a:off x="457200" y="2011680"/>
            <a:ext cx="2057400" cy="1600200"/>
          </a:xfrm>
          <a:prstGeom prst="roundRect">
            <a:avLst>
              <a:gd name="adj" fmla="val 4571"/>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200" dirty="0">
                <a:solidFill>
                  <a:schemeClr val="tx1"/>
                </a:solidFill>
              </a:rPr>
              <a:t>Normalized emissivity method: assume εmax ≈ 0.99 → initial LST and normalized emissivities</a:t>
            </a:r>
            <a:endParaRPr lang="en-US" sz="1200" dirty="0"/>
          </a:p>
        </p:txBody>
      </p:sp>
      <p:sp>
        <p:nvSpPr>
          <p:cNvPr id="5" name="box-138"/>
          <p:cNvSpPr txBox="1"/>
          <p:nvPr/>
        </p:nvSpPr>
        <p:spPr>
          <a:xfrm>
            <a:off x="2788920" y="1280160"/>
            <a:ext cx="2057400" cy="640080"/>
          </a:xfrm>
          <a:prstGeom prst="roundRect">
            <a:avLst>
              <a:gd name="adj" fmla="val 11429"/>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600" b="1" dirty="0">
                <a:solidFill>
                  <a:schemeClr val="bg1"/>
                </a:solidFill>
              </a:rPr>
              <a:t>SR</a:t>
            </a:r>
            <a:endParaRPr lang="en-US" sz="1600" dirty="0"/>
          </a:p>
        </p:txBody>
      </p:sp>
      <p:sp>
        <p:nvSpPr>
          <p:cNvPr id="6" name="box-139"/>
          <p:cNvSpPr txBox="1"/>
          <p:nvPr/>
        </p:nvSpPr>
        <p:spPr>
          <a:xfrm>
            <a:off x="2788920" y="2011680"/>
            <a:ext cx="2057400" cy="1600200"/>
          </a:xfrm>
          <a:prstGeom prst="roundRect">
            <a:avLst>
              <a:gd name="adj" fmla="val 4571"/>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200" dirty="0">
                <a:solidFill>
                  <a:schemeClr val="tx1"/>
                </a:solidFill>
              </a:rPr>
              <a:t>Spectral ratio: βi = εi / mean(ε) → shape of the emissivity spectrum</a:t>
            </a:r>
            <a:endParaRPr lang="en-US" sz="1200" dirty="0"/>
          </a:p>
        </p:txBody>
      </p:sp>
      <p:sp>
        <p:nvSpPr>
          <p:cNvPr id="7" name="arrow-140"/>
          <p:cNvSpPr/>
          <p:nvPr/>
        </p:nvSpPr>
        <p:spPr>
          <a:xfrm>
            <a:off x="2514600" y="1600200"/>
            <a:ext cx="274320" cy="0"/>
          </a:xfrm>
          <a:prstGeom prst="line">
            <a:avLst/>
          </a:prstGeom>
          <a:noFill/>
          <a:ln w="22225">
            <a:solidFill>
              <a:srgbClr val="6B7280"/>
            </a:solidFill>
            <a:prstDash val="solid"/>
            <a:tailEnd type="triangle"/>
          </a:ln>
        </p:spPr>
      </p:sp>
      <p:sp>
        <p:nvSpPr>
          <p:cNvPr id="8" name="box-141"/>
          <p:cNvSpPr txBox="1"/>
          <p:nvPr/>
        </p:nvSpPr>
        <p:spPr>
          <a:xfrm>
            <a:off x="5120640" y="1280160"/>
            <a:ext cx="2057400" cy="640080"/>
          </a:xfrm>
          <a:prstGeom prst="roundRect">
            <a:avLst>
              <a:gd name="adj" fmla="val 11429"/>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600" b="1" dirty="0">
                <a:solidFill>
                  <a:schemeClr val="bg1"/>
                </a:solidFill>
              </a:rPr>
              <a:t>MMD</a:t>
            </a:r>
            <a:endParaRPr lang="en-US" sz="1600" dirty="0"/>
          </a:p>
        </p:txBody>
      </p:sp>
      <p:sp>
        <p:nvSpPr>
          <p:cNvPr id="9" name="box-142"/>
          <p:cNvSpPr txBox="1"/>
          <p:nvPr/>
        </p:nvSpPr>
        <p:spPr>
          <a:xfrm>
            <a:off x="5120640" y="2011680"/>
            <a:ext cx="2057400" cy="1600200"/>
          </a:xfrm>
          <a:prstGeom prst="roundRect">
            <a:avLst>
              <a:gd name="adj" fmla="val 4571"/>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200" dirty="0">
                <a:solidFill>
                  <a:schemeClr val="tx1"/>
                </a:solidFill>
              </a:rPr>
              <a:t>Max–min difference of βi = spectral contrast</a:t>
            </a:r>
            <a:endParaRPr lang="en-US" sz="1200" dirty="0"/>
          </a:p>
        </p:txBody>
      </p:sp>
      <p:sp>
        <p:nvSpPr>
          <p:cNvPr id="10" name="arrow-143"/>
          <p:cNvSpPr/>
          <p:nvPr/>
        </p:nvSpPr>
        <p:spPr>
          <a:xfrm>
            <a:off x="4846320" y="1600200"/>
            <a:ext cx="274320" cy="0"/>
          </a:xfrm>
          <a:prstGeom prst="line">
            <a:avLst/>
          </a:prstGeom>
          <a:noFill/>
          <a:ln w="22225">
            <a:solidFill>
              <a:srgbClr val="6B7280"/>
            </a:solidFill>
            <a:prstDash val="solid"/>
            <a:tailEnd type="triangle"/>
          </a:ln>
        </p:spPr>
      </p:sp>
      <p:sp>
        <p:nvSpPr>
          <p:cNvPr id="11" name="box-144"/>
          <p:cNvSpPr txBox="1"/>
          <p:nvPr/>
        </p:nvSpPr>
        <p:spPr>
          <a:xfrm>
            <a:off x="7452360" y="1280160"/>
            <a:ext cx="2057400" cy="640080"/>
          </a:xfrm>
          <a:prstGeom prst="roundRect">
            <a:avLst>
              <a:gd name="adj" fmla="val 11429"/>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600" b="1" dirty="0">
                <a:solidFill>
                  <a:schemeClr val="bg1"/>
                </a:solidFill>
              </a:rPr>
              <a:t>Empirical law</a:t>
            </a:r>
            <a:endParaRPr lang="en-US" sz="1600" dirty="0"/>
          </a:p>
        </p:txBody>
      </p:sp>
      <p:sp>
        <p:nvSpPr>
          <p:cNvPr id="12" name="box-145"/>
          <p:cNvSpPr txBox="1"/>
          <p:nvPr/>
        </p:nvSpPr>
        <p:spPr>
          <a:xfrm>
            <a:off x="7452360" y="2011680"/>
            <a:ext cx="2057400" cy="1600200"/>
          </a:xfrm>
          <a:prstGeom prst="roundRect">
            <a:avLst>
              <a:gd name="adj" fmla="val 4571"/>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200" dirty="0">
                <a:solidFill>
                  <a:schemeClr val="tx1"/>
                </a:solidFill>
              </a:rPr>
              <a:t>εmin = f(MMD) from laboratory spectra (power law; linear in Sabol et al. 2009)</a:t>
            </a:r>
            <a:endParaRPr lang="en-US" sz="1200" dirty="0"/>
          </a:p>
        </p:txBody>
      </p:sp>
      <p:sp>
        <p:nvSpPr>
          <p:cNvPr id="13" name="arrow-146"/>
          <p:cNvSpPr/>
          <p:nvPr/>
        </p:nvSpPr>
        <p:spPr>
          <a:xfrm>
            <a:off x="7178040" y="1600200"/>
            <a:ext cx="274320" cy="0"/>
          </a:xfrm>
          <a:prstGeom prst="line">
            <a:avLst/>
          </a:prstGeom>
          <a:noFill/>
          <a:ln w="22225">
            <a:solidFill>
              <a:srgbClr val="6B7280"/>
            </a:solidFill>
            <a:prstDash val="solid"/>
            <a:tailEnd type="triangle"/>
          </a:ln>
        </p:spPr>
      </p:sp>
      <p:sp>
        <p:nvSpPr>
          <p:cNvPr id="14" name="box-147"/>
          <p:cNvSpPr txBox="1"/>
          <p:nvPr/>
        </p:nvSpPr>
        <p:spPr>
          <a:xfrm>
            <a:off x="9784080" y="1280160"/>
            <a:ext cx="2057400" cy="640080"/>
          </a:xfrm>
          <a:prstGeom prst="roundRect">
            <a:avLst>
              <a:gd name="adj" fmla="val 11429"/>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600" b="1" dirty="0">
                <a:solidFill>
                  <a:schemeClr val="bg1"/>
                </a:solidFill>
              </a:rPr>
              <a:t>Output</a:t>
            </a:r>
            <a:endParaRPr lang="en-US" sz="1600" dirty="0"/>
          </a:p>
        </p:txBody>
      </p:sp>
      <p:sp>
        <p:nvSpPr>
          <p:cNvPr id="15" name="box-148"/>
          <p:cNvSpPr txBox="1"/>
          <p:nvPr/>
        </p:nvSpPr>
        <p:spPr>
          <a:xfrm>
            <a:off x="9784080" y="2011680"/>
            <a:ext cx="2057400" cy="1600200"/>
          </a:xfrm>
          <a:prstGeom prst="roundRect">
            <a:avLst>
              <a:gd name="adj" fmla="val 4571"/>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200" dirty="0">
                <a:solidFill>
                  <a:schemeClr val="tx1"/>
                </a:solidFill>
              </a:rPr>
              <a:t>εi = βi · εmin / min(β) → refined LST</a:t>
            </a:r>
            <a:endParaRPr lang="en-US" sz="1200" dirty="0"/>
          </a:p>
        </p:txBody>
      </p:sp>
      <p:sp>
        <p:nvSpPr>
          <p:cNvPr id="16" name="arrow-149"/>
          <p:cNvSpPr/>
          <p:nvPr/>
        </p:nvSpPr>
        <p:spPr>
          <a:xfrm>
            <a:off x="9509760" y="1600200"/>
            <a:ext cx="274320" cy="0"/>
          </a:xfrm>
          <a:prstGeom prst="line">
            <a:avLst/>
          </a:prstGeom>
          <a:noFill/>
          <a:ln w="22225">
            <a:solidFill>
              <a:srgbClr val="6B7280"/>
            </a:solidFill>
            <a:prstDash val="solid"/>
            <a:tailEnd type="triangle"/>
          </a:ln>
        </p:spPr>
      </p:sp>
      <p:sp>
        <p:nvSpPr>
          <p:cNvPr id="17" name="text-150"/>
          <p:cNvSpPr txBox="1"/>
          <p:nvPr/>
        </p:nvSpPr>
        <p:spPr>
          <a:xfrm>
            <a:off x="457200" y="3840480"/>
            <a:ext cx="5577840" cy="246888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Gillespie et al. (1996, 1998); input: </a:t>
            </a:r>
            <a:r>
              <a:rPr lang="en-US" sz="1400" b="1" dirty="0">
                <a:solidFill>
                  <a:schemeClr val="tx1"/>
                </a:solidFill>
              </a:rPr>
              <a:t>atmospherically corrected</a:t>
            </a:r>
            <a:r>
              <a:rPr lang="en-US" sz="1400" dirty="0">
                <a:solidFill>
                  <a:schemeClr val="tx1"/>
                </a:solidFill>
              </a:rPr>
              <a:t> ASTER TIR (5 bands)</a:t>
            </a:r>
            <a:endParaRPr lang="en-US" sz="1400" dirty="0"/>
          </a:p>
          <a:p>
            <a:pPr algn="l" marL="203200" indent="-203200">
              <a:spcAft>
                <a:spcPts val="600"/>
              </a:spcAft>
              <a:buSzPct val="100000"/>
              <a:buChar char="•"/>
            </a:pPr>
            <a:r>
              <a:rPr lang="en-US" sz="1400" dirty="0">
                <a:solidFill>
                  <a:schemeClr val="tx1"/>
                </a:solidFill>
              </a:rPr>
              <a:t>Accuracy about </a:t>
            </a:r>
            <a:r>
              <a:rPr lang="en-US" sz="1400" b="1" dirty="0">
                <a:solidFill>
                  <a:schemeClr val="tx1"/>
                </a:solidFill>
              </a:rPr>
              <a:t>±1.5 K</a:t>
            </a:r>
            <a:r>
              <a:rPr lang="en-US" sz="1400" dirty="0">
                <a:solidFill>
                  <a:schemeClr val="tx1"/>
                </a:solidFill>
              </a:rPr>
              <a:t> in LST and </a:t>
            </a:r>
            <a:r>
              <a:rPr lang="en-US" sz="1400" b="1" dirty="0">
                <a:solidFill>
                  <a:schemeClr val="tx1"/>
                </a:solidFill>
              </a:rPr>
              <a:t>±0.015</a:t>
            </a:r>
            <a:r>
              <a:rPr lang="en-US" sz="1400" dirty="0">
                <a:solidFill>
                  <a:schemeClr val="tx1"/>
                </a:solidFill>
              </a:rPr>
              <a:t> in emissivity</a:t>
            </a:r>
            <a:endParaRPr lang="en-US" sz="1400" dirty="0"/>
          </a:p>
          <a:p>
            <a:pPr algn="l" marL="203200" indent="-203200">
              <a:spcAft>
                <a:spcPts val="600"/>
              </a:spcAft>
              <a:buSzPct val="100000"/>
              <a:buChar char="•"/>
            </a:pPr>
            <a:r>
              <a:rPr lang="en-US" sz="1400" dirty="0">
                <a:solidFill>
                  <a:schemeClr val="tx1"/>
                </a:solidFill>
              </a:rPr>
              <a:t>Works for any natural surface, best for </a:t>
            </a:r>
            <a:r>
              <a:rPr lang="en-US" sz="1400" b="1" dirty="0">
                <a:solidFill>
                  <a:schemeClr val="tx1"/>
                </a:solidFill>
              </a:rPr>
              <a:t>high spectral contrast</a:t>
            </a:r>
            <a:r>
              <a:rPr lang="en-US" sz="1400" dirty="0">
                <a:solidFill>
                  <a:schemeClr val="tx1"/>
                </a:solidFill>
              </a:rPr>
              <a:t> (rocks, soils)</a:t>
            </a:r>
            <a:endParaRPr lang="en-US" sz="1400" dirty="0"/>
          </a:p>
        </p:txBody>
      </p:sp>
      <p:sp>
        <p:nvSpPr>
          <p:cNvPr id="18" name="text-151"/>
          <p:cNvSpPr txBox="1"/>
          <p:nvPr/>
        </p:nvSpPr>
        <p:spPr>
          <a:xfrm>
            <a:off x="6263640" y="3840480"/>
            <a:ext cx="5486400" cy="246888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Problems for </a:t>
            </a:r>
            <a:r>
              <a:rPr lang="en-US" sz="1400" b="1" dirty="0">
                <a:solidFill>
                  <a:schemeClr val="tx1"/>
                </a:solidFill>
              </a:rPr>
              <a:t>gray bodies</a:t>
            </a:r>
            <a:r>
              <a:rPr lang="en-US" sz="1400" dirty="0">
                <a:solidFill>
                  <a:schemeClr val="tx1"/>
                </a:solidFill>
              </a:rPr>
              <a:t> (water, snow, vegetation) and in hot, wet atmospheres</a:t>
            </a:r>
            <a:endParaRPr lang="en-US" sz="1400" dirty="0"/>
          </a:p>
          <a:p>
            <a:pPr algn="l" marL="203200" indent="-203200">
              <a:spcAft>
                <a:spcPts val="600"/>
              </a:spcAft>
              <a:buSzPct val="100000"/>
              <a:buChar char="•"/>
            </a:pPr>
            <a:r>
              <a:rPr lang="en-US" sz="1400" dirty="0">
                <a:solidFill>
                  <a:schemeClr val="tx1"/>
                </a:solidFill>
              </a:rPr>
              <a:t>Atmospheric errors can give </a:t>
            </a:r>
            <a:r>
              <a:rPr lang="en-US" sz="1400" b="1" dirty="0">
                <a:solidFill>
                  <a:schemeClr val="tx1"/>
                </a:solidFill>
              </a:rPr>
              <a:t>2–4 K</a:t>
            </a:r>
            <a:r>
              <a:rPr lang="en-US" sz="1400" dirty="0">
                <a:solidFill>
                  <a:schemeClr val="tx1"/>
                </a:solidFill>
              </a:rPr>
              <a:t> over bare soil; WVS correction (Tonooka 2005) helps</a:t>
            </a:r>
            <a:endParaRPr lang="en-US" sz="1400" dirty="0"/>
          </a:p>
          <a:p>
            <a:pPr algn="l" marL="203200" indent="-203200">
              <a:spcAft>
                <a:spcPts val="600"/>
              </a:spcAft>
              <a:buSzPct val="100000"/>
              <a:buChar char="•"/>
            </a:pPr>
            <a:r>
              <a:rPr lang="en-US" sz="1400" dirty="0">
                <a:solidFill>
                  <a:schemeClr val="tx1"/>
                </a:solidFill>
              </a:rPr>
              <a:t>Needs </a:t>
            </a:r>
            <a:r>
              <a:rPr lang="en-US" sz="1400" b="1" dirty="0">
                <a:solidFill>
                  <a:schemeClr val="tx1"/>
                </a:solidFill>
              </a:rPr>
              <a:t>≥ 3 TIR bands</a:t>
            </a:r>
            <a:r>
              <a:rPr lang="en-US" sz="1400" dirty="0">
                <a:solidFill>
                  <a:schemeClr val="tx1"/>
                </a:solidFill>
              </a:rPr>
              <a:t>; step discontinuities at gray-body edges</a:t>
            </a:r>
            <a:endParaRPr lang="en-US" sz="1400" dirty="0"/>
          </a:p>
          <a:p>
            <a:pPr algn="l" marL="203200" indent="-203200">
              <a:spcAft>
                <a:spcPts val="600"/>
              </a:spcAft>
              <a:buSzPct val="100000"/>
              <a:buChar char="•"/>
            </a:pPr>
            <a:r>
              <a:rPr lang="en-US" sz="1400" dirty="0">
                <a:solidFill>
                  <a:schemeClr val="tx1"/>
                </a:solidFill>
              </a:rPr>
              <a:t>Adapted to MODIS bands 29, 31, 32 (Hulley &amp; Hook 2011)</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Spectral-constraint methods: gray body, ISSTES and LECTES</a:t>
            </a:r>
            <a:endParaRPr lang="en-US" sz="3000" dirty="0"/>
          </a:p>
        </p:txBody>
      </p:sp>
      <p:sp>
        <p:nvSpPr>
          <p:cNvPr id="3" name="box-152"/>
          <p:cNvSpPr txBox="1"/>
          <p:nvPr/>
        </p:nvSpPr>
        <p:spPr>
          <a:xfrm>
            <a:off x="457200" y="1234440"/>
            <a:ext cx="3611880" cy="685800"/>
          </a:xfrm>
          <a:prstGeom prst="roundRect">
            <a:avLst>
              <a:gd name="adj" fmla="val 10667"/>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700" b="1" dirty="0">
                <a:solidFill>
                  <a:schemeClr val="bg1"/>
                </a:solidFill>
              </a:rPr>
              <a:t>Gray body emissivity (GBE)</a:t>
            </a:r>
            <a:endParaRPr lang="en-US" sz="1700" dirty="0"/>
          </a:p>
        </p:txBody>
      </p:sp>
      <p:sp>
        <p:nvSpPr>
          <p:cNvPr id="4" name="text-153"/>
          <p:cNvSpPr txBox="1"/>
          <p:nvPr/>
        </p:nvSpPr>
        <p:spPr>
          <a:xfrm>
            <a:off x="457200" y="2011680"/>
            <a:ext cx="3611880" cy="365760"/>
          </a:xfrm>
          <a:prstGeom prst="rect">
            <a:avLst/>
          </a:prstGeom>
          <a:noFill/>
          <a:ln/>
        </p:spPr>
        <p:txBody>
          <a:bodyPr wrap="square" lIns="635" tIns="635" rIns="635" bIns="635" rtlCol="0" anchor="t"/>
          <a:lstStyle/>
          <a:p>
            <a:pPr algn="l" indent="0" marL="0">
              <a:spcAft>
                <a:spcPts val="600"/>
              </a:spcAft>
              <a:buNone/>
            </a:pPr>
            <a:r>
              <a:rPr lang="en-US" sz="1200" i="1" dirty="0">
                <a:solidFill>
                  <a:schemeClr val="tx2"/>
                </a:solidFill>
              </a:rPr>
              <a:t>Barducci &amp; Pippi (1996)</a:t>
            </a:r>
            <a:endParaRPr lang="en-US" sz="1200" dirty="0"/>
          </a:p>
        </p:txBody>
      </p:sp>
      <p:sp>
        <p:nvSpPr>
          <p:cNvPr id="5" name="box-154"/>
          <p:cNvSpPr txBox="1"/>
          <p:nvPr/>
        </p:nvSpPr>
        <p:spPr>
          <a:xfrm>
            <a:off x="457200" y="2423160"/>
            <a:ext cx="3611880" cy="1691640"/>
          </a:xfrm>
          <a:prstGeom prst="roundRect">
            <a:avLst>
              <a:gd name="adj" fmla="val 4324"/>
            </a:avLst>
          </a:prstGeom>
          <a:solidFill>
            <a:schemeClr val="accent3">
              <a:alpha val="15000"/>
            </a:schemeClr>
          </a:solidFill>
          <a:ln w="15875">
            <a:solidFill>
              <a:schemeClr val="accent3"/>
            </a:solidFill>
          </a:ln>
        </p:spPr>
        <p:txBody>
          <a:bodyPr wrap="square" lIns="1016" tIns="1016" rIns="1016" bIns="1016" rtlCol="0" anchor="ctr"/>
          <a:lstStyle/>
          <a:p>
            <a:pPr algn="l" indent="0" marL="0">
              <a:buNone/>
            </a:pPr>
            <a:r>
              <a:rPr lang="en-US" sz="1300" dirty="0">
                <a:solidFill>
                  <a:schemeClr val="tx1"/>
                </a:solidFill>
              </a:rPr>
              <a:t>Constraint: Emissivity is flat (same) in at least two channels beyond 10 µm</a:t>
            </a:r>
            <a:endParaRPr lang="en-US" sz="1300" dirty="0"/>
          </a:p>
        </p:txBody>
      </p:sp>
      <p:sp>
        <p:nvSpPr>
          <p:cNvPr id="6" name="box-155"/>
          <p:cNvSpPr txBox="1"/>
          <p:nvPr/>
        </p:nvSpPr>
        <p:spPr>
          <a:xfrm>
            <a:off x="457200" y="4251960"/>
            <a:ext cx="3611880" cy="1463040"/>
          </a:xfrm>
          <a:prstGeom prst="roundRect">
            <a:avLst>
              <a:gd name="adj" fmla="val 5000"/>
            </a:avLst>
          </a:prstGeom>
          <a:solidFill>
            <a:schemeClr val="tx2">
              <a:alpha val="10000"/>
            </a:schemeClr>
          </a:solidFill>
          <a:ln w="15875">
            <a:solidFill>
              <a:schemeClr val="tx2"/>
            </a:solidFill>
          </a:ln>
        </p:spPr>
        <p:txBody>
          <a:bodyPr wrap="square" lIns="1016" tIns="1016" rIns="1016" bIns="1016" rtlCol="0" anchor="ctr"/>
          <a:lstStyle/>
          <a:p>
            <a:pPr algn="l" indent="0" marL="0">
              <a:buNone/>
            </a:pPr>
            <a:r>
              <a:rPr lang="en-US" sz="1300" dirty="0">
                <a:solidFill>
                  <a:schemeClr val="tx1"/>
                </a:solidFill>
              </a:rPr>
              <a:t>Limits: Sensitive to noise and atmospheric errors; hard with multispectral data; better for hyperspectral</a:t>
            </a:r>
            <a:endParaRPr lang="en-US" sz="1300" dirty="0"/>
          </a:p>
        </p:txBody>
      </p:sp>
      <p:sp>
        <p:nvSpPr>
          <p:cNvPr id="7" name="box-156"/>
          <p:cNvSpPr txBox="1"/>
          <p:nvPr/>
        </p:nvSpPr>
        <p:spPr>
          <a:xfrm>
            <a:off x="4297680" y="1234440"/>
            <a:ext cx="3611880" cy="685800"/>
          </a:xfrm>
          <a:prstGeom prst="roundRect">
            <a:avLst>
              <a:gd name="adj" fmla="val 10667"/>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700" b="1" dirty="0">
                <a:solidFill>
                  <a:schemeClr val="bg1"/>
                </a:solidFill>
              </a:rPr>
              <a:t>ISSTES</a:t>
            </a:r>
            <a:endParaRPr lang="en-US" sz="1700" dirty="0"/>
          </a:p>
        </p:txBody>
      </p:sp>
      <p:sp>
        <p:nvSpPr>
          <p:cNvPr id="8" name="text-157"/>
          <p:cNvSpPr txBox="1"/>
          <p:nvPr/>
        </p:nvSpPr>
        <p:spPr>
          <a:xfrm>
            <a:off x="4297680" y="2011680"/>
            <a:ext cx="3611880" cy="365760"/>
          </a:xfrm>
          <a:prstGeom prst="rect">
            <a:avLst/>
          </a:prstGeom>
          <a:noFill/>
          <a:ln/>
        </p:spPr>
        <p:txBody>
          <a:bodyPr wrap="square" lIns="635" tIns="635" rIns="635" bIns="635" rtlCol="0" anchor="t"/>
          <a:lstStyle/>
          <a:p>
            <a:pPr algn="l" indent="0" marL="0">
              <a:spcAft>
                <a:spcPts val="600"/>
              </a:spcAft>
              <a:buNone/>
            </a:pPr>
            <a:r>
              <a:rPr lang="en-US" sz="1200" i="1" dirty="0">
                <a:solidFill>
                  <a:schemeClr val="tx2"/>
                </a:solidFill>
              </a:rPr>
              <a:t>Borel (1997, 1998, 2008)</a:t>
            </a:r>
            <a:endParaRPr lang="en-US" sz="1200" dirty="0"/>
          </a:p>
        </p:txBody>
      </p:sp>
      <p:sp>
        <p:nvSpPr>
          <p:cNvPr id="9" name="box-158"/>
          <p:cNvSpPr txBox="1"/>
          <p:nvPr/>
        </p:nvSpPr>
        <p:spPr>
          <a:xfrm>
            <a:off x="4297680" y="2423160"/>
            <a:ext cx="3611880" cy="1691640"/>
          </a:xfrm>
          <a:prstGeom prst="roundRect">
            <a:avLst>
              <a:gd name="adj" fmla="val 4324"/>
            </a:avLst>
          </a:prstGeom>
          <a:solidFill>
            <a:schemeClr val="accent4">
              <a:alpha val="15000"/>
            </a:schemeClr>
          </a:solidFill>
          <a:ln w="15875">
            <a:solidFill>
              <a:schemeClr val="accent4"/>
            </a:solidFill>
          </a:ln>
        </p:spPr>
        <p:txBody>
          <a:bodyPr wrap="square" lIns="1016" tIns="1016" rIns="1016" bIns="1016" rtlCol="0" anchor="ctr"/>
          <a:lstStyle/>
          <a:p>
            <a:pPr algn="l" indent="0" marL="0">
              <a:buNone/>
            </a:pPr>
            <a:r>
              <a:rPr lang="en-US" sz="1300" dirty="0">
                <a:solidFill>
                  <a:schemeClr val="tx1"/>
                </a:solidFill>
              </a:rPr>
              <a:t>Constraint: True emissivity spectrum is smooth; a wrong LST leaves atmospheric 'saw-teeth' → choose LST maximizing smoothness</a:t>
            </a:r>
            <a:endParaRPr lang="en-US" sz="1300" dirty="0"/>
          </a:p>
        </p:txBody>
      </p:sp>
      <p:sp>
        <p:nvSpPr>
          <p:cNvPr id="10" name="box-159"/>
          <p:cNvSpPr txBox="1"/>
          <p:nvPr/>
        </p:nvSpPr>
        <p:spPr>
          <a:xfrm>
            <a:off x="4297680" y="4251960"/>
            <a:ext cx="3611880" cy="1463040"/>
          </a:xfrm>
          <a:prstGeom prst="roundRect">
            <a:avLst>
              <a:gd name="adj" fmla="val 5000"/>
            </a:avLst>
          </a:prstGeom>
          <a:solidFill>
            <a:schemeClr val="tx2">
              <a:alpha val="10000"/>
            </a:schemeClr>
          </a:solidFill>
          <a:ln w="15875">
            <a:solidFill>
              <a:schemeClr val="tx2"/>
            </a:solidFill>
          </a:ln>
        </p:spPr>
        <p:txBody>
          <a:bodyPr wrap="square" lIns="1016" tIns="1016" rIns="1016" bIns="1016" rtlCol="0" anchor="ctr"/>
          <a:lstStyle/>
          <a:p>
            <a:pPr algn="l" indent="0" marL="0">
              <a:buNone/>
            </a:pPr>
            <a:r>
              <a:rPr lang="en-US" sz="1300" dirty="0">
                <a:solidFill>
                  <a:schemeClr val="tx1"/>
                </a:solidFill>
              </a:rPr>
              <a:t>Limits: Hyperspectral only; needs high SNR; sensitive to wavelength shifts and singular points</a:t>
            </a:r>
            <a:endParaRPr lang="en-US" sz="1300" dirty="0"/>
          </a:p>
        </p:txBody>
      </p:sp>
      <p:sp>
        <p:nvSpPr>
          <p:cNvPr id="11" name="box-160"/>
          <p:cNvSpPr txBox="1"/>
          <p:nvPr/>
        </p:nvSpPr>
        <p:spPr>
          <a:xfrm>
            <a:off x="8138160" y="1234440"/>
            <a:ext cx="3611880" cy="685800"/>
          </a:xfrm>
          <a:prstGeom prst="roundRect">
            <a:avLst>
              <a:gd name="adj" fmla="val 10667"/>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700" b="1" dirty="0">
                <a:solidFill>
                  <a:schemeClr val="bg1"/>
                </a:solidFill>
              </a:rPr>
              <a:t>LECTES</a:t>
            </a:r>
            <a:endParaRPr lang="en-US" sz="1700" dirty="0"/>
          </a:p>
        </p:txBody>
      </p:sp>
      <p:sp>
        <p:nvSpPr>
          <p:cNvPr id="12" name="text-161"/>
          <p:cNvSpPr txBox="1"/>
          <p:nvPr/>
        </p:nvSpPr>
        <p:spPr>
          <a:xfrm>
            <a:off x="8138160" y="2011680"/>
            <a:ext cx="3611880" cy="365760"/>
          </a:xfrm>
          <a:prstGeom prst="rect">
            <a:avLst/>
          </a:prstGeom>
          <a:noFill/>
          <a:ln/>
        </p:spPr>
        <p:txBody>
          <a:bodyPr wrap="square" lIns="635" tIns="635" rIns="635" bIns="635" rtlCol="0" anchor="t"/>
          <a:lstStyle/>
          <a:p>
            <a:pPr algn="l" indent="0" marL="0">
              <a:spcAft>
                <a:spcPts val="600"/>
              </a:spcAft>
              <a:buNone/>
            </a:pPr>
            <a:r>
              <a:rPr lang="en-US" sz="1200" i="1" dirty="0">
                <a:solidFill>
                  <a:schemeClr val="tx2"/>
                </a:solidFill>
              </a:rPr>
              <a:t>Wang et al. (2011)</a:t>
            </a:r>
            <a:endParaRPr lang="en-US" sz="1200" dirty="0"/>
          </a:p>
        </p:txBody>
      </p:sp>
      <p:sp>
        <p:nvSpPr>
          <p:cNvPr id="13" name="box-162"/>
          <p:cNvSpPr txBox="1"/>
          <p:nvPr/>
        </p:nvSpPr>
        <p:spPr>
          <a:xfrm>
            <a:off x="8138160" y="2423160"/>
            <a:ext cx="3611880" cy="1691640"/>
          </a:xfrm>
          <a:prstGeom prst="roundRect">
            <a:avLst>
              <a:gd name="adj" fmla="val 4324"/>
            </a:avLst>
          </a:prstGeom>
          <a:solidFill>
            <a:schemeClr val="accent1">
              <a:alpha val="15000"/>
            </a:schemeClr>
          </a:solidFill>
          <a:ln w="15875">
            <a:solidFill>
              <a:schemeClr val="accent1"/>
            </a:solidFill>
          </a:ln>
        </p:spPr>
        <p:txBody>
          <a:bodyPr wrap="square" lIns="1016" tIns="1016" rIns="1016" bIns="1016" rtlCol="0" anchor="ctr"/>
          <a:lstStyle/>
          <a:p>
            <a:pPr algn="l" indent="0" marL="0">
              <a:buNone/>
            </a:pPr>
            <a:r>
              <a:rPr lang="en-US" sz="1300" dirty="0">
                <a:solidFill>
                  <a:schemeClr val="tx1"/>
                </a:solidFill>
              </a:rPr>
              <a:t>Constraint: Emissivity linear within M segments (~10 cm⁻¹); unknowns 2M + 1 ≤ N channels</a:t>
            </a:r>
            <a:endParaRPr lang="en-US" sz="1300" dirty="0"/>
          </a:p>
        </p:txBody>
      </p:sp>
      <p:sp>
        <p:nvSpPr>
          <p:cNvPr id="14" name="box-163"/>
          <p:cNvSpPr txBox="1"/>
          <p:nvPr/>
        </p:nvSpPr>
        <p:spPr>
          <a:xfrm>
            <a:off x="8138160" y="4251960"/>
            <a:ext cx="3611880" cy="1463040"/>
          </a:xfrm>
          <a:prstGeom prst="roundRect">
            <a:avLst>
              <a:gd name="adj" fmla="val 5000"/>
            </a:avLst>
          </a:prstGeom>
          <a:solidFill>
            <a:schemeClr val="tx2">
              <a:alpha val="10000"/>
            </a:schemeClr>
          </a:solidFill>
          <a:ln w="15875">
            <a:solidFill>
              <a:schemeClr val="tx2"/>
            </a:solidFill>
          </a:ln>
        </p:spPr>
        <p:txBody>
          <a:bodyPr wrap="square" lIns="1016" tIns="1016" rIns="1016" bIns="1016" rtlCol="0" anchor="ctr"/>
          <a:lstStyle/>
          <a:p>
            <a:pPr algn="l" indent="0" marL="0">
              <a:buNone/>
            </a:pPr>
            <a:r>
              <a:rPr lang="en-US" sz="1300" dirty="0">
                <a:solidFill>
                  <a:schemeClr val="tx1"/>
                </a:solidFill>
              </a:rPr>
              <a:t>Limits: Hyperspectral only; robust to noise, better in warm and wet atmospheres</a:t>
            </a:r>
            <a:endParaRPr lang="en-US" sz="1300" dirty="0"/>
          </a:p>
        </p:txBody>
      </p:sp>
      <p:sp>
        <p:nvSpPr>
          <p:cNvPr id="15" name="text-164"/>
          <p:cNvSpPr txBox="1"/>
          <p:nvPr/>
        </p:nvSpPr>
        <p:spPr>
          <a:xfrm>
            <a:off x="457200" y="5806440"/>
            <a:ext cx="11247120" cy="548640"/>
          </a:xfrm>
          <a:prstGeom prst="rect">
            <a:avLst/>
          </a:prstGeom>
          <a:noFill/>
          <a:ln/>
        </p:spPr>
        <p:txBody>
          <a:bodyPr wrap="square" lIns="635" tIns="635" rIns="635" bIns="635" rtlCol="0" anchor="t"/>
          <a:lstStyle/>
          <a:p>
            <a:pPr algn="l" indent="0" marL="0">
              <a:spcAft>
                <a:spcPts val="600"/>
              </a:spcAft>
              <a:buNone/>
            </a:pPr>
            <a:r>
              <a:rPr lang="en-US" sz="1300" i="1" dirty="0">
                <a:solidFill>
                  <a:schemeClr val="tx2"/>
                </a:solidFill>
              </a:rPr>
              <a:t>Common need: accurate atmospheric correction. All three exploit the fact that emissivity spectra are smoother than atmospheric absorption features.</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Simultaneous retrieval of LST, emissivity and atmosphere</a:t>
            </a:r>
            <a:endParaRPr lang="en-US" sz="3000" dirty="0"/>
          </a:p>
        </p:txBody>
      </p:sp>
      <p:sp>
        <p:nvSpPr>
          <p:cNvPr id="3" name="box-165"/>
          <p:cNvSpPr txBox="1"/>
          <p:nvPr/>
        </p:nvSpPr>
        <p:spPr>
          <a:xfrm>
            <a:off x="457200" y="1188720"/>
            <a:ext cx="5394960" cy="548640"/>
          </a:xfrm>
          <a:prstGeom prst="roundRect">
            <a:avLst>
              <a:gd name="adj" fmla="val 13333"/>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600" b="1" dirty="0">
                <a:solidFill>
                  <a:schemeClr val="tx1"/>
                </a:solidFill>
              </a:rPr>
              <a:t>Artificial neural network (ANN)</a:t>
            </a:r>
            <a:endParaRPr lang="en-US" sz="1600" dirty="0"/>
          </a:p>
        </p:txBody>
      </p:sp>
      <p:sp>
        <p:nvSpPr>
          <p:cNvPr id="4" name="box-166"/>
          <p:cNvSpPr txBox="1"/>
          <p:nvPr/>
        </p:nvSpPr>
        <p:spPr>
          <a:xfrm>
            <a:off x="457200" y="1874520"/>
            <a:ext cx="1600200" cy="1005840"/>
          </a:xfrm>
          <a:prstGeom prst="roundRect">
            <a:avLst>
              <a:gd name="adj" fmla="val 7273"/>
            </a:avLst>
          </a:prstGeom>
          <a:solidFill>
            <a:schemeClr val="accent5"/>
          </a:solidFill>
          <a:ln w="15875">
            <a:solidFill>
              <a:schemeClr val="accent5"/>
            </a:solidFill>
          </a:ln>
        </p:spPr>
        <p:txBody>
          <a:bodyPr wrap="square" lIns="1016" tIns="1016" rIns="1016" bIns="1016" rtlCol="0" anchor="ctr"/>
          <a:lstStyle/>
          <a:p>
            <a:pPr algn="ctr" indent="0" marL="0">
              <a:buNone/>
            </a:pPr>
            <a:r>
              <a:rPr lang="en-US" sz="1200" dirty="0">
                <a:solidFill>
                  <a:schemeClr val="bg1"/>
                </a:solidFill>
              </a:rPr>
              <a:t>Hyperspectral TOA radiances</a:t>
            </a:r>
            <a:endParaRPr lang="en-US" sz="1200" dirty="0"/>
          </a:p>
        </p:txBody>
      </p:sp>
      <p:sp>
        <p:nvSpPr>
          <p:cNvPr id="5" name="box-167"/>
          <p:cNvSpPr txBox="1"/>
          <p:nvPr/>
        </p:nvSpPr>
        <p:spPr>
          <a:xfrm>
            <a:off x="2331720" y="1874520"/>
            <a:ext cx="1600200" cy="1005840"/>
          </a:xfrm>
          <a:prstGeom prst="roundRect">
            <a:avLst>
              <a:gd name="adj" fmla="val 7273"/>
            </a:avLst>
          </a:prstGeom>
          <a:solidFill>
            <a:schemeClr val="accent5"/>
          </a:solidFill>
          <a:ln w="15875">
            <a:solidFill>
              <a:schemeClr val="accent5"/>
            </a:solidFill>
          </a:ln>
        </p:spPr>
        <p:txBody>
          <a:bodyPr wrap="square" lIns="1016" tIns="1016" rIns="1016" bIns="1016" rtlCol="0" anchor="ctr"/>
          <a:lstStyle/>
          <a:p>
            <a:pPr algn="ctr" indent="0" marL="0">
              <a:buNone/>
            </a:pPr>
            <a:r>
              <a:rPr lang="en-US" sz="1200" dirty="0">
                <a:solidFill>
                  <a:schemeClr val="bg1"/>
                </a:solidFill>
              </a:rPr>
              <a:t>Trained network (1–2 hidden layers)</a:t>
            </a:r>
            <a:endParaRPr lang="en-US" sz="1200" dirty="0"/>
          </a:p>
        </p:txBody>
      </p:sp>
      <p:sp>
        <p:nvSpPr>
          <p:cNvPr id="6" name="box-168"/>
          <p:cNvSpPr txBox="1"/>
          <p:nvPr/>
        </p:nvSpPr>
        <p:spPr>
          <a:xfrm>
            <a:off x="4206240" y="1874520"/>
            <a:ext cx="1645920" cy="1005840"/>
          </a:xfrm>
          <a:prstGeom prst="roundRect">
            <a:avLst>
              <a:gd name="adj" fmla="val 7273"/>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200" dirty="0">
                <a:solidFill>
                  <a:schemeClr val="bg1"/>
                </a:solidFill>
              </a:rPr>
              <a:t>LST + ε + T/WV profiles</a:t>
            </a:r>
            <a:endParaRPr lang="en-US" sz="1200" dirty="0"/>
          </a:p>
        </p:txBody>
      </p:sp>
      <p:sp>
        <p:nvSpPr>
          <p:cNvPr id="7" name="arrow-169"/>
          <p:cNvSpPr/>
          <p:nvPr/>
        </p:nvSpPr>
        <p:spPr>
          <a:xfrm>
            <a:off x="2057400" y="2377440"/>
            <a:ext cx="274320" cy="0"/>
          </a:xfrm>
          <a:prstGeom prst="line">
            <a:avLst/>
          </a:prstGeom>
          <a:noFill/>
          <a:ln w="22225">
            <a:solidFill>
              <a:srgbClr val="6B7280"/>
            </a:solidFill>
            <a:prstDash val="solid"/>
            <a:tailEnd type="triangle"/>
          </a:ln>
        </p:spPr>
      </p:sp>
      <p:sp>
        <p:nvSpPr>
          <p:cNvPr id="8" name="arrow-170"/>
          <p:cNvSpPr/>
          <p:nvPr/>
        </p:nvSpPr>
        <p:spPr>
          <a:xfrm>
            <a:off x="3931920" y="2377440"/>
            <a:ext cx="274320" cy="0"/>
          </a:xfrm>
          <a:prstGeom prst="line">
            <a:avLst/>
          </a:prstGeom>
          <a:noFill/>
          <a:ln w="22225">
            <a:solidFill>
              <a:srgbClr val="6B7280"/>
            </a:solidFill>
            <a:prstDash val="solid"/>
            <a:tailEnd type="triangle"/>
          </a:ln>
        </p:spPr>
      </p:sp>
      <p:sp>
        <p:nvSpPr>
          <p:cNvPr id="9" name="text-171"/>
          <p:cNvSpPr txBox="1"/>
          <p:nvPr/>
        </p:nvSpPr>
        <p:spPr>
          <a:xfrm>
            <a:off x="457200" y="3063240"/>
            <a:ext cx="5394960" cy="3200400"/>
          </a:xfrm>
          <a:prstGeom prst="rect">
            <a:avLst/>
          </a:prstGeom>
          <a:noFill/>
          <a:ln/>
        </p:spPr>
        <p:txBody>
          <a:bodyPr wrap="square" lIns="635" tIns="635" rIns="635" bIns="635" rtlCol="0" anchor="t"/>
          <a:lstStyle/>
          <a:p>
            <a:pPr algn="l" marL="203200" indent="-203200">
              <a:spcAft>
                <a:spcPts val="600"/>
              </a:spcAft>
              <a:buSzPct val="100000"/>
              <a:buChar char="•"/>
            </a:pPr>
            <a:r>
              <a:rPr lang="en-US" sz="1400" dirty="0">
                <a:solidFill>
                  <a:schemeClr val="tx1"/>
                </a:solidFill>
              </a:rPr>
              <a:t>Wang et al. (2013): RMSE LST </a:t>
            </a:r>
            <a:r>
              <a:rPr lang="en-US" sz="1400" b="1" dirty="0">
                <a:solidFill>
                  <a:schemeClr val="tx1"/>
                </a:solidFill>
              </a:rPr>
              <a:t>≈ 1.6 K</a:t>
            </a:r>
            <a:r>
              <a:rPr lang="en-US" sz="1400" dirty="0">
                <a:solidFill>
                  <a:schemeClr val="tx1"/>
                </a:solidFill>
              </a:rPr>
              <a:t>, temperature profile </a:t>
            </a:r>
            <a:r>
              <a:rPr lang="en-US" sz="1400" b="1" dirty="0">
                <a:solidFill>
                  <a:schemeClr val="tx1"/>
                </a:solidFill>
              </a:rPr>
              <a:t>≈ 2 K</a:t>
            </a:r>
            <a:r>
              <a:rPr lang="en-US" sz="1400" dirty="0">
                <a:solidFill>
                  <a:schemeClr val="tx1"/>
                </a:solidFill>
              </a:rPr>
              <a:t>, WV </a:t>
            </a:r>
            <a:r>
              <a:rPr lang="en-US" sz="1400" b="1" dirty="0">
                <a:solidFill>
                  <a:schemeClr val="tx1"/>
                </a:solidFill>
              </a:rPr>
              <a:t>≈ 0.3 g/cm²</a:t>
            </a:r>
            <a:r>
              <a:rPr lang="en-US" sz="1400" dirty="0">
                <a:solidFill>
                  <a:schemeClr val="tx1"/>
                </a:solidFill>
              </a:rPr>
              <a:t>, emissivity </a:t>
            </a:r>
            <a:r>
              <a:rPr lang="en-US" sz="1400" b="1" dirty="0">
                <a:solidFill>
                  <a:schemeClr val="tx1"/>
                </a:solidFill>
              </a:rPr>
              <a:t>&lt; 0.01</a:t>
            </a:r>
            <a:r>
              <a:rPr lang="en-US" sz="1400" dirty="0">
                <a:solidFill>
                  <a:schemeClr val="tx1"/>
                </a:solidFill>
              </a:rPr>
              <a:t> (10–14 µm)</a:t>
            </a:r>
            <a:endParaRPr lang="en-US" sz="1400" dirty="0"/>
          </a:p>
          <a:p>
            <a:pPr algn="l" marL="203200" indent="-203200">
              <a:spcAft>
                <a:spcPts val="600"/>
              </a:spcAft>
              <a:buSzPct val="100000"/>
              <a:buChar char="•"/>
            </a:pPr>
            <a:r>
              <a:rPr lang="en-US" sz="1400" dirty="0">
                <a:solidFill>
                  <a:schemeClr val="tx1"/>
                </a:solidFill>
              </a:rPr>
              <a:t>Learns complex non-linear patterns; tolerant to noise</a:t>
            </a:r>
            <a:endParaRPr lang="en-US" sz="1400" dirty="0"/>
          </a:p>
          <a:p>
            <a:pPr algn="l" marL="203200" indent="-203200">
              <a:spcAft>
                <a:spcPts val="600"/>
              </a:spcAft>
              <a:buSzPct val="100000"/>
              <a:buChar char="•"/>
            </a:pPr>
            <a:r>
              <a:rPr lang="en-US" sz="1400" dirty="0">
                <a:solidFill>
                  <a:schemeClr val="tx1"/>
                </a:solidFill>
              </a:rPr>
              <a:t>Black box: depends on architecture and training data; hard to interpret</a:t>
            </a:r>
            <a:endParaRPr lang="en-US" sz="1400" dirty="0"/>
          </a:p>
          <a:p>
            <a:pPr algn="l" marL="203200" indent="-203200">
              <a:spcAft>
                <a:spcPts val="600"/>
              </a:spcAft>
              <a:buSzPct val="100000"/>
              <a:buChar char="•"/>
            </a:pPr>
            <a:r>
              <a:rPr lang="en-US" sz="1400" dirty="0">
                <a:solidFill>
                  <a:schemeClr val="tx1"/>
                </a:solidFill>
              </a:rPr>
              <a:t>Best used to give </a:t>
            </a:r>
            <a:r>
              <a:rPr lang="en-US" sz="1400" b="1" dirty="0">
                <a:solidFill>
                  <a:schemeClr val="tx1"/>
                </a:solidFill>
              </a:rPr>
              <a:t>initial guesses</a:t>
            </a:r>
            <a:r>
              <a:rPr lang="en-US" sz="1400" dirty="0">
                <a:solidFill>
                  <a:schemeClr val="tx1"/>
                </a:solidFill>
              </a:rPr>
              <a:t> for physical methods</a:t>
            </a:r>
            <a:endParaRPr lang="en-US" sz="1400" dirty="0"/>
          </a:p>
        </p:txBody>
      </p:sp>
      <p:sp>
        <p:nvSpPr>
          <p:cNvPr id="10" name="box-172"/>
          <p:cNvSpPr txBox="1"/>
          <p:nvPr/>
        </p:nvSpPr>
        <p:spPr>
          <a:xfrm>
            <a:off x="6263640" y="1188720"/>
            <a:ext cx="5486400" cy="548640"/>
          </a:xfrm>
          <a:prstGeom prst="roundRect">
            <a:avLst>
              <a:gd name="adj" fmla="val 13333"/>
            </a:avLst>
          </a:prstGeom>
          <a:solidFill>
            <a:schemeClr val="accent4">
              <a:alpha val="15000"/>
            </a:schemeClr>
          </a:solidFill>
          <a:ln w="15875">
            <a:solidFill>
              <a:schemeClr val="accent4"/>
            </a:solidFill>
          </a:ln>
        </p:spPr>
        <p:txBody>
          <a:bodyPr wrap="square" lIns="1016" tIns="1016" rIns="1016" bIns="1016" rtlCol="0" anchor="ctr"/>
          <a:lstStyle/>
          <a:p>
            <a:pPr algn="ctr" indent="0" marL="0">
              <a:buNone/>
            </a:pPr>
            <a:r>
              <a:rPr lang="en-US" sz="1600" b="1" dirty="0">
                <a:solidFill>
                  <a:schemeClr val="tx1"/>
                </a:solidFill>
              </a:rPr>
              <a:t>Two-step physical retrieval (TSRM, Ma et al. 2000, 2002)</a:t>
            </a:r>
            <a:endParaRPr lang="en-US" sz="1600" dirty="0"/>
          </a:p>
        </p:txBody>
      </p:sp>
      <p:sp>
        <p:nvSpPr>
          <p:cNvPr id="11" name="box-173"/>
          <p:cNvSpPr txBox="1"/>
          <p:nvPr/>
        </p:nvSpPr>
        <p:spPr>
          <a:xfrm>
            <a:off x="6263640" y="1874520"/>
            <a:ext cx="5486400" cy="777240"/>
          </a:xfrm>
          <a:prstGeom prst="roundRect">
            <a:avLst>
              <a:gd name="adj" fmla="val 9412"/>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300" dirty="0">
                <a:solidFill>
                  <a:schemeClr val="bg1"/>
                </a:solidFill>
              </a:rPr>
              <a:t>Initial guess: profiles, LST, ε</a:t>
            </a:r>
            <a:endParaRPr lang="en-US" sz="1300" dirty="0"/>
          </a:p>
        </p:txBody>
      </p:sp>
      <p:sp>
        <p:nvSpPr>
          <p:cNvPr id="12" name="box-174"/>
          <p:cNvSpPr txBox="1"/>
          <p:nvPr/>
        </p:nvSpPr>
        <p:spPr>
          <a:xfrm>
            <a:off x="6263640" y="2898648"/>
            <a:ext cx="5486400" cy="777240"/>
          </a:xfrm>
          <a:prstGeom prst="roundRect">
            <a:avLst>
              <a:gd name="adj" fmla="val 9412"/>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300" dirty="0">
                <a:solidFill>
                  <a:schemeClr val="bg1"/>
                </a:solidFill>
              </a:rPr>
              <a:t>Step 1: tangent-linearize RTE; PCA (5 T + 3 WV eigenvectors for 40 levels) + Tikhonov regularization</a:t>
            </a:r>
            <a:endParaRPr lang="en-US" sz="1300" dirty="0"/>
          </a:p>
        </p:txBody>
      </p:sp>
      <p:sp>
        <p:nvSpPr>
          <p:cNvPr id="13" name="arrow-175"/>
          <p:cNvSpPr/>
          <p:nvPr/>
        </p:nvSpPr>
        <p:spPr>
          <a:xfrm>
            <a:off x="9006840" y="2651760"/>
            <a:ext cx="0" cy="246888"/>
          </a:xfrm>
          <a:prstGeom prst="line">
            <a:avLst/>
          </a:prstGeom>
          <a:noFill/>
          <a:ln w="22225">
            <a:solidFill>
              <a:srgbClr val="6B7280"/>
            </a:solidFill>
            <a:prstDash val="solid"/>
            <a:tailEnd type="triangle"/>
          </a:ln>
        </p:spPr>
      </p:sp>
      <p:sp>
        <p:nvSpPr>
          <p:cNvPr id="14" name="box-176"/>
          <p:cNvSpPr txBox="1"/>
          <p:nvPr/>
        </p:nvSpPr>
        <p:spPr>
          <a:xfrm>
            <a:off x="6263640" y="3922776"/>
            <a:ext cx="5486400" cy="777240"/>
          </a:xfrm>
          <a:prstGeom prst="roundRect">
            <a:avLst>
              <a:gd name="adj" fmla="val 9412"/>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300" dirty="0">
                <a:solidFill>
                  <a:schemeClr val="bg1"/>
                </a:solidFill>
              </a:rPr>
              <a:t>Step 2: Newton iteration → maximum-likelihood solution</a:t>
            </a:r>
            <a:endParaRPr lang="en-US" sz="1300" dirty="0"/>
          </a:p>
        </p:txBody>
      </p:sp>
      <p:sp>
        <p:nvSpPr>
          <p:cNvPr id="15" name="arrow-177"/>
          <p:cNvSpPr/>
          <p:nvPr/>
        </p:nvSpPr>
        <p:spPr>
          <a:xfrm>
            <a:off x="9006840" y="3675888"/>
            <a:ext cx="0" cy="246888"/>
          </a:xfrm>
          <a:prstGeom prst="line">
            <a:avLst/>
          </a:prstGeom>
          <a:noFill/>
          <a:ln w="22225">
            <a:solidFill>
              <a:srgbClr val="6B7280"/>
            </a:solidFill>
            <a:prstDash val="solid"/>
            <a:tailEnd type="triangle"/>
          </a:ln>
        </p:spPr>
      </p:sp>
      <p:sp>
        <p:nvSpPr>
          <p:cNvPr id="16" name="box-178"/>
          <p:cNvSpPr txBox="1"/>
          <p:nvPr/>
        </p:nvSpPr>
        <p:spPr>
          <a:xfrm>
            <a:off x="6263640" y="4946904"/>
            <a:ext cx="5486400" cy="777240"/>
          </a:xfrm>
          <a:prstGeom prst="roundRect">
            <a:avLst>
              <a:gd name="adj" fmla="val 9412"/>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300" dirty="0">
                <a:solidFill>
                  <a:schemeClr val="bg1"/>
                </a:solidFill>
              </a:rPr>
              <a:t>LST, ε and T/WV profiles together (MODIS)</a:t>
            </a:r>
            <a:endParaRPr lang="en-US" sz="1300" dirty="0"/>
          </a:p>
        </p:txBody>
      </p:sp>
      <p:sp>
        <p:nvSpPr>
          <p:cNvPr id="17" name="arrow-179"/>
          <p:cNvSpPr/>
          <p:nvPr/>
        </p:nvSpPr>
        <p:spPr>
          <a:xfrm>
            <a:off x="9006840" y="4700016"/>
            <a:ext cx="0" cy="246888"/>
          </a:xfrm>
          <a:prstGeom prst="line">
            <a:avLst/>
          </a:prstGeom>
          <a:noFill/>
          <a:ln w="22225">
            <a:solidFill>
              <a:srgbClr val="6B7280"/>
            </a:solidFill>
            <a:prstDash val="solid"/>
            <a:tailEnd type="triangle"/>
          </a:ln>
        </p:spPr>
      </p:sp>
      <p:sp>
        <p:nvSpPr>
          <p:cNvPr id="18" name="text-180"/>
          <p:cNvSpPr txBox="1"/>
          <p:nvPr/>
        </p:nvSpPr>
        <p:spPr>
          <a:xfrm>
            <a:off x="6263640" y="5989320"/>
            <a:ext cx="5486400" cy="365760"/>
          </a:xfrm>
          <a:prstGeom prst="rect">
            <a:avLst/>
          </a:prstGeom>
          <a:noFill/>
          <a:ln/>
        </p:spPr>
        <p:txBody>
          <a:bodyPr wrap="square" lIns="635" tIns="635" rIns="635" bIns="635" rtlCol="0" anchor="t"/>
          <a:lstStyle/>
          <a:p>
            <a:pPr algn="l" indent="0" marL="0">
              <a:spcAft>
                <a:spcPts val="600"/>
              </a:spcAft>
              <a:buNone/>
            </a:pPr>
            <a:r>
              <a:rPr lang="en-US" sz="1200" i="1" dirty="0">
                <a:solidFill>
                  <a:schemeClr val="tx2"/>
                </a:solidFill>
              </a:rPr>
              <a:t>Needs no prior atmospheric correction, but depends strongly on the initial guess and is slow</a:t>
            </a:r>
            <a:endParaRPr lang="en-US" sz="12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Comparison of algorithm families</a:t>
            </a:r>
            <a:endParaRPr lang="en-US" sz="3000" dirty="0"/>
          </a:p>
        </p:txBody>
      </p:sp>
      <p:graphicFrame>
        <p:nvGraphicFramePr>
          <p:cNvPr id="20" name="table-181"/>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2011680"/>
                <a:gridCol w="2926080"/>
                <a:gridCol w="3108960"/>
                <a:gridCol w="320040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1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Key assumption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1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Main advantage</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1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Main limitation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1B1F2A"/>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Single-channel</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ε and profile known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Works with one TIR band (Landsat)</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Needs accurate profile + RTM</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Split-window</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Differential absorption 11/12 µm</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Simple, no profile; operational</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Degrades at high WV, large VZA</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Multi-angle</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LST independent of VZA</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Insensitive to absorber optics</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Homogeneous surfaces only</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CBEM / NBEM</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ε from class or NDVI</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Simple, no atm. correction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Soil ε, seasonal change, rocks/water</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Day/night TISI</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TISI same day and night</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Physical, any surface</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Co-registration, same view angle</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TTM / MODIS D/N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ε time-invariant</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Simultaneous LST + ε</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Multi-temporal data, registration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TES</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εmin–MMD relation</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Any surface, high contrast</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Gray bodies, ≥ 3 bands, atm. errors</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ISSTES / LECTES</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Smooth / piecewise-linear ε</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Accurate with hyperspectral</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Hyperspectral only</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1F3F6"/>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ANN / TSRM</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None / linearizable RTE</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Retrieves atmosphere too</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Training data / initial guess, slow</a:t>
                      </a:r>
                      <a:endParaRPr lang="en-US" sz="1250" dirty="0">
                        <a:latin typeface="Calibri" charset="0"/>
                        <a:ea typeface="Calibri" charset="0"/>
                        <a:cs typeface="Calibri" charset="0"/>
                      </a:endParaRPr>
                    </a:p>
                  </a:txBody>
                  <a:tcPr marL="91440" marR="91440" marT="45720" marB="45720" anchor="ctr">
                    <a:lnL w="6350" cap="flat" cmpd="sng" algn="ctr">
                      <a:solidFill>
                        <a:srgbClr val="C9CED6"/>
                      </a:solidFill>
                      <a:prstDash val="solid"/>
                      <a:round/>
                      <a:headEnd type="none" w="med" len="med"/>
                      <a:tailEnd type="none" w="med" len="med"/>
                    </a:lnL>
                    <a:lnR w="6350" cap="flat" cmpd="sng" algn="ctr">
                      <a:solidFill>
                        <a:srgbClr val="C9CED6"/>
                      </a:solidFill>
                      <a:prstDash val="solid"/>
                      <a:round/>
                      <a:headEnd type="none" w="med" len="med"/>
                      <a:tailEnd type="none" w="med" len="med"/>
                    </a:lnR>
                    <a:lnT w="6350" cap="flat" cmpd="sng" algn="ctr">
                      <a:solidFill>
                        <a:srgbClr val="C9CED6"/>
                      </a:solidFill>
                      <a:prstDash val="solid"/>
                      <a:round/>
                      <a:headEnd type="none" w="med" len="med"/>
                      <a:tailEnd type="none" w="med" len="med"/>
                    </a:lnT>
                    <a:lnB w="6350" cap="flat" cmpd="sng" algn="ctr">
                      <a:solidFill>
                        <a:srgbClr val="C9CED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Table 1 of Li et al. (2013): screenshot (part 1)</a:t>
            </a:r>
            <a:endParaRPr lang="en-US" sz="3000" dirty="0"/>
          </a:p>
        </p:txBody>
      </p:sp>
      <p:pic>
        <p:nvPicPr>
          <p:cNvPr id="3" name="img-182" descr="Table 1 part 1">    </p:cNvPr>
          <p:cNvPicPr>
            <a:picLocks noChangeAspect="1"/>
          </p:cNvPicPr>
          <p:nvPr/>
        </p:nvPicPr>
        <p:blipFill>
          <a:blip r:embed="rId1"/>
          <a:stretch>
            <a:fillRect/>
          </a:stretch>
        </p:blipFill>
        <p:spPr>
          <a:xfrm>
            <a:off x="2495060" y="1097280"/>
            <a:ext cx="7171401" cy="5212080"/>
          </a:xfrm>
          <a:prstGeom prst="rect">
            <a:avLst/>
          </a:prstGeom>
        </p:spPr>
      </p:pic>
      <p:sp>
        <p:nvSpPr>
          <p:cNvPr id="4" name="frame-183"/>
          <p:cNvSpPr/>
          <p:nvPr/>
        </p:nvSpPr>
        <p:spPr>
          <a:xfrm>
            <a:off x="2495060" y="1097280"/>
            <a:ext cx="7171401" cy="5212080"/>
          </a:xfrm>
          <a:prstGeom prst="rect">
            <a:avLst/>
          </a:prstGeom>
          <a:ln w="9525">
            <a:solidFill>
              <a:srgbClr val="C9CED6"/>
            </a:solidFill>
            <a:prstDash val="solid"/>
          </a:ln>
        </p:spPr>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Table 1 of Li et al. (2013): screenshot (part 2)</a:t>
            </a:r>
            <a:endParaRPr lang="en-US" sz="3000" dirty="0"/>
          </a:p>
        </p:txBody>
      </p:sp>
      <p:pic>
        <p:nvPicPr>
          <p:cNvPr id="3" name="img-184" descr="Table 1 part 2">    </p:cNvPr>
          <p:cNvPicPr>
            <a:picLocks noChangeAspect="1"/>
          </p:cNvPicPr>
          <p:nvPr/>
        </p:nvPicPr>
        <p:blipFill>
          <a:blip r:embed="rId1"/>
          <a:stretch>
            <a:fillRect/>
          </a:stretch>
        </p:blipFill>
        <p:spPr>
          <a:xfrm>
            <a:off x="2541284" y="1097280"/>
            <a:ext cx="7078952" cy="5212080"/>
          </a:xfrm>
          <a:prstGeom prst="rect">
            <a:avLst/>
          </a:prstGeom>
        </p:spPr>
      </p:pic>
      <p:sp>
        <p:nvSpPr>
          <p:cNvPr id="4" name="frame-185"/>
          <p:cNvSpPr/>
          <p:nvPr/>
        </p:nvSpPr>
        <p:spPr>
          <a:xfrm>
            <a:off x="2541284" y="1097280"/>
            <a:ext cx="7078952" cy="5212080"/>
          </a:xfrm>
          <a:prstGeom prst="rect">
            <a:avLst/>
          </a:prstGeom>
          <a:ln w="9525">
            <a:solidFill>
              <a:srgbClr val="C9CED6"/>
            </a:solidFill>
            <a:prstDash val="solid"/>
          </a:ln>
        </p:spPr>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Choosing an algorithm: decision flowchart</a:t>
            </a:r>
            <a:endParaRPr lang="en-US" sz="3000" dirty="0"/>
          </a:p>
        </p:txBody>
      </p:sp>
      <p:sp>
        <p:nvSpPr>
          <p:cNvPr id="3" name="box-186"/>
          <p:cNvSpPr txBox="1"/>
          <p:nvPr/>
        </p:nvSpPr>
        <p:spPr>
          <a:xfrm>
            <a:off x="4480560" y="1097280"/>
            <a:ext cx="3200400" cy="594360"/>
          </a:xfrm>
          <a:prstGeom prst="roundRect">
            <a:avLst>
              <a:gd name="adj" fmla="val 12308"/>
            </a:avLst>
          </a:prstGeom>
          <a:solidFill>
            <a:schemeClr val="tx1"/>
          </a:solidFill>
          <a:ln w="15875">
            <a:solidFill>
              <a:schemeClr val="tx1"/>
            </a:solidFill>
          </a:ln>
        </p:spPr>
        <p:txBody>
          <a:bodyPr wrap="square" lIns="1016" tIns="1016" rIns="1016" bIns="1016" rtlCol="0" anchor="ctr"/>
          <a:lstStyle/>
          <a:p>
            <a:pPr algn="ctr" indent="0" marL="0">
              <a:buNone/>
            </a:pPr>
            <a:r>
              <a:rPr lang="en-US" sz="1400" b="1" dirty="0">
                <a:solidFill>
                  <a:schemeClr val="bg1"/>
                </a:solidFill>
              </a:rPr>
              <a:t>Sensor &amp; data available?</a:t>
            </a:r>
            <a:endParaRPr lang="en-US" sz="1400" dirty="0"/>
          </a:p>
        </p:txBody>
      </p:sp>
      <p:sp>
        <p:nvSpPr>
          <p:cNvPr id="4" name="box-187"/>
          <p:cNvSpPr txBox="1"/>
          <p:nvPr/>
        </p:nvSpPr>
        <p:spPr>
          <a:xfrm>
            <a:off x="457200" y="2148840"/>
            <a:ext cx="2651760" cy="685800"/>
          </a:xfrm>
          <a:prstGeom prst="roundRect">
            <a:avLst>
              <a:gd name="adj" fmla="val 10667"/>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b="1" dirty="0">
                <a:solidFill>
                  <a:schemeClr val="tx1"/>
                </a:solidFill>
              </a:rPr>
              <a:t>Hyperspectral TIR (sounder)?</a:t>
            </a:r>
            <a:endParaRPr lang="en-US" sz="1300" dirty="0"/>
          </a:p>
        </p:txBody>
      </p:sp>
      <p:sp>
        <p:nvSpPr>
          <p:cNvPr id="5" name="arrow-188"/>
          <p:cNvSpPr/>
          <p:nvPr/>
        </p:nvSpPr>
        <p:spPr>
          <a:xfrm flipH="1">
            <a:off x="1783080" y="1691640"/>
            <a:ext cx="4297680" cy="457200"/>
          </a:xfrm>
          <a:prstGeom prst="line">
            <a:avLst/>
          </a:prstGeom>
          <a:noFill/>
          <a:ln w="22225">
            <a:solidFill>
              <a:srgbClr val="6B7280"/>
            </a:solidFill>
            <a:prstDash val="solid"/>
            <a:tailEnd type="triangle"/>
          </a:ln>
        </p:spPr>
      </p:sp>
      <p:sp>
        <p:nvSpPr>
          <p:cNvPr id="6" name="box-189"/>
          <p:cNvSpPr txBox="1"/>
          <p:nvPr/>
        </p:nvSpPr>
        <p:spPr>
          <a:xfrm>
            <a:off x="3337560" y="2148840"/>
            <a:ext cx="2651760" cy="685800"/>
          </a:xfrm>
          <a:prstGeom prst="roundRect">
            <a:avLst>
              <a:gd name="adj" fmla="val 10667"/>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b="1" dirty="0">
                <a:solidFill>
                  <a:schemeClr val="tx1"/>
                </a:solidFill>
              </a:rPr>
              <a:t>≥ 3 TIR bands (ASTER-like)?</a:t>
            </a:r>
            <a:endParaRPr lang="en-US" sz="1300" dirty="0"/>
          </a:p>
        </p:txBody>
      </p:sp>
      <p:sp>
        <p:nvSpPr>
          <p:cNvPr id="7" name="arrow-190"/>
          <p:cNvSpPr/>
          <p:nvPr/>
        </p:nvSpPr>
        <p:spPr>
          <a:xfrm flipH="1">
            <a:off x="4663440" y="1691640"/>
            <a:ext cx="1417320" cy="457200"/>
          </a:xfrm>
          <a:prstGeom prst="line">
            <a:avLst/>
          </a:prstGeom>
          <a:noFill/>
          <a:ln w="22225">
            <a:solidFill>
              <a:srgbClr val="6B7280"/>
            </a:solidFill>
            <a:prstDash val="solid"/>
            <a:tailEnd type="triangle"/>
          </a:ln>
        </p:spPr>
      </p:sp>
      <p:sp>
        <p:nvSpPr>
          <p:cNvPr id="8" name="box-191"/>
          <p:cNvSpPr txBox="1"/>
          <p:nvPr/>
        </p:nvSpPr>
        <p:spPr>
          <a:xfrm>
            <a:off x="6217920" y="2148840"/>
            <a:ext cx="2651760" cy="685800"/>
          </a:xfrm>
          <a:prstGeom prst="roundRect">
            <a:avLst>
              <a:gd name="adj" fmla="val 10667"/>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b="1" dirty="0">
                <a:solidFill>
                  <a:schemeClr val="tx1"/>
                </a:solidFill>
              </a:rPr>
              <a:t>2 TIR bands (11 &amp; 12 µm)?</a:t>
            </a:r>
            <a:endParaRPr lang="en-US" sz="1300" dirty="0"/>
          </a:p>
        </p:txBody>
      </p:sp>
      <p:sp>
        <p:nvSpPr>
          <p:cNvPr id="9" name="arrow-192"/>
          <p:cNvSpPr/>
          <p:nvPr/>
        </p:nvSpPr>
        <p:spPr>
          <a:xfrm>
            <a:off x="6080760" y="1691640"/>
            <a:ext cx="1463040" cy="457200"/>
          </a:xfrm>
          <a:prstGeom prst="line">
            <a:avLst/>
          </a:prstGeom>
          <a:noFill/>
          <a:ln w="22225">
            <a:solidFill>
              <a:srgbClr val="6B7280"/>
            </a:solidFill>
            <a:prstDash val="solid"/>
            <a:tailEnd type="triangle"/>
          </a:ln>
        </p:spPr>
      </p:sp>
      <p:sp>
        <p:nvSpPr>
          <p:cNvPr id="10" name="box-193"/>
          <p:cNvSpPr txBox="1"/>
          <p:nvPr/>
        </p:nvSpPr>
        <p:spPr>
          <a:xfrm>
            <a:off x="9098280" y="2148840"/>
            <a:ext cx="2651760" cy="685800"/>
          </a:xfrm>
          <a:prstGeom prst="roundRect">
            <a:avLst>
              <a:gd name="adj" fmla="val 10667"/>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300" b="1" dirty="0">
                <a:solidFill>
                  <a:schemeClr val="tx1"/>
                </a:solidFill>
              </a:rPr>
              <a:t>1 TIR band (Landsat)?</a:t>
            </a:r>
            <a:endParaRPr lang="en-US" sz="1300" dirty="0"/>
          </a:p>
        </p:txBody>
      </p:sp>
      <p:sp>
        <p:nvSpPr>
          <p:cNvPr id="11" name="arrow-194"/>
          <p:cNvSpPr/>
          <p:nvPr/>
        </p:nvSpPr>
        <p:spPr>
          <a:xfrm>
            <a:off x="6080760" y="1691640"/>
            <a:ext cx="4343400" cy="457200"/>
          </a:xfrm>
          <a:prstGeom prst="line">
            <a:avLst/>
          </a:prstGeom>
          <a:noFill/>
          <a:ln w="22225">
            <a:solidFill>
              <a:srgbClr val="6B7280"/>
            </a:solidFill>
            <a:prstDash val="solid"/>
            <a:tailEnd type="triangle"/>
          </a:ln>
        </p:spPr>
      </p:sp>
      <p:sp>
        <p:nvSpPr>
          <p:cNvPr id="12" name="box-195"/>
          <p:cNvSpPr txBox="1"/>
          <p:nvPr/>
        </p:nvSpPr>
        <p:spPr>
          <a:xfrm>
            <a:off x="457200" y="3291840"/>
            <a:ext cx="2651760" cy="1143000"/>
          </a:xfrm>
          <a:prstGeom prst="roundRect">
            <a:avLst>
              <a:gd name="adj" fmla="val 6400"/>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300" dirty="0">
                <a:solidFill>
                  <a:schemeClr val="bg1"/>
                </a:solidFill>
              </a:rPr>
              <a:t>ISSTES / LECTES; ANN or TSRM to also get profiles</a:t>
            </a:r>
            <a:endParaRPr lang="en-US" sz="1300" dirty="0"/>
          </a:p>
        </p:txBody>
      </p:sp>
      <p:sp>
        <p:nvSpPr>
          <p:cNvPr id="13" name="arrow-196"/>
          <p:cNvSpPr/>
          <p:nvPr/>
        </p:nvSpPr>
        <p:spPr>
          <a:xfrm>
            <a:off x="1783080" y="2834640"/>
            <a:ext cx="0" cy="457200"/>
          </a:xfrm>
          <a:prstGeom prst="line">
            <a:avLst/>
          </a:prstGeom>
          <a:noFill/>
          <a:ln w="22225">
            <a:solidFill>
              <a:srgbClr val="6B7280"/>
            </a:solidFill>
            <a:prstDash val="solid"/>
            <a:tailEnd type="triangle"/>
          </a:ln>
        </p:spPr>
      </p:sp>
      <p:sp>
        <p:nvSpPr>
          <p:cNvPr id="14" name="box-197"/>
          <p:cNvSpPr txBox="1"/>
          <p:nvPr/>
        </p:nvSpPr>
        <p:spPr>
          <a:xfrm>
            <a:off x="3337560" y="3291840"/>
            <a:ext cx="2651760" cy="1143000"/>
          </a:xfrm>
          <a:prstGeom prst="roundRect">
            <a:avLst>
              <a:gd name="adj" fmla="val 6400"/>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300" dirty="0">
                <a:solidFill>
                  <a:schemeClr val="bg1"/>
                </a:solidFill>
              </a:rPr>
              <a:t>TES (atm. correction needed) or day/night methods with MIR</a:t>
            </a:r>
            <a:endParaRPr lang="en-US" sz="1300" dirty="0"/>
          </a:p>
        </p:txBody>
      </p:sp>
      <p:sp>
        <p:nvSpPr>
          <p:cNvPr id="15" name="arrow-198"/>
          <p:cNvSpPr/>
          <p:nvPr/>
        </p:nvSpPr>
        <p:spPr>
          <a:xfrm>
            <a:off x="4663440" y="2834640"/>
            <a:ext cx="0" cy="457200"/>
          </a:xfrm>
          <a:prstGeom prst="line">
            <a:avLst/>
          </a:prstGeom>
          <a:noFill/>
          <a:ln w="22225">
            <a:solidFill>
              <a:srgbClr val="6B7280"/>
            </a:solidFill>
            <a:prstDash val="solid"/>
            <a:tailEnd type="triangle"/>
          </a:ln>
        </p:spPr>
      </p:sp>
      <p:sp>
        <p:nvSpPr>
          <p:cNvPr id="16" name="box-199"/>
          <p:cNvSpPr txBox="1"/>
          <p:nvPr/>
        </p:nvSpPr>
        <p:spPr>
          <a:xfrm>
            <a:off x="6217920" y="3291840"/>
            <a:ext cx="2651760" cy="1143000"/>
          </a:xfrm>
          <a:prstGeom prst="roundRect">
            <a:avLst>
              <a:gd name="adj" fmla="val 6400"/>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300" dirty="0">
                <a:solidFill>
                  <a:schemeClr val="bg1"/>
                </a:solidFill>
              </a:rPr>
              <a:t>Split-window (GSW / non-linear) with ε from NDVI, class or TISI</a:t>
            </a:r>
            <a:endParaRPr lang="en-US" sz="1300" dirty="0"/>
          </a:p>
        </p:txBody>
      </p:sp>
      <p:sp>
        <p:nvSpPr>
          <p:cNvPr id="17" name="arrow-200"/>
          <p:cNvSpPr/>
          <p:nvPr/>
        </p:nvSpPr>
        <p:spPr>
          <a:xfrm>
            <a:off x="7543800" y="2834640"/>
            <a:ext cx="0" cy="457200"/>
          </a:xfrm>
          <a:prstGeom prst="line">
            <a:avLst/>
          </a:prstGeom>
          <a:noFill/>
          <a:ln w="22225">
            <a:solidFill>
              <a:srgbClr val="6B7280"/>
            </a:solidFill>
            <a:prstDash val="solid"/>
            <a:tailEnd type="triangle"/>
          </a:ln>
        </p:spPr>
      </p:sp>
      <p:sp>
        <p:nvSpPr>
          <p:cNvPr id="18" name="box-201"/>
          <p:cNvSpPr txBox="1"/>
          <p:nvPr/>
        </p:nvSpPr>
        <p:spPr>
          <a:xfrm>
            <a:off x="9098280" y="3291840"/>
            <a:ext cx="2651760" cy="1143000"/>
          </a:xfrm>
          <a:prstGeom prst="roundRect">
            <a:avLst>
              <a:gd name="adj" fmla="val 6400"/>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300" dirty="0">
                <a:solidFill>
                  <a:schemeClr val="bg1"/>
                </a:solidFill>
              </a:rPr>
              <a:t>Single-channel with NWP profile + NDVI emissivity</a:t>
            </a:r>
            <a:endParaRPr lang="en-US" sz="1300" dirty="0"/>
          </a:p>
        </p:txBody>
      </p:sp>
      <p:sp>
        <p:nvSpPr>
          <p:cNvPr id="19" name="arrow-202"/>
          <p:cNvSpPr/>
          <p:nvPr/>
        </p:nvSpPr>
        <p:spPr>
          <a:xfrm>
            <a:off x="10424160" y="2834640"/>
            <a:ext cx="0" cy="457200"/>
          </a:xfrm>
          <a:prstGeom prst="line">
            <a:avLst/>
          </a:prstGeom>
          <a:noFill/>
          <a:ln w="22225">
            <a:solidFill>
              <a:srgbClr val="6B7280"/>
            </a:solidFill>
            <a:prstDash val="solid"/>
            <a:tailEnd type="triangle"/>
          </a:ln>
        </p:spPr>
      </p:sp>
      <p:sp>
        <p:nvSpPr>
          <p:cNvPr id="20" name="box-203"/>
          <p:cNvSpPr txBox="1"/>
          <p:nvPr/>
        </p:nvSpPr>
        <p:spPr>
          <a:xfrm>
            <a:off x="457200" y="4800600"/>
            <a:ext cx="11292840" cy="1371600"/>
          </a:xfrm>
          <a:prstGeom prst="roundRect">
            <a:avLst>
              <a:gd name="adj" fmla="val 5333"/>
            </a:avLst>
          </a:prstGeom>
          <a:solidFill>
            <a:schemeClr val="tx2">
              <a:alpha val="10000"/>
            </a:schemeClr>
          </a:solidFill>
          <a:ln w="15875">
            <a:solidFill>
              <a:schemeClr val="tx2"/>
            </a:solidFill>
          </a:ln>
        </p:spPr>
        <p:txBody>
          <a:bodyPr wrap="square" lIns="1016" tIns="1016" rIns="1016" bIns="1016" rtlCol="0" anchor="ctr"/>
          <a:lstStyle/>
          <a:p>
            <a:pPr algn="l" indent="0" marL="0">
              <a:buNone/>
            </a:pPr>
            <a:r>
              <a:rPr lang="en-US" sz="1400" dirty="0">
                <a:solidFill>
                  <a:schemeClr val="tx1"/>
                </a:solidFill>
              </a:rPr>
              <a:t>Also ask: Is emissivity available (class map, NDVI, ASTER GED)? Are profiles available (NWP reanalysis)? Do you have day + night or geostationary time series (TTM, D/N)? Is the surface homogeneous (multi-angle)? What accuracy and processing time are needed?</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188720"/>
          </a:xfrm>
          <a:prstGeom prst="rect">
            <a:avLst/>
          </a:prstGeom>
          <a:noFill/>
          <a:ln/>
        </p:spPr>
        <p:txBody>
          <a:bodyPr wrap="square"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Part C: validation and future directions</a:t>
            </a:r>
            <a:endParaRPr lang="en-US" sz="40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nchor="t"/>
          <a:lstStyle/>
          <a:p>
            <a:pPr indent="0" marL="0">
              <a:buNone/>
            </a:pPr>
            <a:r>
              <a:rPr lang="en-US" sz="1800" dirty="0">
                <a:solidFill>
                  <a:schemeClr val="accent2"/>
                </a:solidFill>
              </a:rPr>
              <a:t>Temperature-based · Radiance-based · Cross-validation · Hyperspectral, geostationary and all-weather LST</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5CF"/>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Three ways to validate satellite LST</a:t>
            </a:r>
            <a:endParaRPr lang="en-US" sz="3000" dirty="0"/>
          </a:p>
        </p:txBody>
      </p:sp>
      <p:sp>
        <p:nvSpPr>
          <p:cNvPr id="3" name="box-204"/>
          <p:cNvSpPr txBox="1"/>
          <p:nvPr/>
        </p:nvSpPr>
        <p:spPr>
          <a:xfrm>
            <a:off x="457200" y="1188720"/>
            <a:ext cx="3611880" cy="685800"/>
          </a:xfrm>
          <a:prstGeom prst="roundRect">
            <a:avLst>
              <a:gd name="adj" fmla="val 10667"/>
            </a:avLst>
          </a:prstGeom>
          <a:solidFill>
            <a:schemeClr val="accent3"/>
          </a:solidFill>
          <a:ln w="15875">
            <a:solidFill>
              <a:schemeClr val="accent3"/>
            </a:solidFill>
          </a:ln>
        </p:spPr>
        <p:txBody>
          <a:bodyPr wrap="square" lIns="1016" tIns="1016" rIns="1016" bIns="1016" rtlCol="0" anchor="ctr"/>
          <a:lstStyle/>
          <a:p>
            <a:pPr algn="ctr" indent="0" marL="0">
              <a:buNone/>
            </a:pPr>
            <a:r>
              <a:rPr lang="en-US" sz="1800" b="1" dirty="0">
                <a:solidFill>
                  <a:schemeClr val="bg1"/>
                </a:solidFill>
              </a:rPr>
              <a:t>Temperature-based</a:t>
            </a:r>
            <a:endParaRPr lang="en-US" sz="1800" dirty="0"/>
          </a:p>
        </p:txBody>
      </p:sp>
      <p:sp>
        <p:nvSpPr>
          <p:cNvPr id="4" name="box-205"/>
          <p:cNvSpPr txBox="1"/>
          <p:nvPr/>
        </p:nvSpPr>
        <p:spPr>
          <a:xfrm>
            <a:off x="457200" y="1965960"/>
            <a:ext cx="3611880" cy="1737360"/>
          </a:xfrm>
          <a:prstGeom prst="roundRect">
            <a:avLst>
              <a:gd name="adj" fmla="val 4211"/>
            </a:avLst>
          </a:prstGeom>
          <a:solidFill>
            <a:schemeClr val="accent3">
              <a:alpha val="15000"/>
            </a:schemeClr>
          </a:solidFill>
          <a:ln w="15875">
            <a:solidFill>
              <a:schemeClr val="accent3"/>
            </a:solidFill>
          </a:ln>
        </p:spPr>
        <p:txBody>
          <a:bodyPr wrap="square" lIns="1016" tIns="1016" rIns="1016" bIns="1016" rtlCol="0" anchor="ctr"/>
          <a:lstStyle/>
          <a:p>
            <a:pPr algn="l" indent="0" marL="0">
              <a:buNone/>
            </a:pPr>
            <a:r>
              <a:rPr lang="en-US" sz="1300" dirty="0">
                <a:solidFill>
                  <a:schemeClr val="tx1"/>
                </a:solidFill>
              </a:rPr>
              <a:t>Compare with in situ radiometer LST at overpass over homogeneous sites (lakes, playas, dense grass, crops)</a:t>
            </a:r>
            <a:endParaRPr lang="en-US" sz="1300" dirty="0"/>
          </a:p>
        </p:txBody>
      </p:sp>
      <p:sp>
        <p:nvSpPr>
          <p:cNvPr id="5" name="text-206"/>
          <p:cNvSpPr txBox="1"/>
          <p:nvPr/>
        </p:nvSpPr>
        <p:spPr>
          <a:xfrm>
            <a:off x="457200" y="3794760"/>
            <a:ext cx="3611880" cy="11430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5"/>
                </a:solidFill>
              </a:rPr>
              <a:t>+ </a:t>
            </a:r>
            <a:r>
              <a:rPr lang="en-US" sz="1300" dirty="0">
                <a:solidFill>
                  <a:schemeClr val="tx1"/>
                </a:solidFill>
              </a:rPr>
              <a:t>Direct test of sensor + algorithm</a:t>
            </a:r>
            <a:endParaRPr lang="en-US" sz="1300" dirty="0"/>
          </a:p>
        </p:txBody>
      </p:sp>
      <p:sp>
        <p:nvSpPr>
          <p:cNvPr id="6" name="text-207"/>
          <p:cNvSpPr txBox="1"/>
          <p:nvPr/>
        </p:nvSpPr>
        <p:spPr>
          <a:xfrm>
            <a:off x="457200" y="4526280"/>
            <a:ext cx="3611880" cy="13716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6"/>
                </a:solidFill>
              </a:rPr>
              <a:t>− </a:t>
            </a:r>
            <a:r>
              <a:rPr lang="en-US" sz="1300" dirty="0">
                <a:solidFill>
                  <a:schemeClr val="tx1"/>
                </a:solidFill>
              </a:rPr>
              <a:t>Scale mismatch (m² vs km²); mostly night and homogeneous sites; short campaigns</a:t>
            </a:r>
            <a:endParaRPr lang="en-US" sz="1300" dirty="0"/>
          </a:p>
        </p:txBody>
      </p:sp>
      <p:sp>
        <p:nvSpPr>
          <p:cNvPr id="7" name="box-208"/>
          <p:cNvSpPr txBox="1"/>
          <p:nvPr/>
        </p:nvSpPr>
        <p:spPr>
          <a:xfrm>
            <a:off x="4297680" y="1188720"/>
            <a:ext cx="3611880" cy="685800"/>
          </a:xfrm>
          <a:prstGeom prst="roundRect">
            <a:avLst>
              <a:gd name="adj" fmla="val 10667"/>
            </a:avLst>
          </a:prstGeom>
          <a:solidFill>
            <a:schemeClr val="accent1"/>
          </a:solidFill>
          <a:ln w="15875">
            <a:solidFill>
              <a:schemeClr val="accent1"/>
            </a:solidFill>
          </a:ln>
        </p:spPr>
        <p:txBody>
          <a:bodyPr wrap="square" lIns="1016" tIns="1016" rIns="1016" bIns="1016" rtlCol="0" anchor="ctr"/>
          <a:lstStyle/>
          <a:p>
            <a:pPr algn="ctr" indent="0" marL="0">
              <a:buNone/>
            </a:pPr>
            <a:r>
              <a:rPr lang="en-US" sz="1800" b="1" dirty="0">
                <a:solidFill>
                  <a:schemeClr val="bg1"/>
                </a:solidFill>
              </a:rPr>
              <a:t>Radiance-based</a:t>
            </a:r>
            <a:endParaRPr lang="en-US" sz="1800" dirty="0"/>
          </a:p>
        </p:txBody>
      </p:sp>
      <p:sp>
        <p:nvSpPr>
          <p:cNvPr id="8" name="box-209"/>
          <p:cNvSpPr txBox="1"/>
          <p:nvPr/>
        </p:nvSpPr>
        <p:spPr>
          <a:xfrm>
            <a:off x="4297680" y="1965960"/>
            <a:ext cx="3611880" cy="1737360"/>
          </a:xfrm>
          <a:prstGeom prst="roundRect">
            <a:avLst>
              <a:gd name="adj" fmla="val 4211"/>
            </a:avLst>
          </a:prstGeom>
          <a:solidFill>
            <a:schemeClr val="accent1">
              <a:alpha val="15000"/>
            </a:schemeClr>
          </a:solidFill>
          <a:ln w="15875">
            <a:solidFill>
              <a:schemeClr val="accent1"/>
            </a:solidFill>
          </a:ln>
        </p:spPr>
        <p:txBody>
          <a:bodyPr wrap="square" lIns="1016" tIns="1016" rIns="1016" bIns="1016" rtlCol="0" anchor="ctr"/>
          <a:lstStyle/>
          <a:p>
            <a:pPr algn="l" indent="0" marL="0">
              <a:buNone/>
            </a:pPr>
            <a:r>
              <a:rPr lang="en-US" sz="1300" dirty="0">
                <a:solidFill>
                  <a:schemeClr val="tx1"/>
                </a:solidFill>
              </a:rPr>
              <a:t>Use in situ profile + emissivity in an RTM; adjust LST until simulated TOA radiance matches the satellite; LST difference = error</a:t>
            </a:r>
            <a:endParaRPr lang="en-US" sz="1300" dirty="0"/>
          </a:p>
        </p:txBody>
      </p:sp>
      <p:sp>
        <p:nvSpPr>
          <p:cNvPr id="9" name="text-210"/>
          <p:cNvSpPr txBox="1"/>
          <p:nvPr/>
        </p:nvSpPr>
        <p:spPr>
          <a:xfrm>
            <a:off x="4297680" y="3794760"/>
            <a:ext cx="3611880" cy="11430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5"/>
                </a:solidFill>
              </a:rPr>
              <a:t>+ </a:t>
            </a:r>
            <a:r>
              <a:rPr lang="en-US" sz="1300" dirty="0">
                <a:solidFill>
                  <a:schemeClr val="tx1"/>
                </a:solidFill>
              </a:rPr>
              <a:t>No ground LST needed; day and night; non-isothermal surfaces</a:t>
            </a:r>
            <a:endParaRPr lang="en-US" sz="1300" dirty="0"/>
          </a:p>
        </p:txBody>
      </p:sp>
      <p:sp>
        <p:nvSpPr>
          <p:cNvPr id="10" name="text-211"/>
          <p:cNvSpPr txBox="1"/>
          <p:nvPr/>
        </p:nvSpPr>
        <p:spPr>
          <a:xfrm>
            <a:off x="4297680" y="4526280"/>
            <a:ext cx="3611880" cy="13716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6"/>
                </a:solidFill>
              </a:rPr>
              <a:t>− </a:t>
            </a:r>
            <a:r>
              <a:rPr lang="en-US" sz="1300" dirty="0">
                <a:solidFill>
                  <a:schemeClr val="tx1"/>
                </a:solidFill>
              </a:rPr>
              <a:t>Needs pixel-scale ε, cloud-free check and representative profiles</a:t>
            </a:r>
            <a:endParaRPr lang="en-US" sz="1300" dirty="0"/>
          </a:p>
        </p:txBody>
      </p:sp>
      <p:sp>
        <p:nvSpPr>
          <p:cNvPr id="11" name="box-212"/>
          <p:cNvSpPr txBox="1"/>
          <p:nvPr/>
        </p:nvSpPr>
        <p:spPr>
          <a:xfrm>
            <a:off x="8138160" y="1188720"/>
            <a:ext cx="3611880" cy="685800"/>
          </a:xfrm>
          <a:prstGeom prst="roundRect">
            <a:avLst>
              <a:gd name="adj" fmla="val 10667"/>
            </a:avLst>
          </a:prstGeom>
          <a:solidFill>
            <a:schemeClr val="accent4"/>
          </a:solidFill>
          <a:ln w="15875">
            <a:solidFill>
              <a:schemeClr val="accent4"/>
            </a:solidFill>
          </a:ln>
        </p:spPr>
        <p:txBody>
          <a:bodyPr wrap="square" lIns="1016" tIns="1016" rIns="1016" bIns="1016" rtlCol="0" anchor="ctr"/>
          <a:lstStyle/>
          <a:p>
            <a:pPr algn="ctr" indent="0" marL="0">
              <a:buNone/>
            </a:pPr>
            <a:r>
              <a:rPr lang="en-US" sz="1800" b="1" dirty="0">
                <a:solidFill>
                  <a:schemeClr val="bg1"/>
                </a:solidFill>
              </a:rPr>
              <a:t>Cross-validation</a:t>
            </a:r>
            <a:endParaRPr lang="en-US" sz="1800" dirty="0"/>
          </a:p>
        </p:txBody>
      </p:sp>
      <p:sp>
        <p:nvSpPr>
          <p:cNvPr id="12" name="box-213"/>
          <p:cNvSpPr txBox="1"/>
          <p:nvPr/>
        </p:nvSpPr>
        <p:spPr>
          <a:xfrm>
            <a:off x="8138160" y="1965960"/>
            <a:ext cx="3611880" cy="1737360"/>
          </a:xfrm>
          <a:prstGeom prst="roundRect">
            <a:avLst>
              <a:gd name="adj" fmla="val 4211"/>
            </a:avLst>
          </a:prstGeom>
          <a:solidFill>
            <a:schemeClr val="accent4">
              <a:alpha val="15000"/>
            </a:schemeClr>
          </a:solidFill>
          <a:ln w="15875">
            <a:solidFill>
              <a:schemeClr val="accent4"/>
            </a:solidFill>
          </a:ln>
        </p:spPr>
        <p:txBody>
          <a:bodyPr wrap="square" lIns="1016" tIns="1016" rIns="1016" bIns="1016" rtlCol="0" anchor="ctr"/>
          <a:lstStyle/>
          <a:p>
            <a:pPr algn="l" indent="0" marL="0">
              <a:buNone/>
            </a:pPr>
            <a:r>
              <a:rPr lang="en-US" sz="1300" dirty="0">
                <a:solidFill>
                  <a:schemeClr val="tx1"/>
                </a:solidFill>
              </a:rPr>
              <a:t>Compare with a well-validated LST product from another satellite after space, time and view-angle matching</a:t>
            </a:r>
            <a:endParaRPr lang="en-US" sz="1300" dirty="0"/>
          </a:p>
        </p:txBody>
      </p:sp>
      <p:sp>
        <p:nvSpPr>
          <p:cNvPr id="13" name="text-214"/>
          <p:cNvSpPr txBox="1"/>
          <p:nvPr/>
        </p:nvSpPr>
        <p:spPr>
          <a:xfrm>
            <a:off x="8138160" y="3794760"/>
            <a:ext cx="3611880" cy="11430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5"/>
                </a:solidFill>
              </a:rPr>
              <a:t>+ </a:t>
            </a:r>
            <a:r>
              <a:rPr lang="en-US" sz="1300" dirty="0">
                <a:solidFill>
                  <a:schemeClr val="tx1"/>
                </a:solidFill>
              </a:rPr>
              <a:t>Global, no ground data</a:t>
            </a:r>
            <a:endParaRPr lang="en-US" sz="1300" dirty="0"/>
          </a:p>
        </p:txBody>
      </p:sp>
      <p:sp>
        <p:nvSpPr>
          <p:cNvPr id="14" name="text-215"/>
          <p:cNvSpPr txBox="1"/>
          <p:nvPr/>
        </p:nvSpPr>
        <p:spPr>
          <a:xfrm>
            <a:off x="8138160" y="4526280"/>
            <a:ext cx="3611880" cy="1371600"/>
          </a:xfrm>
          <a:prstGeom prst="rect">
            <a:avLst/>
          </a:prstGeom>
          <a:noFill/>
          <a:ln/>
        </p:spPr>
        <p:txBody>
          <a:bodyPr wrap="square" lIns="635" tIns="635" rIns="635" bIns="635" rtlCol="0" anchor="t"/>
          <a:lstStyle/>
          <a:p>
            <a:pPr algn="l" indent="0" marL="0">
              <a:spcAft>
                <a:spcPts val="600"/>
              </a:spcAft>
              <a:buNone/>
            </a:pPr>
            <a:r>
              <a:rPr lang="en-US" sz="1300" b="1" dirty="0">
                <a:solidFill>
                  <a:schemeClr val="accent6"/>
                </a:solidFill>
              </a:rPr>
              <a:t>− </a:t>
            </a:r>
            <a:r>
              <a:rPr lang="en-US" sz="1300" dirty="0">
                <a:solidFill>
                  <a:schemeClr val="tx1"/>
                </a:solidFill>
              </a:rPr>
              <a:t>Sensitive to time and geometry mismatches; use near-identical VZA</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Future directions identified by the review</a:t>
            </a:r>
            <a:endParaRPr lang="en-US" sz="3000" dirty="0"/>
          </a:p>
        </p:txBody>
      </p:sp>
      <p:sp>
        <p:nvSpPr>
          <p:cNvPr id="3" name="card-216"/>
          <p:cNvSpPr/>
          <p:nvPr/>
        </p:nvSpPr>
        <p:spPr>
          <a:xfrm>
            <a:off x="457200" y="118872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4" name="icon-217"/>
          <p:cNvSpPr txBox="1"/>
          <p:nvPr/>
        </p:nvSpPr>
        <p:spPr>
          <a:xfrm>
            <a:off x="640080" y="160020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218"/>
          <p:cNvSpPr txBox="1"/>
          <p:nvPr/>
        </p:nvSpPr>
        <p:spPr>
          <a:xfrm>
            <a:off x="1417320" y="129844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Hyperspectral TIR</a:t>
            </a:r>
            <a:endParaRPr lang="en-US" sz="1600" dirty="0"/>
          </a:p>
        </p:txBody>
      </p:sp>
      <p:sp>
        <p:nvSpPr>
          <p:cNvPr id="6" name="text-219"/>
          <p:cNvSpPr txBox="1"/>
          <p:nvPr/>
        </p:nvSpPr>
        <p:spPr>
          <a:xfrm>
            <a:off x="1417320" y="173736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Simultaneously retrieve LST, ε and atmospheric profiles; faster RTMs; combine ANN and physics</a:t>
            </a:r>
            <a:endParaRPr lang="en-US" sz="1300" dirty="0"/>
          </a:p>
        </p:txBody>
      </p:sp>
      <p:sp>
        <p:nvSpPr>
          <p:cNvPr id="7" name="card-220"/>
          <p:cNvSpPr/>
          <p:nvPr/>
        </p:nvSpPr>
        <p:spPr>
          <a:xfrm>
            <a:off x="6263640" y="118872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8" name="icon-221"/>
          <p:cNvSpPr txBox="1"/>
          <p:nvPr/>
        </p:nvSpPr>
        <p:spPr>
          <a:xfrm>
            <a:off x="6446520" y="160020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222"/>
          <p:cNvSpPr txBox="1"/>
          <p:nvPr/>
        </p:nvSpPr>
        <p:spPr>
          <a:xfrm>
            <a:off x="7223760" y="129844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Geostationary multi-temporal</a:t>
            </a:r>
            <a:endParaRPr lang="en-US" sz="1600" dirty="0"/>
          </a:p>
        </p:txBody>
      </p:sp>
      <p:sp>
        <p:nvSpPr>
          <p:cNvPr id="10" name="text-223"/>
          <p:cNvSpPr txBox="1"/>
          <p:nvPr/>
        </p:nvSpPr>
        <p:spPr>
          <a:xfrm>
            <a:off x="7223760" y="173736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Use hourly SEVIRI, GOES, FY-2 data at fixed angles to separate LST and ε</a:t>
            </a:r>
            <a:endParaRPr lang="en-US" sz="1300" dirty="0"/>
          </a:p>
        </p:txBody>
      </p:sp>
      <p:sp>
        <p:nvSpPr>
          <p:cNvPr id="11" name="card-224"/>
          <p:cNvSpPr/>
          <p:nvPr/>
        </p:nvSpPr>
        <p:spPr>
          <a:xfrm>
            <a:off x="457200" y="288036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12" name="icon-225"/>
          <p:cNvSpPr txBox="1"/>
          <p:nvPr/>
        </p:nvSpPr>
        <p:spPr>
          <a:xfrm>
            <a:off x="640080" y="32918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226"/>
          <p:cNvSpPr txBox="1"/>
          <p:nvPr/>
        </p:nvSpPr>
        <p:spPr>
          <a:xfrm>
            <a:off x="1417320" y="299008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Aerosol and cirrus</a:t>
            </a:r>
            <a:endParaRPr lang="en-US" sz="1600" dirty="0"/>
          </a:p>
        </p:txBody>
      </p:sp>
      <p:sp>
        <p:nvSpPr>
          <p:cNvPr id="14" name="text-227"/>
          <p:cNvSpPr txBox="1"/>
          <p:nvPr/>
        </p:nvSpPr>
        <p:spPr>
          <a:xfrm>
            <a:off x="1417320" y="342900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Correct heavy aerosol loads; retrieve LST through thin cirrus instead of masking</a:t>
            </a:r>
            <a:endParaRPr lang="en-US" sz="1300" dirty="0"/>
          </a:p>
        </p:txBody>
      </p:sp>
      <p:sp>
        <p:nvSpPr>
          <p:cNvPr id="15" name="card-228"/>
          <p:cNvSpPr/>
          <p:nvPr/>
        </p:nvSpPr>
        <p:spPr>
          <a:xfrm>
            <a:off x="6263640" y="288036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16" name="icon-229"/>
          <p:cNvSpPr txBox="1"/>
          <p:nvPr/>
        </p:nvSpPr>
        <p:spPr>
          <a:xfrm>
            <a:off x="6446520" y="32918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230"/>
          <p:cNvSpPr txBox="1"/>
          <p:nvPr/>
        </p:nvSpPr>
        <p:spPr>
          <a:xfrm>
            <a:off x="7223760" y="299008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Component temperatures</a:t>
            </a:r>
            <a:endParaRPr lang="en-US" sz="1600" dirty="0"/>
          </a:p>
        </p:txBody>
      </p:sp>
      <p:sp>
        <p:nvSpPr>
          <p:cNvPr id="18" name="text-231"/>
          <p:cNvSpPr txBox="1"/>
          <p:nvPr/>
        </p:nvSpPr>
        <p:spPr>
          <a:xfrm>
            <a:off x="7223760" y="342900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Separate soil and canopy temperatures in mixed pixels (multi-angle, hyperspectral)</a:t>
            </a:r>
            <a:endParaRPr lang="en-US" sz="1300" dirty="0"/>
          </a:p>
        </p:txBody>
      </p:sp>
      <p:sp>
        <p:nvSpPr>
          <p:cNvPr id="19" name="card-232"/>
          <p:cNvSpPr/>
          <p:nvPr/>
        </p:nvSpPr>
        <p:spPr>
          <a:xfrm>
            <a:off x="457200" y="457200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20" name="icon-233"/>
          <p:cNvSpPr txBox="1"/>
          <p:nvPr/>
        </p:nvSpPr>
        <p:spPr>
          <a:xfrm>
            <a:off x="640080" y="498348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234"/>
          <p:cNvSpPr txBox="1"/>
          <p:nvPr/>
        </p:nvSpPr>
        <p:spPr>
          <a:xfrm>
            <a:off x="1417320" y="468172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Passive microwave fusion</a:t>
            </a:r>
            <a:endParaRPr lang="en-US" sz="1600" dirty="0"/>
          </a:p>
        </p:txBody>
      </p:sp>
      <p:sp>
        <p:nvSpPr>
          <p:cNvPr id="22" name="text-235"/>
          <p:cNvSpPr txBox="1"/>
          <p:nvPr/>
        </p:nvSpPr>
        <p:spPr>
          <a:xfrm>
            <a:off x="1417320" y="512064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All-weather LST: combine microwave (penetrates clouds) with high-resolution TIR</a:t>
            </a:r>
            <a:endParaRPr lang="en-US" sz="1300" dirty="0"/>
          </a:p>
        </p:txBody>
      </p:sp>
      <p:sp>
        <p:nvSpPr>
          <p:cNvPr id="23" name="card-236"/>
          <p:cNvSpPr/>
          <p:nvPr/>
        </p:nvSpPr>
        <p:spPr>
          <a:xfrm>
            <a:off x="6263640" y="4572000"/>
            <a:ext cx="5486400" cy="1463040"/>
          </a:xfrm>
          <a:prstGeom prst="roundRect">
            <a:avLst>
              <a:gd name="adj" fmla="val 5000"/>
            </a:avLst>
          </a:prstGeom>
          <a:solidFill>
            <a:schemeClr val="accent2">
              <a:alpha val="12000"/>
            </a:schemeClr>
          </a:solidFill>
          <a:ln w="12700">
            <a:solidFill>
              <a:schemeClr val="accent2">
                <a:alpha val="50000"/>
              </a:schemeClr>
            </a:solidFill>
            <a:prstDash val="solid"/>
          </a:ln>
        </p:spPr>
      </p:sp>
      <p:sp>
        <p:nvSpPr>
          <p:cNvPr id="24" name="icon-237"/>
          <p:cNvSpPr txBox="1"/>
          <p:nvPr/>
        </p:nvSpPr>
        <p:spPr>
          <a:xfrm>
            <a:off x="6446520" y="498348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text-238"/>
          <p:cNvSpPr txBox="1"/>
          <p:nvPr/>
        </p:nvSpPr>
        <p:spPr>
          <a:xfrm>
            <a:off x="7223760" y="4681728"/>
            <a:ext cx="4389120" cy="411480"/>
          </a:xfrm>
          <a:prstGeom prst="rect">
            <a:avLst/>
          </a:prstGeom>
          <a:noFill/>
          <a:ln/>
        </p:spPr>
        <p:txBody>
          <a:bodyPr wrap="square" lIns="635" tIns="635" rIns="635" bIns="635" rtlCol="0" anchor="t"/>
          <a:lstStyle/>
          <a:p>
            <a:pPr algn="l" indent="0" marL="0">
              <a:spcAft>
                <a:spcPts val="600"/>
              </a:spcAft>
              <a:buNone/>
            </a:pPr>
            <a:r>
              <a:rPr lang="en-US" sz="1600" b="1" dirty="0">
                <a:solidFill>
                  <a:schemeClr val="tx1"/>
                </a:solidFill>
              </a:rPr>
              <a:t>Angular and temporal normalization</a:t>
            </a:r>
            <a:endParaRPr lang="en-US" sz="1600" dirty="0"/>
          </a:p>
        </p:txBody>
      </p:sp>
      <p:sp>
        <p:nvSpPr>
          <p:cNvPr id="26" name="text-239"/>
          <p:cNvSpPr txBox="1"/>
          <p:nvPr/>
        </p:nvSpPr>
        <p:spPr>
          <a:xfrm>
            <a:off x="7223760" y="5120640"/>
            <a:ext cx="4389120" cy="868680"/>
          </a:xfrm>
          <a:prstGeom prst="rect">
            <a:avLst/>
          </a:prstGeom>
          <a:noFill/>
          <a:ln/>
        </p:spPr>
        <p:txBody>
          <a:bodyPr wrap="square" lIns="635" tIns="635" rIns="635" bIns="635" rtlCol="0" anchor="t"/>
          <a:lstStyle/>
          <a:p>
            <a:pPr algn="l" indent="0" marL="0">
              <a:spcAft>
                <a:spcPts val="600"/>
              </a:spcAft>
              <a:buNone/>
            </a:pPr>
            <a:r>
              <a:rPr lang="en-US" sz="1300" dirty="0">
                <a:solidFill>
                  <a:schemeClr val="tx2"/>
                </a:solidFill>
              </a:rPr>
              <a:t>Make LST comparable across days, angles and satellites; physical meaning and validation</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731520"/>
          </a:xfrm>
          <a:prstGeom prst="rect">
            <a:avLst/>
          </a:prstGeom>
          <a:noFill/>
          <a:ln/>
        </p:spPr>
        <p:txBody>
          <a:bodyPr wrap="square"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Relevance for ISRO and Indian agriculture (beyond the paper)</a:t>
            </a:r>
            <a:endParaRPr lang="en-US" sz="3000" dirty="0"/>
          </a:p>
        </p:txBody>
      </p:sp>
      <p:sp>
        <p:nvSpPr>
          <p:cNvPr id="3" name="icon-240"/>
          <p:cNvSpPr txBox="1"/>
          <p:nvPr/>
        </p:nvSpPr>
        <p:spPr>
          <a:xfrm>
            <a:off x="457200" y="1371600"/>
            <a:ext cx="640080" cy="6400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G</a:t>
            </a:r>
            <a:endParaRPr lang="en-US" sz="1600" dirty="0"/>
          </a:p>
        </p:txBody>
      </p:sp>
      <p:sp>
        <p:nvSpPr>
          <p:cNvPr id="4" name="text-241"/>
          <p:cNvSpPr txBox="1"/>
          <p:nvPr/>
        </p:nvSpPr>
        <p:spPr>
          <a:xfrm>
            <a:off x="1280160" y="1188720"/>
            <a:ext cx="10424160" cy="411480"/>
          </a:xfrm>
          <a:prstGeom prst="rect">
            <a:avLst/>
          </a:prstGeom>
          <a:noFill/>
          <a:ln/>
        </p:spPr>
        <p:txBody>
          <a:bodyPr wrap="square" lIns="635" tIns="635" rIns="635" bIns="635" rtlCol="0" anchor="t"/>
          <a:lstStyle/>
          <a:p>
            <a:pPr algn="l" indent="0" marL="0">
              <a:spcAft>
                <a:spcPts val="600"/>
              </a:spcAft>
              <a:buNone/>
            </a:pPr>
            <a:r>
              <a:rPr lang="en-US" sz="1700" b="1" dirty="0">
                <a:solidFill>
                  <a:schemeClr val="tx1"/>
                </a:solidFill>
              </a:rPr>
              <a:t>INSAT-3D / 3DR / 3DS</a:t>
            </a:r>
            <a:endParaRPr lang="en-US" sz="1700" dirty="0"/>
          </a:p>
        </p:txBody>
      </p:sp>
      <p:sp>
        <p:nvSpPr>
          <p:cNvPr id="5" name="text-242"/>
          <p:cNvSpPr txBox="1"/>
          <p:nvPr/>
        </p:nvSpPr>
        <p:spPr>
          <a:xfrm>
            <a:off x="1280160" y="1600200"/>
            <a:ext cx="10424160" cy="777240"/>
          </a:xfrm>
          <a:prstGeom prst="rect">
            <a:avLst/>
          </a:prstGeom>
          <a:noFill/>
          <a:ln/>
        </p:spPr>
        <p:txBody>
          <a:bodyPr wrap="square" lIns="635" tIns="635" rIns="635" bIns="635" rtlCol="0" anchor="t"/>
          <a:lstStyle/>
          <a:p>
            <a:pPr algn="l" indent="0" marL="0">
              <a:spcAft>
                <a:spcPts val="600"/>
              </a:spcAft>
              <a:buNone/>
            </a:pPr>
            <a:r>
              <a:rPr lang="en-US" sz="1400" dirty="0">
                <a:solidFill>
                  <a:schemeClr val="tx2"/>
                </a:solidFill>
              </a:rPr>
              <a:t>Geostationary imager with split-window TIR channels (~10.8 and 12 µm) → half-hourly LST; ideal for multi-temporal methods and ALEXI-type ET</a:t>
            </a:r>
            <a:endParaRPr lang="en-US" sz="1400" dirty="0"/>
          </a:p>
        </p:txBody>
      </p:sp>
      <p:sp>
        <p:nvSpPr>
          <p:cNvPr id="6" name="icon-243"/>
          <p:cNvSpPr txBox="1"/>
          <p:nvPr/>
        </p:nvSpPr>
        <p:spPr>
          <a:xfrm>
            <a:off x="457200" y="2606040"/>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T</a:t>
            </a:r>
            <a:endParaRPr lang="en-US" sz="1600" dirty="0"/>
          </a:p>
        </p:txBody>
      </p:sp>
      <p:sp>
        <p:nvSpPr>
          <p:cNvPr id="7" name="text-244"/>
          <p:cNvSpPr txBox="1"/>
          <p:nvPr/>
        </p:nvSpPr>
        <p:spPr>
          <a:xfrm>
            <a:off x="1280160" y="2423160"/>
            <a:ext cx="10424160" cy="411480"/>
          </a:xfrm>
          <a:prstGeom prst="rect">
            <a:avLst/>
          </a:prstGeom>
          <a:noFill/>
          <a:ln/>
        </p:spPr>
        <p:txBody>
          <a:bodyPr wrap="square" lIns="635" tIns="635" rIns="635" bIns="635" rtlCol="0" anchor="t"/>
          <a:lstStyle/>
          <a:p>
            <a:pPr algn="l" indent="0" marL="0">
              <a:spcAft>
                <a:spcPts val="600"/>
              </a:spcAft>
              <a:buNone/>
            </a:pPr>
            <a:r>
              <a:rPr lang="en-US" sz="1700" b="1" dirty="0">
                <a:solidFill>
                  <a:schemeClr val="tx1"/>
                </a:solidFill>
              </a:rPr>
              <a:t>TRISHNA (ISRO–CNES)</a:t>
            </a:r>
            <a:endParaRPr lang="en-US" sz="1700" dirty="0"/>
          </a:p>
        </p:txBody>
      </p:sp>
      <p:sp>
        <p:nvSpPr>
          <p:cNvPr id="8" name="text-245"/>
          <p:cNvSpPr txBox="1"/>
          <p:nvPr/>
        </p:nvSpPr>
        <p:spPr>
          <a:xfrm>
            <a:off x="1280160" y="2834640"/>
            <a:ext cx="10424160" cy="777240"/>
          </a:xfrm>
          <a:prstGeom prst="rect">
            <a:avLst/>
          </a:prstGeom>
          <a:noFill/>
          <a:ln/>
        </p:spPr>
        <p:txBody>
          <a:bodyPr wrap="square" lIns="635" tIns="635" rIns="635" bIns="635" rtlCol="0" anchor="t"/>
          <a:lstStyle/>
          <a:p>
            <a:pPr algn="l" indent="0" marL="0">
              <a:spcAft>
                <a:spcPts val="600"/>
              </a:spcAft>
              <a:buNone/>
            </a:pPr>
            <a:r>
              <a:rPr lang="en-US" sz="1400" dirty="0">
                <a:solidFill>
                  <a:schemeClr val="tx2"/>
                </a:solidFill>
              </a:rPr>
              <a:t>Upcoming high-resolution thermal mission (~57 m, multiple TIR bands, frequent revisit): field-scale ET and crop water stress, TES-type emissivity separation</a:t>
            </a:r>
            <a:endParaRPr lang="en-US" sz="1400" dirty="0"/>
          </a:p>
        </p:txBody>
      </p:sp>
      <p:sp>
        <p:nvSpPr>
          <p:cNvPr id="9" name="icon-246"/>
          <p:cNvSpPr txBox="1"/>
          <p:nvPr/>
        </p:nvSpPr>
        <p:spPr>
          <a:xfrm>
            <a:off x="457200" y="3840480"/>
            <a:ext cx="640080" cy="64008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600" b="1" dirty="0">
                <a:solidFill>
                  <a:schemeClr val="bg1"/>
                </a:solidFill>
              </a:rPr>
              <a:t>L</a:t>
            </a:r>
            <a:endParaRPr lang="en-US" sz="1600" dirty="0"/>
          </a:p>
        </p:txBody>
      </p:sp>
      <p:sp>
        <p:nvSpPr>
          <p:cNvPr id="10" name="text-247"/>
          <p:cNvSpPr txBox="1"/>
          <p:nvPr/>
        </p:nvSpPr>
        <p:spPr>
          <a:xfrm>
            <a:off x="1280160" y="3657600"/>
            <a:ext cx="10424160" cy="411480"/>
          </a:xfrm>
          <a:prstGeom prst="rect">
            <a:avLst/>
          </a:prstGeom>
          <a:noFill/>
          <a:ln/>
        </p:spPr>
        <p:txBody>
          <a:bodyPr wrap="square" lIns="635" tIns="635" rIns="635" bIns="635" rtlCol="0" anchor="t"/>
          <a:lstStyle/>
          <a:p>
            <a:pPr algn="l" indent="0" marL="0">
              <a:spcAft>
                <a:spcPts val="600"/>
              </a:spcAft>
              <a:buNone/>
            </a:pPr>
            <a:r>
              <a:rPr lang="en-US" sz="1700" b="1" dirty="0">
                <a:solidFill>
                  <a:schemeClr val="tx1"/>
                </a:solidFill>
              </a:rPr>
              <a:t>Landsat 8/9 TIRS</a:t>
            </a:r>
            <a:endParaRPr lang="en-US" sz="1700" dirty="0"/>
          </a:p>
        </p:txBody>
      </p:sp>
      <p:sp>
        <p:nvSpPr>
          <p:cNvPr id="11" name="text-248"/>
          <p:cNvSpPr txBox="1"/>
          <p:nvPr/>
        </p:nvSpPr>
        <p:spPr>
          <a:xfrm>
            <a:off x="1280160" y="4069080"/>
            <a:ext cx="10424160" cy="777240"/>
          </a:xfrm>
          <a:prstGeom prst="rect">
            <a:avLst/>
          </a:prstGeom>
          <a:noFill/>
          <a:ln/>
        </p:spPr>
        <p:txBody>
          <a:bodyPr wrap="square" lIns="635" tIns="635" rIns="635" bIns="635" rtlCol="0" anchor="t"/>
          <a:lstStyle/>
          <a:p>
            <a:pPr algn="l" indent="0" marL="0">
              <a:spcAft>
                <a:spcPts val="600"/>
              </a:spcAft>
              <a:buNone/>
            </a:pPr>
            <a:r>
              <a:rPr lang="en-US" sz="1400" dirty="0">
                <a:solidFill>
                  <a:schemeClr val="tx2"/>
                </a:solidFill>
              </a:rPr>
              <a:t>Used with single-channel or split-window and NDVI emissivity for SEBAL / METRIC field-scale ET in India</a:t>
            </a:r>
            <a:endParaRPr lang="en-US" sz="1400" dirty="0"/>
          </a:p>
        </p:txBody>
      </p:sp>
      <p:sp>
        <p:nvSpPr>
          <p:cNvPr id="12" name="icon-249"/>
          <p:cNvSpPr txBox="1"/>
          <p:nvPr/>
        </p:nvSpPr>
        <p:spPr>
          <a:xfrm>
            <a:off x="457200" y="5074920"/>
            <a:ext cx="640080" cy="640080"/>
          </a:xfrm>
          <a:prstGeom prst="ellipse">
            <a:avLst/>
          </a:prstGeom>
          <a:solidFill>
            <a:schemeClr val="accent5"/>
          </a:solidFill>
          <a:ln>
            <a:solidFill>
              <a:schemeClr val="accent5"/>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3" name="text-250"/>
          <p:cNvSpPr txBox="1"/>
          <p:nvPr/>
        </p:nvSpPr>
        <p:spPr>
          <a:xfrm>
            <a:off x="1280160" y="4892040"/>
            <a:ext cx="10424160" cy="411480"/>
          </a:xfrm>
          <a:prstGeom prst="rect">
            <a:avLst/>
          </a:prstGeom>
          <a:noFill/>
          <a:ln/>
        </p:spPr>
        <p:txBody>
          <a:bodyPr wrap="square" lIns="635" tIns="635" rIns="635" bIns="635" rtlCol="0" anchor="t"/>
          <a:lstStyle/>
          <a:p>
            <a:pPr algn="l" indent="0" marL="0">
              <a:spcAft>
                <a:spcPts val="600"/>
              </a:spcAft>
              <a:buNone/>
            </a:pPr>
            <a:r>
              <a:rPr lang="en-US" sz="1700" b="1" dirty="0">
                <a:solidFill>
                  <a:schemeClr val="tx1"/>
                </a:solidFill>
              </a:rPr>
              <a:t>Applications</a:t>
            </a:r>
            <a:endParaRPr lang="en-US" sz="1700" dirty="0"/>
          </a:p>
        </p:txBody>
      </p:sp>
      <p:sp>
        <p:nvSpPr>
          <p:cNvPr id="14" name="text-251"/>
          <p:cNvSpPr txBox="1"/>
          <p:nvPr/>
        </p:nvSpPr>
        <p:spPr>
          <a:xfrm>
            <a:off x="1280160" y="5303520"/>
            <a:ext cx="10424160" cy="777240"/>
          </a:xfrm>
          <a:prstGeom prst="rect">
            <a:avLst/>
          </a:prstGeom>
          <a:noFill/>
          <a:ln/>
        </p:spPr>
        <p:txBody>
          <a:bodyPr wrap="square" lIns="635" tIns="635" rIns="635" bIns="635" rtlCol="0" anchor="t"/>
          <a:lstStyle/>
          <a:p>
            <a:pPr algn="l" indent="0" marL="0">
              <a:spcAft>
                <a:spcPts val="600"/>
              </a:spcAft>
              <a:buNone/>
            </a:pPr>
            <a:r>
              <a:rPr lang="en-US" sz="1400" dirty="0">
                <a:solidFill>
                  <a:schemeClr val="tx2"/>
                </a:solidFill>
              </a:rPr>
              <a:t>Crop water stress (CWSI), drought (VHI = VCI + TCI), irrigation scheduling, heat-wave impact on wheat, FLEX–Sentinel-3 SLSTR LST to interpret SIF</a:t>
            </a:r>
            <a:endParaRPr lang="en-US" sz="1400" dirty="0"/>
          </a:p>
        </p:txBody>
      </p:sp>
      <p:sp>
        <p:nvSpPr>
          <p:cNvPr id="15" name="text-252"/>
          <p:cNvSpPr txBox="1"/>
          <p:nvPr/>
        </p:nvSpPr>
        <p:spPr>
          <a:xfrm>
            <a:off x="457200" y="5989320"/>
            <a:ext cx="11247120" cy="365760"/>
          </a:xfrm>
          <a:prstGeom prst="rect">
            <a:avLst/>
          </a:prstGeom>
          <a:noFill/>
          <a:ln/>
        </p:spPr>
        <p:txBody>
          <a:bodyPr wrap="square" lIns="635" tIns="635" rIns="635" bIns="635" rtlCol="0" anchor="t"/>
          <a:lstStyle/>
          <a:p>
            <a:pPr algn="l" indent="0" marL="0">
              <a:spcAft>
                <a:spcPts val="600"/>
              </a:spcAft>
              <a:buNone/>
            </a:pPr>
            <a:r>
              <a:rPr lang="en-US" sz="1100" i="1" dirty="0">
                <a:solidFill>
                  <a:srgbClr val="8A93A3"/>
                </a:solidFill>
              </a:rPr>
              <a:t>This slide adds Indian context for the interview and is not part of Li et al. (2013). Check mission specifications before quoting.</a:t>
            </a:r>
            <a:endParaRPr lang="en-US" sz="11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3A3"/>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Key takeaways</a:t>
            </a:r>
            <a:endParaRPr lang="en-US" sz="4400" dirty="0"/>
          </a:p>
        </p:txBody>
      </p:sp>
      <p:sp>
        <p:nvSpPr>
          <p:cNvPr id="3" name="text-253"/>
          <p:cNvSpPr txBox="1"/>
          <p:nvPr/>
        </p:nvSpPr>
        <p:spPr>
          <a:xfrm>
            <a:off x="731520" y="3703320"/>
            <a:ext cx="10698480" cy="2743200"/>
          </a:xfrm>
          <a:prstGeom prst="rect">
            <a:avLst/>
          </a:prstGeom>
          <a:noFill/>
          <a:ln/>
        </p:spPr>
        <p:txBody>
          <a:bodyPr wrap="square" lIns="635" tIns="635" rIns="635" bIns="635" rtlCol="0" anchor="t"/>
          <a:lstStyle/>
          <a:p>
            <a:pPr algn="l" marL="203200" indent="-203200">
              <a:spcAft>
                <a:spcPts val="800"/>
              </a:spcAft>
              <a:buSzPct val="100000"/>
              <a:buChar char="•"/>
            </a:pPr>
            <a:r>
              <a:rPr lang="en-US" sz="1700" dirty="0">
                <a:solidFill>
                  <a:schemeClr val="bg1"/>
                </a:solidFill>
              </a:rPr>
              <a:t>LST retrieval is ill-posed: N channels give N + 1 unknowns, plus the atmosphere</a:t>
            </a:r>
            <a:endParaRPr lang="en-US" sz="1700" dirty="0"/>
          </a:p>
          <a:p>
            <a:pPr algn="l" marL="203200" indent="-203200">
              <a:spcAft>
                <a:spcPts val="800"/>
              </a:spcAft>
              <a:buSzPct val="100000"/>
              <a:buChar char="•"/>
            </a:pPr>
            <a:r>
              <a:rPr lang="en-US" sz="1700" dirty="0">
                <a:solidFill>
                  <a:schemeClr val="bg1"/>
                </a:solidFill>
              </a:rPr>
              <a:t>Known ε: single-channel (needs profiles), split-window (operational), multi-angle (homogeneous surfaces only)</a:t>
            </a:r>
            <a:endParaRPr lang="en-US" sz="1700" dirty="0"/>
          </a:p>
          <a:p>
            <a:pPr algn="l" marL="203200" indent="-203200">
              <a:spcAft>
                <a:spcPts val="800"/>
              </a:spcAft>
              <a:buSzPct val="100000"/>
              <a:buChar char="•"/>
            </a:pPr>
            <a:r>
              <a:rPr lang="en-US" sz="1700" dirty="0">
                <a:solidFill>
                  <a:schemeClr val="bg1"/>
                </a:solidFill>
              </a:rPr>
              <a:t>Unknown ε: stepwise (class, NDVI, TISI), simultaneous (TTM, MODIS D/N, TES, ISSTES, LECTES), or with the atmosphere (ANN, TSRM)</a:t>
            </a:r>
            <a:endParaRPr lang="en-US" sz="1700" dirty="0"/>
          </a:p>
          <a:p>
            <a:pPr algn="l" marL="203200" indent="-203200">
              <a:spcAft>
                <a:spcPts val="800"/>
              </a:spcAft>
              <a:buSzPct val="100000"/>
              <a:buChar char="•"/>
            </a:pPr>
            <a:r>
              <a:rPr lang="en-US" sz="1700" dirty="0">
                <a:solidFill>
                  <a:schemeClr val="bg1"/>
                </a:solidFill>
              </a:rPr>
              <a:t>Validate with T-based, R-based and cross-validation together; target accuracy ≈ 1 K</a:t>
            </a:r>
            <a:endParaRPr lang="en-US" sz="1700" dirty="0"/>
          </a:p>
        </p:txBody>
      </p:sp>
      <p:sp>
        <p:nvSpPr>
          <p:cNvPr id="5" name="Text 0"/>
          <p:cNvSpPr/>
          <p:nvPr>
            <p:ph idx="101" type="body" hasCustomPrompt="1"/>
          </p:nvPr>
        </p:nvSpPr>
        <p:spPr>
          <a:xfrm>
            <a:off x="731520" y="3611880"/>
            <a:ext cx="10698480" cy="1280160"/>
          </a:xfrm>
          <a:prstGeom prst="rect">
            <a:avLst/>
          </a:prstGeom>
          <a:noFill/>
          <a:ln/>
        </p:spPr>
        <p:txBody>
          <a:bodyPr wrap="square"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Thermal Infrared">
  <a:themeElements>
    <a:clrScheme name="Thermal Infrared">
      <a:dk1>
        <a:srgbClr val="1B1F2A"/>
      </a:dk1>
      <a:lt1>
        <a:srgbClr val="FFFFFF"/>
      </a:lt1>
      <a:dk2>
        <a:srgbClr val="2B2D42"/>
      </a:dk2>
      <a:lt2>
        <a:srgbClr val="F1F3F6"/>
      </a:lt2>
      <a:accent1>
        <a:srgbClr val="D9480F"/>
      </a:accent1>
      <a:accent2>
        <a:srgbClr val="F59F00"/>
      </a:accent2>
      <a:accent3>
        <a:srgbClr val="1C7C8C"/>
      </a:accent3>
      <a:accent4>
        <a:srgbClr val="5F3DC4"/>
      </a:accent4>
      <a:accent5>
        <a:srgbClr val="2B8A3E"/>
      </a:accent5>
      <a:accent6>
        <a:srgbClr val="C92A2A"/>
      </a:accent6>
      <a:hlink>
        <a:srgbClr val="1C7C8C"/>
      </a:hlink>
      <a:folHlink>
        <a:srgbClr val="5F3DC4"/>
      </a:folHlink>
    </a:clrScheme>
    <a:fontScheme name="Thermal Infrar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Satellite LST Retrieval Algorithms</dc:title>
  <dc:subject>PptxGenJS Presentation</dc:subject>
  <dc:creator>ISRO interview preparation</dc:creator>
  <cp:lastModifiedBy>ISRO interview preparation</cp:lastModifiedBy>
  <cp:revision>1</cp:revision>
  <dcterms:created xsi:type="dcterms:W3CDTF">2026-10-31T00:05:54Z</dcterms:created>
  <dcterms:modified xsi:type="dcterms:W3CDTF">2026-10-31T00:05:54Z</dcterms:modified>
</cp:coreProperties>
</file>